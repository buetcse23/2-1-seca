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84" r:id="rId2"/>
    <p:sldId id="445" r:id="rId3"/>
    <p:sldId id="482" r:id="rId4"/>
    <p:sldId id="483" r:id="rId5"/>
    <p:sldId id="440" r:id="rId6"/>
    <p:sldId id="496" r:id="rId7"/>
    <p:sldId id="485" r:id="rId8"/>
    <p:sldId id="488" r:id="rId9"/>
    <p:sldId id="489" r:id="rId10"/>
    <p:sldId id="484" r:id="rId11"/>
    <p:sldId id="486" r:id="rId12"/>
    <p:sldId id="487" r:id="rId13"/>
    <p:sldId id="493" r:id="rId14"/>
    <p:sldId id="499" r:id="rId15"/>
    <p:sldId id="497" r:id="rId16"/>
    <p:sldId id="502" r:id="rId17"/>
    <p:sldId id="501" r:id="rId18"/>
    <p:sldId id="492" r:id="rId19"/>
    <p:sldId id="494" r:id="rId20"/>
    <p:sldId id="498" r:id="rId21"/>
    <p:sldId id="495" r:id="rId22"/>
    <p:sldId id="453" r:id="rId23"/>
  </p:sldIdLst>
  <p:sldSz cx="9144000" cy="6858000" type="screen4x3"/>
  <p:notesSz cx="6997700" cy="9283700"/>
  <p:defaultTextStyle>
    <a:defPPr>
      <a:defRPr lang="fr-FR"/>
    </a:defPPr>
    <a:lvl1pPr algn="ctr" rtl="0" fontAlgn="base">
      <a:spcBef>
        <a:spcPct val="0"/>
      </a:spcBef>
      <a:spcAft>
        <a:spcPct val="0"/>
      </a:spcAft>
      <a:defRPr sz="4000" kern="1200">
        <a:solidFill>
          <a:schemeClr val="bg1"/>
        </a:solidFill>
        <a:latin typeface="Calibri" pitchFamily="34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4000" kern="1200">
        <a:solidFill>
          <a:schemeClr val="bg1"/>
        </a:solidFill>
        <a:latin typeface="Calibri" pitchFamily="34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4000" kern="1200">
        <a:solidFill>
          <a:schemeClr val="bg1"/>
        </a:solidFill>
        <a:latin typeface="Calibri" pitchFamily="34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4000" kern="1200">
        <a:solidFill>
          <a:schemeClr val="bg1"/>
        </a:solidFill>
        <a:latin typeface="Calibri" pitchFamily="34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4000" kern="1200">
        <a:solidFill>
          <a:schemeClr val="bg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4000" kern="1200">
        <a:solidFill>
          <a:schemeClr val="bg1"/>
        </a:solidFill>
        <a:latin typeface="Calibri" pitchFamily="34" charset="0"/>
        <a:ea typeface="+mn-ea"/>
        <a:cs typeface="+mn-cs"/>
      </a:defRPr>
    </a:lvl6pPr>
    <a:lvl7pPr marL="2743200" algn="l" defTabSz="914400" rtl="0" eaLnBrk="1" latinLnBrk="0" hangingPunct="1">
      <a:defRPr sz="4000" kern="1200">
        <a:solidFill>
          <a:schemeClr val="bg1"/>
        </a:solidFill>
        <a:latin typeface="Calibri" pitchFamily="34" charset="0"/>
        <a:ea typeface="+mn-ea"/>
        <a:cs typeface="+mn-cs"/>
      </a:defRPr>
    </a:lvl7pPr>
    <a:lvl8pPr marL="3200400" algn="l" defTabSz="914400" rtl="0" eaLnBrk="1" latinLnBrk="0" hangingPunct="1">
      <a:defRPr sz="4000" kern="1200">
        <a:solidFill>
          <a:schemeClr val="bg1"/>
        </a:solidFill>
        <a:latin typeface="Calibri" pitchFamily="34" charset="0"/>
        <a:ea typeface="+mn-ea"/>
        <a:cs typeface="+mn-cs"/>
      </a:defRPr>
    </a:lvl8pPr>
    <a:lvl9pPr marL="3657600" algn="l" defTabSz="914400" rtl="0" eaLnBrk="1" latinLnBrk="0" hangingPunct="1">
      <a:defRPr sz="4000" kern="1200">
        <a:solidFill>
          <a:schemeClr val="bg1"/>
        </a:solidFill>
        <a:latin typeface="Calibri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77C0"/>
    <a:srgbClr val="EFADD9"/>
    <a:srgbClr val="0099FF"/>
    <a:srgbClr val="5FFD7D"/>
    <a:srgbClr val="95F963"/>
    <a:srgbClr val="FE9138"/>
    <a:srgbClr val="FF6600"/>
    <a:srgbClr val="FF5050"/>
    <a:srgbClr val="0000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814" autoAdjust="0"/>
  </p:normalViewPr>
  <p:slideViewPr>
    <p:cSldViewPr snapToGrid="0" snapToObjects="1">
      <p:cViewPr>
        <p:scale>
          <a:sx n="70" d="100"/>
          <a:sy n="70" d="100"/>
        </p:scale>
        <p:origin x="-1084" y="492"/>
      </p:cViewPr>
      <p:guideLst>
        <p:guide orient="horz" pos="2160"/>
        <p:guide pos="2880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66" d="100"/>
        <a:sy n="66" d="100"/>
      </p:scale>
      <p:origin x="0" y="2184"/>
    </p:cViewPr>
  </p:sorterViewPr>
  <p:notesViewPr>
    <p:cSldViewPr snapToGrid="0" snapToObjects="1">
      <p:cViewPr varScale="1">
        <p:scale>
          <a:sx n="80" d="100"/>
          <a:sy n="80" d="100"/>
        </p:scale>
        <p:origin x="-1404" y="-90"/>
      </p:cViewPr>
      <p:guideLst>
        <p:guide orient="horz" pos="2924"/>
        <p:guide pos="2204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031" tIns="46516" rIns="93031" bIns="46516" numCol="1" anchor="t" anchorCtr="0" compatLnSpc="1">
            <a:prstTxWarp prst="textNoShape">
              <a:avLst/>
            </a:prstTxWarp>
          </a:bodyPr>
          <a:lstStyle>
            <a:lvl1pPr algn="l" defTabSz="930275" eaLnBrk="0" hangingPunct="0"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3988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031" tIns="46516" rIns="93031" bIns="46516" numCol="1" anchor="t" anchorCtr="0" compatLnSpc="1">
            <a:prstTxWarp prst="textNoShape">
              <a:avLst/>
            </a:prstTxWarp>
          </a:bodyPr>
          <a:lstStyle>
            <a:lvl1pPr algn="r" defTabSz="930275" eaLnBrk="0" hangingPunct="0"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fld id="{84A9E5EA-8094-440C-A492-B4D068C86B5D}" type="datetimeFigureOut">
              <a:rPr lang="en-US"/>
              <a:pPr>
                <a:defRPr/>
              </a:pPr>
              <a:t>11/28/2025</a:t>
            </a:fld>
            <a:endParaRPr lang="en-US"/>
          </a:p>
        </p:txBody>
      </p:sp>
      <p:sp>
        <p:nvSpPr>
          <p:cNvPr id="204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18563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031" tIns="46516" rIns="93031" bIns="46516" numCol="1" anchor="b" anchorCtr="0" compatLnSpc="1">
            <a:prstTxWarp prst="textNoShape">
              <a:avLst/>
            </a:prstTxWarp>
          </a:bodyPr>
          <a:lstStyle>
            <a:lvl1pPr algn="l" defTabSz="930275" eaLnBrk="0" hangingPunct="0"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4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3988" y="8818563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031" tIns="46516" rIns="93031" bIns="46516" numCol="1" anchor="b" anchorCtr="0" compatLnSpc="1">
            <a:prstTxWarp prst="textNoShape">
              <a:avLst/>
            </a:prstTxWarp>
          </a:bodyPr>
          <a:lstStyle>
            <a:lvl1pPr algn="r" defTabSz="930275" eaLnBrk="0" hangingPunct="0"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fld id="{FE389508-52AA-467F-8578-CFB3CCEEAC5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0169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031" tIns="46516" rIns="93031" bIns="46516" numCol="1" anchor="t" anchorCtr="0" compatLnSpc="1">
            <a:prstTxWarp prst="textNoShape">
              <a:avLst/>
            </a:prstTxWarp>
          </a:bodyPr>
          <a:lstStyle>
            <a:lvl1pPr algn="l" defTabSz="930275" eaLnBrk="0" hangingPunct="0"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63988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031" tIns="46516" rIns="93031" bIns="46516" numCol="1" anchor="t" anchorCtr="0" compatLnSpc="1">
            <a:prstTxWarp prst="textNoShape">
              <a:avLst/>
            </a:prstTxWarp>
          </a:bodyPr>
          <a:lstStyle>
            <a:lvl1pPr algn="r" defTabSz="930275" eaLnBrk="0" hangingPunct="0"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fld id="{06D4D452-A904-4650-9106-5FA9FD2AB884}" type="datetimeFigureOut">
              <a:rPr lang="en-US"/>
              <a:pPr>
                <a:defRPr/>
              </a:pPr>
              <a:t>11/28/2025</a:t>
            </a:fld>
            <a:endParaRPr lang="en-US"/>
          </a:p>
        </p:txBody>
      </p:sp>
      <p:sp>
        <p:nvSpPr>
          <p:cNvPr id="235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7925" y="696913"/>
            <a:ext cx="464185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0088" y="4410075"/>
            <a:ext cx="5597525" cy="417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031" tIns="46516" rIns="93031" bIns="465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63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18563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031" tIns="46516" rIns="93031" bIns="46516" numCol="1" anchor="b" anchorCtr="0" compatLnSpc="1">
            <a:prstTxWarp prst="textNoShape">
              <a:avLst/>
            </a:prstTxWarp>
          </a:bodyPr>
          <a:lstStyle>
            <a:lvl1pPr algn="l" defTabSz="930275" eaLnBrk="0" hangingPunct="0"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3988" y="8818563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031" tIns="46516" rIns="93031" bIns="46516" numCol="1" anchor="b" anchorCtr="0" compatLnSpc="1">
            <a:prstTxWarp prst="textNoShape">
              <a:avLst/>
            </a:prstTxWarp>
          </a:bodyPr>
          <a:lstStyle>
            <a:lvl1pPr algn="r" defTabSz="930275" eaLnBrk="0" hangingPunct="0"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fld id="{F0E5AF66-D874-4D06-96A2-91888396C98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97034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AU" sz="1200" kern="1200" baseline="0" dirty="0" smtClean="0">
              <a:solidFill>
                <a:schemeClr val="tx1"/>
              </a:solidFill>
              <a:latin typeface="Calibri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AU" sz="1200" kern="1200" baseline="0" dirty="0" smtClean="0">
              <a:solidFill>
                <a:schemeClr val="tx1"/>
              </a:solidFill>
              <a:latin typeface="Calibri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/>
          </a:p>
          <a:p>
            <a:endParaRPr lang="en-AU" sz="1200" kern="1200" baseline="0" dirty="0" smtClean="0">
              <a:solidFill>
                <a:schemeClr val="tx1"/>
              </a:solidFill>
              <a:latin typeface="Calibri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AU" sz="1200" kern="1200" baseline="0" dirty="0" smtClean="0">
              <a:solidFill>
                <a:schemeClr val="tx1"/>
              </a:solidFill>
              <a:latin typeface="Calibri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mtClean="0"/>
              <a:t>In the early days, database applications were built on top of file systems</a:t>
            </a:r>
          </a:p>
          <a:p>
            <a:endParaRPr lang="en-AU" sz="1200" kern="1200" baseline="0" dirty="0" smtClean="0">
              <a:solidFill>
                <a:schemeClr val="tx1"/>
              </a:solidFill>
              <a:latin typeface="Calibri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AU" sz="1200" kern="1200" baseline="0" dirty="0" smtClean="0">
              <a:solidFill>
                <a:schemeClr val="tx1"/>
              </a:solidFill>
              <a:latin typeface="Calibri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AU" sz="1200" kern="1200" baseline="0" dirty="0" smtClean="0">
              <a:solidFill>
                <a:schemeClr val="tx1"/>
              </a:solidFill>
              <a:latin typeface="Calibri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AU" sz="1200" kern="1200" baseline="0" dirty="0" smtClean="0">
              <a:solidFill>
                <a:schemeClr val="tx1"/>
              </a:solidFill>
              <a:latin typeface="Calibri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AU" sz="1200" kern="1200" baseline="0" dirty="0" smtClean="0">
              <a:solidFill>
                <a:schemeClr val="tx1"/>
              </a:solidFill>
              <a:latin typeface="Calibri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AU" sz="1200" kern="1200" baseline="0" dirty="0" smtClean="0">
              <a:solidFill>
                <a:schemeClr val="tx1"/>
              </a:solidFill>
              <a:latin typeface="Calibri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AU" sz="1200" kern="1200" baseline="0" dirty="0" smtClean="0">
              <a:solidFill>
                <a:schemeClr val="tx1"/>
              </a:solidFill>
              <a:latin typeface="Calibri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AU" sz="1200" kern="1200" baseline="0" dirty="0" smtClean="0">
              <a:solidFill>
                <a:schemeClr val="tx1"/>
              </a:solidFill>
              <a:latin typeface="Calibri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AU" sz="1200" kern="1200" baseline="0" dirty="0" smtClean="0">
              <a:solidFill>
                <a:schemeClr val="tx1"/>
              </a:solidFill>
              <a:latin typeface="Calibri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AU" sz="1200" kern="1200" baseline="0" dirty="0" smtClean="0">
              <a:solidFill>
                <a:schemeClr val="tx1"/>
              </a:solidFill>
              <a:latin typeface="Calibri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AU" sz="1200" kern="1200" baseline="0" dirty="0" smtClean="0">
              <a:solidFill>
                <a:schemeClr val="tx1"/>
              </a:solidFill>
              <a:latin typeface="Calibri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AU" sz="1200" kern="1200" baseline="0" dirty="0" smtClean="0">
              <a:solidFill>
                <a:schemeClr val="tx1"/>
              </a:solidFill>
              <a:latin typeface="Calibri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AU" sz="1200" kern="1200" baseline="0" dirty="0" smtClean="0">
              <a:solidFill>
                <a:schemeClr val="tx1"/>
              </a:solidFill>
              <a:latin typeface="Calibri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F242CD-A77B-44DD-9C85-0453EABE0C7C}" type="datetime1">
              <a:rPr lang="fr-FR" smtClean="0"/>
              <a:t>28/11/2025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Tanzima Hashem, Dept of CSE, BUET</a:t>
            </a:r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F1D94F-CBF6-40D2-833D-2912DB21ED66}" type="slidenum">
              <a:rPr lang="fr-FR"/>
              <a:pPr>
                <a:defRPr/>
              </a:pPr>
              <a:t>‹#›</a:t>
            </a:fld>
            <a:endParaRPr lang="fr-FR" dirty="0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96238A-8378-4DA3-BCB6-23A45A03C651}" type="datetime1">
              <a:rPr lang="fr-FR" smtClean="0"/>
              <a:t>28/11/2025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Tanzima Hashem, Dept of CSE, BUET</a:t>
            </a:r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7BCA27-9083-4FF6-B436-5F2C6F9FD502}" type="slidenum">
              <a:rPr lang="fr-FR"/>
              <a:pPr>
                <a:defRPr/>
              </a:pPr>
              <a:t>‹#›</a:t>
            </a:fld>
            <a:endParaRPr lang="fr-FR" dirty="0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AA16D3-81D4-4840-9D56-4427763F429B}" type="datetime1">
              <a:rPr lang="fr-FR" smtClean="0"/>
              <a:t>28/11/2025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Tanzima Hashem, Dept of CSE, BUET</a:t>
            </a:r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35C4BE-6E88-47F0-8C41-A3EBB63B9FDA}" type="slidenum">
              <a:rPr lang="fr-FR"/>
              <a:pPr>
                <a:defRPr/>
              </a:pPr>
              <a:t>‹#›</a:t>
            </a:fld>
            <a:endParaRPr lang="fr-FR" dirty="0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2F7C9A-D69F-4901-A11F-59ECE2E4FD8F}" type="datetime1">
              <a:rPr lang="fr-FR" smtClean="0"/>
              <a:t>28/11/2025</a:t>
            </a:fld>
            <a:endParaRPr lang="fr-FR" dirty="0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Tanzima Hashem, Dept of CSE, BUET</a:t>
            </a:r>
            <a:endParaRPr lang="en-US"/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5EA4C5-2885-4509-B487-37938B596AA2}" type="slidenum">
              <a:rPr lang="fr-FR"/>
              <a:pPr>
                <a:defRPr/>
              </a:pPr>
              <a:t>‹#›</a:t>
            </a:fld>
            <a:endParaRPr lang="fr-FR" dirty="0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D4950C-7136-4403-8FBB-2F2464330A31}" type="datetime1">
              <a:rPr lang="fr-FR" smtClean="0"/>
              <a:t>28/11/2025</a:t>
            </a:fld>
            <a:endParaRPr lang="fr-FR" dirty="0"/>
          </a:p>
        </p:txBody>
      </p:sp>
      <p:sp>
        <p:nvSpPr>
          <p:cNvPr id="8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Tanzima Hashem, Dept of CSE, BUET</a:t>
            </a:r>
            <a:endParaRPr lang="en-US"/>
          </a:p>
        </p:txBody>
      </p:sp>
      <p:sp>
        <p:nvSpPr>
          <p:cNvPr id="9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E86D27-3251-43B8-9A9B-0CE1CD1CF3C0}" type="slidenum">
              <a:rPr lang="fr-FR"/>
              <a:pPr>
                <a:defRPr/>
              </a:pPr>
              <a:t>‹#›</a:t>
            </a:fld>
            <a:endParaRPr lang="fr-FR" dirty="0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DF3307-2C69-441E-8767-3BD00A30114D}" type="datetime1">
              <a:rPr lang="fr-FR" smtClean="0"/>
              <a:t>28/11/2025</a:t>
            </a:fld>
            <a:endParaRPr lang="fr-FR" dirty="0"/>
          </a:p>
        </p:txBody>
      </p:sp>
      <p:sp>
        <p:nvSpPr>
          <p:cNvPr id="4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Tanzima Hashem, Dept of CSE, BUET</a:t>
            </a:r>
            <a:endParaRPr lang="en-US"/>
          </a:p>
        </p:txBody>
      </p:sp>
      <p:sp>
        <p:nvSpPr>
          <p:cNvPr id="5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AF7835-2375-40D2-8D45-4E1D823FEAFB}" type="slidenum">
              <a:rPr lang="fr-FR"/>
              <a:pPr>
                <a:defRPr/>
              </a:pPr>
              <a:t>‹#›</a:t>
            </a:fld>
            <a:endParaRPr lang="fr-FR" dirty="0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5222D2-F063-4148-901A-C40FB91EE8F5}" type="datetime1">
              <a:rPr lang="fr-FR" smtClean="0"/>
              <a:t>28/11/2025</a:t>
            </a:fld>
            <a:endParaRPr lang="fr-FR" dirty="0"/>
          </a:p>
        </p:txBody>
      </p:sp>
      <p:sp>
        <p:nvSpPr>
          <p:cNvPr id="3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Tanzima Hashem, Dept of CSE, BUET</a:t>
            </a:r>
            <a:endParaRPr lang="en-US"/>
          </a:p>
        </p:txBody>
      </p:sp>
      <p:sp>
        <p:nvSpPr>
          <p:cNvPr id="4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CF104B-57E3-4411-AB68-47EC9C0CCFE4}" type="slidenum">
              <a:rPr lang="fr-FR"/>
              <a:pPr>
                <a:defRPr/>
              </a:pPr>
              <a:t>‹#›</a:t>
            </a:fld>
            <a:endParaRPr lang="fr-FR" dirty="0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>
                <a:latin typeface="Calibri" pitchFamily="34" charset="0"/>
              </a:defRPr>
            </a:lvl2pPr>
            <a:lvl3pPr>
              <a:defRPr sz="2400">
                <a:latin typeface="Calibri" pitchFamily="34" charset="0"/>
              </a:defRPr>
            </a:lvl3pPr>
            <a:lvl4pPr>
              <a:defRPr sz="2000">
                <a:latin typeface="Calibri" pitchFamily="34" charset="0"/>
              </a:defRPr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dirty="0" smtClean="0"/>
              <a:t>Cliquez pour 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  <a:p>
            <a:pPr lvl="4"/>
            <a:r>
              <a:rPr lang="fr-FR" dirty="0" smtClean="0"/>
              <a:t>Cinquième niveau</a:t>
            </a:r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A78050-F2C6-4850-AD99-3CABA648DEEB}" type="datetime1">
              <a:rPr lang="fr-FR" smtClean="0"/>
              <a:t>28/11/2025</a:t>
            </a:fld>
            <a:endParaRPr lang="fr-FR" dirty="0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Tanzima Hashem, Dept of CSE, BUET</a:t>
            </a:r>
            <a:endParaRPr lang="en-US"/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3E0524-6157-4574-8A4E-10E1179821A4}" type="slidenum">
              <a:rPr lang="fr-FR"/>
              <a:pPr>
                <a:defRPr/>
              </a:pPr>
              <a:t>‹#›</a:t>
            </a:fld>
            <a:endParaRPr lang="fr-FR" dirty="0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fr-FR" noProof="0" dirty="0" smtClean="0"/>
              <a:t>Cliquez sur l'icône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119599-BBDE-4FBC-887F-F6524840BFFA}" type="datetime1">
              <a:rPr lang="fr-FR" smtClean="0"/>
              <a:t>28/11/2025</a:t>
            </a:fld>
            <a:endParaRPr lang="fr-FR" dirty="0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Tanzima Hashem, Dept of CSE, BUET</a:t>
            </a:r>
            <a:endParaRPr lang="en-US"/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AC0EDF-A357-455C-9864-8F6C167EA289}" type="slidenum">
              <a:rPr lang="fr-FR"/>
              <a:pPr>
                <a:defRPr/>
              </a:pPr>
              <a:t>‹#›</a:t>
            </a:fld>
            <a:endParaRPr lang="fr-FR" dirty="0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85862D-DA77-42D3-8498-C5D9E03E26D7}" type="datetime1">
              <a:rPr lang="fr-FR" smtClean="0"/>
              <a:t>28/11/2025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Tanzima Hashem, Dept of CSE, BUET</a:t>
            </a:r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54104C-BF02-43B0-BAB6-E190D149467B}" type="slidenum">
              <a:rPr lang="fr-FR"/>
              <a:pPr>
                <a:defRPr/>
              </a:pPr>
              <a:t>‹#›</a:t>
            </a:fld>
            <a:endParaRPr lang="fr-FR" dirty="0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63747E-8526-49B5-A53E-A25AD471C411}" type="datetime1">
              <a:rPr lang="fr-FR" smtClean="0"/>
              <a:t>28/11/2025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Tanzima Hashem, Dept of CSE, BUET</a:t>
            </a:r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624FD7-F725-43F8-95BD-5DEEAB1837B1}" type="slidenum">
              <a:rPr lang="fr-FR"/>
              <a:pPr>
                <a:defRPr/>
              </a:pPr>
              <a:t>‹#›</a:t>
            </a:fld>
            <a:endParaRPr lang="fr-FR" dirty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457200" y="1676400"/>
            <a:ext cx="82296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F0C550E1-F6E5-4883-B977-F60AAAAE1271}" type="datetime1">
              <a:rPr lang="fr-FR" smtClean="0"/>
              <a:t>28/11/2025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 smtClean="0"/>
              <a:t>Tanzima Hashem, Dept of CSE, BUET</a:t>
            </a:r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6478ADAF-0B19-4D82-8C64-4E91835AE258}" type="slidenum">
              <a:rPr lang="fr-FR"/>
              <a:pPr>
                <a:defRPr/>
              </a:pPr>
              <a:t>‹#›</a:t>
            </a:fld>
            <a:endParaRPr lang="fr-FR" dirty="0"/>
          </a:p>
        </p:txBody>
      </p:sp>
      <p:grpSp>
        <p:nvGrpSpPr>
          <p:cNvPr id="1030" name="Group 7"/>
          <p:cNvGrpSpPr>
            <a:grpSpLocks/>
          </p:cNvGrpSpPr>
          <p:nvPr userDrawn="1"/>
        </p:nvGrpSpPr>
        <p:grpSpPr bwMode="auto">
          <a:xfrm>
            <a:off x="9525" y="641350"/>
            <a:ext cx="8143875" cy="273050"/>
            <a:chOff x="0" y="480"/>
            <a:chExt cx="5130" cy="172"/>
          </a:xfrm>
        </p:grpSpPr>
        <p:sp>
          <p:nvSpPr>
            <p:cNvPr id="1034" name="Line 8"/>
            <p:cNvSpPr>
              <a:spLocks noChangeShapeType="1"/>
            </p:cNvSpPr>
            <p:nvPr userDrawn="1"/>
          </p:nvSpPr>
          <p:spPr bwMode="auto">
            <a:xfrm>
              <a:off x="0" y="480"/>
              <a:ext cx="50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AU"/>
            </a:p>
          </p:txBody>
        </p:sp>
        <p:grpSp>
          <p:nvGrpSpPr>
            <p:cNvPr id="1035" name="Group 9"/>
            <p:cNvGrpSpPr>
              <a:grpSpLocks/>
            </p:cNvGrpSpPr>
            <p:nvPr userDrawn="1"/>
          </p:nvGrpSpPr>
          <p:grpSpPr bwMode="auto">
            <a:xfrm>
              <a:off x="4320" y="480"/>
              <a:ext cx="230" cy="172"/>
              <a:chOff x="24000" y="3168"/>
              <a:chExt cx="1248" cy="1248"/>
            </a:xfrm>
          </p:grpSpPr>
          <p:sp>
            <p:nvSpPr>
              <p:cNvPr id="1042" name="AutoShape 10"/>
              <p:cNvSpPr>
                <a:spLocks noChangeArrowheads="1"/>
              </p:cNvSpPr>
              <p:nvPr userDrawn="1"/>
            </p:nvSpPr>
            <p:spPr bwMode="auto">
              <a:xfrm>
                <a:off x="24000" y="3168"/>
                <a:ext cx="1248" cy="1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67 h 21600"/>
                  <a:gd name="T26" fmla="*/ 18433 w 21600"/>
                  <a:gd name="T27" fmla="*/ 1843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08" y="10800"/>
                    </a:moveTo>
                    <a:cubicBezTo>
                      <a:pt x="2908" y="15159"/>
                      <a:pt x="6441" y="18692"/>
                      <a:pt x="10800" y="18692"/>
                    </a:cubicBezTo>
                    <a:cubicBezTo>
                      <a:pt x="15159" y="18692"/>
                      <a:pt x="18692" y="15159"/>
                      <a:pt x="18692" y="10800"/>
                    </a:cubicBezTo>
                    <a:cubicBezTo>
                      <a:pt x="18692" y="6441"/>
                      <a:pt x="15159" y="2908"/>
                      <a:pt x="10800" y="2908"/>
                    </a:cubicBezTo>
                    <a:cubicBezTo>
                      <a:pt x="6441" y="2908"/>
                      <a:pt x="2908" y="6441"/>
                      <a:pt x="2908" y="1080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043" name="AutoShape 11"/>
              <p:cNvSpPr>
                <a:spLocks noChangeArrowheads="1"/>
              </p:cNvSpPr>
              <p:nvPr userDrawn="1"/>
            </p:nvSpPr>
            <p:spPr bwMode="auto">
              <a:xfrm>
                <a:off x="24336" y="3502"/>
                <a:ext cx="575" cy="58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5 w 21600"/>
                  <a:gd name="T25" fmla="*/ 3166 h 21600"/>
                  <a:gd name="T26" fmla="*/ 18445 w 21600"/>
                  <a:gd name="T27" fmla="*/ 18434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</p:grpSp>
        <p:grpSp>
          <p:nvGrpSpPr>
            <p:cNvPr id="1036" name="Group 12"/>
            <p:cNvGrpSpPr>
              <a:grpSpLocks/>
            </p:cNvGrpSpPr>
            <p:nvPr userDrawn="1"/>
          </p:nvGrpSpPr>
          <p:grpSpPr bwMode="auto">
            <a:xfrm>
              <a:off x="4610" y="480"/>
              <a:ext cx="230" cy="172"/>
              <a:chOff x="24000" y="3168"/>
              <a:chExt cx="1248" cy="1248"/>
            </a:xfrm>
          </p:grpSpPr>
          <p:sp>
            <p:nvSpPr>
              <p:cNvPr id="1040" name="AutoShape 13"/>
              <p:cNvSpPr>
                <a:spLocks noChangeArrowheads="1"/>
              </p:cNvSpPr>
              <p:nvPr userDrawn="1"/>
            </p:nvSpPr>
            <p:spPr bwMode="auto">
              <a:xfrm>
                <a:off x="24000" y="3168"/>
                <a:ext cx="1248" cy="1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67 h 21600"/>
                  <a:gd name="T26" fmla="*/ 18433 w 21600"/>
                  <a:gd name="T27" fmla="*/ 1843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08" y="10800"/>
                    </a:moveTo>
                    <a:cubicBezTo>
                      <a:pt x="2908" y="15159"/>
                      <a:pt x="6441" y="18692"/>
                      <a:pt x="10800" y="18692"/>
                    </a:cubicBezTo>
                    <a:cubicBezTo>
                      <a:pt x="15159" y="18692"/>
                      <a:pt x="18692" y="15159"/>
                      <a:pt x="18692" y="10800"/>
                    </a:cubicBezTo>
                    <a:cubicBezTo>
                      <a:pt x="18692" y="6441"/>
                      <a:pt x="15159" y="2908"/>
                      <a:pt x="10800" y="2908"/>
                    </a:cubicBezTo>
                    <a:cubicBezTo>
                      <a:pt x="6441" y="2908"/>
                      <a:pt x="2908" y="6441"/>
                      <a:pt x="2908" y="1080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041" name="AutoShape 14"/>
              <p:cNvSpPr>
                <a:spLocks noChangeArrowheads="1"/>
              </p:cNvSpPr>
              <p:nvPr userDrawn="1"/>
            </p:nvSpPr>
            <p:spPr bwMode="auto">
              <a:xfrm>
                <a:off x="24336" y="3502"/>
                <a:ext cx="575" cy="58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5 w 21600"/>
                  <a:gd name="T25" fmla="*/ 3166 h 21600"/>
                  <a:gd name="T26" fmla="*/ 18445 w 21600"/>
                  <a:gd name="T27" fmla="*/ 18434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</p:grpSp>
        <p:grpSp>
          <p:nvGrpSpPr>
            <p:cNvPr id="1037" name="Group 15"/>
            <p:cNvGrpSpPr>
              <a:grpSpLocks/>
            </p:cNvGrpSpPr>
            <p:nvPr userDrawn="1"/>
          </p:nvGrpSpPr>
          <p:grpSpPr bwMode="auto">
            <a:xfrm>
              <a:off x="4900" y="480"/>
              <a:ext cx="230" cy="172"/>
              <a:chOff x="24000" y="3168"/>
              <a:chExt cx="1248" cy="1248"/>
            </a:xfrm>
          </p:grpSpPr>
          <p:sp>
            <p:nvSpPr>
              <p:cNvPr id="1038" name="AutoShape 16"/>
              <p:cNvSpPr>
                <a:spLocks noChangeArrowheads="1"/>
              </p:cNvSpPr>
              <p:nvPr userDrawn="1"/>
            </p:nvSpPr>
            <p:spPr bwMode="auto">
              <a:xfrm>
                <a:off x="24000" y="3168"/>
                <a:ext cx="1248" cy="1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67 h 21600"/>
                  <a:gd name="T26" fmla="*/ 18433 w 21600"/>
                  <a:gd name="T27" fmla="*/ 1843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08" y="10800"/>
                    </a:moveTo>
                    <a:cubicBezTo>
                      <a:pt x="2908" y="15159"/>
                      <a:pt x="6441" y="18692"/>
                      <a:pt x="10800" y="18692"/>
                    </a:cubicBezTo>
                    <a:cubicBezTo>
                      <a:pt x="15159" y="18692"/>
                      <a:pt x="18692" y="15159"/>
                      <a:pt x="18692" y="10800"/>
                    </a:cubicBezTo>
                    <a:cubicBezTo>
                      <a:pt x="18692" y="6441"/>
                      <a:pt x="15159" y="2908"/>
                      <a:pt x="10800" y="2908"/>
                    </a:cubicBezTo>
                    <a:cubicBezTo>
                      <a:pt x="6441" y="2908"/>
                      <a:pt x="2908" y="6441"/>
                      <a:pt x="2908" y="1080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039" name="AutoShape 17"/>
              <p:cNvSpPr>
                <a:spLocks noChangeArrowheads="1"/>
              </p:cNvSpPr>
              <p:nvPr userDrawn="1"/>
            </p:nvSpPr>
            <p:spPr bwMode="auto">
              <a:xfrm>
                <a:off x="24336" y="3502"/>
                <a:ext cx="575" cy="58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5 w 21600"/>
                  <a:gd name="T25" fmla="*/ 3166 h 21600"/>
                  <a:gd name="T26" fmla="*/ 18445 w 21600"/>
                  <a:gd name="T27" fmla="*/ 18434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</p:grpSp>
      </p:grpSp>
      <p:sp>
        <p:nvSpPr>
          <p:cNvPr id="1031" name="Rectangle 18"/>
          <p:cNvSpPr>
            <a:spLocks noChangeArrowheads="1"/>
          </p:cNvSpPr>
          <p:nvPr userDrawn="1"/>
        </p:nvSpPr>
        <p:spPr bwMode="auto">
          <a:xfrm>
            <a:off x="533400" y="914400"/>
            <a:ext cx="71628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en-US" sz="18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032" name="Rectangle 19"/>
          <p:cNvSpPr>
            <a:spLocks noChangeArrowheads="1"/>
          </p:cNvSpPr>
          <p:nvPr userDrawn="1"/>
        </p:nvSpPr>
        <p:spPr bwMode="auto">
          <a:xfrm>
            <a:off x="533400" y="152400"/>
            <a:ext cx="419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en-US" sz="18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033" name="Rectangle 20"/>
          <p:cNvSpPr>
            <a:spLocks noChangeArrowheads="1"/>
          </p:cNvSpPr>
          <p:nvPr userDrawn="1"/>
        </p:nvSpPr>
        <p:spPr bwMode="auto">
          <a:xfrm>
            <a:off x="685800" y="685800"/>
            <a:ext cx="62484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en-US" sz="1800">
              <a:solidFill>
                <a:schemeClr val="tx1"/>
              </a:solidFill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400" kern="1200">
          <a:solidFill>
            <a:schemeClr val="tx1"/>
          </a:solidFill>
          <a:latin typeface="Calibri" pitchFamily="34" charset="0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Calibri" pitchFamily="34" charset="0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Calibri" pitchFamily="34" charset="0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Calibri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se.buet.ac.bd/moodle/course/view.php?id=96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sv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re 1"/>
          <p:cNvSpPr>
            <a:spLocks noGrp="1"/>
          </p:cNvSpPr>
          <p:nvPr>
            <p:ph type="ctrTitle" idx="4294967295"/>
          </p:nvPr>
        </p:nvSpPr>
        <p:spPr bwMode="auto">
          <a:xfrm>
            <a:off x="990600" y="1781492"/>
            <a:ext cx="7153275" cy="134532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/>
          <a:p>
            <a:pPr eaLnBrk="1" hangingPunct="1"/>
            <a:r>
              <a:rPr lang="fr-FR" dirty="0" smtClean="0">
                <a:latin typeface="Arial" charset="0"/>
              </a:rPr>
              <a:t/>
            </a:r>
            <a:br>
              <a:rPr lang="fr-FR" dirty="0" smtClean="0">
                <a:latin typeface="Arial" charset="0"/>
              </a:rPr>
            </a:br>
            <a:r>
              <a:rPr lang="fr-FR" dirty="0" smtClean="0">
                <a:latin typeface="Arial" charset="0"/>
              </a:rPr>
              <a:t>CSE 215: </a:t>
            </a:r>
            <a:r>
              <a:rPr lang="fr-FR" dirty="0" err="1" smtClean="0">
                <a:latin typeface="Arial" charset="0"/>
              </a:rPr>
              <a:t>Database</a:t>
            </a:r>
            <a:r>
              <a:rPr lang="fr-FR" dirty="0" smtClean="0">
                <a:latin typeface="Arial" charset="0"/>
              </a:rPr>
              <a:t/>
            </a:r>
            <a:br>
              <a:rPr lang="fr-FR" dirty="0" smtClean="0">
                <a:latin typeface="Arial" charset="0"/>
              </a:rPr>
            </a:br>
            <a:endParaRPr lang="fr-FR" dirty="0" smtClean="0">
              <a:latin typeface="Arial" charset="0"/>
            </a:endParaRPr>
          </a:p>
        </p:txBody>
      </p:sp>
      <p:sp>
        <p:nvSpPr>
          <p:cNvPr id="2053" name="Rectangle 6"/>
          <p:cNvSpPr>
            <a:spLocks noChangeArrowheads="1"/>
          </p:cNvSpPr>
          <p:nvPr/>
        </p:nvSpPr>
        <p:spPr bwMode="auto">
          <a:xfrm>
            <a:off x="152400" y="838200"/>
            <a:ext cx="87630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sz="2400" i="1">
              <a:solidFill>
                <a:schemeClr val="tx1"/>
              </a:solidFill>
            </a:endParaRP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1419367" y="4317248"/>
            <a:ext cx="6155139" cy="1078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6660" tIns="8330" rIns="16660" bIns="8330">
            <a:spAutoFit/>
          </a:bodyPr>
          <a:lstStyle/>
          <a:p>
            <a:pPr>
              <a:lnSpc>
                <a:spcPct val="50000"/>
              </a:lnSpc>
              <a:spcBef>
                <a:spcPct val="50000"/>
              </a:spcBef>
            </a:pPr>
            <a:endParaRPr lang="en-US" sz="1800" i="1" dirty="0">
              <a:solidFill>
                <a:srgbClr val="F59247"/>
              </a:solidFill>
              <a:latin typeface="Times New Roman" pitchFamily="18" charset="0"/>
            </a:endParaRPr>
          </a:p>
          <a:p>
            <a:endParaRPr lang="en-US" sz="2000" dirty="0" smtClean="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r>
              <a:rPr lang="en-US" sz="2000" dirty="0" smtClean="0">
                <a:solidFill>
                  <a:schemeClr val="tx1"/>
                </a:solidFill>
                <a:latin typeface="Arial" charset="0"/>
                <a:cs typeface="Arial" charset="0"/>
              </a:rPr>
              <a:t>Department of CSE</a:t>
            </a:r>
          </a:p>
          <a:p>
            <a:r>
              <a:rPr lang="en-US" sz="2000" dirty="0" smtClean="0">
                <a:solidFill>
                  <a:schemeClr val="tx1"/>
                </a:solidFill>
                <a:latin typeface="Arial" charset="0"/>
                <a:cs typeface="Arial" charset="0"/>
              </a:rPr>
              <a:t>Bangladesh University of Engineering &amp; Technology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u contenu 2"/>
          <p:cNvSpPr>
            <a:spLocks noGrp="1"/>
          </p:cNvSpPr>
          <p:nvPr>
            <p:ph idx="4294967295"/>
          </p:nvPr>
        </p:nvSpPr>
        <p:spPr>
          <a:xfrm>
            <a:off x="357188" y="1676400"/>
            <a:ext cx="8329612" cy="4800600"/>
          </a:xfrm>
        </p:spPr>
        <p:txBody>
          <a:bodyPr/>
          <a:lstStyle/>
          <a:p>
            <a:r>
              <a:rPr lang="en-US" sz="2300" dirty="0" smtClean="0">
                <a:sym typeface="Wingdings" pitchFamily="2" charset="2"/>
              </a:rPr>
              <a:t>Class </a:t>
            </a:r>
            <a:r>
              <a:rPr lang="en-US" sz="2300" dirty="0">
                <a:sym typeface="Wingdings" pitchFamily="2" charset="2"/>
              </a:rPr>
              <a:t>Schedule</a:t>
            </a:r>
          </a:p>
          <a:p>
            <a:pPr lvl="1" eaLnBrk="1" hangingPunct="1"/>
            <a:r>
              <a:rPr lang="en-US" sz="2300" dirty="0">
                <a:sym typeface="Wingdings" pitchFamily="2" charset="2"/>
              </a:rPr>
              <a:t>Saturday </a:t>
            </a:r>
            <a:r>
              <a:rPr lang="en-US" sz="2300" dirty="0" smtClean="0">
                <a:sym typeface="Wingdings" pitchFamily="2" charset="2"/>
              </a:rPr>
              <a:t>(Sec A</a:t>
            </a:r>
            <a:r>
              <a:rPr lang="en-US" sz="2300" dirty="0">
                <a:sym typeface="Wingdings" pitchFamily="2" charset="2"/>
              </a:rPr>
              <a:t>: </a:t>
            </a:r>
            <a:r>
              <a:rPr lang="en-US" sz="2300" dirty="0" smtClean="0">
                <a:sym typeface="Wingdings" pitchFamily="2" charset="2"/>
              </a:rPr>
              <a:t>2 pm, Sec B: </a:t>
            </a:r>
            <a:r>
              <a:rPr lang="en-US" sz="2300" dirty="0" smtClean="0">
                <a:sym typeface="Wingdings" pitchFamily="2" charset="2"/>
              </a:rPr>
              <a:t>11 </a:t>
            </a:r>
            <a:r>
              <a:rPr lang="en-US" sz="2300" dirty="0">
                <a:sym typeface="Wingdings" pitchFamily="2" charset="2"/>
              </a:rPr>
              <a:t>am</a:t>
            </a:r>
            <a:r>
              <a:rPr lang="en-US" sz="2300" dirty="0" smtClean="0">
                <a:sym typeface="Wingdings" pitchFamily="2" charset="2"/>
              </a:rPr>
              <a:t>, Sec C: </a:t>
            </a:r>
            <a:r>
              <a:rPr lang="en-US" sz="2300" dirty="0" smtClean="0">
                <a:sym typeface="Wingdings" pitchFamily="2" charset="2"/>
              </a:rPr>
              <a:t>9 </a:t>
            </a:r>
            <a:r>
              <a:rPr lang="en-US" sz="2300" dirty="0">
                <a:sym typeface="Wingdings" pitchFamily="2" charset="2"/>
              </a:rPr>
              <a:t>am</a:t>
            </a:r>
            <a:r>
              <a:rPr lang="en-US" sz="2300" dirty="0" smtClean="0">
                <a:sym typeface="Wingdings" pitchFamily="2" charset="2"/>
              </a:rPr>
              <a:t>) </a:t>
            </a:r>
          </a:p>
          <a:p>
            <a:pPr lvl="1" eaLnBrk="1" hangingPunct="1"/>
            <a:r>
              <a:rPr lang="en-US" sz="2300" dirty="0" smtClean="0">
                <a:sym typeface="Wingdings" pitchFamily="2" charset="2"/>
              </a:rPr>
              <a:t>Sunday </a:t>
            </a:r>
            <a:r>
              <a:rPr lang="en-US" sz="2300" dirty="0">
                <a:sym typeface="Wingdings" pitchFamily="2" charset="2"/>
              </a:rPr>
              <a:t>(Sec A: </a:t>
            </a:r>
            <a:r>
              <a:rPr lang="en-US" sz="2300" dirty="0" smtClean="0">
                <a:sym typeface="Wingdings" pitchFamily="2" charset="2"/>
              </a:rPr>
              <a:t>10 </a:t>
            </a:r>
            <a:r>
              <a:rPr lang="en-US" sz="2300" dirty="0">
                <a:sym typeface="Wingdings" pitchFamily="2" charset="2"/>
              </a:rPr>
              <a:t>am, Sec B: </a:t>
            </a:r>
            <a:r>
              <a:rPr lang="en-US" sz="2300" dirty="0" smtClean="0">
                <a:sym typeface="Wingdings" pitchFamily="2" charset="2"/>
              </a:rPr>
              <a:t>8 </a:t>
            </a:r>
            <a:r>
              <a:rPr lang="en-US" sz="2300" dirty="0">
                <a:sym typeface="Wingdings" pitchFamily="2" charset="2"/>
              </a:rPr>
              <a:t>am, Sec C: </a:t>
            </a:r>
            <a:r>
              <a:rPr lang="en-US" sz="2300" dirty="0" smtClean="0">
                <a:sym typeface="Wingdings" pitchFamily="2" charset="2"/>
              </a:rPr>
              <a:t>9 </a:t>
            </a:r>
            <a:r>
              <a:rPr lang="en-US" sz="2300" dirty="0">
                <a:sym typeface="Wingdings" pitchFamily="2" charset="2"/>
              </a:rPr>
              <a:t>am)</a:t>
            </a:r>
            <a:r>
              <a:rPr lang="en-US" sz="2300" dirty="0" smtClean="0">
                <a:sym typeface="Wingdings" pitchFamily="2" charset="2"/>
              </a:rPr>
              <a:t> </a:t>
            </a:r>
          </a:p>
          <a:p>
            <a:pPr lvl="1" eaLnBrk="1" hangingPunct="1"/>
            <a:r>
              <a:rPr lang="en-US" sz="2300" dirty="0">
                <a:sym typeface="Wingdings" pitchFamily="2" charset="2"/>
              </a:rPr>
              <a:t>Monday (Sec A: </a:t>
            </a:r>
            <a:r>
              <a:rPr lang="en-US" sz="2300" dirty="0" smtClean="0">
                <a:sym typeface="Wingdings" pitchFamily="2" charset="2"/>
              </a:rPr>
              <a:t>11 </a:t>
            </a:r>
            <a:r>
              <a:rPr lang="en-US" sz="2300" dirty="0">
                <a:sym typeface="Wingdings" pitchFamily="2" charset="2"/>
              </a:rPr>
              <a:t>am, Sec B: </a:t>
            </a:r>
            <a:r>
              <a:rPr lang="en-US" sz="2300" dirty="0" smtClean="0">
                <a:sym typeface="Wingdings" pitchFamily="2" charset="2"/>
              </a:rPr>
              <a:t>9 </a:t>
            </a:r>
            <a:r>
              <a:rPr lang="en-US" sz="2300" dirty="0">
                <a:sym typeface="Wingdings" pitchFamily="2" charset="2"/>
              </a:rPr>
              <a:t>am, Sec C: </a:t>
            </a:r>
            <a:r>
              <a:rPr lang="en-US" sz="2300" dirty="0" smtClean="0">
                <a:sym typeface="Wingdings" pitchFamily="2" charset="2"/>
              </a:rPr>
              <a:t>12 pm</a:t>
            </a:r>
            <a:r>
              <a:rPr lang="en-US" sz="2300" dirty="0">
                <a:sym typeface="Wingdings" pitchFamily="2" charset="2"/>
              </a:rPr>
              <a:t>)</a:t>
            </a:r>
            <a:r>
              <a:rPr lang="en-US" sz="2300" dirty="0" smtClean="0">
                <a:sym typeface="Wingdings" pitchFamily="2" charset="2"/>
              </a:rPr>
              <a:t> </a:t>
            </a:r>
            <a:endParaRPr lang="en-US" sz="2300" dirty="0">
              <a:sym typeface="Wingdings" pitchFamily="2" charset="2"/>
            </a:endParaRPr>
          </a:p>
          <a:p>
            <a:pPr eaLnBrk="1" hangingPunct="1"/>
            <a:endParaRPr lang="en-US" sz="2300" dirty="0" smtClean="0">
              <a:sym typeface="Wingdings" pitchFamily="2" charset="2"/>
            </a:endParaRPr>
          </a:p>
          <a:p>
            <a:pPr eaLnBrk="1" hangingPunct="1"/>
            <a:r>
              <a:rPr lang="en-US" sz="2300" dirty="0" smtClean="0">
                <a:sym typeface="Wingdings" pitchFamily="2" charset="2"/>
              </a:rPr>
              <a:t>Course Teacher (1</a:t>
            </a:r>
            <a:r>
              <a:rPr lang="en-US" sz="2300" baseline="30000" dirty="0" smtClean="0">
                <a:sym typeface="Wingdings" pitchFamily="2" charset="2"/>
              </a:rPr>
              <a:t>st</a:t>
            </a:r>
            <a:r>
              <a:rPr lang="en-US" sz="2300" dirty="0" smtClean="0">
                <a:sym typeface="Wingdings" pitchFamily="2" charset="2"/>
              </a:rPr>
              <a:t> part)</a:t>
            </a:r>
            <a:endParaRPr lang="en-US" sz="2300" dirty="0">
              <a:sym typeface="Wingdings" pitchFamily="2" charset="2"/>
            </a:endParaRPr>
          </a:p>
          <a:p>
            <a:pPr lvl="1" eaLnBrk="1" hangingPunct="1"/>
            <a:r>
              <a:rPr lang="en-US" sz="2300" dirty="0" smtClean="0"/>
              <a:t>Prof. </a:t>
            </a:r>
            <a:r>
              <a:rPr lang="en-US" sz="2300" dirty="0" err="1"/>
              <a:t>Tanzima</a:t>
            </a:r>
            <a:r>
              <a:rPr lang="en-US" sz="2300" dirty="0"/>
              <a:t> </a:t>
            </a:r>
            <a:r>
              <a:rPr lang="en-US" sz="2300" dirty="0" err="1"/>
              <a:t>Hashem</a:t>
            </a:r>
            <a:r>
              <a:rPr lang="en-US" sz="2300" dirty="0"/>
              <a:t> </a:t>
            </a:r>
          </a:p>
          <a:p>
            <a:pPr lvl="1" eaLnBrk="1" hangingPunct="1"/>
            <a:r>
              <a:rPr lang="en-US" sz="2300" dirty="0"/>
              <a:t>Office: Room# 313</a:t>
            </a:r>
          </a:p>
          <a:p>
            <a:pPr lvl="1" eaLnBrk="1" hangingPunct="1"/>
            <a:r>
              <a:rPr lang="en-US" sz="2300" dirty="0"/>
              <a:t>Email: </a:t>
            </a:r>
            <a:r>
              <a:rPr lang="en-US" sz="2300" dirty="0" err="1"/>
              <a:t>tanzimahashem</a:t>
            </a:r>
            <a:r>
              <a:rPr lang="en-US" sz="2300" dirty="0"/>
              <a:t> AT </a:t>
            </a:r>
            <a:r>
              <a:rPr lang="en-US" sz="2300" dirty="0" err="1" smtClean="0"/>
              <a:t>cse</a:t>
            </a:r>
            <a:r>
              <a:rPr lang="en-US" sz="2300" dirty="0" smtClean="0"/>
              <a:t> </a:t>
            </a:r>
            <a:r>
              <a:rPr lang="en-US" sz="2300" dirty="0"/>
              <a:t>DOT </a:t>
            </a:r>
            <a:r>
              <a:rPr lang="en-US" sz="2300" dirty="0" err="1" smtClean="0"/>
              <a:t>buet</a:t>
            </a:r>
            <a:r>
              <a:rPr lang="en-US" sz="2300" dirty="0" smtClean="0"/>
              <a:t> DOT ac DOT </a:t>
            </a:r>
            <a:r>
              <a:rPr lang="en-US" sz="2300" dirty="0" err="1" smtClean="0"/>
              <a:t>bd</a:t>
            </a:r>
            <a:r>
              <a:rPr lang="en-US" sz="2300" dirty="0" smtClean="0"/>
              <a:t> </a:t>
            </a:r>
            <a:endParaRPr lang="en-US" sz="2300" dirty="0" smtClean="0">
              <a:sym typeface="Wingdings" pitchFamily="2" charset="2"/>
            </a:endParaRPr>
          </a:p>
          <a:p>
            <a:r>
              <a:rPr lang="en-US" sz="2300" dirty="0" smtClean="0">
                <a:sym typeface="Wingdings" pitchFamily="2" charset="2"/>
              </a:rPr>
              <a:t>Course page</a:t>
            </a:r>
            <a:endParaRPr lang="en-US" sz="2300" dirty="0">
              <a:sym typeface="Wingdings" pitchFamily="2" charset="2"/>
            </a:endParaRPr>
          </a:p>
          <a:p>
            <a:pPr lvl="1"/>
            <a:r>
              <a:rPr lang="en-US" sz="2300" dirty="0">
                <a:sym typeface="Wingdings" pitchFamily="2" charset="2"/>
                <a:hlinkClick r:id="rId3"/>
              </a:rPr>
              <a:t>https://cse.buet.ac.bd/moodle/course/view.php?id=179 </a:t>
            </a:r>
            <a:endParaRPr lang="en-US" sz="2300" dirty="0" smtClean="0">
              <a:sym typeface="Wingdings" pitchFamily="2" charset="2"/>
            </a:endParaRPr>
          </a:p>
          <a:p>
            <a:pPr marL="457200" lvl="1" indent="0">
              <a:buNone/>
            </a:pPr>
            <a:endParaRPr lang="en-US" sz="2300" dirty="0"/>
          </a:p>
          <a:p>
            <a:pPr lvl="1"/>
            <a:endParaRPr lang="en-US" sz="2300" dirty="0" smtClean="0"/>
          </a:p>
          <a:p>
            <a:endParaRPr lang="en-US" sz="2300" dirty="0"/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0" y="633413"/>
            <a:ext cx="8143875" cy="273050"/>
            <a:chOff x="0" y="480"/>
            <a:chExt cx="5130" cy="172"/>
          </a:xfrm>
        </p:grpSpPr>
        <p:sp>
          <p:nvSpPr>
            <p:cNvPr id="19463" name="Line 4"/>
            <p:cNvSpPr>
              <a:spLocks noChangeShapeType="1"/>
            </p:cNvSpPr>
            <p:nvPr/>
          </p:nvSpPr>
          <p:spPr bwMode="auto">
            <a:xfrm>
              <a:off x="0" y="480"/>
              <a:ext cx="503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AU"/>
            </a:p>
          </p:txBody>
        </p:sp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4320" y="480"/>
              <a:ext cx="230" cy="172"/>
              <a:chOff x="24000" y="3168"/>
              <a:chExt cx="1248" cy="1248"/>
            </a:xfrm>
          </p:grpSpPr>
          <p:sp>
            <p:nvSpPr>
              <p:cNvPr id="19471" name="AutoShape 6"/>
              <p:cNvSpPr>
                <a:spLocks noChangeArrowheads="1"/>
              </p:cNvSpPr>
              <p:nvPr/>
            </p:nvSpPr>
            <p:spPr bwMode="auto">
              <a:xfrm>
                <a:off x="24000" y="3168"/>
                <a:ext cx="1248" cy="1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67 h 21600"/>
                  <a:gd name="T26" fmla="*/ 18433 w 21600"/>
                  <a:gd name="T27" fmla="*/ 1843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08" y="10800"/>
                    </a:moveTo>
                    <a:cubicBezTo>
                      <a:pt x="2908" y="15159"/>
                      <a:pt x="6441" y="18692"/>
                      <a:pt x="10800" y="18692"/>
                    </a:cubicBezTo>
                    <a:cubicBezTo>
                      <a:pt x="15159" y="18692"/>
                      <a:pt x="18692" y="15159"/>
                      <a:pt x="18692" y="10800"/>
                    </a:cubicBezTo>
                    <a:cubicBezTo>
                      <a:pt x="18692" y="6441"/>
                      <a:pt x="15159" y="2908"/>
                      <a:pt x="10800" y="2908"/>
                    </a:cubicBezTo>
                    <a:cubicBezTo>
                      <a:pt x="6441" y="2908"/>
                      <a:pt x="2908" y="6441"/>
                      <a:pt x="2908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472" name="AutoShape 7"/>
              <p:cNvSpPr>
                <a:spLocks noChangeArrowheads="1"/>
              </p:cNvSpPr>
              <p:nvPr/>
            </p:nvSpPr>
            <p:spPr bwMode="auto">
              <a:xfrm>
                <a:off x="24336" y="3504"/>
                <a:ext cx="576" cy="57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0 w 21600"/>
                  <a:gd name="T25" fmla="*/ 3150 h 21600"/>
                  <a:gd name="T26" fmla="*/ 18450 w 21600"/>
                  <a:gd name="T27" fmla="*/ 1845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" name="Group 8"/>
            <p:cNvGrpSpPr>
              <a:grpSpLocks/>
            </p:cNvGrpSpPr>
            <p:nvPr/>
          </p:nvGrpSpPr>
          <p:grpSpPr bwMode="auto">
            <a:xfrm>
              <a:off x="4610" y="480"/>
              <a:ext cx="230" cy="172"/>
              <a:chOff x="24000" y="3168"/>
              <a:chExt cx="1248" cy="1248"/>
            </a:xfrm>
          </p:grpSpPr>
          <p:sp>
            <p:nvSpPr>
              <p:cNvPr id="19469" name="AutoShape 9"/>
              <p:cNvSpPr>
                <a:spLocks noChangeArrowheads="1"/>
              </p:cNvSpPr>
              <p:nvPr/>
            </p:nvSpPr>
            <p:spPr bwMode="auto">
              <a:xfrm>
                <a:off x="24000" y="3168"/>
                <a:ext cx="1248" cy="1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67 h 21600"/>
                  <a:gd name="T26" fmla="*/ 18433 w 21600"/>
                  <a:gd name="T27" fmla="*/ 1843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08" y="10800"/>
                    </a:moveTo>
                    <a:cubicBezTo>
                      <a:pt x="2908" y="15159"/>
                      <a:pt x="6441" y="18692"/>
                      <a:pt x="10800" y="18692"/>
                    </a:cubicBezTo>
                    <a:cubicBezTo>
                      <a:pt x="15159" y="18692"/>
                      <a:pt x="18692" y="15159"/>
                      <a:pt x="18692" y="10800"/>
                    </a:cubicBezTo>
                    <a:cubicBezTo>
                      <a:pt x="18692" y="6441"/>
                      <a:pt x="15159" y="2908"/>
                      <a:pt x="10800" y="2908"/>
                    </a:cubicBezTo>
                    <a:cubicBezTo>
                      <a:pt x="6441" y="2908"/>
                      <a:pt x="2908" y="6441"/>
                      <a:pt x="2908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470" name="AutoShape 10"/>
              <p:cNvSpPr>
                <a:spLocks noChangeArrowheads="1"/>
              </p:cNvSpPr>
              <p:nvPr/>
            </p:nvSpPr>
            <p:spPr bwMode="auto">
              <a:xfrm>
                <a:off x="24336" y="3504"/>
                <a:ext cx="576" cy="57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0 w 21600"/>
                  <a:gd name="T25" fmla="*/ 3150 h 21600"/>
                  <a:gd name="T26" fmla="*/ 18450 w 21600"/>
                  <a:gd name="T27" fmla="*/ 1845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" name="Group 11"/>
            <p:cNvGrpSpPr>
              <a:grpSpLocks/>
            </p:cNvGrpSpPr>
            <p:nvPr/>
          </p:nvGrpSpPr>
          <p:grpSpPr bwMode="auto">
            <a:xfrm>
              <a:off x="4900" y="480"/>
              <a:ext cx="230" cy="172"/>
              <a:chOff x="24000" y="3168"/>
              <a:chExt cx="1248" cy="1248"/>
            </a:xfrm>
          </p:grpSpPr>
          <p:sp>
            <p:nvSpPr>
              <p:cNvPr id="19467" name="AutoShape 12"/>
              <p:cNvSpPr>
                <a:spLocks noChangeArrowheads="1"/>
              </p:cNvSpPr>
              <p:nvPr/>
            </p:nvSpPr>
            <p:spPr bwMode="auto">
              <a:xfrm>
                <a:off x="24000" y="3168"/>
                <a:ext cx="1248" cy="1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67 h 21600"/>
                  <a:gd name="T26" fmla="*/ 18433 w 21600"/>
                  <a:gd name="T27" fmla="*/ 1843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08" y="10800"/>
                    </a:moveTo>
                    <a:cubicBezTo>
                      <a:pt x="2908" y="15159"/>
                      <a:pt x="6441" y="18692"/>
                      <a:pt x="10800" y="18692"/>
                    </a:cubicBezTo>
                    <a:cubicBezTo>
                      <a:pt x="15159" y="18692"/>
                      <a:pt x="18692" y="15159"/>
                      <a:pt x="18692" y="10800"/>
                    </a:cubicBezTo>
                    <a:cubicBezTo>
                      <a:pt x="18692" y="6441"/>
                      <a:pt x="15159" y="2908"/>
                      <a:pt x="10800" y="2908"/>
                    </a:cubicBezTo>
                    <a:cubicBezTo>
                      <a:pt x="6441" y="2908"/>
                      <a:pt x="2908" y="6441"/>
                      <a:pt x="2908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468" name="AutoShape 13"/>
              <p:cNvSpPr>
                <a:spLocks noChangeArrowheads="1"/>
              </p:cNvSpPr>
              <p:nvPr/>
            </p:nvSpPr>
            <p:spPr bwMode="auto">
              <a:xfrm>
                <a:off x="24336" y="3504"/>
                <a:ext cx="576" cy="57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0 w 21600"/>
                  <a:gd name="T25" fmla="*/ 3150 h 21600"/>
                  <a:gd name="T26" fmla="*/ 18450 w 21600"/>
                  <a:gd name="T27" fmla="*/ 1845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19460" name="Rectangle 14"/>
          <p:cNvSpPr>
            <a:spLocks noChangeArrowheads="1"/>
          </p:cNvSpPr>
          <p:nvPr/>
        </p:nvSpPr>
        <p:spPr bwMode="auto">
          <a:xfrm>
            <a:off x="304800" y="762000"/>
            <a:ext cx="66294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dirty="0" smtClean="0"/>
              <a:t>Course Overview</a:t>
            </a:r>
            <a:endParaRPr lang="en-US" dirty="0"/>
          </a:p>
        </p:txBody>
      </p:sp>
      <p:sp>
        <p:nvSpPr>
          <p:cNvPr id="19461" name="Rectangle 15"/>
          <p:cNvSpPr>
            <a:spLocks noChangeArrowheads="1"/>
          </p:cNvSpPr>
          <p:nvPr/>
        </p:nvSpPr>
        <p:spPr bwMode="auto">
          <a:xfrm>
            <a:off x="228600" y="152400"/>
            <a:ext cx="563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l"/>
            <a:r>
              <a:rPr lang="en-US" sz="2800" i="1" dirty="0" smtClean="0">
                <a:solidFill>
                  <a:schemeClr val="tx1"/>
                </a:solidFill>
                <a:latin typeface="Arial" charset="0"/>
              </a:rPr>
              <a:t>Database</a:t>
            </a:r>
            <a:endParaRPr lang="en-US" sz="2800" i="1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Tanzima Hashem, Dept of CSE, BUET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CF104B-57E3-4411-AB68-47EC9C0CCFE4}" type="slidenum">
              <a:rPr lang="fr-FR" smtClean="0"/>
              <a:pPr>
                <a:defRPr/>
              </a:pPr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9991070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u contenu 2"/>
          <p:cNvSpPr>
            <a:spLocks noGrp="1"/>
          </p:cNvSpPr>
          <p:nvPr>
            <p:ph idx="4294967295"/>
          </p:nvPr>
        </p:nvSpPr>
        <p:spPr>
          <a:xfrm>
            <a:off x="357188" y="1676400"/>
            <a:ext cx="8329612" cy="4800600"/>
          </a:xfrm>
        </p:spPr>
        <p:txBody>
          <a:bodyPr/>
          <a:lstStyle/>
          <a:p>
            <a:r>
              <a:rPr lang="en-US" sz="2300" dirty="0" smtClean="0">
                <a:sym typeface="Wingdings" pitchFamily="2" charset="2"/>
              </a:rPr>
              <a:t>Text</a:t>
            </a:r>
            <a:r>
              <a:rPr lang="en-US" sz="2300" dirty="0" smtClean="0"/>
              <a:t> Books</a:t>
            </a:r>
          </a:p>
          <a:p>
            <a:pPr lvl="1"/>
            <a:r>
              <a:rPr lang="en-US" sz="2300" dirty="0" smtClean="0"/>
              <a:t>Database </a:t>
            </a:r>
            <a:r>
              <a:rPr lang="en-US" sz="2300" dirty="0"/>
              <a:t>System </a:t>
            </a:r>
            <a:r>
              <a:rPr lang="en-US" sz="2300" dirty="0" smtClean="0"/>
              <a:t>Concepts </a:t>
            </a:r>
            <a:r>
              <a:rPr lang="en-US" sz="2300" dirty="0"/>
              <a:t>by </a:t>
            </a:r>
            <a:r>
              <a:rPr lang="en-US" sz="2300" dirty="0" err="1"/>
              <a:t>Silberschatz</a:t>
            </a:r>
            <a:r>
              <a:rPr lang="en-US" sz="2300" dirty="0"/>
              <a:t>, </a:t>
            </a:r>
            <a:r>
              <a:rPr lang="en-US" sz="2300" dirty="0" err="1"/>
              <a:t>Korth</a:t>
            </a:r>
            <a:r>
              <a:rPr lang="en-US" sz="2300" dirty="0"/>
              <a:t>, and </a:t>
            </a:r>
            <a:r>
              <a:rPr lang="en-US" sz="2300" dirty="0" err="1" smtClean="0"/>
              <a:t>Sudarsan</a:t>
            </a:r>
            <a:endParaRPr lang="en-US" sz="2300" dirty="0" smtClean="0"/>
          </a:p>
          <a:p>
            <a:r>
              <a:rPr lang="en-US" sz="2300" dirty="0" smtClean="0"/>
              <a:t>Other Book</a:t>
            </a:r>
          </a:p>
          <a:p>
            <a:pPr lvl="1"/>
            <a:r>
              <a:rPr lang="en-US" sz="2300" dirty="0" smtClean="0"/>
              <a:t>Database </a:t>
            </a:r>
            <a:r>
              <a:rPr lang="en-US" sz="2300" dirty="0"/>
              <a:t>Systems: The Complete Book, by Garcia-Molina, Ullman and </a:t>
            </a:r>
            <a:r>
              <a:rPr lang="en-US" sz="2300" dirty="0" err="1"/>
              <a:t>Widom</a:t>
            </a:r>
            <a:r>
              <a:rPr lang="en-US" sz="2300" dirty="0"/>
              <a:t> </a:t>
            </a:r>
          </a:p>
          <a:p>
            <a:pPr marL="457200" lvl="1" indent="0">
              <a:buNone/>
            </a:pPr>
            <a:endParaRPr lang="en-US" sz="2300" dirty="0" smtClean="0"/>
          </a:p>
          <a:p>
            <a:pPr lvl="1"/>
            <a:endParaRPr lang="en-US" sz="2300" dirty="0"/>
          </a:p>
          <a:p>
            <a:pPr lvl="1"/>
            <a:endParaRPr lang="en-US" sz="2300" dirty="0" smtClean="0"/>
          </a:p>
          <a:p>
            <a:endParaRPr lang="en-US" sz="2300" dirty="0"/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0" y="633413"/>
            <a:ext cx="8143875" cy="273050"/>
            <a:chOff x="0" y="480"/>
            <a:chExt cx="5130" cy="172"/>
          </a:xfrm>
        </p:grpSpPr>
        <p:sp>
          <p:nvSpPr>
            <p:cNvPr id="19463" name="Line 4"/>
            <p:cNvSpPr>
              <a:spLocks noChangeShapeType="1"/>
            </p:cNvSpPr>
            <p:nvPr/>
          </p:nvSpPr>
          <p:spPr bwMode="auto">
            <a:xfrm>
              <a:off x="0" y="480"/>
              <a:ext cx="503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AU"/>
            </a:p>
          </p:txBody>
        </p:sp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4320" y="480"/>
              <a:ext cx="230" cy="172"/>
              <a:chOff x="24000" y="3168"/>
              <a:chExt cx="1248" cy="1248"/>
            </a:xfrm>
          </p:grpSpPr>
          <p:sp>
            <p:nvSpPr>
              <p:cNvPr id="19471" name="AutoShape 6"/>
              <p:cNvSpPr>
                <a:spLocks noChangeArrowheads="1"/>
              </p:cNvSpPr>
              <p:nvPr/>
            </p:nvSpPr>
            <p:spPr bwMode="auto">
              <a:xfrm>
                <a:off x="24000" y="3168"/>
                <a:ext cx="1248" cy="1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67 h 21600"/>
                  <a:gd name="T26" fmla="*/ 18433 w 21600"/>
                  <a:gd name="T27" fmla="*/ 1843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08" y="10800"/>
                    </a:moveTo>
                    <a:cubicBezTo>
                      <a:pt x="2908" y="15159"/>
                      <a:pt x="6441" y="18692"/>
                      <a:pt x="10800" y="18692"/>
                    </a:cubicBezTo>
                    <a:cubicBezTo>
                      <a:pt x="15159" y="18692"/>
                      <a:pt x="18692" y="15159"/>
                      <a:pt x="18692" y="10800"/>
                    </a:cubicBezTo>
                    <a:cubicBezTo>
                      <a:pt x="18692" y="6441"/>
                      <a:pt x="15159" y="2908"/>
                      <a:pt x="10800" y="2908"/>
                    </a:cubicBezTo>
                    <a:cubicBezTo>
                      <a:pt x="6441" y="2908"/>
                      <a:pt x="2908" y="6441"/>
                      <a:pt x="2908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472" name="AutoShape 7"/>
              <p:cNvSpPr>
                <a:spLocks noChangeArrowheads="1"/>
              </p:cNvSpPr>
              <p:nvPr/>
            </p:nvSpPr>
            <p:spPr bwMode="auto">
              <a:xfrm>
                <a:off x="24336" y="3504"/>
                <a:ext cx="576" cy="57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0 w 21600"/>
                  <a:gd name="T25" fmla="*/ 3150 h 21600"/>
                  <a:gd name="T26" fmla="*/ 18450 w 21600"/>
                  <a:gd name="T27" fmla="*/ 1845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" name="Group 8"/>
            <p:cNvGrpSpPr>
              <a:grpSpLocks/>
            </p:cNvGrpSpPr>
            <p:nvPr/>
          </p:nvGrpSpPr>
          <p:grpSpPr bwMode="auto">
            <a:xfrm>
              <a:off x="4610" y="480"/>
              <a:ext cx="230" cy="172"/>
              <a:chOff x="24000" y="3168"/>
              <a:chExt cx="1248" cy="1248"/>
            </a:xfrm>
          </p:grpSpPr>
          <p:sp>
            <p:nvSpPr>
              <p:cNvPr id="19469" name="AutoShape 9"/>
              <p:cNvSpPr>
                <a:spLocks noChangeArrowheads="1"/>
              </p:cNvSpPr>
              <p:nvPr/>
            </p:nvSpPr>
            <p:spPr bwMode="auto">
              <a:xfrm>
                <a:off x="24000" y="3168"/>
                <a:ext cx="1248" cy="1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67 h 21600"/>
                  <a:gd name="T26" fmla="*/ 18433 w 21600"/>
                  <a:gd name="T27" fmla="*/ 1843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08" y="10800"/>
                    </a:moveTo>
                    <a:cubicBezTo>
                      <a:pt x="2908" y="15159"/>
                      <a:pt x="6441" y="18692"/>
                      <a:pt x="10800" y="18692"/>
                    </a:cubicBezTo>
                    <a:cubicBezTo>
                      <a:pt x="15159" y="18692"/>
                      <a:pt x="18692" y="15159"/>
                      <a:pt x="18692" y="10800"/>
                    </a:cubicBezTo>
                    <a:cubicBezTo>
                      <a:pt x="18692" y="6441"/>
                      <a:pt x="15159" y="2908"/>
                      <a:pt x="10800" y="2908"/>
                    </a:cubicBezTo>
                    <a:cubicBezTo>
                      <a:pt x="6441" y="2908"/>
                      <a:pt x="2908" y="6441"/>
                      <a:pt x="2908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470" name="AutoShape 10"/>
              <p:cNvSpPr>
                <a:spLocks noChangeArrowheads="1"/>
              </p:cNvSpPr>
              <p:nvPr/>
            </p:nvSpPr>
            <p:spPr bwMode="auto">
              <a:xfrm>
                <a:off x="24336" y="3504"/>
                <a:ext cx="576" cy="57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0 w 21600"/>
                  <a:gd name="T25" fmla="*/ 3150 h 21600"/>
                  <a:gd name="T26" fmla="*/ 18450 w 21600"/>
                  <a:gd name="T27" fmla="*/ 1845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" name="Group 11"/>
            <p:cNvGrpSpPr>
              <a:grpSpLocks/>
            </p:cNvGrpSpPr>
            <p:nvPr/>
          </p:nvGrpSpPr>
          <p:grpSpPr bwMode="auto">
            <a:xfrm>
              <a:off x="4900" y="480"/>
              <a:ext cx="230" cy="172"/>
              <a:chOff x="24000" y="3168"/>
              <a:chExt cx="1248" cy="1248"/>
            </a:xfrm>
          </p:grpSpPr>
          <p:sp>
            <p:nvSpPr>
              <p:cNvPr id="19467" name="AutoShape 12"/>
              <p:cNvSpPr>
                <a:spLocks noChangeArrowheads="1"/>
              </p:cNvSpPr>
              <p:nvPr/>
            </p:nvSpPr>
            <p:spPr bwMode="auto">
              <a:xfrm>
                <a:off x="24000" y="3168"/>
                <a:ext cx="1248" cy="1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67 h 21600"/>
                  <a:gd name="T26" fmla="*/ 18433 w 21600"/>
                  <a:gd name="T27" fmla="*/ 1843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08" y="10800"/>
                    </a:moveTo>
                    <a:cubicBezTo>
                      <a:pt x="2908" y="15159"/>
                      <a:pt x="6441" y="18692"/>
                      <a:pt x="10800" y="18692"/>
                    </a:cubicBezTo>
                    <a:cubicBezTo>
                      <a:pt x="15159" y="18692"/>
                      <a:pt x="18692" y="15159"/>
                      <a:pt x="18692" y="10800"/>
                    </a:cubicBezTo>
                    <a:cubicBezTo>
                      <a:pt x="18692" y="6441"/>
                      <a:pt x="15159" y="2908"/>
                      <a:pt x="10800" y="2908"/>
                    </a:cubicBezTo>
                    <a:cubicBezTo>
                      <a:pt x="6441" y="2908"/>
                      <a:pt x="2908" y="6441"/>
                      <a:pt x="2908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468" name="AutoShape 13"/>
              <p:cNvSpPr>
                <a:spLocks noChangeArrowheads="1"/>
              </p:cNvSpPr>
              <p:nvPr/>
            </p:nvSpPr>
            <p:spPr bwMode="auto">
              <a:xfrm>
                <a:off x="24336" y="3504"/>
                <a:ext cx="576" cy="57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0 w 21600"/>
                  <a:gd name="T25" fmla="*/ 3150 h 21600"/>
                  <a:gd name="T26" fmla="*/ 18450 w 21600"/>
                  <a:gd name="T27" fmla="*/ 1845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19460" name="Rectangle 14"/>
          <p:cNvSpPr>
            <a:spLocks noChangeArrowheads="1"/>
          </p:cNvSpPr>
          <p:nvPr/>
        </p:nvSpPr>
        <p:spPr bwMode="auto">
          <a:xfrm>
            <a:off x="304800" y="762000"/>
            <a:ext cx="66294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dirty="0" smtClean="0"/>
              <a:t>Course Overview</a:t>
            </a:r>
            <a:endParaRPr lang="en-US" dirty="0"/>
          </a:p>
        </p:txBody>
      </p:sp>
      <p:sp>
        <p:nvSpPr>
          <p:cNvPr id="19461" name="Rectangle 15"/>
          <p:cNvSpPr>
            <a:spLocks noChangeArrowheads="1"/>
          </p:cNvSpPr>
          <p:nvPr/>
        </p:nvSpPr>
        <p:spPr bwMode="auto">
          <a:xfrm>
            <a:off x="228600" y="152400"/>
            <a:ext cx="563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l"/>
            <a:r>
              <a:rPr lang="en-US" sz="2800" i="1" dirty="0">
                <a:solidFill>
                  <a:schemeClr val="tx1"/>
                </a:solidFill>
                <a:latin typeface="Arial" charset="0"/>
              </a:rPr>
              <a:t>Database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Tanzima Hashem, Dept of CSE, BUET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CF104B-57E3-4411-AB68-47EC9C0CCFE4}" type="slidenum">
              <a:rPr lang="fr-FR" smtClean="0"/>
              <a:pPr>
                <a:defRPr/>
              </a:pPr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9779289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u contenu 2"/>
          <p:cNvSpPr>
            <a:spLocks noGrp="1"/>
          </p:cNvSpPr>
          <p:nvPr>
            <p:ph idx="4294967295"/>
          </p:nvPr>
        </p:nvSpPr>
        <p:spPr>
          <a:xfrm>
            <a:off x="357188" y="1676400"/>
            <a:ext cx="8329612" cy="4800600"/>
          </a:xfrm>
        </p:spPr>
        <p:txBody>
          <a:bodyPr/>
          <a:lstStyle/>
          <a:p>
            <a:r>
              <a:rPr lang="en-US" sz="2300" dirty="0"/>
              <a:t>Concepts of database systems; Data Models: Entity-Relationship model, Relational model; Query Languages: Relational algebra, SQL; Constraints and triggers; </a:t>
            </a:r>
            <a:endParaRPr lang="en-US" sz="2300" dirty="0" smtClean="0"/>
          </a:p>
          <a:p>
            <a:endParaRPr lang="en-US" sz="2700" dirty="0"/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0" y="633413"/>
            <a:ext cx="8143875" cy="273050"/>
            <a:chOff x="0" y="480"/>
            <a:chExt cx="5130" cy="172"/>
          </a:xfrm>
        </p:grpSpPr>
        <p:sp>
          <p:nvSpPr>
            <p:cNvPr id="19463" name="Line 4"/>
            <p:cNvSpPr>
              <a:spLocks noChangeShapeType="1"/>
            </p:cNvSpPr>
            <p:nvPr/>
          </p:nvSpPr>
          <p:spPr bwMode="auto">
            <a:xfrm>
              <a:off x="0" y="480"/>
              <a:ext cx="503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AU"/>
            </a:p>
          </p:txBody>
        </p:sp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4320" y="480"/>
              <a:ext cx="230" cy="172"/>
              <a:chOff x="24000" y="3168"/>
              <a:chExt cx="1248" cy="1248"/>
            </a:xfrm>
          </p:grpSpPr>
          <p:sp>
            <p:nvSpPr>
              <p:cNvPr id="19471" name="AutoShape 6"/>
              <p:cNvSpPr>
                <a:spLocks noChangeArrowheads="1"/>
              </p:cNvSpPr>
              <p:nvPr/>
            </p:nvSpPr>
            <p:spPr bwMode="auto">
              <a:xfrm>
                <a:off x="24000" y="3168"/>
                <a:ext cx="1248" cy="1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67 h 21600"/>
                  <a:gd name="T26" fmla="*/ 18433 w 21600"/>
                  <a:gd name="T27" fmla="*/ 1843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08" y="10800"/>
                    </a:moveTo>
                    <a:cubicBezTo>
                      <a:pt x="2908" y="15159"/>
                      <a:pt x="6441" y="18692"/>
                      <a:pt x="10800" y="18692"/>
                    </a:cubicBezTo>
                    <a:cubicBezTo>
                      <a:pt x="15159" y="18692"/>
                      <a:pt x="18692" y="15159"/>
                      <a:pt x="18692" y="10800"/>
                    </a:cubicBezTo>
                    <a:cubicBezTo>
                      <a:pt x="18692" y="6441"/>
                      <a:pt x="15159" y="2908"/>
                      <a:pt x="10800" y="2908"/>
                    </a:cubicBezTo>
                    <a:cubicBezTo>
                      <a:pt x="6441" y="2908"/>
                      <a:pt x="2908" y="6441"/>
                      <a:pt x="2908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472" name="AutoShape 7"/>
              <p:cNvSpPr>
                <a:spLocks noChangeArrowheads="1"/>
              </p:cNvSpPr>
              <p:nvPr/>
            </p:nvSpPr>
            <p:spPr bwMode="auto">
              <a:xfrm>
                <a:off x="24336" y="3504"/>
                <a:ext cx="576" cy="57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0 w 21600"/>
                  <a:gd name="T25" fmla="*/ 3150 h 21600"/>
                  <a:gd name="T26" fmla="*/ 18450 w 21600"/>
                  <a:gd name="T27" fmla="*/ 1845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" name="Group 8"/>
            <p:cNvGrpSpPr>
              <a:grpSpLocks/>
            </p:cNvGrpSpPr>
            <p:nvPr/>
          </p:nvGrpSpPr>
          <p:grpSpPr bwMode="auto">
            <a:xfrm>
              <a:off x="4610" y="480"/>
              <a:ext cx="230" cy="172"/>
              <a:chOff x="24000" y="3168"/>
              <a:chExt cx="1248" cy="1248"/>
            </a:xfrm>
          </p:grpSpPr>
          <p:sp>
            <p:nvSpPr>
              <p:cNvPr id="19469" name="AutoShape 9"/>
              <p:cNvSpPr>
                <a:spLocks noChangeArrowheads="1"/>
              </p:cNvSpPr>
              <p:nvPr/>
            </p:nvSpPr>
            <p:spPr bwMode="auto">
              <a:xfrm>
                <a:off x="24000" y="3168"/>
                <a:ext cx="1248" cy="1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67 h 21600"/>
                  <a:gd name="T26" fmla="*/ 18433 w 21600"/>
                  <a:gd name="T27" fmla="*/ 1843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08" y="10800"/>
                    </a:moveTo>
                    <a:cubicBezTo>
                      <a:pt x="2908" y="15159"/>
                      <a:pt x="6441" y="18692"/>
                      <a:pt x="10800" y="18692"/>
                    </a:cubicBezTo>
                    <a:cubicBezTo>
                      <a:pt x="15159" y="18692"/>
                      <a:pt x="18692" y="15159"/>
                      <a:pt x="18692" y="10800"/>
                    </a:cubicBezTo>
                    <a:cubicBezTo>
                      <a:pt x="18692" y="6441"/>
                      <a:pt x="15159" y="2908"/>
                      <a:pt x="10800" y="2908"/>
                    </a:cubicBezTo>
                    <a:cubicBezTo>
                      <a:pt x="6441" y="2908"/>
                      <a:pt x="2908" y="6441"/>
                      <a:pt x="2908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470" name="AutoShape 10"/>
              <p:cNvSpPr>
                <a:spLocks noChangeArrowheads="1"/>
              </p:cNvSpPr>
              <p:nvPr/>
            </p:nvSpPr>
            <p:spPr bwMode="auto">
              <a:xfrm>
                <a:off x="24336" y="3504"/>
                <a:ext cx="576" cy="57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0 w 21600"/>
                  <a:gd name="T25" fmla="*/ 3150 h 21600"/>
                  <a:gd name="T26" fmla="*/ 18450 w 21600"/>
                  <a:gd name="T27" fmla="*/ 1845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" name="Group 11"/>
            <p:cNvGrpSpPr>
              <a:grpSpLocks/>
            </p:cNvGrpSpPr>
            <p:nvPr/>
          </p:nvGrpSpPr>
          <p:grpSpPr bwMode="auto">
            <a:xfrm>
              <a:off x="4900" y="480"/>
              <a:ext cx="230" cy="172"/>
              <a:chOff x="24000" y="3168"/>
              <a:chExt cx="1248" cy="1248"/>
            </a:xfrm>
          </p:grpSpPr>
          <p:sp>
            <p:nvSpPr>
              <p:cNvPr id="19467" name="AutoShape 12"/>
              <p:cNvSpPr>
                <a:spLocks noChangeArrowheads="1"/>
              </p:cNvSpPr>
              <p:nvPr/>
            </p:nvSpPr>
            <p:spPr bwMode="auto">
              <a:xfrm>
                <a:off x="24000" y="3168"/>
                <a:ext cx="1248" cy="1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67 h 21600"/>
                  <a:gd name="T26" fmla="*/ 18433 w 21600"/>
                  <a:gd name="T27" fmla="*/ 1843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08" y="10800"/>
                    </a:moveTo>
                    <a:cubicBezTo>
                      <a:pt x="2908" y="15159"/>
                      <a:pt x="6441" y="18692"/>
                      <a:pt x="10800" y="18692"/>
                    </a:cubicBezTo>
                    <a:cubicBezTo>
                      <a:pt x="15159" y="18692"/>
                      <a:pt x="18692" y="15159"/>
                      <a:pt x="18692" y="10800"/>
                    </a:cubicBezTo>
                    <a:cubicBezTo>
                      <a:pt x="18692" y="6441"/>
                      <a:pt x="15159" y="2908"/>
                      <a:pt x="10800" y="2908"/>
                    </a:cubicBezTo>
                    <a:cubicBezTo>
                      <a:pt x="6441" y="2908"/>
                      <a:pt x="2908" y="6441"/>
                      <a:pt x="2908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468" name="AutoShape 13"/>
              <p:cNvSpPr>
                <a:spLocks noChangeArrowheads="1"/>
              </p:cNvSpPr>
              <p:nvPr/>
            </p:nvSpPr>
            <p:spPr bwMode="auto">
              <a:xfrm>
                <a:off x="24336" y="3504"/>
                <a:ext cx="576" cy="57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0 w 21600"/>
                  <a:gd name="T25" fmla="*/ 3150 h 21600"/>
                  <a:gd name="T26" fmla="*/ 18450 w 21600"/>
                  <a:gd name="T27" fmla="*/ 1845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19460" name="Rectangle 14"/>
          <p:cNvSpPr>
            <a:spLocks noChangeArrowheads="1"/>
          </p:cNvSpPr>
          <p:nvPr/>
        </p:nvSpPr>
        <p:spPr bwMode="auto">
          <a:xfrm>
            <a:off x="304800" y="762000"/>
            <a:ext cx="66294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dirty="0" smtClean="0"/>
              <a:t>Course Topics (TH)</a:t>
            </a:r>
            <a:endParaRPr lang="en-US" dirty="0"/>
          </a:p>
        </p:txBody>
      </p:sp>
      <p:sp>
        <p:nvSpPr>
          <p:cNvPr id="19461" name="Rectangle 15"/>
          <p:cNvSpPr>
            <a:spLocks noChangeArrowheads="1"/>
          </p:cNvSpPr>
          <p:nvPr/>
        </p:nvSpPr>
        <p:spPr bwMode="auto">
          <a:xfrm>
            <a:off x="228600" y="152400"/>
            <a:ext cx="563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l"/>
            <a:r>
              <a:rPr lang="en-US" sz="2800" i="1" dirty="0">
                <a:solidFill>
                  <a:schemeClr val="tx1"/>
                </a:solidFill>
                <a:latin typeface="Arial" charset="0"/>
              </a:rPr>
              <a:t>Database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Tanzima Hashem, Dept of CSE, BUET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CF104B-57E3-4411-AB68-47EC9C0CCFE4}" type="slidenum">
              <a:rPr lang="fr-FR" smtClean="0"/>
              <a:pPr>
                <a:defRPr/>
              </a:pPr>
              <a:t>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5050311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u contenu 2"/>
          <p:cNvSpPr>
            <a:spLocks noGrp="1"/>
          </p:cNvSpPr>
          <p:nvPr>
            <p:ph idx="4294967295"/>
          </p:nvPr>
        </p:nvSpPr>
        <p:spPr>
          <a:xfrm>
            <a:off x="357188" y="1676400"/>
            <a:ext cx="8329612" cy="4800600"/>
          </a:xfrm>
        </p:spPr>
        <p:txBody>
          <a:bodyPr/>
          <a:lstStyle/>
          <a:p>
            <a:r>
              <a:rPr lang="en-AU" sz="2400" dirty="0" smtClean="0"/>
              <a:t>Database</a:t>
            </a:r>
          </a:p>
          <a:p>
            <a:pPr lvl="1"/>
            <a:r>
              <a:rPr lang="en-US" dirty="0"/>
              <a:t>Collection of interrelated data</a:t>
            </a:r>
          </a:p>
          <a:p>
            <a:pPr marL="457200" lvl="1" indent="0">
              <a:buNone/>
            </a:pPr>
            <a:endParaRPr lang="en-AU" sz="2400" dirty="0" smtClean="0"/>
          </a:p>
          <a:p>
            <a:r>
              <a:rPr lang="en-AU" sz="2400" dirty="0" smtClean="0"/>
              <a:t>Database Management System (DBMS)</a:t>
            </a:r>
          </a:p>
          <a:p>
            <a:pPr lvl="1"/>
            <a:r>
              <a:rPr lang="en-US" dirty="0"/>
              <a:t>Collection of interrelated data</a:t>
            </a:r>
          </a:p>
          <a:p>
            <a:pPr lvl="1"/>
            <a:r>
              <a:rPr lang="en-US" dirty="0" smtClean="0"/>
              <a:t>Set </a:t>
            </a:r>
            <a:r>
              <a:rPr lang="en-US" dirty="0"/>
              <a:t>of programs </a:t>
            </a:r>
            <a:r>
              <a:rPr lang="en-US" dirty="0" smtClean="0"/>
              <a:t>that </a:t>
            </a:r>
            <a:r>
              <a:rPr lang="en-US" dirty="0" smtClean="0"/>
              <a:t>store, organize, </a:t>
            </a:r>
            <a:r>
              <a:rPr lang="en-US" dirty="0"/>
              <a:t>and </a:t>
            </a:r>
            <a:r>
              <a:rPr lang="en-US" dirty="0" smtClean="0"/>
              <a:t>manage </a:t>
            </a:r>
            <a:r>
              <a:rPr lang="en-US" dirty="0"/>
              <a:t>data, and </a:t>
            </a:r>
            <a:r>
              <a:rPr lang="en-US" dirty="0" smtClean="0"/>
              <a:t>allow </a:t>
            </a:r>
            <a:r>
              <a:rPr lang="en-US" dirty="0"/>
              <a:t>users to efficiently add, update, retrieve, and protect </a:t>
            </a:r>
            <a:r>
              <a:rPr lang="en-US" dirty="0" smtClean="0"/>
              <a:t>information</a:t>
            </a:r>
            <a:endParaRPr lang="en-US" i="1" dirty="0" smtClean="0"/>
          </a:p>
          <a:p>
            <a:pPr lvl="1"/>
            <a:endParaRPr lang="en-US" dirty="0" smtClean="0"/>
          </a:p>
          <a:p>
            <a:pPr marL="457200" lvl="1" indent="0">
              <a:buNone/>
            </a:pPr>
            <a:r>
              <a:rPr lang="en-US" dirty="0" smtClean="0"/>
              <a:t> </a:t>
            </a:r>
            <a:endParaRPr lang="en-US" dirty="0"/>
          </a:p>
          <a:p>
            <a:endParaRPr lang="en-AU" sz="2400" dirty="0" smtClean="0"/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0" y="633413"/>
            <a:ext cx="8143875" cy="273050"/>
            <a:chOff x="0" y="480"/>
            <a:chExt cx="5130" cy="172"/>
          </a:xfrm>
        </p:grpSpPr>
        <p:sp>
          <p:nvSpPr>
            <p:cNvPr id="18438" name="Line 4"/>
            <p:cNvSpPr>
              <a:spLocks noChangeShapeType="1"/>
            </p:cNvSpPr>
            <p:nvPr/>
          </p:nvSpPr>
          <p:spPr bwMode="auto">
            <a:xfrm>
              <a:off x="0" y="480"/>
              <a:ext cx="503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AU"/>
            </a:p>
          </p:txBody>
        </p:sp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4320" y="480"/>
              <a:ext cx="230" cy="172"/>
              <a:chOff x="24000" y="3168"/>
              <a:chExt cx="1248" cy="1248"/>
            </a:xfrm>
          </p:grpSpPr>
          <p:sp>
            <p:nvSpPr>
              <p:cNvPr id="18446" name="AutoShape 6"/>
              <p:cNvSpPr>
                <a:spLocks noChangeArrowheads="1"/>
              </p:cNvSpPr>
              <p:nvPr/>
            </p:nvSpPr>
            <p:spPr bwMode="auto">
              <a:xfrm>
                <a:off x="24000" y="3168"/>
                <a:ext cx="1248" cy="1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67 h 21600"/>
                  <a:gd name="T26" fmla="*/ 18433 w 21600"/>
                  <a:gd name="T27" fmla="*/ 1843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08" y="10800"/>
                    </a:moveTo>
                    <a:cubicBezTo>
                      <a:pt x="2908" y="15159"/>
                      <a:pt x="6441" y="18692"/>
                      <a:pt x="10800" y="18692"/>
                    </a:cubicBezTo>
                    <a:cubicBezTo>
                      <a:pt x="15159" y="18692"/>
                      <a:pt x="18692" y="15159"/>
                      <a:pt x="18692" y="10800"/>
                    </a:cubicBezTo>
                    <a:cubicBezTo>
                      <a:pt x="18692" y="6441"/>
                      <a:pt x="15159" y="2908"/>
                      <a:pt x="10800" y="2908"/>
                    </a:cubicBezTo>
                    <a:cubicBezTo>
                      <a:pt x="6441" y="2908"/>
                      <a:pt x="2908" y="6441"/>
                      <a:pt x="2908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8447" name="AutoShape 7"/>
              <p:cNvSpPr>
                <a:spLocks noChangeArrowheads="1"/>
              </p:cNvSpPr>
              <p:nvPr/>
            </p:nvSpPr>
            <p:spPr bwMode="auto">
              <a:xfrm>
                <a:off x="24336" y="3504"/>
                <a:ext cx="576" cy="57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0 w 21600"/>
                  <a:gd name="T25" fmla="*/ 3150 h 21600"/>
                  <a:gd name="T26" fmla="*/ 18450 w 21600"/>
                  <a:gd name="T27" fmla="*/ 1845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</p:grpSp>
        <p:grpSp>
          <p:nvGrpSpPr>
            <p:cNvPr id="4" name="Group 8"/>
            <p:cNvGrpSpPr>
              <a:grpSpLocks/>
            </p:cNvGrpSpPr>
            <p:nvPr/>
          </p:nvGrpSpPr>
          <p:grpSpPr bwMode="auto">
            <a:xfrm>
              <a:off x="4610" y="480"/>
              <a:ext cx="230" cy="172"/>
              <a:chOff x="24000" y="3168"/>
              <a:chExt cx="1248" cy="1248"/>
            </a:xfrm>
          </p:grpSpPr>
          <p:sp>
            <p:nvSpPr>
              <p:cNvPr id="18444" name="AutoShape 9"/>
              <p:cNvSpPr>
                <a:spLocks noChangeArrowheads="1"/>
              </p:cNvSpPr>
              <p:nvPr/>
            </p:nvSpPr>
            <p:spPr bwMode="auto">
              <a:xfrm>
                <a:off x="24000" y="3168"/>
                <a:ext cx="1248" cy="1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67 h 21600"/>
                  <a:gd name="T26" fmla="*/ 18433 w 21600"/>
                  <a:gd name="T27" fmla="*/ 1843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08" y="10800"/>
                    </a:moveTo>
                    <a:cubicBezTo>
                      <a:pt x="2908" y="15159"/>
                      <a:pt x="6441" y="18692"/>
                      <a:pt x="10800" y="18692"/>
                    </a:cubicBezTo>
                    <a:cubicBezTo>
                      <a:pt x="15159" y="18692"/>
                      <a:pt x="18692" y="15159"/>
                      <a:pt x="18692" y="10800"/>
                    </a:cubicBezTo>
                    <a:cubicBezTo>
                      <a:pt x="18692" y="6441"/>
                      <a:pt x="15159" y="2908"/>
                      <a:pt x="10800" y="2908"/>
                    </a:cubicBezTo>
                    <a:cubicBezTo>
                      <a:pt x="6441" y="2908"/>
                      <a:pt x="2908" y="6441"/>
                      <a:pt x="2908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8445" name="AutoShape 10"/>
              <p:cNvSpPr>
                <a:spLocks noChangeArrowheads="1"/>
              </p:cNvSpPr>
              <p:nvPr/>
            </p:nvSpPr>
            <p:spPr bwMode="auto">
              <a:xfrm>
                <a:off x="24336" y="3504"/>
                <a:ext cx="576" cy="57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0 w 21600"/>
                  <a:gd name="T25" fmla="*/ 3150 h 21600"/>
                  <a:gd name="T26" fmla="*/ 18450 w 21600"/>
                  <a:gd name="T27" fmla="*/ 1845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</p:grpSp>
        <p:grpSp>
          <p:nvGrpSpPr>
            <p:cNvPr id="5" name="Group 11"/>
            <p:cNvGrpSpPr>
              <a:grpSpLocks/>
            </p:cNvGrpSpPr>
            <p:nvPr/>
          </p:nvGrpSpPr>
          <p:grpSpPr bwMode="auto">
            <a:xfrm>
              <a:off x="4900" y="480"/>
              <a:ext cx="230" cy="172"/>
              <a:chOff x="24000" y="3168"/>
              <a:chExt cx="1248" cy="1248"/>
            </a:xfrm>
          </p:grpSpPr>
          <p:sp>
            <p:nvSpPr>
              <p:cNvPr id="18442" name="AutoShape 12"/>
              <p:cNvSpPr>
                <a:spLocks noChangeArrowheads="1"/>
              </p:cNvSpPr>
              <p:nvPr/>
            </p:nvSpPr>
            <p:spPr bwMode="auto">
              <a:xfrm>
                <a:off x="24000" y="3168"/>
                <a:ext cx="1248" cy="1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67 h 21600"/>
                  <a:gd name="T26" fmla="*/ 18433 w 21600"/>
                  <a:gd name="T27" fmla="*/ 1843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08" y="10800"/>
                    </a:moveTo>
                    <a:cubicBezTo>
                      <a:pt x="2908" y="15159"/>
                      <a:pt x="6441" y="18692"/>
                      <a:pt x="10800" y="18692"/>
                    </a:cubicBezTo>
                    <a:cubicBezTo>
                      <a:pt x="15159" y="18692"/>
                      <a:pt x="18692" y="15159"/>
                      <a:pt x="18692" y="10800"/>
                    </a:cubicBezTo>
                    <a:cubicBezTo>
                      <a:pt x="18692" y="6441"/>
                      <a:pt x="15159" y="2908"/>
                      <a:pt x="10800" y="2908"/>
                    </a:cubicBezTo>
                    <a:cubicBezTo>
                      <a:pt x="6441" y="2908"/>
                      <a:pt x="2908" y="6441"/>
                      <a:pt x="2908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8443" name="AutoShape 13"/>
              <p:cNvSpPr>
                <a:spLocks noChangeArrowheads="1"/>
              </p:cNvSpPr>
              <p:nvPr/>
            </p:nvSpPr>
            <p:spPr bwMode="auto">
              <a:xfrm>
                <a:off x="24336" y="3504"/>
                <a:ext cx="576" cy="57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0 w 21600"/>
                  <a:gd name="T25" fmla="*/ 3150 h 21600"/>
                  <a:gd name="T26" fmla="*/ 18450 w 21600"/>
                  <a:gd name="T27" fmla="*/ 1845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</p:grpSp>
      </p:grpSp>
      <p:sp>
        <p:nvSpPr>
          <p:cNvPr id="18436" name="Rectangle 14"/>
          <p:cNvSpPr>
            <a:spLocks noChangeArrowheads="1"/>
          </p:cNvSpPr>
          <p:nvPr/>
        </p:nvSpPr>
        <p:spPr bwMode="auto">
          <a:xfrm>
            <a:off x="304800" y="762000"/>
            <a:ext cx="66294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en-AU" dirty="0" smtClean="0"/>
              <a:t>Database and DBMS</a:t>
            </a:r>
            <a:endParaRPr lang="en-US" dirty="0"/>
          </a:p>
        </p:txBody>
      </p:sp>
      <p:sp>
        <p:nvSpPr>
          <p:cNvPr id="18437" name="Rectangle 15"/>
          <p:cNvSpPr>
            <a:spLocks noChangeArrowheads="1"/>
          </p:cNvSpPr>
          <p:nvPr/>
        </p:nvSpPr>
        <p:spPr bwMode="auto">
          <a:xfrm>
            <a:off x="228600" y="152400"/>
            <a:ext cx="563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l"/>
            <a:r>
              <a:rPr lang="en-US" sz="2800" i="1" dirty="0">
                <a:solidFill>
                  <a:schemeClr val="tx1"/>
                </a:solidFill>
                <a:latin typeface="Arial" charset="0"/>
              </a:rPr>
              <a:t>Database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Tanzima Hashem, Dept of CSE, BUET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CF104B-57E3-4411-AB68-47EC9C0CCFE4}" type="slidenum">
              <a:rPr lang="fr-FR" smtClean="0"/>
              <a:pPr>
                <a:defRPr/>
              </a:pPr>
              <a:t>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1517636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u contenu 2"/>
          <p:cNvSpPr>
            <a:spLocks noGrp="1"/>
          </p:cNvSpPr>
          <p:nvPr>
            <p:ph idx="4294967295"/>
          </p:nvPr>
        </p:nvSpPr>
        <p:spPr>
          <a:xfrm>
            <a:off x="357188" y="1676400"/>
            <a:ext cx="8329612" cy="4800600"/>
          </a:xfrm>
        </p:spPr>
        <p:txBody>
          <a:bodyPr/>
          <a:lstStyle/>
          <a:p>
            <a:r>
              <a:rPr lang="en-AU" sz="2300" dirty="0"/>
              <a:t>Massive</a:t>
            </a:r>
          </a:p>
          <a:p>
            <a:r>
              <a:rPr lang="en-AU" sz="2300" dirty="0" smtClean="0"/>
              <a:t>Persistent</a:t>
            </a:r>
          </a:p>
          <a:p>
            <a:r>
              <a:rPr lang="en-AU" sz="2300" dirty="0"/>
              <a:t>Reliable</a:t>
            </a:r>
          </a:p>
          <a:p>
            <a:r>
              <a:rPr lang="en-AU" sz="2300" dirty="0" smtClean="0"/>
              <a:t>Multi-user</a:t>
            </a:r>
            <a:endParaRPr lang="en-AU" sz="2300" dirty="0"/>
          </a:p>
          <a:p>
            <a:r>
              <a:rPr lang="en-AU" sz="2300" dirty="0" smtClean="0"/>
              <a:t>Efficient</a:t>
            </a:r>
            <a:endParaRPr lang="en-AU" sz="2300" dirty="0"/>
          </a:p>
          <a:p>
            <a:r>
              <a:rPr lang="en-AU" sz="2300" dirty="0" smtClean="0"/>
              <a:t>Convenient</a:t>
            </a:r>
            <a:endParaRPr lang="en-AU" sz="2300" dirty="0"/>
          </a:p>
          <a:p>
            <a:r>
              <a:rPr lang="en-AU" sz="2300" dirty="0"/>
              <a:t>Safe</a:t>
            </a:r>
          </a:p>
          <a:p>
            <a:endParaRPr lang="en-AU" sz="2300" dirty="0" smtClean="0"/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0" y="633413"/>
            <a:ext cx="8143875" cy="273050"/>
            <a:chOff x="0" y="480"/>
            <a:chExt cx="5130" cy="172"/>
          </a:xfrm>
        </p:grpSpPr>
        <p:sp>
          <p:nvSpPr>
            <p:cNvPr id="18438" name="Line 4"/>
            <p:cNvSpPr>
              <a:spLocks noChangeShapeType="1"/>
            </p:cNvSpPr>
            <p:nvPr/>
          </p:nvSpPr>
          <p:spPr bwMode="auto">
            <a:xfrm>
              <a:off x="0" y="480"/>
              <a:ext cx="503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AU"/>
            </a:p>
          </p:txBody>
        </p:sp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4320" y="480"/>
              <a:ext cx="230" cy="172"/>
              <a:chOff x="24000" y="3168"/>
              <a:chExt cx="1248" cy="1248"/>
            </a:xfrm>
          </p:grpSpPr>
          <p:sp>
            <p:nvSpPr>
              <p:cNvPr id="18446" name="AutoShape 6"/>
              <p:cNvSpPr>
                <a:spLocks noChangeArrowheads="1"/>
              </p:cNvSpPr>
              <p:nvPr/>
            </p:nvSpPr>
            <p:spPr bwMode="auto">
              <a:xfrm>
                <a:off x="24000" y="3168"/>
                <a:ext cx="1248" cy="1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67 h 21600"/>
                  <a:gd name="T26" fmla="*/ 18433 w 21600"/>
                  <a:gd name="T27" fmla="*/ 1843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08" y="10800"/>
                    </a:moveTo>
                    <a:cubicBezTo>
                      <a:pt x="2908" y="15159"/>
                      <a:pt x="6441" y="18692"/>
                      <a:pt x="10800" y="18692"/>
                    </a:cubicBezTo>
                    <a:cubicBezTo>
                      <a:pt x="15159" y="18692"/>
                      <a:pt x="18692" y="15159"/>
                      <a:pt x="18692" y="10800"/>
                    </a:cubicBezTo>
                    <a:cubicBezTo>
                      <a:pt x="18692" y="6441"/>
                      <a:pt x="15159" y="2908"/>
                      <a:pt x="10800" y="2908"/>
                    </a:cubicBezTo>
                    <a:cubicBezTo>
                      <a:pt x="6441" y="2908"/>
                      <a:pt x="2908" y="6441"/>
                      <a:pt x="2908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8447" name="AutoShape 7"/>
              <p:cNvSpPr>
                <a:spLocks noChangeArrowheads="1"/>
              </p:cNvSpPr>
              <p:nvPr/>
            </p:nvSpPr>
            <p:spPr bwMode="auto">
              <a:xfrm>
                <a:off x="24336" y="3504"/>
                <a:ext cx="576" cy="57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0 w 21600"/>
                  <a:gd name="T25" fmla="*/ 3150 h 21600"/>
                  <a:gd name="T26" fmla="*/ 18450 w 21600"/>
                  <a:gd name="T27" fmla="*/ 1845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</p:grpSp>
        <p:grpSp>
          <p:nvGrpSpPr>
            <p:cNvPr id="4" name="Group 8"/>
            <p:cNvGrpSpPr>
              <a:grpSpLocks/>
            </p:cNvGrpSpPr>
            <p:nvPr/>
          </p:nvGrpSpPr>
          <p:grpSpPr bwMode="auto">
            <a:xfrm>
              <a:off x="4610" y="480"/>
              <a:ext cx="230" cy="172"/>
              <a:chOff x="24000" y="3168"/>
              <a:chExt cx="1248" cy="1248"/>
            </a:xfrm>
          </p:grpSpPr>
          <p:sp>
            <p:nvSpPr>
              <p:cNvPr id="18444" name="AutoShape 9"/>
              <p:cNvSpPr>
                <a:spLocks noChangeArrowheads="1"/>
              </p:cNvSpPr>
              <p:nvPr/>
            </p:nvSpPr>
            <p:spPr bwMode="auto">
              <a:xfrm>
                <a:off x="24000" y="3168"/>
                <a:ext cx="1248" cy="1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67 h 21600"/>
                  <a:gd name="T26" fmla="*/ 18433 w 21600"/>
                  <a:gd name="T27" fmla="*/ 1843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08" y="10800"/>
                    </a:moveTo>
                    <a:cubicBezTo>
                      <a:pt x="2908" y="15159"/>
                      <a:pt x="6441" y="18692"/>
                      <a:pt x="10800" y="18692"/>
                    </a:cubicBezTo>
                    <a:cubicBezTo>
                      <a:pt x="15159" y="18692"/>
                      <a:pt x="18692" y="15159"/>
                      <a:pt x="18692" y="10800"/>
                    </a:cubicBezTo>
                    <a:cubicBezTo>
                      <a:pt x="18692" y="6441"/>
                      <a:pt x="15159" y="2908"/>
                      <a:pt x="10800" y="2908"/>
                    </a:cubicBezTo>
                    <a:cubicBezTo>
                      <a:pt x="6441" y="2908"/>
                      <a:pt x="2908" y="6441"/>
                      <a:pt x="2908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8445" name="AutoShape 10"/>
              <p:cNvSpPr>
                <a:spLocks noChangeArrowheads="1"/>
              </p:cNvSpPr>
              <p:nvPr/>
            </p:nvSpPr>
            <p:spPr bwMode="auto">
              <a:xfrm>
                <a:off x="24336" y="3504"/>
                <a:ext cx="576" cy="57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0 w 21600"/>
                  <a:gd name="T25" fmla="*/ 3150 h 21600"/>
                  <a:gd name="T26" fmla="*/ 18450 w 21600"/>
                  <a:gd name="T27" fmla="*/ 1845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</p:grpSp>
        <p:grpSp>
          <p:nvGrpSpPr>
            <p:cNvPr id="5" name="Group 11"/>
            <p:cNvGrpSpPr>
              <a:grpSpLocks/>
            </p:cNvGrpSpPr>
            <p:nvPr/>
          </p:nvGrpSpPr>
          <p:grpSpPr bwMode="auto">
            <a:xfrm>
              <a:off x="4900" y="480"/>
              <a:ext cx="230" cy="172"/>
              <a:chOff x="24000" y="3168"/>
              <a:chExt cx="1248" cy="1248"/>
            </a:xfrm>
          </p:grpSpPr>
          <p:sp>
            <p:nvSpPr>
              <p:cNvPr id="18442" name="AutoShape 12"/>
              <p:cNvSpPr>
                <a:spLocks noChangeArrowheads="1"/>
              </p:cNvSpPr>
              <p:nvPr/>
            </p:nvSpPr>
            <p:spPr bwMode="auto">
              <a:xfrm>
                <a:off x="24000" y="3168"/>
                <a:ext cx="1248" cy="1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67 h 21600"/>
                  <a:gd name="T26" fmla="*/ 18433 w 21600"/>
                  <a:gd name="T27" fmla="*/ 1843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08" y="10800"/>
                    </a:moveTo>
                    <a:cubicBezTo>
                      <a:pt x="2908" y="15159"/>
                      <a:pt x="6441" y="18692"/>
                      <a:pt x="10800" y="18692"/>
                    </a:cubicBezTo>
                    <a:cubicBezTo>
                      <a:pt x="15159" y="18692"/>
                      <a:pt x="18692" y="15159"/>
                      <a:pt x="18692" y="10800"/>
                    </a:cubicBezTo>
                    <a:cubicBezTo>
                      <a:pt x="18692" y="6441"/>
                      <a:pt x="15159" y="2908"/>
                      <a:pt x="10800" y="2908"/>
                    </a:cubicBezTo>
                    <a:cubicBezTo>
                      <a:pt x="6441" y="2908"/>
                      <a:pt x="2908" y="6441"/>
                      <a:pt x="2908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8443" name="AutoShape 13"/>
              <p:cNvSpPr>
                <a:spLocks noChangeArrowheads="1"/>
              </p:cNvSpPr>
              <p:nvPr/>
            </p:nvSpPr>
            <p:spPr bwMode="auto">
              <a:xfrm>
                <a:off x="24336" y="3504"/>
                <a:ext cx="576" cy="57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0 w 21600"/>
                  <a:gd name="T25" fmla="*/ 3150 h 21600"/>
                  <a:gd name="T26" fmla="*/ 18450 w 21600"/>
                  <a:gd name="T27" fmla="*/ 1845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</p:grpSp>
      </p:grpSp>
      <p:sp>
        <p:nvSpPr>
          <p:cNvPr id="18436" name="Rectangle 14"/>
          <p:cNvSpPr>
            <a:spLocks noChangeArrowheads="1"/>
          </p:cNvSpPr>
          <p:nvPr/>
        </p:nvSpPr>
        <p:spPr bwMode="auto">
          <a:xfrm>
            <a:off x="304800" y="762000"/>
            <a:ext cx="66294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en-AU" dirty="0" smtClean="0"/>
              <a:t>Key Properties</a:t>
            </a:r>
            <a:endParaRPr lang="en-US" dirty="0"/>
          </a:p>
        </p:txBody>
      </p:sp>
      <p:sp>
        <p:nvSpPr>
          <p:cNvPr id="18437" name="Rectangle 15"/>
          <p:cNvSpPr>
            <a:spLocks noChangeArrowheads="1"/>
          </p:cNvSpPr>
          <p:nvPr/>
        </p:nvSpPr>
        <p:spPr bwMode="auto">
          <a:xfrm>
            <a:off x="228600" y="152400"/>
            <a:ext cx="563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l"/>
            <a:r>
              <a:rPr lang="en-US" sz="2800" i="1" dirty="0">
                <a:solidFill>
                  <a:schemeClr val="tx1"/>
                </a:solidFill>
                <a:latin typeface="Arial" charset="0"/>
              </a:rPr>
              <a:t>Database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Tanzima Hashem, Dept of CSE, BUET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CF104B-57E3-4411-AB68-47EC9C0CCFE4}" type="slidenum">
              <a:rPr lang="fr-FR" smtClean="0"/>
              <a:pPr>
                <a:defRPr/>
              </a:pPr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3055762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u contenu 2"/>
          <p:cNvSpPr>
            <a:spLocks noGrp="1"/>
          </p:cNvSpPr>
          <p:nvPr>
            <p:ph idx="4294967295"/>
          </p:nvPr>
        </p:nvSpPr>
        <p:spPr>
          <a:xfrm>
            <a:off x="357188" y="1676400"/>
            <a:ext cx="8329612" cy="4800600"/>
          </a:xfrm>
        </p:spPr>
        <p:txBody>
          <a:bodyPr/>
          <a:lstStyle/>
          <a:p>
            <a:r>
              <a:rPr lang="en-US" sz="2300" dirty="0" smtClean="0"/>
              <a:t>Enterprise Information</a:t>
            </a:r>
          </a:p>
          <a:p>
            <a:pPr lvl="1"/>
            <a:r>
              <a:rPr lang="en-US" sz="2300" dirty="0" smtClean="0"/>
              <a:t>Sales, Accounting, Human Resources  </a:t>
            </a:r>
          </a:p>
          <a:p>
            <a:r>
              <a:rPr lang="en-US" sz="2300" dirty="0" smtClean="0"/>
              <a:t>Banking and Finance</a:t>
            </a:r>
          </a:p>
          <a:p>
            <a:r>
              <a:rPr lang="en-US" sz="2300" dirty="0" smtClean="0"/>
              <a:t>Manufacturing</a:t>
            </a:r>
          </a:p>
          <a:p>
            <a:r>
              <a:rPr lang="en-US" sz="2300" dirty="0" smtClean="0"/>
              <a:t>Universities</a:t>
            </a:r>
          </a:p>
          <a:p>
            <a:r>
              <a:rPr lang="en-US" sz="2300" dirty="0" smtClean="0"/>
              <a:t>Web Based Services</a:t>
            </a:r>
          </a:p>
          <a:p>
            <a:pPr lvl="1"/>
            <a:r>
              <a:rPr lang="en-US" sz="2300" dirty="0" smtClean="0"/>
              <a:t>Online retailers, online advertisement</a:t>
            </a:r>
          </a:p>
          <a:p>
            <a:r>
              <a:rPr lang="en-US" sz="2300" dirty="0" smtClean="0">
                <a:ea typeface="ＭＳ Ｐゴシック" pitchFamily="34" charset="-128"/>
              </a:rPr>
              <a:t>Telecommunication</a:t>
            </a:r>
          </a:p>
          <a:p>
            <a:r>
              <a:rPr lang="en-US" sz="2300" dirty="0" smtClean="0">
                <a:ea typeface="ＭＳ Ｐゴシック" pitchFamily="34" charset="-128"/>
              </a:rPr>
              <a:t>Document database</a:t>
            </a:r>
          </a:p>
          <a:p>
            <a:r>
              <a:rPr lang="en-US" sz="2300" dirty="0" smtClean="0">
                <a:ea typeface="ＭＳ Ｐゴシック" pitchFamily="34" charset="-128"/>
              </a:rPr>
              <a:t>Navigation systems</a:t>
            </a:r>
          </a:p>
          <a:p>
            <a:r>
              <a:rPr lang="en-US" sz="2300" dirty="0" smtClean="0">
                <a:ea typeface="ＭＳ Ｐゴシック" pitchFamily="34" charset="-128"/>
              </a:rPr>
              <a:t>…</a:t>
            </a:r>
          </a:p>
          <a:p>
            <a:endParaRPr lang="en-US" sz="2300" dirty="0" smtClean="0"/>
          </a:p>
          <a:p>
            <a:endParaRPr lang="en-AU" sz="2300" dirty="0" smtClean="0"/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0" y="633413"/>
            <a:ext cx="8143875" cy="273050"/>
            <a:chOff x="0" y="480"/>
            <a:chExt cx="5130" cy="172"/>
          </a:xfrm>
        </p:grpSpPr>
        <p:sp>
          <p:nvSpPr>
            <p:cNvPr id="18438" name="Line 4"/>
            <p:cNvSpPr>
              <a:spLocks noChangeShapeType="1"/>
            </p:cNvSpPr>
            <p:nvPr/>
          </p:nvSpPr>
          <p:spPr bwMode="auto">
            <a:xfrm>
              <a:off x="0" y="480"/>
              <a:ext cx="503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AU"/>
            </a:p>
          </p:txBody>
        </p:sp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4320" y="480"/>
              <a:ext cx="230" cy="172"/>
              <a:chOff x="24000" y="3168"/>
              <a:chExt cx="1248" cy="1248"/>
            </a:xfrm>
          </p:grpSpPr>
          <p:sp>
            <p:nvSpPr>
              <p:cNvPr id="18446" name="AutoShape 6"/>
              <p:cNvSpPr>
                <a:spLocks noChangeArrowheads="1"/>
              </p:cNvSpPr>
              <p:nvPr/>
            </p:nvSpPr>
            <p:spPr bwMode="auto">
              <a:xfrm>
                <a:off x="24000" y="3168"/>
                <a:ext cx="1248" cy="1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67 h 21600"/>
                  <a:gd name="T26" fmla="*/ 18433 w 21600"/>
                  <a:gd name="T27" fmla="*/ 1843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08" y="10800"/>
                    </a:moveTo>
                    <a:cubicBezTo>
                      <a:pt x="2908" y="15159"/>
                      <a:pt x="6441" y="18692"/>
                      <a:pt x="10800" y="18692"/>
                    </a:cubicBezTo>
                    <a:cubicBezTo>
                      <a:pt x="15159" y="18692"/>
                      <a:pt x="18692" y="15159"/>
                      <a:pt x="18692" y="10800"/>
                    </a:cubicBezTo>
                    <a:cubicBezTo>
                      <a:pt x="18692" y="6441"/>
                      <a:pt x="15159" y="2908"/>
                      <a:pt x="10800" y="2908"/>
                    </a:cubicBezTo>
                    <a:cubicBezTo>
                      <a:pt x="6441" y="2908"/>
                      <a:pt x="2908" y="6441"/>
                      <a:pt x="2908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8447" name="AutoShape 7"/>
              <p:cNvSpPr>
                <a:spLocks noChangeArrowheads="1"/>
              </p:cNvSpPr>
              <p:nvPr/>
            </p:nvSpPr>
            <p:spPr bwMode="auto">
              <a:xfrm>
                <a:off x="24336" y="3504"/>
                <a:ext cx="576" cy="57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0 w 21600"/>
                  <a:gd name="T25" fmla="*/ 3150 h 21600"/>
                  <a:gd name="T26" fmla="*/ 18450 w 21600"/>
                  <a:gd name="T27" fmla="*/ 1845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</p:grpSp>
        <p:grpSp>
          <p:nvGrpSpPr>
            <p:cNvPr id="4" name="Group 8"/>
            <p:cNvGrpSpPr>
              <a:grpSpLocks/>
            </p:cNvGrpSpPr>
            <p:nvPr/>
          </p:nvGrpSpPr>
          <p:grpSpPr bwMode="auto">
            <a:xfrm>
              <a:off x="4610" y="480"/>
              <a:ext cx="230" cy="172"/>
              <a:chOff x="24000" y="3168"/>
              <a:chExt cx="1248" cy="1248"/>
            </a:xfrm>
          </p:grpSpPr>
          <p:sp>
            <p:nvSpPr>
              <p:cNvPr id="18444" name="AutoShape 9"/>
              <p:cNvSpPr>
                <a:spLocks noChangeArrowheads="1"/>
              </p:cNvSpPr>
              <p:nvPr/>
            </p:nvSpPr>
            <p:spPr bwMode="auto">
              <a:xfrm>
                <a:off x="24000" y="3168"/>
                <a:ext cx="1248" cy="1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67 h 21600"/>
                  <a:gd name="T26" fmla="*/ 18433 w 21600"/>
                  <a:gd name="T27" fmla="*/ 1843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08" y="10800"/>
                    </a:moveTo>
                    <a:cubicBezTo>
                      <a:pt x="2908" y="15159"/>
                      <a:pt x="6441" y="18692"/>
                      <a:pt x="10800" y="18692"/>
                    </a:cubicBezTo>
                    <a:cubicBezTo>
                      <a:pt x="15159" y="18692"/>
                      <a:pt x="18692" y="15159"/>
                      <a:pt x="18692" y="10800"/>
                    </a:cubicBezTo>
                    <a:cubicBezTo>
                      <a:pt x="18692" y="6441"/>
                      <a:pt x="15159" y="2908"/>
                      <a:pt x="10800" y="2908"/>
                    </a:cubicBezTo>
                    <a:cubicBezTo>
                      <a:pt x="6441" y="2908"/>
                      <a:pt x="2908" y="6441"/>
                      <a:pt x="2908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8445" name="AutoShape 10"/>
              <p:cNvSpPr>
                <a:spLocks noChangeArrowheads="1"/>
              </p:cNvSpPr>
              <p:nvPr/>
            </p:nvSpPr>
            <p:spPr bwMode="auto">
              <a:xfrm>
                <a:off x="24336" y="3504"/>
                <a:ext cx="576" cy="57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0 w 21600"/>
                  <a:gd name="T25" fmla="*/ 3150 h 21600"/>
                  <a:gd name="T26" fmla="*/ 18450 w 21600"/>
                  <a:gd name="T27" fmla="*/ 1845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</p:grpSp>
        <p:grpSp>
          <p:nvGrpSpPr>
            <p:cNvPr id="5" name="Group 11"/>
            <p:cNvGrpSpPr>
              <a:grpSpLocks/>
            </p:cNvGrpSpPr>
            <p:nvPr/>
          </p:nvGrpSpPr>
          <p:grpSpPr bwMode="auto">
            <a:xfrm>
              <a:off x="4900" y="480"/>
              <a:ext cx="230" cy="172"/>
              <a:chOff x="24000" y="3168"/>
              <a:chExt cx="1248" cy="1248"/>
            </a:xfrm>
          </p:grpSpPr>
          <p:sp>
            <p:nvSpPr>
              <p:cNvPr id="18442" name="AutoShape 12"/>
              <p:cNvSpPr>
                <a:spLocks noChangeArrowheads="1"/>
              </p:cNvSpPr>
              <p:nvPr/>
            </p:nvSpPr>
            <p:spPr bwMode="auto">
              <a:xfrm>
                <a:off x="24000" y="3168"/>
                <a:ext cx="1248" cy="1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67 h 21600"/>
                  <a:gd name="T26" fmla="*/ 18433 w 21600"/>
                  <a:gd name="T27" fmla="*/ 1843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08" y="10800"/>
                    </a:moveTo>
                    <a:cubicBezTo>
                      <a:pt x="2908" y="15159"/>
                      <a:pt x="6441" y="18692"/>
                      <a:pt x="10800" y="18692"/>
                    </a:cubicBezTo>
                    <a:cubicBezTo>
                      <a:pt x="15159" y="18692"/>
                      <a:pt x="18692" y="15159"/>
                      <a:pt x="18692" y="10800"/>
                    </a:cubicBezTo>
                    <a:cubicBezTo>
                      <a:pt x="18692" y="6441"/>
                      <a:pt x="15159" y="2908"/>
                      <a:pt x="10800" y="2908"/>
                    </a:cubicBezTo>
                    <a:cubicBezTo>
                      <a:pt x="6441" y="2908"/>
                      <a:pt x="2908" y="6441"/>
                      <a:pt x="2908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8443" name="AutoShape 13"/>
              <p:cNvSpPr>
                <a:spLocks noChangeArrowheads="1"/>
              </p:cNvSpPr>
              <p:nvPr/>
            </p:nvSpPr>
            <p:spPr bwMode="auto">
              <a:xfrm>
                <a:off x="24336" y="3504"/>
                <a:ext cx="576" cy="57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0 w 21600"/>
                  <a:gd name="T25" fmla="*/ 3150 h 21600"/>
                  <a:gd name="T26" fmla="*/ 18450 w 21600"/>
                  <a:gd name="T27" fmla="*/ 1845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</p:grpSp>
      </p:grpSp>
      <p:sp>
        <p:nvSpPr>
          <p:cNvPr id="18436" name="Rectangle 14"/>
          <p:cNvSpPr>
            <a:spLocks noChangeArrowheads="1"/>
          </p:cNvSpPr>
          <p:nvPr/>
        </p:nvSpPr>
        <p:spPr bwMode="auto">
          <a:xfrm>
            <a:off x="304800" y="762000"/>
            <a:ext cx="66294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en-AU" dirty="0" smtClean="0"/>
              <a:t>Applications</a:t>
            </a:r>
            <a:endParaRPr lang="en-US" dirty="0"/>
          </a:p>
        </p:txBody>
      </p:sp>
      <p:sp>
        <p:nvSpPr>
          <p:cNvPr id="18437" name="Rectangle 15"/>
          <p:cNvSpPr>
            <a:spLocks noChangeArrowheads="1"/>
          </p:cNvSpPr>
          <p:nvPr/>
        </p:nvSpPr>
        <p:spPr bwMode="auto">
          <a:xfrm>
            <a:off x="228600" y="152400"/>
            <a:ext cx="563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l"/>
            <a:r>
              <a:rPr lang="en-US" sz="2800" i="1" dirty="0">
                <a:solidFill>
                  <a:schemeClr val="tx1"/>
                </a:solidFill>
                <a:latin typeface="Arial" charset="0"/>
              </a:rPr>
              <a:t>Database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Tanzima Hashem, Dept of CSE, BUET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CF104B-57E3-4411-AB68-47EC9C0CCFE4}" type="slidenum">
              <a:rPr lang="fr-FR" smtClean="0"/>
              <a:pPr>
                <a:defRPr/>
              </a:pPr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7266062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u contenu 2"/>
          <p:cNvSpPr>
            <a:spLocks noGrp="1"/>
          </p:cNvSpPr>
          <p:nvPr>
            <p:ph idx="4294967295"/>
          </p:nvPr>
        </p:nvSpPr>
        <p:spPr>
          <a:xfrm>
            <a:off x="357188" y="1676400"/>
            <a:ext cx="8329612" cy="4800600"/>
          </a:xfrm>
        </p:spPr>
        <p:txBody>
          <a:bodyPr/>
          <a:lstStyle/>
          <a:p>
            <a:r>
              <a:rPr lang="en-US" sz="2300" dirty="0"/>
              <a:t>Data redundancy and inconsistency</a:t>
            </a:r>
          </a:p>
          <a:p>
            <a:pPr lvl="1"/>
            <a:r>
              <a:rPr lang="en-US" sz="2300" dirty="0" smtClean="0"/>
              <a:t>Information </a:t>
            </a:r>
            <a:r>
              <a:rPr lang="en-US" sz="2300" dirty="0" smtClean="0"/>
              <a:t>duplication </a:t>
            </a:r>
            <a:r>
              <a:rPr lang="en-US" sz="2300" dirty="0"/>
              <a:t>in different </a:t>
            </a:r>
            <a:r>
              <a:rPr lang="en-US" sz="2300" dirty="0" smtClean="0"/>
              <a:t>files, inconsistent updates</a:t>
            </a:r>
            <a:endParaRPr lang="en-US" sz="2300" dirty="0"/>
          </a:p>
          <a:p>
            <a:r>
              <a:rPr lang="en-US" sz="2300" dirty="0"/>
              <a:t>Difficulty in accessing data </a:t>
            </a:r>
          </a:p>
          <a:p>
            <a:pPr lvl="1"/>
            <a:r>
              <a:rPr lang="en-US" sz="2300" dirty="0"/>
              <a:t>Need to write a new program to carry out each new task</a:t>
            </a:r>
          </a:p>
          <a:p>
            <a:r>
              <a:rPr lang="en-US" sz="2300" dirty="0"/>
              <a:t>Data </a:t>
            </a:r>
            <a:r>
              <a:rPr lang="en-US" sz="2300" dirty="0" smtClean="0"/>
              <a:t>isolation</a:t>
            </a:r>
          </a:p>
          <a:p>
            <a:pPr lvl="1"/>
            <a:r>
              <a:rPr lang="en-US" sz="2300" dirty="0" smtClean="0"/>
              <a:t>Multiple </a:t>
            </a:r>
            <a:r>
              <a:rPr lang="en-US" sz="2300" dirty="0"/>
              <a:t>files and formats</a:t>
            </a:r>
          </a:p>
          <a:p>
            <a:r>
              <a:rPr lang="en-US" sz="2300" dirty="0"/>
              <a:t>Integrity problems</a:t>
            </a:r>
          </a:p>
          <a:p>
            <a:pPr lvl="1"/>
            <a:r>
              <a:rPr lang="en-US" sz="2300" dirty="0"/>
              <a:t>Integrity constraints  (e.g. account balance &gt; 0) become part of program code</a:t>
            </a:r>
          </a:p>
          <a:p>
            <a:pPr lvl="1"/>
            <a:r>
              <a:rPr lang="en-US" sz="2300" dirty="0"/>
              <a:t>Hard to add new constraints or change existing ones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0" y="633413"/>
            <a:ext cx="8143875" cy="273050"/>
            <a:chOff x="0" y="480"/>
            <a:chExt cx="5130" cy="172"/>
          </a:xfrm>
        </p:grpSpPr>
        <p:sp>
          <p:nvSpPr>
            <p:cNvPr id="18438" name="Line 4"/>
            <p:cNvSpPr>
              <a:spLocks noChangeShapeType="1"/>
            </p:cNvSpPr>
            <p:nvPr/>
          </p:nvSpPr>
          <p:spPr bwMode="auto">
            <a:xfrm>
              <a:off x="0" y="480"/>
              <a:ext cx="503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AU"/>
            </a:p>
          </p:txBody>
        </p:sp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4320" y="480"/>
              <a:ext cx="230" cy="172"/>
              <a:chOff x="24000" y="3168"/>
              <a:chExt cx="1248" cy="1248"/>
            </a:xfrm>
          </p:grpSpPr>
          <p:sp>
            <p:nvSpPr>
              <p:cNvPr id="18446" name="AutoShape 6"/>
              <p:cNvSpPr>
                <a:spLocks noChangeArrowheads="1"/>
              </p:cNvSpPr>
              <p:nvPr/>
            </p:nvSpPr>
            <p:spPr bwMode="auto">
              <a:xfrm>
                <a:off x="24000" y="3168"/>
                <a:ext cx="1248" cy="1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67 h 21600"/>
                  <a:gd name="T26" fmla="*/ 18433 w 21600"/>
                  <a:gd name="T27" fmla="*/ 1843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08" y="10800"/>
                    </a:moveTo>
                    <a:cubicBezTo>
                      <a:pt x="2908" y="15159"/>
                      <a:pt x="6441" y="18692"/>
                      <a:pt x="10800" y="18692"/>
                    </a:cubicBezTo>
                    <a:cubicBezTo>
                      <a:pt x="15159" y="18692"/>
                      <a:pt x="18692" y="15159"/>
                      <a:pt x="18692" y="10800"/>
                    </a:cubicBezTo>
                    <a:cubicBezTo>
                      <a:pt x="18692" y="6441"/>
                      <a:pt x="15159" y="2908"/>
                      <a:pt x="10800" y="2908"/>
                    </a:cubicBezTo>
                    <a:cubicBezTo>
                      <a:pt x="6441" y="2908"/>
                      <a:pt x="2908" y="6441"/>
                      <a:pt x="2908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8447" name="AutoShape 7"/>
              <p:cNvSpPr>
                <a:spLocks noChangeArrowheads="1"/>
              </p:cNvSpPr>
              <p:nvPr/>
            </p:nvSpPr>
            <p:spPr bwMode="auto">
              <a:xfrm>
                <a:off x="24336" y="3504"/>
                <a:ext cx="576" cy="57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0 w 21600"/>
                  <a:gd name="T25" fmla="*/ 3150 h 21600"/>
                  <a:gd name="T26" fmla="*/ 18450 w 21600"/>
                  <a:gd name="T27" fmla="*/ 1845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</p:grpSp>
        <p:grpSp>
          <p:nvGrpSpPr>
            <p:cNvPr id="4" name="Group 8"/>
            <p:cNvGrpSpPr>
              <a:grpSpLocks/>
            </p:cNvGrpSpPr>
            <p:nvPr/>
          </p:nvGrpSpPr>
          <p:grpSpPr bwMode="auto">
            <a:xfrm>
              <a:off x="4610" y="480"/>
              <a:ext cx="230" cy="172"/>
              <a:chOff x="24000" y="3168"/>
              <a:chExt cx="1248" cy="1248"/>
            </a:xfrm>
          </p:grpSpPr>
          <p:sp>
            <p:nvSpPr>
              <p:cNvPr id="18444" name="AutoShape 9"/>
              <p:cNvSpPr>
                <a:spLocks noChangeArrowheads="1"/>
              </p:cNvSpPr>
              <p:nvPr/>
            </p:nvSpPr>
            <p:spPr bwMode="auto">
              <a:xfrm>
                <a:off x="24000" y="3168"/>
                <a:ext cx="1248" cy="1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67 h 21600"/>
                  <a:gd name="T26" fmla="*/ 18433 w 21600"/>
                  <a:gd name="T27" fmla="*/ 1843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08" y="10800"/>
                    </a:moveTo>
                    <a:cubicBezTo>
                      <a:pt x="2908" y="15159"/>
                      <a:pt x="6441" y="18692"/>
                      <a:pt x="10800" y="18692"/>
                    </a:cubicBezTo>
                    <a:cubicBezTo>
                      <a:pt x="15159" y="18692"/>
                      <a:pt x="18692" y="15159"/>
                      <a:pt x="18692" y="10800"/>
                    </a:cubicBezTo>
                    <a:cubicBezTo>
                      <a:pt x="18692" y="6441"/>
                      <a:pt x="15159" y="2908"/>
                      <a:pt x="10800" y="2908"/>
                    </a:cubicBezTo>
                    <a:cubicBezTo>
                      <a:pt x="6441" y="2908"/>
                      <a:pt x="2908" y="6441"/>
                      <a:pt x="2908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8445" name="AutoShape 10"/>
              <p:cNvSpPr>
                <a:spLocks noChangeArrowheads="1"/>
              </p:cNvSpPr>
              <p:nvPr/>
            </p:nvSpPr>
            <p:spPr bwMode="auto">
              <a:xfrm>
                <a:off x="24336" y="3504"/>
                <a:ext cx="576" cy="57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0 w 21600"/>
                  <a:gd name="T25" fmla="*/ 3150 h 21600"/>
                  <a:gd name="T26" fmla="*/ 18450 w 21600"/>
                  <a:gd name="T27" fmla="*/ 1845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</p:grpSp>
        <p:grpSp>
          <p:nvGrpSpPr>
            <p:cNvPr id="5" name="Group 11"/>
            <p:cNvGrpSpPr>
              <a:grpSpLocks/>
            </p:cNvGrpSpPr>
            <p:nvPr/>
          </p:nvGrpSpPr>
          <p:grpSpPr bwMode="auto">
            <a:xfrm>
              <a:off x="4900" y="480"/>
              <a:ext cx="230" cy="172"/>
              <a:chOff x="24000" y="3168"/>
              <a:chExt cx="1248" cy="1248"/>
            </a:xfrm>
          </p:grpSpPr>
          <p:sp>
            <p:nvSpPr>
              <p:cNvPr id="18442" name="AutoShape 12"/>
              <p:cNvSpPr>
                <a:spLocks noChangeArrowheads="1"/>
              </p:cNvSpPr>
              <p:nvPr/>
            </p:nvSpPr>
            <p:spPr bwMode="auto">
              <a:xfrm>
                <a:off x="24000" y="3168"/>
                <a:ext cx="1248" cy="1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67 h 21600"/>
                  <a:gd name="T26" fmla="*/ 18433 w 21600"/>
                  <a:gd name="T27" fmla="*/ 1843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08" y="10800"/>
                    </a:moveTo>
                    <a:cubicBezTo>
                      <a:pt x="2908" y="15159"/>
                      <a:pt x="6441" y="18692"/>
                      <a:pt x="10800" y="18692"/>
                    </a:cubicBezTo>
                    <a:cubicBezTo>
                      <a:pt x="15159" y="18692"/>
                      <a:pt x="18692" y="15159"/>
                      <a:pt x="18692" y="10800"/>
                    </a:cubicBezTo>
                    <a:cubicBezTo>
                      <a:pt x="18692" y="6441"/>
                      <a:pt x="15159" y="2908"/>
                      <a:pt x="10800" y="2908"/>
                    </a:cubicBezTo>
                    <a:cubicBezTo>
                      <a:pt x="6441" y="2908"/>
                      <a:pt x="2908" y="6441"/>
                      <a:pt x="2908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8443" name="AutoShape 13"/>
              <p:cNvSpPr>
                <a:spLocks noChangeArrowheads="1"/>
              </p:cNvSpPr>
              <p:nvPr/>
            </p:nvSpPr>
            <p:spPr bwMode="auto">
              <a:xfrm>
                <a:off x="24336" y="3504"/>
                <a:ext cx="576" cy="57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0 w 21600"/>
                  <a:gd name="T25" fmla="*/ 3150 h 21600"/>
                  <a:gd name="T26" fmla="*/ 18450 w 21600"/>
                  <a:gd name="T27" fmla="*/ 1845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</p:grpSp>
      </p:grpSp>
      <p:sp>
        <p:nvSpPr>
          <p:cNvPr id="18436" name="Rectangle 14"/>
          <p:cNvSpPr>
            <a:spLocks noChangeArrowheads="1"/>
          </p:cNvSpPr>
          <p:nvPr/>
        </p:nvSpPr>
        <p:spPr bwMode="auto">
          <a:xfrm>
            <a:off x="304800" y="762000"/>
            <a:ext cx="66294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en-AU" dirty="0" smtClean="0"/>
              <a:t>File Systems- Limitations</a:t>
            </a:r>
            <a:endParaRPr lang="en-US" dirty="0"/>
          </a:p>
        </p:txBody>
      </p:sp>
      <p:sp>
        <p:nvSpPr>
          <p:cNvPr id="18437" name="Rectangle 15"/>
          <p:cNvSpPr>
            <a:spLocks noChangeArrowheads="1"/>
          </p:cNvSpPr>
          <p:nvPr/>
        </p:nvSpPr>
        <p:spPr bwMode="auto">
          <a:xfrm>
            <a:off x="228600" y="152400"/>
            <a:ext cx="563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l"/>
            <a:r>
              <a:rPr lang="en-US" sz="2800" i="1" dirty="0">
                <a:solidFill>
                  <a:schemeClr val="tx1"/>
                </a:solidFill>
                <a:latin typeface="Arial" charset="0"/>
              </a:rPr>
              <a:t>Database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Tanzima Hashem, Dept of CSE, BUET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CF104B-57E3-4411-AB68-47EC9C0CCFE4}" type="slidenum">
              <a:rPr lang="fr-FR" smtClean="0"/>
              <a:pPr>
                <a:defRPr/>
              </a:pPr>
              <a:t>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139357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u contenu 2"/>
          <p:cNvSpPr>
            <a:spLocks noGrp="1"/>
          </p:cNvSpPr>
          <p:nvPr>
            <p:ph idx="4294967295"/>
          </p:nvPr>
        </p:nvSpPr>
        <p:spPr>
          <a:xfrm>
            <a:off x="357188" y="1676400"/>
            <a:ext cx="8329612" cy="4800600"/>
          </a:xfrm>
        </p:spPr>
        <p:txBody>
          <a:bodyPr/>
          <a:lstStyle/>
          <a:p>
            <a:r>
              <a:rPr lang="en-US" sz="2300" dirty="0"/>
              <a:t>Atomicity of updates</a:t>
            </a:r>
          </a:p>
          <a:p>
            <a:pPr lvl="1"/>
            <a:r>
              <a:rPr lang="en-US" sz="2300" dirty="0"/>
              <a:t>Failures may leave database in an inconsistent state with partial updates carried out</a:t>
            </a:r>
          </a:p>
          <a:p>
            <a:pPr lvl="1"/>
            <a:r>
              <a:rPr lang="en-US" sz="2300" dirty="0"/>
              <a:t>E.g. transfer of funds from one account to another should either complete or not happen at all</a:t>
            </a:r>
          </a:p>
          <a:p>
            <a:r>
              <a:rPr lang="en-US" sz="2300" dirty="0"/>
              <a:t>Concurrent access by multiple users</a:t>
            </a:r>
          </a:p>
          <a:p>
            <a:pPr lvl="1"/>
            <a:r>
              <a:rPr lang="en-US" sz="2300" dirty="0"/>
              <a:t>Concurrent accessed needed for performance</a:t>
            </a:r>
          </a:p>
          <a:p>
            <a:pPr lvl="1"/>
            <a:r>
              <a:rPr lang="en-US" sz="2300" dirty="0"/>
              <a:t>Uncontrolled concurrent accesses can lead to inconsistencies</a:t>
            </a:r>
          </a:p>
          <a:p>
            <a:pPr lvl="2"/>
            <a:r>
              <a:rPr lang="en-US" sz="2300" dirty="0"/>
              <a:t>E.g. two people reading a balance and updating it at the same time</a:t>
            </a:r>
          </a:p>
          <a:p>
            <a:r>
              <a:rPr lang="en-US" sz="2300" dirty="0"/>
              <a:t>Security </a:t>
            </a:r>
            <a:r>
              <a:rPr lang="en-US" sz="2300" dirty="0" smtClean="0"/>
              <a:t>problems</a:t>
            </a:r>
          </a:p>
          <a:p>
            <a:pPr lvl="1"/>
            <a:r>
              <a:rPr lang="en-US" altLang="en-US" sz="2300" dirty="0"/>
              <a:t>Hard to provide user access to some, but not all, data</a:t>
            </a:r>
          </a:p>
          <a:p>
            <a:pPr lvl="1"/>
            <a:endParaRPr lang="en-US" sz="2300" dirty="0"/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0" y="633413"/>
            <a:ext cx="8143875" cy="273050"/>
            <a:chOff x="0" y="480"/>
            <a:chExt cx="5130" cy="172"/>
          </a:xfrm>
        </p:grpSpPr>
        <p:sp>
          <p:nvSpPr>
            <p:cNvPr id="18438" name="Line 4"/>
            <p:cNvSpPr>
              <a:spLocks noChangeShapeType="1"/>
            </p:cNvSpPr>
            <p:nvPr/>
          </p:nvSpPr>
          <p:spPr bwMode="auto">
            <a:xfrm>
              <a:off x="0" y="480"/>
              <a:ext cx="503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AU"/>
            </a:p>
          </p:txBody>
        </p:sp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4320" y="480"/>
              <a:ext cx="230" cy="172"/>
              <a:chOff x="24000" y="3168"/>
              <a:chExt cx="1248" cy="1248"/>
            </a:xfrm>
          </p:grpSpPr>
          <p:sp>
            <p:nvSpPr>
              <p:cNvPr id="18446" name="AutoShape 6"/>
              <p:cNvSpPr>
                <a:spLocks noChangeArrowheads="1"/>
              </p:cNvSpPr>
              <p:nvPr/>
            </p:nvSpPr>
            <p:spPr bwMode="auto">
              <a:xfrm>
                <a:off x="24000" y="3168"/>
                <a:ext cx="1248" cy="1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67 h 21600"/>
                  <a:gd name="T26" fmla="*/ 18433 w 21600"/>
                  <a:gd name="T27" fmla="*/ 1843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08" y="10800"/>
                    </a:moveTo>
                    <a:cubicBezTo>
                      <a:pt x="2908" y="15159"/>
                      <a:pt x="6441" y="18692"/>
                      <a:pt x="10800" y="18692"/>
                    </a:cubicBezTo>
                    <a:cubicBezTo>
                      <a:pt x="15159" y="18692"/>
                      <a:pt x="18692" y="15159"/>
                      <a:pt x="18692" y="10800"/>
                    </a:cubicBezTo>
                    <a:cubicBezTo>
                      <a:pt x="18692" y="6441"/>
                      <a:pt x="15159" y="2908"/>
                      <a:pt x="10800" y="2908"/>
                    </a:cubicBezTo>
                    <a:cubicBezTo>
                      <a:pt x="6441" y="2908"/>
                      <a:pt x="2908" y="6441"/>
                      <a:pt x="2908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8447" name="AutoShape 7"/>
              <p:cNvSpPr>
                <a:spLocks noChangeArrowheads="1"/>
              </p:cNvSpPr>
              <p:nvPr/>
            </p:nvSpPr>
            <p:spPr bwMode="auto">
              <a:xfrm>
                <a:off x="24336" y="3504"/>
                <a:ext cx="576" cy="57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0 w 21600"/>
                  <a:gd name="T25" fmla="*/ 3150 h 21600"/>
                  <a:gd name="T26" fmla="*/ 18450 w 21600"/>
                  <a:gd name="T27" fmla="*/ 1845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</p:grpSp>
        <p:grpSp>
          <p:nvGrpSpPr>
            <p:cNvPr id="4" name="Group 8"/>
            <p:cNvGrpSpPr>
              <a:grpSpLocks/>
            </p:cNvGrpSpPr>
            <p:nvPr/>
          </p:nvGrpSpPr>
          <p:grpSpPr bwMode="auto">
            <a:xfrm>
              <a:off x="4610" y="480"/>
              <a:ext cx="230" cy="172"/>
              <a:chOff x="24000" y="3168"/>
              <a:chExt cx="1248" cy="1248"/>
            </a:xfrm>
          </p:grpSpPr>
          <p:sp>
            <p:nvSpPr>
              <p:cNvPr id="18444" name="AutoShape 9"/>
              <p:cNvSpPr>
                <a:spLocks noChangeArrowheads="1"/>
              </p:cNvSpPr>
              <p:nvPr/>
            </p:nvSpPr>
            <p:spPr bwMode="auto">
              <a:xfrm>
                <a:off x="24000" y="3168"/>
                <a:ext cx="1248" cy="1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67 h 21600"/>
                  <a:gd name="T26" fmla="*/ 18433 w 21600"/>
                  <a:gd name="T27" fmla="*/ 1843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08" y="10800"/>
                    </a:moveTo>
                    <a:cubicBezTo>
                      <a:pt x="2908" y="15159"/>
                      <a:pt x="6441" y="18692"/>
                      <a:pt x="10800" y="18692"/>
                    </a:cubicBezTo>
                    <a:cubicBezTo>
                      <a:pt x="15159" y="18692"/>
                      <a:pt x="18692" y="15159"/>
                      <a:pt x="18692" y="10800"/>
                    </a:cubicBezTo>
                    <a:cubicBezTo>
                      <a:pt x="18692" y="6441"/>
                      <a:pt x="15159" y="2908"/>
                      <a:pt x="10800" y="2908"/>
                    </a:cubicBezTo>
                    <a:cubicBezTo>
                      <a:pt x="6441" y="2908"/>
                      <a:pt x="2908" y="6441"/>
                      <a:pt x="2908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8445" name="AutoShape 10"/>
              <p:cNvSpPr>
                <a:spLocks noChangeArrowheads="1"/>
              </p:cNvSpPr>
              <p:nvPr/>
            </p:nvSpPr>
            <p:spPr bwMode="auto">
              <a:xfrm>
                <a:off x="24336" y="3504"/>
                <a:ext cx="576" cy="57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0 w 21600"/>
                  <a:gd name="T25" fmla="*/ 3150 h 21600"/>
                  <a:gd name="T26" fmla="*/ 18450 w 21600"/>
                  <a:gd name="T27" fmla="*/ 1845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</p:grpSp>
        <p:grpSp>
          <p:nvGrpSpPr>
            <p:cNvPr id="5" name="Group 11"/>
            <p:cNvGrpSpPr>
              <a:grpSpLocks/>
            </p:cNvGrpSpPr>
            <p:nvPr/>
          </p:nvGrpSpPr>
          <p:grpSpPr bwMode="auto">
            <a:xfrm>
              <a:off x="4900" y="480"/>
              <a:ext cx="230" cy="172"/>
              <a:chOff x="24000" y="3168"/>
              <a:chExt cx="1248" cy="1248"/>
            </a:xfrm>
          </p:grpSpPr>
          <p:sp>
            <p:nvSpPr>
              <p:cNvPr id="18442" name="AutoShape 12"/>
              <p:cNvSpPr>
                <a:spLocks noChangeArrowheads="1"/>
              </p:cNvSpPr>
              <p:nvPr/>
            </p:nvSpPr>
            <p:spPr bwMode="auto">
              <a:xfrm>
                <a:off x="24000" y="3168"/>
                <a:ext cx="1248" cy="1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67 h 21600"/>
                  <a:gd name="T26" fmla="*/ 18433 w 21600"/>
                  <a:gd name="T27" fmla="*/ 1843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08" y="10800"/>
                    </a:moveTo>
                    <a:cubicBezTo>
                      <a:pt x="2908" y="15159"/>
                      <a:pt x="6441" y="18692"/>
                      <a:pt x="10800" y="18692"/>
                    </a:cubicBezTo>
                    <a:cubicBezTo>
                      <a:pt x="15159" y="18692"/>
                      <a:pt x="18692" y="15159"/>
                      <a:pt x="18692" y="10800"/>
                    </a:cubicBezTo>
                    <a:cubicBezTo>
                      <a:pt x="18692" y="6441"/>
                      <a:pt x="15159" y="2908"/>
                      <a:pt x="10800" y="2908"/>
                    </a:cubicBezTo>
                    <a:cubicBezTo>
                      <a:pt x="6441" y="2908"/>
                      <a:pt x="2908" y="6441"/>
                      <a:pt x="2908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8443" name="AutoShape 13"/>
              <p:cNvSpPr>
                <a:spLocks noChangeArrowheads="1"/>
              </p:cNvSpPr>
              <p:nvPr/>
            </p:nvSpPr>
            <p:spPr bwMode="auto">
              <a:xfrm>
                <a:off x="24336" y="3504"/>
                <a:ext cx="576" cy="57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0 w 21600"/>
                  <a:gd name="T25" fmla="*/ 3150 h 21600"/>
                  <a:gd name="T26" fmla="*/ 18450 w 21600"/>
                  <a:gd name="T27" fmla="*/ 1845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</p:grpSp>
      </p:grpSp>
      <p:sp>
        <p:nvSpPr>
          <p:cNvPr id="18436" name="Rectangle 14"/>
          <p:cNvSpPr>
            <a:spLocks noChangeArrowheads="1"/>
          </p:cNvSpPr>
          <p:nvPr/>
        </p:nvSpPr>
        <p:spPr bwMode="auto">
          <a:xfrm>
            <a:off x="304800" y="762000"/>
            <a:ext cx="66294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en-AU" dirty="0" smtClean="0"/>
              <a:t>File Systems- Limitations</a:t>
            </a:r>
            <a:endParaRPr lang="en-US" dirty="0"/>
          </a:p>
        </p:txBody>
      </p:sp>
      <p:sp>
        <p:nvSpPr>
          <p:cNvPr id="18437" name="Rectangle 15"/>
          <p:cNvSpPr>
            <a:spLocks noChangeArrowheads="1"/>
          </p:cNvSpPr>
          <p:nvPr/>
        </p:nvSpPr>
        <p:spPr bwMode="auto">
          <a:xfrm>
            <a:off x="228600" y="152400"/>
            <a:ext cx="563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l"/>
            <a:r>
              <a:rPr lang="en-US" sz="2800" i="1" dirty="0">
                <a:solidFill>
                  <a:schemeClr val="tx1"/>
                </a:solidFill>
                <a:latin typeface="Arial" charset="0"/>
              </a:rPr>
              <a:t>Database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Tanzima Hashem, Dept of CSE, BUET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CF104B-57E3-4411-AB68-47EC9C0CCFE4}" type="slidenum">
              <a:rPr lang="fr-FR" smtClean="0"/>
              <a:pPr>
                <a:defRPr/>
              </a:pPr>
              <a:t>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5278070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u contenu 2"/>
          <p:cNvSpPr>
            <a:spLocks noGrp="1"/>
          </p:cNvSpPr>
          <p:nvPr>
            <p:ph idx="4294967295"/>
          </p:nvPr>
        </p:nvSpPr>
        <p:spPr>
          <a:xfrm>
            <a:off x="357188" y="1676400"/>
            <a:ext cx="8329612" cy="4800600"/>
          </a:xfrm>
        </p:spPr>
        <p:txBody>
          <a:bodyPr/>
          <a:lstStyle/>
          <a:p>
            <a:r>
              <a:rPr lang="en-AU" sz="2300" dirty="0"/>
              <a:t>A collection of tools for describing </a:t>
            </a:r>
          </a:p>
          <a:p>
            <a:pPr lvl="1"/>
            <a:r>
              <a:rPr lang="en-AU" sz="2300" dirty="0"/>
              <a:t>Data </a:t>
            </a:r>
          </a:p>
          <a:p>
            <a:pPr lvl="1"/>
            <a:r>
              <a:rPr lang="en-AU" sz="2300" dirty="0"/>
              <a:t>Data relationships</a:t>
            </a:r>
          </a:p>
          <a:p>
            <a:pPr lvl="1"/>
            <a:r>
              <a:rPr lang="en-AU" sz="2300" dirty="0"/>
              <a:t>Data semantics</a:t>
            </a:r>
          </a:p>
          <a:p>
            <a:pPr lvl="1"/>
            <a:r>
              <a:rPr lang="en-AU" sz="2300" dirty="0"/>
              <a:t>Data constraints</a:t>
            </a:r>
          </a:p>
          <a:p>
            <a:r>
              <a:rPr lang="en-AU" sz="2300" dirty="0"/>
              <a:t>Relational model</a:t>
            </a:r>
          </a:p>
          <a:p>
            <a:r>
              <a:rPr lang="en-AU" sz="2300" dirty="0"/>
              <a:t>Entity-Relationship data </a:t>
            </a:r>
            <a:r>
              <a:rPr lang="en-AU" sz="2300" dirty="0" smtClean="0"/>
              <a:t>model</a:t>
            </a:r>
            <a:endParaRPr lang="en-AU" sz="2300" dirty="0"/>
          </a:p>
          <a:p>
            <a:r>
              <a:rPr lang="en-AU" sz="2300" dirty="0"/>
              <a:t>Object-based data </a:t>
            </a:r>
            <a:r>
              <a:rPr lang="en-AU" sz="2300" dirty="0" smtClean="0"/>
              <a:t>models</a:t>
            </a:r>
            <a:endParaRPr lang="en-AU" sz="2300" dirty="0"/>
          </a:p>
          <a:p>
            <a:r>
              <a:rPr lang="en-AU" sz="2300" dirty="0"/>
              <a:t>Semi-structured data model  (XML)</a:t>
            </a:r>
          </a:p>
          <a:p>
            <a:r>
              <a:rPr lang="en-AU" sz="2300" dirty="0"/>
              <a:t>Other older models:</a:t>
            </a:r>
          </a:p>
          <a:p>
            <a:pPr lvl="1"/>
            <a:r>
              <a:rPr lang="en-AU" sz="2300" dirty="0"/>
              <a:t>Network </a:t>
            </a:r>
            <a:r>
              <a:rPr lang="en-AU" sz="2300" dirty="0" smtClean="0"/>
              <a:t>model, Hierarchical </a:t>
            </a:r>
            <a:r>
              <a:rPr lang="en-AU" sz="2300" dirty="0"/>
              <a:t>model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0" y="633413"/>
            <a:ext cx="8143875" cy="273050"/>
            <a:chOff x="0" y="480"/>
            <a:chExt cx="5130" cy="172"/>
          </a:xfrm>
        </p:grpSpPr>
        <p:sp>
          <p:nvSpPr>
            <p:cNvPr id="18438" name="Line 4"/>
            <p:cNvSpPr>
              <a:spLocks noChangeShapeType="1"/>
            </p:cNvSpPr>
            <p:nvPr/>
          </p:nvSpPr>
          <p:spPr bwMode="auto">
            <a:xfrm>
              <a:off x="0" y="480"/>
              <a:ext cx="503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AU"/>
            </a:p>
          </p:txBody>
        </p:sp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4320" y="480"/>
              <a:ext cx="230" cy="172"/>
              <a:chOff x="24000" y="3168"/>
              <a:chExt cx="1248" cy="1248"/>
            </a:xfrm>
          </p:grpSpPr>
          <p:sp>
            <p:nvSpPr>
              <p:cNvPr id="18446" name="AutoShape 6"/>
              <p:cNvSpPr>
                <a:spLocks noChangeArrowheads="1"/>
              </p:cNvSpPr>
              <p:nvPr/>
            </p:nvSpPr>
            <p:spPr bwMode="auto">
              <a:xfrm>
                <a:off x="24000" y="3168"/>
                <a:ext cx="1248" cy="1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67 h 21600"/>
                  <a:gd name="T26" fmla="*/ 18433 w 21600"/>
                  <a:gd name="T27" fmla="*/ 1843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08" y="10800"/>
                    </a:moveTo>
                    <a:cubicBezTo>
                      <a:pt x="2908" y="15159"/>
                      <a:pt x="6441" y="18692"/>
                      <a:pt x="10800" y="18692"/>
                    </a:cubicBezTo>
                    <a:cubicBezTo>
                      <a:pt x="15159" y="18692"/>
                      <a:pt x="18692" y="15159"/>
                      <a:pt x="18692" y="10800"/>
                    </a:cubicBezTo>
                    <a:cubicBezTo>
                      <a:pt x="18692" y="6441"/>
                      <a:pt x="15159" y="2908"/>
                      <a:pt x="10800" y="2908"/>
                    </a:cubicBezTo>
                    <a:cubicBezTo>
                      <a:pt x="6441" y="2908"/>
                      <a:pt x="2908" y="6441"/>
                      <a:pt x="2908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8447" name="AutoShape 7"/>
              <p:cNvSpPr>
                <a:spLocks noChangeArrowheads="1"/>
              </p:cNvSpPr>
              <p:nvPr/>
            </p:nvSpPr>
            <p:spPr bwMode="auto">
              <a:xfrm>
                <a:off x="24336" y="3504"/>
                <a:ext cx="576" cy="57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0 w 21600"/>
                  <a:gd name="T25" fmla="*/ 3150 h 21600"/>
                  <a:gd name="T26" fmla="*/ 18450 w 21600"/>
                  <a:gd name="T27" fmla="*/ 1845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</p:grpSp>
        <p:grpSp>
          <p:nvGrpSpPr>
            <p:cNvPr id="4" name="Group 8"/>
            <p:cNvGrpSpPr>
              <a:grpSpLocks/>
            </p:cNvGrpSpPr>
            <p:nvPr/>
          </p:nvGrpSpPr>
          <p:grpSpPr bwMode="auto">
            <a:xfrm>
              <a:off x="4610" y="480"/>
              <a:ext cx="230" cy="172"/>
              <a:chOff x="24000" y="3168"/>
              <a:chExt cx="1248" cy="1248"/>
            </a:xfrm>
          </p:grpSpPr>
          <p:sp>
            <p:nvSpPr>
              <p:cNvPr id="18444" name="AutoShape 9"/>
              <p:cNvSpPr>
                <a:spLocks noChangeArrowheads="1"/>
              </p:cNvSpPr>
              <p:nvPr/>
            </p:nvSpPr>
            <p:spPr bwMode="auto">
              <a:xfrm>
                <a:off x="24000" y="3168"/>
                <a:ext cx="1248" cy="1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67 h 21600"/>
                  <a:gd name="T26" fmla="*/ 18433 w 21600"/>
                  <a:gd name="T27" fmla="*/ 1843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08" y="10800"/>
                    </a:moveTo>
                    <a:cubicBezTo>
                      <a:pt x="2908" y="15159"/>
                      <a:pt x="6441" y="18692"/>
                      <a:pt x="10800" y="18692"/>
                    </a:cubicBezTo>
                    <a:cubicBezTo>
                      <a:pt x="15159" y="18692"/>
                      <a:pt x="18692" y="15159"/>
                      <a:pt x="18692" y="10800"/>
                    </a:cubicBezTo>
                    <a:cubicBezTo>
                      <a:pt x="18692" y="6441"/>
                      <a:pt x="15159" y="2908"/>
                      <a:pt x="10800" y="2908"/>
                    </a:cubicBezTo>
                    <a:cubicBezTo>
                      <a:pt x="6441" y="2908"/>
                      <a:pt x="2908" y="6441"/>
                      <a:pt x="2908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8445" name="AutoShape 10"/>
              <p:cNvSpPr>
                <a:spLocks noChangeArrowheads="1"/>
              </p:cNvSpPr>
              <p:nvPr/>
            </p:nvSpPr>
            <p:spPr bwMode="auto">
              <a:xfrm>
                <a:off x="24336" y="3504"/>
                <a:ext cx="576" cy="57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0 w 21600"/>
                  <a:gd name="T25" fmla="*/ 3150 h 21600"/>
                  <a:gd name="T26" fmla="*/ 18450 w 21600"/>
                  <a:gd name="T27" fmla="*/ 1845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</p:grpSp>
        <p:grpSp>
          <p:nvGrpSpPr>
            <p:cNvPr id="5" name="Group 11"/>
            <p:cNvGrpSpPr>
              <a:grpSpLocks/>
            </p:cNvGrpSpPr>
            <p:nvPr/>
          </p:nvGrpSpPr>
          <p:grpSpPr bwMode="auto">
            <a:xfrm>
              <a:off x="4900" y="480"/>
              <a:ext cx="230" cy="172"/>
              <a:chOff x="24000" y="3168"/>
              <a:chExt cx="1248" cy="1248"/>
            </a:xfrm>
          </p:grpSpPr>
          <p:sp>
            <p:nvSpPr>
              <p:cNvPr id="18442" name="AutoShape 12"/>
              <p:cNvSpPr>
                <a:spLocks noChangeArrowheads="1"/>
              </p:cNvSpPr>
              <p:nvPr/>
            </p:nvSpPr>
            <p:spPr bwMode="auto">
              <a:xfrm>
                <a:off x="24000" y="3168"/>
                <a:ext cx="1248" cy="1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67 h 21600"/>
                  <a:gd name="T26" fmla="*/ 18433 w 21600"/>
                  <a:gd name="T27" fmla="*/ 1843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08" y="10800"/>
                    </a:moveTo>
                    <a:cubicBezTo>
                      <a:pt x="2908" y="15159"/>
                      <a:pt x="6441" y="18692"/>
                      <a:pt x="10800" y="18692"/>
                    </a:cubicBezTo>
                    <a:cubicBezTo>
                      <a:pt x="15159" y="18692"/>
                      <a:pt x="18692" y="15159"/>
                      <a:pt x="18692" y="10800"/>
                    </a:cubicBezTo>
                    <a:cubicBezTo>
                      <a:pt x="18692" y="6441"/>
                      <a:pt x="15159" y="2908"/>
                      <a:pt x="10800" y="2908"/>
                    </a:cubicBezTo>
                    <a:cubicBezTo>
                      <a:pt x="6441" y="2908"/>
                      <a:pt x="2908" y="6441"/>
                      <a:pt x="2908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8443" name="AutoShape 13"/>
              <p:cNvSpPr>
                <a:spLocks noChangeArrowheads="1"/>
              </p:cNvSpPr>
              <p:nvPr/>
            </p:nvSpPr>
            <p:spPr bwMode="auto">
              <a:xfrm>
                <a:off x="24336" y="3504"/>
                <a:ext cx="576" cy="57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0 w 21600"/>
                  <a:gd name="T25" fmla="*/ 3150 h 21600"/>
                  <a:gd name="T26" fmla="*/ 18450 w 21600"/>
                  <a:gd name="T27" fmla="*/ 1845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</p:grpSp>
      </p:grpSp>
      <p:sp>
        <p:nvSpPr>
          <p:cNvPr id="18436" name="Rectangle 14"/>
          <p:cNvSpPr>
            <a:spLocks noChangeArrowheads="1"/>
          </p:cNvSpPr>
          <p:nvPr/>
        </p:nvSpPr>
        <p:spPr bwMode="auto">
          <a:xfrm>
            <a:off x="304800" y="762000"/>
            <a:ext cx="66294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en-AU" dirty="0" smtClean="0"/>
              <a:t>Data Models</a:t>
            </a:r>
            <a:endParaRPr lang="en-US" dirty="0"/>
          </a:p>
        </p:txBody>
      </p:sp>
      <p:sp>
        <p:nvSpPr>
          <p:cNvPr id="18437" name="Rectangle 15"/>
          <p:cNvSpPr>
            <a:spLocks noChangeArrowheads="1"/>
          </p:cNvSpPr>
          <p:nvPr/>
        </p:nvSpPr>
        <p:spPr bwMode="auto">
          <a:xfrm>
            <a:off x="228600" y="152400"/>
            <a:ext cx="563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l"/>
            <a:r>
              <a:rPr lang="en-US" sz="2800" i="1" dirty="0">
                <a:solidFill>
                  <a:schemeClr val="tx1"/>
                </a:solidFill>
                <a:latin typeface="Arial" charset="0"/>
              </a:rPr>
              <a:t>Database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Tanzima Hashem, Dept of CSE, BUET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CF104B-57E3-4411-AB68-47EC9C0CCFE4}" type="slidenum">
              <a:rPr lang="fr-FR" smtClean="0"/>
              <a:pPr>
                <a:defRPr/>
              </a:pPr>
              <a:t>10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8064361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u contenu 2"/>
          <p:cNvSpPr>
            <a:spLocks noGrp="1"/>
          </p:cNvSpPr>
          <p:nvPr>
            <p:ph idx="4294967295"/>
          </p:nvPr>
        </p:nvSpPr>
        <p:spPr>
          <a:xfrm>
            <a:off x="357188" y="1676400"/>
            <a:ext cx="4115224" cy="4800600"/>
          </a:xfrm>
        </p:spPr>
        <p:txBody>
          <a:bodyPr/>
          <a:lstStyle/>
          <a:p>
            <a:pPr>
              <a:tabLst>
                <a:tab pos="1820863" algn="l"/>
                <a:tab pos="3659188" algn="l"/>
                <a:tab pos="3943350" algn="l"/>
              </a:tabLst>
            </a:pPr>
            <a:r>
              <a:rPr lang="en-US" sz="2300" dirty="0"/>
              <a:t>Physical level </a:t>
            </a:r>
            <a:endParaRPr lang="en-US" sz="2300" dirty="0" smtClean="0"/>
          </a:p>
          <a:p>
            <a:pPr lvl="1">
              <a:tabLst>
                <a:tab pos="1820863" algn="l"/>
                <a:tab pos="3659188" algn="l"/>
                <a:tab pos="3943350" algn="l"/>
              </a:tabLst>
            </a:pPr>
            <a:r>
              <a:rPr lang="en-US" sz="2000" dirty="0" smtClean="0"/>
              <a:t>Describes </a:t>
            </a:r>
            <a:r>
              <a:rPr lang="en-US" sz="2000" dirty="0"/>
              <a:t>how </a:t>
            </a:r>
            <a:r>
              <a:rPr lang="en-US" sz="2000" dirty="0" smtClean="0"/>
              <a:t>data </a:t>
            </a:r>
            <a:r>
              <a:rPr lang="en-US" sz="2000" dirty="0"/>
              <a:t>is </a:t>
            </a:r>
            <a:r>
              <a:rPr lang="en-US" sz="2000" dirty="0" smtClean="0"/>
              <a:t>stored</a:t>
            </a:r>
            <a:endParaRPr lang="en-US" sz="2000" dirty="0"/>
          </a:p>
          <a:p>
            <a:pPr>
              <a:tabLst>
                <a:tab pos="1820863" algn="l"/>
                <a:tab pos="3659188" algn="l"/>
                <a:tab pos="3943350" algn="l"/>
              </a:tabLst>
            </a:pPr>
            <a:r>
              <a:rPr lang="en-US" sz="2300" dirty="0"/>
              <a:t>Logical </a:t>
            </a:r>
            <a:r>
              <a:rPr lang="en-US" sz="2300" dirty="0" smtClean="0"/>
              <a:t>level</a:t>
            </a:r>
            <a:r>
              <a:rPr lang="en-US" sz="2000" dirty="0" smtClean="0"/>
              <a:t> </a:t>
            </a:r>
          </a:p>
          <a:p>
            <a:pPr lvl="1">
              <a:tabLst>
                <a:tab pos="1820863" algn="l"/>
                <a:tab pos="3659188" algn="l"/>
                <a:tab pos="3943350" algn="l"/>
              </a:tabLst>
            </a:pPr>
            <a:r>
              <a:rPr lang="en-US" sz="2000" dirty="0" smtClean="0"/>
              <a:t>Describes </a:t>
            </a:r>
            <a:r>
              <a:rPr lang="en-US" sz="2000" dirty="0"/>
              <a:t>data stored in database, and the relationships among the </a:t>
            </a:r>
            <a:r>
              <a:rPr lang="en-US" sz="2000" dirty="0" smtClean="0"/>
              <a:t>data</a:t>
            </a:r>
            <a:endParaRPr lang="en-US" sz="2000" dirty="0"/>
          </a:p>
          <a:p>
            <a:pPr>
              <a:tabLst>
                <a:tab pos="1820863" algn="l"/>
                <a:tab pos="3659188" algn="l"/>
                <a:tab pos="3943350" algn="l"/>
              </a:tabLst>
            </a:pPr>
            <a:r>
              <a:rPr lang="en-US" sz="2300" dirty="0"/>
              <a:t>View </a:t>
            </a:r>
            <a:r>
              <a:rPr lang="en-US" sz="2300" dirty="0" smtClean="0"/>
              <a:t>level</a:t>
            </a:r>
          </a:p>
          <a:p>
            <a:pPr lvl="1">
              <a:tabLst>
                <a:tab pos="1820863" algn="l"/>
                <a:tab pos="3659188" algn="l"/>
                <a:tab pos="3943350" algn="l"/>
              </a:tabLst>
            </a:pPr>
            <a:r>
              <a:rPr lang="en-US" sz="2000" dirty="0" smtClean="0"/>
              <a:t>Describes only part of the database</a:t>
            </a:r>
          </a:p>
          <a:p>
            <a:pPr lvl="1">
              <a:tabLst>
                <a:tab pos="1820863" algn="l"/>
                <a:tab pos="3659188" algn="l"/>
                <a:tab pos="3943350" algn="l"/>
              </a:tabLst>
            </a:pPr>
            <a:r>
              <a:rPr lang="en-US" sz="2000" dirty="0" smtClean="0"/>
              <a:t>May provide many views of the same database</a:t>
            </a:r>
            <a:endParaRPr lang="en-US" sz="2000" dirty="0"/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0" y="633413"/>
            <a:ext cx="8143875" cy="273050"/>
            <a:chOff x="0" y="480"/>
            <a:chExt cx="5130" cy="172"/>
          </a:xfrm>
        </p:grpSpPr>
        <p:sp>
          <p:nvSpPr>
            <p:cNvPr id="18438" name="Line 4"/>
            <p:cNvSpPr>
              <a:spLocks noChangeShapeType="1"/>
            </p:cNvSpPr>
            <p:nvPr/>
          </p:nvSpPr>
          <p:spPr bwMode="auto">
            <a:xfrm>
              <a:off x="0" y="480"/>
              <a:ext cx="503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AU"/>
            </a:p>
          </p:txBody>
        </p:sp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4320" y="480"/>
              <a:ext cx="230" cy="172"/>
              <a:chOff x="24000" y="3168"/>
              <a:chExt cx="1248" cy="1248"/>
            </a:xfrm>
          </p:grpSpPr>
          <p:sp>
            <p:nvSpPr>
              <p:cNvPr id="18446" name="AutoShape 6"/>
              <p:cNvSpPr>
                <a:spLocks noChangeArrowheads="1"/>
              </p:cNvSpPr>
              <p:nvPr/>
            </p:nvSpPr>
            <p:spPr bwMode="auto">
              <a:xfrm>
                <a:off x="24000" y="3168"/>
                <a:ext cx="1248" cy="1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67 h 21600"/>
                  <a:gd name="T26" fmla="*/ 18433 w 21600"/>
                  <a:gd name="T27" fmla="*/ 1843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08" y="10800"/>
                    </a:moveTo>
                    <a:cubicBezTo>
                      <a:pt x="2908" y="15159"/>
                      <a:pt x="6441" y="18692"/>
                      <a:pt x="10800" y="18692"/>
                    </a:cubicBezTo>
                    <a:cubicBezTo>
                      <a:pt x="15159" y="18692"/>
                      <a:pt x="18692" y="15159"/>
                      <a:pt x="18692" y="10800"/>
                    </a:cubicBezTo>
                    <a:cubicBezTo>
                      <a:pt x="18692" y="6441"/>
                      <a:pt x="15159" y="2908"/>
                      <a:pt x="10800" y="2908"/>
                    </a:cubicBezTo>
                    <a:cubicBezTo>
                      <a:pt x="6441" y="2908"/>
                      <a:pt x="2908" y="6441"/>
                      <a:pt x="2908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8447" name="AutoShape 7"/>
              <p:cNvSpPr>
                <a:spLocks noChangeArrowheads="1"/>
              </p:cNvSpPr>
              <p:nvPr/>
            </p:nvSpPr>
            <p:spPr bwMode="auto">
              <a:xfrm>
                <a:off x="24336" y="3504"/>
                <a:ext cx="576" cy="57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0 w 21600"/>
                  <a:gd name="T25" fmla="*/ 3150 h 21600"/>
                  <a:gd name="T26" fmla="*/ 18450 w 21600"/>
                  <a:gd name="T27" fmla="*/ 1845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</p:grpSp>
        <p:grpSp>
          <p:nvGrpSpPr>
            <p:cNvPr id="4" name="Group 8"/>
            <p:cNvGrpSpPr>
              <a:grpSpLocks/>
            </p:cNvGrpSpPr>
            <p:nvPr/>
          </p:nvGrpSpPr>
          <p:grpSpPr bwMode="auto">
            <a:xfrm>
              <a:off x="4610" y="480"/>
              <a:ext cx="230" cy="172"/>
              <a:chOff x="24000" y="3168"/>
              <a:chExt cx="1248" cy="1248"/>
            </a:xfrm>
          </p:grpSpPr>
          <p:sp>
            <p:nvSpPr>
              <p:cNvPr id="18444" name="AutoShape 9"/>
              <p:cNvSpPr>
                <a:spLocks noChangeArrowheads="1"/>
              </p:cNvSpPr>
              <p:nvPr/>
            </p:nvSpPr>
            <p:spPr bwMode="auto">
              <a:xfrm>
                <a:off x="24000" y="3168"/>
                <a:ext cx="1248" cy="1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67 h 21600"/>
                  <a:gd name="T26" fmla="*/ 18433 w 21600"/>
                  <a:gd name="T27" fmla="*/ 1843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08" y="10800"/>
                    </a:moveTo>
                    <a:cubicBezTo>
                      <a:pt x="2908" y="15159"/>
                      <a:pt x="6441" y="18692"/>
                      <a:pt x="10800" y="18692"/>
                    </a:cubicBezTo>
                    <a:cubicBezTo>
                      <a:pt x="15159" y="18692"/>
                      <a:pt x="18692" y="15159"/>
                      <a:pt x="18692" y="10800"/>
                    </a:cubicBezTo>
                    <a:cubicBezTo>
                      <a:pt x="18692" y="6441"/>
                      <a:pt x="15159" y="2908"/>
                      <a:pt x="10800" y="2908"/>
                    </a:cubicBezTo>
                    <a:cubicBezTo>
                      <a:pt x="6441" y="2908"/>
                      <a:pt x="2908" y="6441"/>
                      <a:pt x="2908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8445" name="AutoShape 10"/>
              <p:cNvSpPr>
                <a:spLocks noChangeArrowheads="1"/>
              </p:cNvSpPr>
              <p:nvPr/>
            </p:nvSpPr>
            <p:spPr bwMode="auto">
              <a:xfrm>
                <a:off x="24336" y="3504"/>
                <a:ext cx="576" cy="57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0 w 21600"/>
                  <a:gd name="T25" fmla="*/ 3150 h 21600"/>
                  <a:gd name="T26" fmla="*/ 18450 w 21600"/>
                  <a:gd name="T27" fmla="*/ 1845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</p:grpSp>
        <p:grpSp>
          <p:nvGrpSpPr>
            <p:cNvPr id="5" name="Group 11"/>
            <p:cNvGrpSpPr>
              <a:grpSpLocks/>
            </p:cNvGrpSpPr>
            <p:nvPr/>
          </p:nvGrpSpPr>
          <p:grpSpPr bwMode="auto">
            <a:xfrm>
              <a:off x="4900" y="480"/>
              <a:ext cx="230" cy="172"/>
              <a:chOff x="24000" y="3168"/>
              <a:chExt cx="1248" cy="1248"/>
            </a:xfrm>
          </p:grpSpPr>
          <p:sp>
            <p:nvSpPr>
              <p:cNvPr id="18442" name="AutoShape 12"/>
              <p:cNvSpPr>
                <a:spLocks noChangeArrowheads="1"/>
              </p:cNvSpPr>
              <p:nvPr/>
            </p:nvSpPr>
            <p:spPr bwMode="auto">
              <a:xfrm>
                <a:off x="24000" y="3168"/>
                <a:ext cx="1248" cy="1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67 h 21600"/>
                  <a:gd name="T26" fmla="*/ 18433 w 21600"/>
                  <a:gd name="T27" fmla="*/ 1843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08" y="10800"/>
                    </a:moveTo>
                    <a:cubicBezTo>
                      <a:pt x="2908" y="15159"/>
                      <a:pt x="6441" y="18692"/>
                      <a:pt x="10800" y="18692"/>
                    </a:cubicBezTo>
                    <a:cubicBezTo>
                      <a:pt x="15159" y="18692"/>
                      <a:pt x="18692" y="15159"/>
                      <a:pt x="18692" y="10800"/>
                    </a:cubicBezTo>
                    <a:cubicBezTo>
                      <a:pt x="18692" y="6441"/>
                      <a:pt x="15159" y="2908"/>
                      <a:pt x="10800" y="2908"/>
                    </a:cubicBezTo>
                    <a:cubicBezTo>
                      <a:pt x="6441" y="2908"/>
                      <a:pt x="2908" y="6441"/>
                      <a:pt x="2908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8443" name="AutoShape 13"/>
              <p:cNvSpPr>
                <a:spLocks noChangeArrowheads="1"/>
              </p:cNvSpPr>
              <p:nvPr/>
            </p:nvSpPr>
            <p:spPr bwMode="auto">
              <a:xfrm>
                <a:off x="24336" y="3504"/>
                <a:ext cx="576" cy="57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0 w 21600"/>
                  <a:gd name="T25" fmla="*/ 3150 h 21600"/>
                  <a:gd name="T26" fmla="*/ 18450 w 21600"/>
                  <a:gd name="T27" fmla="*/ 1845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</p:grpSp>
      </p:grpSp>
      <p:sp>
        <p:nvSpPr>
          <p:cNvPr id="18436" name="Rectangle 14"/>
          <p:cNvSpPr>
            <a:spLocks noChangeArrowheads="1"/>
          </p:cNvSpPr>
          <p:nvPr/>
        </p:nvSpPr>
        <p:spPr bwMode="auto">
          <a:xfrm>
            <a:off x="304800" y="762000"/>
            <a:ext cx="66294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en-AU" dirty="0" smtClean="0"/>
              <a:t>Data Abstraction</a:t>
            </a:r>
            <a:endParaRPr lang="en-US" dirty="0"/>
          </a:p>
        </p:txBody>
      </p:sp>
      <p:sp>
        <p:nvSpPr>
          <p:cNvPr id="18437" name="Rectangle 15"/>
          <p:cNvSpPr>
            <a:spLocks noChangeArrowheads="1"/>
          </p:cNvSpPr>
          <p:nvPr/>
        </p:nvSpPr>
        <p:spPr bwMode="auto">
          <a:xfrm>
            <a:off x="228600" y="152400"/>
            <a:ext cx="563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l"/>
            <a:r>
              <a:rPr lang="en-US" sz="2800" i="1" dirty="0">
                <a:solidFill>
                  <a:schemeClr val="tx1"/>
                </a:solidFill>
                <a:latin typeface="Arial" charset="0"/>
              </a:rPr>
              <a:t>Database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Tanzima Hashem, Dept of CSE, BUET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CF104B-57E3-4411-AB68-47EC9C0CCFE4}" type="slidenum">
              <a:rPr lang="fr-FR" smtClean="0"/>
              <a:pPr>
                <a:defRPr/>
              </a:pPr>
              <a:t>11</a:t>
            </a:fld>
            <a:endParaRPr lang="fr-FR" dirty="0"/>
          </a:p>
        </p:txBody>
      </p:sp>
      <p:pic>
        <p:nvPicPr>
          <p:cNvPr id="18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51" t="21413" r="2733" b="13895"/>
          <a:stretch>
            <a:fillRect/>
          </a:stretch>
        </p:blipFill>
        <p:spPr bwMode="auto">
          <a:xfrm>
            <a:off x="4791870" y="3640981"/>
            <a:ext cx="4129700" cy="2416982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4707802" y="2073267"/>
            <a:ext cx="42137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800" i="1" dirty="0">
                <a:solidFill>
                  <a:schemeClr val="tx2"/>
                </a:solidFill>
              </a:rPr>
              <a:t>Hide the </a:t>
            </a:r>
            <a:r>
              <a:rPr lang="en-US" altLang="en-US" sz="1800" i="1" dirty="0" smtClean="0">
                <a:solidFill>
                  <a:schemeClr val="tx2"/>
                </a:solidFill>
              </a:rPr>
              <a:t>complexity </a:t>
            </a:r>
            <a:r>
              <a:rPr lang="en-US" altLang="en-US" sz="1800" i="1" dirty="0">
                <a:solidFill>
                  <a:schemeClr val="tx2"/>
                </a:solidFill>
              </a:rPr>
              <a:t>of data structures to represent data in the database from users through several levels of data abstraction</a:t>
            </a:r>
            <a:endParaRPr lang="en-US" sz="1800" i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110539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u contenu 2"/>
          <p:cNvSpPr>
            <a:spLocks noGrp="1"/>
          </p:cNvSpPr>
          <p:nvPr>
            <p:ph idx="4294967295"/>
          </p:nvPr>
        </p:nvSpPr>
        <p:spPr>
          <a:xfrm>
            <a:off x="357188" y="1676400"/>
            <a:ext cx="8329612" cy="4800600"/>
          </a:xfrm>
        </p:spPr>
        <p:txBody>
          <a:bodyPr/>
          <a:lstStyle/>
          <a:p>
            <a:r>
              <a:rPr lang="en-US" sz="2300" b="1" dirty="0" smtClean="0"/>
              <a:t>Schema – </a:t>
            </a:r>
            <a:r>
              <a:rPr lang="en-US" sz="2300" dirty="0" smtClean="0"/>
              <a:t>Overal</a:t>
            </a:r>
            <a:r>
              <a:rPr lang="en-US" sz="2300" dirty="0" smtClean="0"/>
              <a:t>l design of the database</a:t>
            </a:r>
            <a:r>
              <a:rPr lang="en-US" sz="2300" b="1" dirty="0" smtClean="0"/>
              <a:t>  </a:t>
            </a:r>
          </a:p>
          <a:p>
            <a:pPr lvl="1"/>
            <a:r>
              <a:rPr lang="en-US" sz="2300" dirty="0" smtClean="0"/>
              <a:t>Analogous </a:t>
            </a:r>
            <a:r>
              <a:rPr lang="en-US" sz="2300" dirty="0"/>
              <a:t>to type information of a variable in a program</a:t>
            </a:r>
          </a:p>
          <a:p>
            <a:endParaRPr lang="en-US" sz="2300" b="1" dirty="0" smtClean="0"/>
          </a:p>
          <a:p>
            <a:r>
              <a:rPr lang="en-US" sz="2300" b="1" dirty="0" smtClean="0"/>
              <a:t>Instance</a:t>
            </a:r>
            <a:r>
              <a:rPr lang="en-US" sz="2300" dirty="0" smtClean="0"/>
              <a:t> </a:t>
            </a:r>
            <a:r>
              <a:rPr lang="en-US" sz="2300" dirty="0"/>
              <a:t>– the actual content of the database at a particular point in time </a:t>
            </a:r>
          </a:p>
          <a:p>
            <a:pPr lvl="1"/>
            <a:r>
              <a:rPr lang="en-US" sz="2300" dirty="0"/>
              <a:t>Analogous to the value of a variable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0" y="633413"/>
            <a:ext cx="8143875" cy="273050"/>
            <a:chOff x="0" y="480"/>
            <a:chExt cx="5130" cy="172"/>
          </a:xfrm>
        </p:grpSpPr>
        <p:sp>
          <p:nvSpPr>
            <p:cNvPr id="18438" name="Line 4"/>
            <p:cNvSpPr>
              <a:spLocks noChangeShapeType="1"/>
            </p:cNvSpPr>
            <p:nvPr/>
          </p:nvSpPr>
          <p:spPr bwMode="auto">
            <a:xfrm>
              <a:off x="0" y="480"/>
              <a:ext cx="503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AU"/>
            </a:p>
          </p:txBody>
        </p:sp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4320" y="480"/>
              <a:ext cx="230" cy="172"/>
              <a:chOff x="24000" y="3168"/>
              <a:chExt cx="1248" cy="1248"/>
            </a:xfrm>
          </p:grpSpPr>
          <p:sp>
            <p:nvSpPr>
              <p:cNvPr id="18446" name="AutoShape 6"/>
              <p:cNvSpPr>
                <a:spLocks noChangeArrowheads="1"/>
              </p:cNvSpPr>
              <p:nvPr/>
            </p:nvSpPr>
            <p:spPr bwMode="auto">
              <a:xfrm>
                <a:off x="24000" y="3168"/>
                <a:ext cx="1248" cy="1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67 h 21600"/>
                  <a:gd name="T26" fmla="*/ 18433 w 21600"/>
                  <a:gd name="T27" fmla="*/ 1843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08" y="10800"/>
                    </a:moveTo>
                    <a:cubicBezTo>
                      <a:pt x="2908" y="15159"/>
                      <a:pt x="6441" y="18692"/>
                      <a:pt x="10800" y="18692"/>
                    </a:cubicBezTo>
                    <a:cubicBezTo>
                      <a:pt x="15159" y="18692"/>
                      <a:pt x="18692" y="15159"/>
                      <a:pt x="18692" y="10800"/>
                    </a:cubicBezTo>
                    <a:cubicBezTo>
                      <a:pt x="18692" y="6441"/>
                      <a:pt x="15159" y="2908"/>
                      <a:pt x="10800" y="2908"/>
                    </a:cubicBezTo>
                    <a:cubicBezTo>
                      <a:pt x="6441" y="2908"/>
                      <a:pt x="2908" y="6441"/>
                      <a:pt x="2908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8447" name="AutoShape 7"/>
              <p:cNvSpPr>
                <a:spLocks noChangeArrowheads="1"/>
              </p:cNvSpPr>
              <p:nvPr/>
            </p:nvSpPr>
            <p:spPr bwMode="auto">
              <a:xfrm>
                <a:off x="24336" y="3504"/>
                <a:ext cx="576" cy="57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0 w 21600"/>
                  <a:gd name="T25" fmla="*/ 3150 h 21600"/>
                  <a:gd name="T26" fmla="*/ 18450 w 21600"/>
                  <a:gd name="T27" fmla="*/ 1845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</p:grpSp>
        <p:grpSp>
          <p:nvGrpSpPr>
            <p:cNvPr id="4" name="Group 8"/>
            <p:cNvGrpSpPr>
              <a:grpSpLocks/>
            </p:cNvGrpSpPr>
            <p:nvPr/>
          </p:nvGrpSpPr>
          <p:grpSpPr bwMode="auto">
            <a:xfrm>
              <a:off x="4610" y="480"/>
              <a:ext cx="230" cy="172"/>
              <a:chOff x="24000" y="3168"/>
              <a:chExt cx="1248" cy="1248"/>
            </a:xfrm>
          </p:grpSpPr>
          <p:sp>
            <p:nvSpPr>
              <p:cNvPr id="18444" name="AutoShape 9"/>
              <p:cNvSpPr>
                <a:spLocks noChangeArrowheads="1"/>
              </p:cNvSpPr>
              <p:nvPr/>
            </p:nvSpPr>
            <p:spPr bwMode="auto">
              <a:xfrm>
                <a:off x="24000" y="3168"/>
                <a:ext cx="1248" cy="1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67 h 21600"/>
                  <a:gd name="T26" fmla="*/ 18433 w 21600"/>
                  <a:gd name="T27" fmla="*/ 1843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08" y="10800"/>
                    </a:moveTo>
                    <a:cubicBezTo>
                      <a:pt x="2908" y="15159"/>
                      <a:pt x="6441" y="18692"/>
                      <a:pt x="10800" y="18692"/>
                    </a:cubicBezTo>
                    <a:cubicBezTo>
                      <a:pt x="15159" y="18692"/>
                      <a:pt x="18692" y="15159"/>
                      <a:pt x="18692" y="10800"/>
                    </a:cubicBezTo>
                    <a:cubicBezTo>
                      <a:pt x="18692" y="6441"/>
                      <a:pt x="15159" y="2908"/>
                      <a:pt x="10800" y="2908"/>
                    </a:cubicBezTo>
                    <a:cubicBezTo>
                      <a:pt x="6441" y="2908"/>
                      <a:pt x="2908" y="6441"/>
                      <a:pt x="2908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8445" name="AutoShape 10"/>
              <p:cNvSpPr>
                <a:spLocks noChangeArrowheads="1"/>
              </p:cNvSpPr>
              <p:nvPr/>
            </p:nvSpPr>
            <p:spPr bwMode="auto">
              <a:xfrm>
                <a:off x="24336" y="3504"/>
                <a:ext cx="576" cy="57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0 w 21600"/>
                  <a:gd name="T25" fmla="*/ 3150 h 21600"/>
                  <a:gd name="T26" fmla="*/ 18450 w 21600"/>
                  <a:gd name="T27" fmla="*/ 1845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</p:grpSp>
        <p:grpSp>
          <p:nvGrpSpPr>
            <p:cNvPr id="5" name="Group 11"/>
            <p:cNvGrpSpPr>
              <a:grpSpLocks/>
            </p:cNvGrpSpPr>
            <p:nvPr/>
          </p:nvGrpSpPr>
          <p:grpSpPr bwMode="auto">
            <a:xfrm>
              <a:off x="4900" y="480"/>
              <a:ext cx="230" cy="172"/>
              <a:chOff x="24000" y="3168"/>
              <a:chExt cx="1248" cy="1248"/>
            </a:xfrm>
          </p:grpSpPr>
          <p:sp>
            <p:nvSpPr>
              <p:cNvPr id="18442" name="AutoShape 12"/>
              <p:cNvSpPr>
                <a:spLocks noChangeArrowheads="1"/>
              </p:cNvSpPr>
              <p:nvPr/>
            </p:nvSpPr>
            <p:spPr bwMode="auto">
              <a:xfrm>
                <a:off x="24000" y="3168"/>
                <a:ext cx="1248" cy="1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67 h 21600"/>
                  <a:gd name="T26" fmla="*/ 18433 w 21600"/>
                  <a:gd name="T27" fmla="*/ 1843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08" y="10800"/>
                    </a:moveTo>
                    <a:cubicBezTo>
                      <a:pt x="2908" y="15159"/>
                      <a:pt x="6441" y="18692"/>
                      <a:pt x="10800" y="18692"/>
                    </a:cubicBezTo>
                    <a:cubicBezTo>
                      <a:pt x="15159" y="18692"/>
                      <a:pt x="18692" y="15159"/>
                      <a:pt x="18692" y="10800"/>
                    </a:cubicBezTo>
                    <a:cubicBezTo>
                      <a:pt x="18692" y="6441"/>
                      <a:pt x="15159" y="2908"/>
                      <a:pt x="10800" y="2908"/>
                    </a:cubicBezTo>
                    <a:cubicBezTo>
                      <a:pt x="6441" y="2908"/>
                      <a:pt x="2908" y="6441"/>
                      <a:pt x="2908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8443" name="AutoShape 13"/>
              <p:cNvSpPr>
                <a:spLocks noChangeArrowheads="1"/>
              </p:cNvSpPr>
              <p:nvPr/>
            </p:nvSpPr>
            <p:spPr bwMode="auto">
              <a:xfrm>
                <a:off x="24336" y="3504"/>
                <a:ext cx="576" cy="57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0 w 21600"/>
                  <a:gd name="T25" fmla="*/ 3150 h 21600"/>
                  <a:gd name="T26" fmla="*/ 18450 w 21600"/>
                  <a:gd name="T27" fmla="*/ 1845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</p:grpSp>
      </p:grpSp>
      <p:sp>
        <p:nvSpPr>
          <p:cNvPr id="18436" name="Rectangle 14"/>
          <p:cNvSpPr>
            <a:spLocks noChangeArrowheads="1"/>
          </p:cNvSpPr>
          <p:nvPr/>
        </p:nvSpPr>
        <p:spPr bwMode="auto">
          <a:xfrm>
            <a:off x="304800" y="762000"/>
            <a:ext cx="66294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en-AU" dirty="0" smtClean="0"/>
              <a:t>Instances and Schemas</a:t>
            </a:r>
            <a:endParaRPr lang="en-US" dirty="0"/>
          </a:p>
        </p:txBody>
      </p:sp>
      <p:sp>
        <p:nvSpPr>
          <p:cNvPr id="18437" name="Rectangle 15"/>
          <p:cNvSpPr>
            <a:spLocks noChangeArrowheads="1"/>
          </p:cNvSpPr>
          <p:nvPr/>
        </p:nvSpPr>
        <p:spPr bwMode="auto">
          <a:xfrm>
            <a:off x="228600" y="152400"/>
            <a:ext cx="563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l"/>
            <a:r>
              <a:rPr lang="en-US" sz="2800" i="1" dirty="0">
                <a:solidFill>
                  <a:schemeClr val="tx1"/>
                </a:solidFill>
                <a:latin typeface="Arial" charset="0"/>
              </a:rPr>
              <a:t>Database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Tanzima Hashem, Dept of CSE, BUET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CF104B-57E3-4411-AB68-47EC9C0CCFE4}" type="slidenum">
              <a:rPr lang="fr-FR" smtClean="0"/>
              <a:pPr>
                <a:defRPr/>
              </a:pPr>
              <a:t>12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0838446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u contenu 2"/>
          <p:cNvSpPr>
            <a:spLocks noGrp="1"/>
          </p:cNvSpPr>
          <p:nvPr>
            <p:ph idx="4294967295"/>
          </p:nvPr>
        </p:nvSpPr>
        <p:spPr>
          <a:xfrm>
            <a:off x="357188" y="1676400"/>
            <a:ext cx="8329612" cy="4800600"/>
          </a:xfrm>
        </p:spPr>
        <p:txBody>
          <a:bodyPr/>
          <a:lstStyle/>
          <a:p>
            <a:r>
              <a:rPr lang="en-US" sz="2300" dirty="0"/>
              <a:t>Specification notation for defining the database schema</a:t>
            </a:r>
          </a:p>
          <a:p>
            <a:pPr lvl="1"/>
            <a:r>
              <a:rPr lang="en-US" sz="1900" dirty="0"/>
              <a:t>Example:	create table instructor (</a:t>
            </a:r>
            <a:br>
              <a:rPr lang="en-US" sz="1900" dirty="0"/>
            </a:br>
            <a:r>
              <a:rPr lang="en-US" sz="1900" dirty="0"/>
              <a:t>                             ID                </a:t>
            </a:r>
            <a:r>
              <a:rPr lang="en-US" sz="1900" dirty="0" smtClean="0"/>
              <a:t>   char(5</a:t>
            </a:r>
            <a:r>
              <a:rPr lang="en-US" sz="1900" dirty="0"/>
              <a:t>),</a:t>
            </a:r>
            <a:br>
              <a:rPr lang="en-US" sz="1900" dirty="0"/>
            </a:br>
            <a:r>
              <a:rPr lang="en-US" sz="1900" dirty="0"/>
              <a:t>                             name           </a:t>
            </a:r>
            <a:r>
              <a:rPr lang="en-US" sz="1900" dirty="0" smtClean="0"/>
              <a:t>  </a:t>
            </a:r>
            <a:r>
              <a:rPr lang="en-US" sz="1900" dirty="0" err="1" smtClean="0"/>
              <a:t>varchar</a:t>
            </a:r>
            <a:r>
              <a:rPr lang="en-US" sz="1900" dirty="0" smtClean="0"/>
              <a:t>(20</a:t>
            </a:r>
            <a:r>
              <a:rPr lang="en-US" sz="1900" dirty="0"/>
              <a:t>),</a:t>
            </a:r>
            <a:br>
              <a:rPr lang="en-US" sz="1900" dirty="0"/>
            </a:br>
            <a:r>
              <a:rPr lang="en-US" sz="1900" dirty="0"/>
              <a:t>                             </a:t>
            </a:r>
            <a:r>
              <a:rPr lang="en-US" sz="1900" dirty="0" err="1"/>
              <a:t>dept_name</a:t>
            </a:r>
            <a:r>
              <a:rPr lang="en-US" sz="1900" dirty="0"/>
              <a:t>  </a:t>
            </a:r>
            <a:r>
              <a:rPr lang="en-US" sz="1900" dirty="0" err="1"/>
              <a:t>varchar</a:t>
            </a:r>
            <a:r>
              <a:rPr lang="en-US" sz="1900" dirty="0"/>
              <a:t>(20),</a:t>
            </a:r>
            <a:br>
              <a:rPr lang="en-US" sz="1900" dirty="0"/>
            </a:br>
            <a:r>
              <a:rPr lang="en-US" sz="1900" dirty="0"/>
              <a:t>                             salary           </a:t>
            </a:r>
            <a:r>
              <a:rPr lang="en-US" sz="1900" dirty="0" smtClean="0"/>
              <a:t> numeric(8,2</a:t>
            </a:r>
            <a:r>
              <a:rPr lang="en-US" sz="1900" dirty="0"/>
              <a:t>))</a:t>
            </a:r>
          </a:p>
          <a:p>
            <a:r>
              <a:rPr lang="en-US" sz="2300" dirty="0"/>
              <a:t>DDL compiler generates a set of table templates stored in a data </a:t>
            </a:r>
            <a:r>
              <a:rPr lang="en-US" sz="2300" dirty="0" smtClean="0"/>
              <a:t>dictionary</a:t>
            </a:r>
            <a:endParaRPr lang="en-US" sz="2300" dirty="0"/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0" y="633413"/>
            <a:ext cx="8143875" cy="273050"/>
            <a:chOff x="0" y="480"/>
            <a:chExt cx="5130" cy="172"/>
          </a:xfrm>
        </p:grpSpPr>
        <p:sp>
          <p:nvSpPr>
            <p:cNvPr id="18438" name="Line 4"/>
            <p:cNvSpPr>
              <a:spLocks noChangeShapeType="1"/>
            </p:cNvSpPr>
            <p:nvPr/>
          </p:nvSpPr>
          <p:spPr bwMode="auto">
            <a:xfrm>
              <a:off x="0" y="480"/>
              <a:ext cx="503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AU"/>
            </a:p>
          </p:txBody>
        </p:sp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4320" y="480"/>
              <a:ext cx="230" cy="172"/>
              <a:chOff x="24000" y="3168"/>
              <a:chExt cx="1248" cy="1248"/>
            </a:xfrm>
          </p:grpSpPr>
          <p:sp>
            <p:nvSpPr>
              <p:cNvPr id="18446" name="AutoShape 6"/>
              <p:cNvSpPr>
                <a:spLocks noChangeArrowheads="1"/>
              </p:cNvSpPr>
              <p:nvPr/>
            </p:nvSpPr>
            <p:spPr bwMode="auto">
              <a:xfrm>
                <a:off x="24000" y="3168"/>
                <a:ext cx="1248" cy="1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67 h 21600"/>
                  <a:gd name="T26" fmla="*/ 18433 w 21600"/>
                  <a:gd name="T27" fmla="*/ 1843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08" y="10800"/>
                    </a:moveTo>
                    <a:cubicBezTo>
                      <a:pt x="2908" y="15159"/>
                      <a:pt x="6441" y="18692"/>
                      <a:pt x="10800" y="18692"/>
                    </a:cubicBezTo>
                    <a:cubicBezTo>
                      <a:pt x="15159" y="18692"/>
                      <a:pt x="18692" y="15159"/>
                      <a:pt x="18692" y="10800"/>
                    </a:cubicBezTo>
                    <a:cubicBezTo>
                      <a:pt x="18692" y="6441"/>
                      <a:pt x="15159" y="2908"/>
                      <a:pt x="10800" y="2908"/>
                    </a:cubicBezTo>
                    <a:cubicBezTo>
                      <a:pt x="6441" y="2908"/>
                      <a:pt x="2908" y="6441"/>
                      <a:pt x="2908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8447" name="AutoShape 7"/>
              <p:cNvSpPr>
                <a:spLocks noChangeArrowheads="1"/>
              </p:cNvSpPr>
              <p:nvPr/>
            </p:nvSpPr>
            <p:spPr bwMode="auto">
              <a:xfrm>
                <a:off x="24336" y="3504"/>
                <a:ext cx="576" cy="57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0 w 21600"/>
                  <a:gd name="T25" fmla="*/ 3150 h 21600"/>
                  <a:gd name="T26" fmla="*/ 18450 w 21600"/>
                  <a:gd name="T27" fmla="*/ 1845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</p:grpSp>
        <p:grpSp>
          <p:nvGrpSpPr>
            <p:cNvPr id="4" name="Group 8"/>
            <p:cNvGrpSpPr>
              <a:grpSpLocks/>
            </p:cNvGrpSpPr>
            <p:nvPr/>
          </p:nvGrpSpPr>
          <p:grpSpPr bwMode="auto">
            <a:xfrm>
              <a:off x="4610" y="480"/>
              <a:ext cx="230" cy="172"/>
              <a:chOff x="24000" y="3168"/>
              <a:chExt cx="1248" cy="1248"/>
            </a:xfrm>
          </p:grpSpPr>
          <p:sp>
            <p:nvSpPr>
              <p:cNvPr id="18444" name="AutoShape 9"/>
              <p:cNvSpPr>
                <a:spLocks noChangeArrowheads="1"/>
              </p:cNvSpPr>
              <p:nvPr/>
            </p:nvSpPr>
            <p:spPr bwMode="auto">
              <a:xfrm>
                <a:off x="24000" y="3168"/>
                <a:ext cx="1248" cy="1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67 h 21600"/>
                  <a:gd name="T26" fmla="*/ 18433 w 21600"/>
                  <a:gd name="T27" fmla="*/ 1843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08" y="10800"/>
                    </a:moveTo>
                    <a:cubicBezTo>
                      <a:pt x="2908" y="15159"/>
                      <a:pt x="6441" y="18692"/>
                      <a:pt x="10800" y="18692"/>
                    </a:cubicBezTo>
                    <a:cubicBezTo>
                      <a:pt x="15159" y="18692"/>
                      <a:pt x="18692" y="15159"/>
                      <a:pt x="18692" y="10800"/>
                    </a:cubicBezTo>
                    <a:cubicBezTo>
                      <a:pt x="18692" y="6441"/>
                      <a:pt x="15159" y="2908"/>
                      <a:pt x="10800" y="2908"/>
                    </a:cubicBezTo>
                    <a:cubicBezTo>
                      <a:pt x="6441" y="2908"/>
                      <a:pt x="2908" y="6441"/>
                      <a:pt x="2908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8445" name="AutoShape 10"/>
              <p:cNvSpPr>
                <a:spLocks noChangeArrowheads="1"/>
              </p:cNvSpPr>
              <p:nvPr/>
            </p:nvSpPr>
            <p:spPr bwMode="auto">
              <a:xfrm>
                <a:off x="24336" y="3504"/>
                <a:ext cx="576" cy="57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0 w 21600"/>
                  <a:gd name="T25" fmla="*/ 3150 h 21600"/>
                  <a:gd name="T26" fmla="*/ 18450 w 21600"/>
                  <a:gd name="T27" fmla="*/ 1845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</p:grpSp>
        <p:grpSp>
          <p:nvGrpSpPr>
            <p:cNvPr id="5" name="Group 11"/>
            <p:cNvGrpSpPr>
              <a:grpSpLocks/>
            </p:cNvGrpSpPr>
            <p:nvPr/>
          </p:nvGrpSpPr>
          <p:grpSpPr bwMode="auto">
            <a:xfrm>
              <a:off x="4900" y="480"/>
              <a:ext cx="230" cy="172"/>
              <a:chOff x="24000" y="3168"/>
              <a:chExt cx="1248" cy="1248"/>
            </a:xfrm>
          </p:grpSpPr>
          <p:sp>
            <p:nvSpPr>
              <p:cNvPr id="18442" name="AutoShape 12"/>
              <p:cNvSpPr>
                <a:spLocks noChangeArrowheads="1"/>
              </p:cNvSpPr>
              <p:nvPr/>
            </p:nvSpPr>
            <p:spPr bwMode="auto">
              <a:xfrm>
                <a:off x="24000" y="3168"/>
                <a:ext cx="1248" cy="1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67 h 21600"/>
                  <a:gd name="T26" fmla="*/ 18433 w 21600"/>
                  <a:gd name="T27" fmla="*/ 1843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08" y="10800"/>
                    </a:moveTo>
                    <a:cubicBezTo>
                      <a:pt x="2908" y="15159"/>
                      <a:pt x="6441" y="18692"/>
                      <a:pt x="10800" y="18692"/>
                    </a:cubicBezTo>
                    <a:cubicBezTo>
                      <a:pt x="15159" y="18692"/>
                      <a:pt x="18692" y="15159"/>
                      <a:pt x="18692" y="10800"/>
                    </a:cubicBezTo>
                    <a:cubicBezTo>
                      <a:pt x="18692" y="6441"/>
                      <a:pt x="15159" y="2908"/>
                      <a:pt x="10800" y="2908"/>
                    </a:cubicBezTo>
                    <a:cubicBezTo>
                      <a:pt x="6441" y="2908"/>
                      <a:pt x="2908" y="6441"/>
                      <a:pt x="2908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8443" name="AutoShape 13"/>
              <p:cNvSpPr>
                <a:spLocks noChangeArrowheads="1"/>
              </p:cNvSpPr>
              <p:nvPr/>
            </p:nvSpPr>
            <p:spPr bwMode="auto">
              <a:xfrm>
                <a:off x="24336" y="3504"/>
                <a:ext cx="576" cy="57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0 w 21600"/>
                  <a:gd name="T25" fmla="*/ 3150 h 21600"/>
                  <a:gd name="T26" fmla="*/ 18450 w 21600"/>
                  <a:gd name="T27" fmla="*/ 1845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</p:grpSp>
      </p:grpSp>
      <p:sp>
        <p:nvSpPr>
          <p:cNvPr id="18436" name="Rectangle 14"/>
          <p:cNvSpPr>
            <a:spLocks noChangeArrowheads="1"/>
          </p:cNvSpPr>
          <p:nvPr/>
        </p:nvSpPr>
        <p:spPr bwMode="auto">
          <a:xfrm>
            <a:off x="304800" y="762000"/>
            <a:ext cx="66294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en-AU" dirty="0"/>
              <a:t>Data Definition Language (DDL)</a:t>
            </a:r>
            <a:endParaRPr lang="en-US" dirty="0"/>
          </a:p>
        </p:txBody>
      </p:sp>
      <p:sp>
        <p:nvSpPr>
          <p:cNvPr id="18437" name="Rectangle 15"/>
          <p:cNvSpPr>
            <a:spLocks noChangeArrowheads="1"/>
          </p:cNvSpPr>
          <p:nvPr/>
        </p:nvSpPr>
        <p:spPr bwMode="auto">
          <a:xfrm>
            <a:off x="228600" y="152400"/>
            <a:ext cx="563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l"/>
            <a:r>
              <a:rPr lang="en-US" sz="2800" i="1" dirty="0">
                <a:solidFill>
                  <a:schemeClr val="tx1"/>
                </a:solidFill>
                <a:latin typeface="Arial" charset="0"/>
              </a:rPr>
              <a:t>Database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Tanzima Hashem, Dept of CSE, BUET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CF104B-57E3-4411-AB68-47EC9C0CCFE4}" type="slidenum">
              <a:rPr lang="fr-FR" smtClean="0"/>
              <a:pPr>
                <a:defRPr/>
              </a:pPr>
              <a:t>13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3981111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u contenu 2"/>
          <p:cNvSpPr>
            <a:spLocks noGrp="1"/>
          </p:cNvSpPr>
          <p:nvPr>
            <p:ph idx="4294967295"/>
          </p:nvPr>
        </p:nvSpPr>
        <p:spPr>
          <a:xfrm>
            <a:off x="357188" y="1676400"/>
            <a:ext cx="8329612" cy="4800600"/>
          </a:xfrm>
        </p:spPr>
        <p:txBody>
          <a:bodyPr/>
          <a:lstStyle/>
          <a:p>
            <a:r>
              <a:rPr lang="en-US" sz="2300" dirty="0" smtClean="0"/>
              <a:t>Data </a:t>
            </a:r>
            <a:r>
              <a:rPr lang="en-US" sz="2300" dirty="0"/>
              <a:t>dictionary contains metadata (i.e., data about data)</a:t>
            </a:r>
          </a:p>
          <a:p>
            <a:pPr lvl="1"/>
            <a:r>
              <a:rPr lang="en-US" sz="2300" dirty="0"/>
              <a:t>Database schema </a:t>
            </a:r>
          </a:p>
          <a:p>
            <a:pPr lvl="1"/>
            <a:r>
              <a:rPr lang="en-US" sz="2300" dirty="0" smtClean="0"/>
              <a:t>Constraints</a:t>
            </a:r>
          </a:p>
          <a:p>
            <a:pPr lvl="2"/>
            <a:r>
              <a:rPr lang="en-US" sz="2300" dirty="0" smtClean="0"/>
              <a:t>Integrity </a:t>
            </a:r>
            <a:r>
              <a:rPr lang="en-US" sz="2300" dirty="0"/>
              <a:t>constraints</a:t>
            </a:r>
          </a:p>
          <a:p>
            <a:pPr lvl="2"/>
            <a:r>
              <a:rPr lang="en-US" sz="2300" dirty="0" smtClean="0"/>
              <a:t>Referential constraints</a:t>
            </a:r>
          </a:p>
          <a:p>
            <a:pPr lvl="2"/>
            <a:r>
              <a:rPr lang="en-US" sz="2300" dirty="0" smtClean="0"/>
              <a:t>Domain constraints</a:t>
            </a:r>
          </a:p>
          <a:p>
            <a:pPr lvl="2"/>
            <a:r>
              <a:rPr lang="en-US" sz="2300" dirty="0" smtClean="0"/>
              <a:t>Authorization</a:t>
            </a:r>
            <a:endParaRPr lang="en-US" sz="2300" dirty="0"/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0" y="633413"/>
            <a:ext cx="8143875" cy="273050"/>
            <a:chOff x="0" y="480"/>
            <a:chExt cx="5130" cy="172"/>
          </a:xfrm>
        </p:grpSpPr>
        <p:sp>
          <p:nvSpPr>
            <p:cNvPr id="18438" name="Line 4"/>
            <p:cNvSpPr>
              <a:spLocks noChangeShapeType="1"/>
            </p:cNvSpPr>
            <p:nvPr/>
          </p:nvSpPr>
          <p:spPr bwMode="auto">
            <a:xfrm>
              <a:off x="0" y="480"/>
              <a:ext cx="503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AU"/>
            </a:p>
          </p:txBody>
        </p:sp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4320" y="480"/>
              <a:ext cx="230" cy="172"/>
              <a:chOff x="24000" y="3168"/>
              <a:chExt cx="1248" cy="1248"/>
            </a:xfrm>
          </p:grpSpPr>
          <p:sp>
            <p:nvSpPr>
              <p:cNvPr id="18446" name="AutoShape 6"/>
              <p:cNvSpPr>
                <a:spLocks noChangeArrowheads="1"/>
              </p:cNvSpPr>
              <p:nvPr/>
            </p:nvSpPr>
            <p:spPr bwMode="auto">
              <a:xfrm>
                <a:off x="24000" y="3168"/>
                <a:ext cx="1248" cy="1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67 h 21600"/>
                  <a:gd name="T26" fmla="*/ 18433 w 21600"/>
                  <a:gd name="T27" fmla="*/ 1843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08" y="10800"/>
                    </a:moveTo>
                    <a:cubicBezTo>
                      <a:pt x="2908" y="15159"/>
                      <a:pt x="6441" y="18692"/>
                      <a:pt x="10800" y="18692"/>
                    </a:cubicBezTo>
                    <a:cubicBezTo>
                      <a:pt x="15159" y="18692"/>
                      <a:pt x="18692" y="15159"/>
                      <a:pt x="18692" y="10800"/>
                    </a:cubicBezTo>
                    <a:cubicBezTo>
                      <a:pt x="18692" y="6441"/>
                      <a:pt x="15159" y="2908"/>
                      <a:pt x="10800" y="2908"/>
                    </a:cubicBezTo>
                    <a:cubicBezTo>
                      <a:pt x="6441" y="2908"/>
                      <a:pt x="2908" y="6441"/>
                      <a:pt x="2908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8447" name="AutoShape 7"/>
              <p:cNvSpPr>
                <a:spLocks noChangeArrowheads="1"/>
              </p:cNvSpPr>
              <p:nvPr/>
            </p:nvSpPr>
            <p:spPr bwMode="auto">
              <a:xfrm>
                <a:off x="24336" y="3504"/>
                <a:ext cx="576" cy="57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0 w 21600"/>
                  <a:gd name="T25" fmla="*/ 3150 h 21600"/>
                  <a:gd name="T26" fmla="*/ 18450 w 21600"/>
                  <a:gd name="T27" fmla="*/ 1845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</p:grpSp>
        <p:grpSp>
          <p:nvGrpSpPr>
            <p:cNvPr id="4" name="Group 8"/>
            <p:cNvGrpSpPr>
              <a:grpSpLocks/>
            </p:cNvGrpSpPr>
            <p:nvPr/>
          </p:nvGrpSpPr>
          <p:grpSpPr bwMode="auto">
            <a:xfrm>
              <a:off x="4610" y="480"/>
              <a:ext cx="230" cy="172"/>
              <a:chOff x="24000" y="3168"/>
              <a:chExt cx="1248" cy="1248"/>
            </a:xfrm>
          </p:grpSpPr>
          <p:sp>
            <p:nvSpPr>
              <p:cNvPr id="18444" name="AutoShape 9"/>
              <p:cNvSpPr>
                <a:spLocks noChangeArrowheads="1"/>
              </p:cNvSpPr>
              <p:nvPr/>
            </p:nvSpPr>
            <p:spPr bwMode="auto">
              <a:xfrm>
                <a:off x="24000" y="3168"/>
                <a:ext cx="1248" cy="1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67 h 21600"/>
                  <a:gd name="T26" fmla="*/ 18433 w 21600"/>
                  <a:gd name="T27" fmla="*/ 1843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08" y="10800"/>
                    </a:moveTo>
                    <a:cubicBezTo>
                      <a:pt x="2908" y="15159"/>
                      <a:pt x="6441" y="18692"/>
                      <a:pt x="10800" y="18692"/>
                    </a:cubicBezTo>
                    <a:cubicBezTo>
                      <a:pt x="15159" y="18692"/>
                      <a:pt x="18692" y="15159"/>
                      <a:pt x="18692" y="10800"/>
                    </a:cubicBezTo>
                    <a:cubicBezTo>
                      <a:pt x="18692" y="6441"/>
                      <a:pt x="15159" y="2908"/>
                      <a:pt x="10800" y="2908"/>
                    </a:cubicBezTo>
                    <a:cubicBezTo>
                      <a:pt x="6441" y="2908"/>
                      <a:pt x="2908" y="6441"/>
                      <a:pt x="2908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8445" name="AutoShape 10"/>
              <p:cNvSpPr>
                <a:spLocks noChangeArrowheads="1"/>
              </p:cNvSpPr>
              <p:nvPr/>
            </p:nvSpPr>
            <p:spPr bwMode="auto">
              <a:xfrm>
                <a:off x="24336" y="3504"/>
                <a:ext cx="576" cy="57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0 w 21600"/>
                  <a:gd name="T25" fmla="*/ 3150 h 21600"/>
                  <a:gd name="T26" fmla="*/ 18450 w 21600"/>
                  <a:gd name="T27" fmla="*/ 1845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</p:grpSp>
        <p:grpSp>
          <p:nvGrpSpPr>
            <p:cNvPr id="5" name="Group 11"/>
            <p:cNvGrpSpPr>
              <a:grpSpLocks/>
            </p:cNvGrpSpPr>
            <p:nvPr/>
          </p:nvGrpSpPr>
          <p:grpSpPr bwMode="auto">
            <a:xfrm>
              <a:off x="4900" y="480"/>
              <a:ext cx="230" cy="172"/>
              <a:chOff x="24000" y="3168"/>
              <a:chExt cx="1248" cy="1248"/>
            </a:xfrm>
          </p:grpSpPr>
          <p:sp>
            <p:nvSpPr>
              <p:cNvPr id="18442" name="AutoShape 12"/>
              <p:cNvSpPr>
                <a:spLocks noChangeArrowheads="1"/>
              </p:cNvSpPr>
              <p:nvPr/>
            </p:nvSpPr>
            <p:spPr bwMode="auto">
              <a:xfrm>
                <a:off x="24000" y="3168"/>
                <a:ext cx="1248" cy="1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67 h 21600"/>
                  <a:gd name="T26" fmla="*/ 18433 w 21600"/>
                  <a:gd name="T27" fmla="*/ 1843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08" y="10800"/>
                    </a:moveTo>
                    <a:cubicBezTo>
                      <a:pt x="2908" y="15159"/>
                      <a:pt x="6441" y="18692"/>
                      <a:pt x="10800" y="18692"/>
                    </a:cubicBezTo>
                    <a:cubicBezTo>
                      <a:pt x="15159" y="18692"/>
                      <a:pt x="18692" y="15159"/>
                      <a:pt x="18692" y="10800"/>
                    </a:cubicBezTo>
                    <a:cubicBezTo>
                      <a:pt x="18692" y="6441"/>
                      <a:pt x="15159" y="2908"/>
                      <a:pt x="10800" y="2908"/>
                    </a:cubicBezTo>
                    <a:cubicBezTo>
                      <a:pt x="6441" y="2908"/>
                      <a:pt x="2908" y="6441"/>
                      <a:pt x="2908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8443" name="AutoShape 13"/>
              <p:cNvSpPr>
                <a:spLocks noChangeArrowheads="1"/>
              </p:cNvSpPr>
              <p:nvPr/>
            </p:nvSpPr>
            <p:spPr bwMode="auto">
              <a:xfrm>
                <a:off x="24336" y="3504"/>
                <a:ext cx="576" cy="57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0 w 21600"/>
                  <a:gd name="T25" fmla="*/ 3150 h 21600"/>
                  <a:gd name="T26" fmla="*/ 18450 w 21600"/>
                  <a:gd name="T27" fmla="*/ 1845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</p:grpSp>
      </p:grpSp>
      <p:sp>
        <p:nvSpPr>
          <p:cNvPr id="18436" name="Rectangle 14"/>
          <p:cNvSpPr>
            <a:spLocks noChangeArrowheads="1"/>
          </p:cNvSpPr>
          <p:nvPr/>
        </p:nvSpPr>
        <p:spPr bwMode="auto">
          <a:xfrm>
            <a:off x="304800" y="762000"/>
            <a:ext cx="66294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en-AU" dirty="0"/>
              <a:t>Data Definition Language (DDL)</a:t>
            </a:r>
            <a:endParaRPr lang="en-US" dirty="0"/>
          </a:p>
        </p:txBody>
      </p:sp>
      <p:sp>
        <p:nvSpPr>
          <p:cNvPr id="18437" name="Rectangle 15"/>
          <p:cNvSpPr>
            <a:spLocks noChangeArrowheads="1"/>
          </p:cNvSpPr>
          <p:nvPr/>
        </p:nvSpPr>
        <p:spPr bwMode="auto">
          <a:xfrm>
            <a:off x="228600" y="152400"/>
            <a:ext cx="563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l"/>
            <a:r>
              <a:rPr lang="en-US" sz="2800" i="1" dirty="0">
                <a:solidFill>
                  <a:schemeClr val="tx1"/>
                </a:solidFill>
                <a:latin typeface="Arial" charset="0"/>
              </a:rPr>
              <a:t>Database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Tanzima Hashem, Dept of CSE, BUET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CF104B-57E3-4411-AB68-47EC9C0CCFE4}" type="slidenum">
              <a:rPr lang="fr-FR" smtClean="0"/>
              <a:pPr>
                <a:defRPr/>
              </a:pPr>
              <a:t>14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7852883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u contenu 2"/>
          <p:cNvSpPr>
            <a:spLocks noGrp="1"/>
          </p:cNvSpPr>
          <p:nvPr>
            <p:ph idx="4294967295"/>
          </p:nvPr>
        </p:nvSpPr>
        <p:spPr>
          <a:xfrm>
            <a:off x="357188" y="1676400"/>
            <a:ext cx="8329612" cy="4800600"/>
          </a:xfrm>
        </p:spPr>
        <p:txBody>
          <a:bodyPr/>
          <a:lstStyle/>
          <a:p>
            <a:r>
              <a:rPr lang="en-US" altLang="en-US" sz="2300" dirty="0"/>
              <a:t>Language for accessing and updating the data organized by the appropriate data model</a:t>
            </a:r>
          </a:p>
          <a:p>
            <a:r>
              <a:rPr lang="en-US" altLang="en-US" sz="2300" dirty="0" smtClean="0"/>
              <a:t>There </a:t>
            </a:r>
            <a:r>
              <a:rPr lang="en-US" altLang="en-US" sz="2300" dirty="0"/>
              <a:t>are basically two types of data-manipulation language</a:t>
            </a:r>
          </a:p>
          <a:p>
            <a:pPr lvl="1"/>
            <a:r>
              <a:rPr lang="en-US" altLang="en-US" sz="2300" b="1" dirty="0">
                <a:solidFill>
                  <a:srgbClr val="002060"/>
                </a:solidFill>
                <a:cs typeface="ＭＳ Ｐゴシック" charset="0"/>
              </a:rPr>
              <a:t>Procedural DML </a:t>
            </a:r>
            <a:r>
              <a:rPr lang="en-US" altLang="en-US" sz="2300" dirty="0">
                <a:cs typeface="ＭＳ Ｐゴシック" charset="0"/>
              </a:rPr>
              <a:t>--  require a user to specify what data are needed and how to get those </a:t>
            </a:r>
            <a:r>
              <a:rPr lang="en-US" altLang="en-US" sz="2300" dirty="0" smtClean="0">
                <a:cs typeface="ＭＳ Ｐゴシック" charset="0"/>
              </a:rPr>
              <a:t>data</a:t>
            </a:r>
            <a:endParaRPr lang="en-US" altLang="en-US" sz="2300" dirty="0">
              <a:cs typeface="ＭＳ Ｐゴシック" charset="0"/>
            </a:endParaRPr>
          </a:p>
          <a:p>
            <a:pPr lvl="1"/>
            <a:r>
              <a:rPr lang="en-US" altLang="en-US" sz="2300" b="1" dirty="0">
                <a:solidFill>
                  <a:srgbClr val="002060"/>
                </a:solidFill>
                <a:cs typeface="ＭＳ Ｐゴシック" charset="0"/>
              </a:rPr>
              <a:t>Declarative DML  </a:t>
            </a:r>
            <a:r>
              <a:rPr lang="en-US" altLang="en-US" sz="2300" dirty="0">
                <a:cs typeface="ＭＳ Ｐゴシック" charset="0"/>
              </a:rPr>
              <a:t>-- require a user to specify what data are needed without specifying how to get those </a:t>
            </a:r>
            <a:r>
              <a:rPr lang="en-US" altLang="en-US" sz="2300" dirty="0" smtClean="0">
                <a:cs typeface="ＭＳ Ｐゴシック" charset="0"/>
              </a:rPr>
              <a:t>data</a:t>
            </a:r>
            <a:endParaRPr lang="en-US" altLang="en-US" sz="2300" dirty="0">
              <a:cs typeface="ＭＳ Ｐゴシック" charset="0"/>
            </a:endParaRPr>
          </a:p>
          <a:p>
            <a:r>
              <a:rPr lang="en-US" altLang="en-US" sz="2300" dirty="0"/>
              <a:t>Declarative DMLs are usually easier to learn and use than are procedural </a:t>
            </a:r>
            <a:r>
              <a:rPr lang="en-US" altLang="en-US" sz="2300" dirty="0" smtClean="0"/>
              <a:t>DMLs</a:t>
            </a:r>
            <a:endParaRPr lang="en-US" altLang="en-US" sz="2300" dirty="0"/>
          </a:p>
          <a:p>
            <a:r>
              <a:rPr lang="en-US" altLang="en-US" sz="2300" dirty="0"/>
              <a:t>Declarative DMLs are also referred to as non-procedural </a:t>
            </a:r>
            <a:r>
              <a:rPr lang="en-US" altLang="en-US" sz="2300" dirty="0" smtClean="0"/>
              <a:t>DMLs</a:t>
            </a:r>
          </a:p>
          <a:p>
            <a:pPr marL="342900" lvl="1" indent="-342900">
              <a:buFont typeface="Arial" charset="0"/>
              <a:buChar char="•"/>
            </a:pPr>
            <a:r>
              <a:rPr lang="en-US" altLang="en-US" sz="2300" dirty="0"/>
              <a:t>The portion of a DML that involves information retrieval is called a query language</a:t>
            </a:r>
            <a:endParaRPr lang="en-US" altLang="en-US" sz="2300" dirty="0"/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0" y="633413"/>
            <a:ext cx="8143875" cy="273050"/>
            <a:chOff x="0" y="480"/>
            <a:chExt cx="5130" cy="172"/>
          </a:xfrm>
        </p:grpSpPr>
        <p:sp>
          <p:nvSpPr>
            <p:cNvPr id="18438" name="Line 4"/>
            <p:cNvSpPr>
              <a:spLocks noChangeShapeType="1"/>
            </p:cNvSpPr>
            <p:nvPr/>
          </p:nvSpPr>
          <p:spPr bwMode="auto">
            <a:xfrm>
              <a:off x="0" y="480"/>
              <a:ext cx="503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AU"/>
            </a:p>
          </p:txBody>
        </p:sp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4320" y="480"/>
              <a:ext cx="230" cy="172"/>
              <a:chOff x="24000" y="3168"/>
              <a:chExt cx="1248" cy="1248"/>
            </a:xfrm>
          </p:grpSpPr>
          <p:sp>
            <p:nvSpPr>
              <p:cNvPr id="18446" name="AutoShape 6"/>
              <p:cNvSpPr>
                <a:spLocks noChangeArrowheads="1"/>
              </p:cNvSpPr>
              <p:nvPr/>
            </p:nvSpPr>
            <p:spPr bwMode="auto">
              <a:xfrm>
                <a:off x="24000" y="3168"/>
                <a:ext cx="1248" cy="1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67 h 21600"/>
                  <a:gd name="T26" fmla="*/ 18433 w 21600"/>
                  <a:gd name="T27" fmla="*/ 1843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08" y="10800"/>
                    </a:moveTo>
                    <a:cubicBezTo>
                      <a:pt x="2908" y="15159"/>
                      <a:pt x="6441" y="18692"/>
                      <a:pt x="10800" y="18692"/>
                    </a:cubicBezTo>
                    <a:cubicBezTo>
                      <a:pt x="15159" y="18692"/>
                      <a:pt x="18692" y="15159"/>
                      <a:pt x="18692" y="10800"/>
                    </a:cubicBezTo>
                    <a:cubicBezTo>
                      <a:pt x="18692" y="6441"/>
                      <a:pt x="15159" y="2908"/>
                      <a:pt x="10800" y="2908"/>
                    </a:cubicBezTo>
                    <a:cubicBezTo>
                      <a:pt x="6441" y="2908"/>
                      <a:pt x="2908" y="6441"/>
                      <a:pt x="2908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8447" name="AutoShape 7"/>
              <p:cNvSpPr>
                <a:spLocks noChangeArrowheads="1"/>
              </p:cNvSpPr>
              <p:nvPr/>
            </p:nvSpPr>
            <p:spPr bwMode="auto">
              <a:xfrm>
                <a:off x="24336" y="3504"/>
                <a:ext cx="576" cy="57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0 w 21600"/>
                  <a:gd name="T25" fmla="*/ 3150 h 21600"/>
                  <a:gd name="T26" fmla="*/ 18450 w 21600"/>
                  <a:gd name="T27" fmla="*/ 1845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</p:grpSp>
        <p:grpSp>
          <p:nvGrpSpPr>
            <p:cNvPr id="4" name="Group 8"/>
            <p:cNvGrpSpPr>
              <a:grpSpLocks/>
            </p:cNvGrpSpPr>
            <p:nvPr/>
          </p:nvGrpSpPr>
          <p:grpSpPr bwMode="auto">
            <a:xfrm>
              <a:off x="4610" y="480"/>
              <a:ext cx="230" cy="172"/>
              <a:chOff x="24000" y="3168"/>
              <a:chExt cx="1248" cy="1248"/>
            </a:xfrm>
          </p:grpSpPr>
          <p:sp>
            <p:nvSpPr>
              <p:cNvPr id="18444" name="AutoShape 9"/>
              <p:cNvSpPr>
                <a:spLocks noChangeArrowheads="1"/>
              </p:cNvSpPr>
              <p:nvPr/>
            </p:nvSpPr>
            <p:spPr bwMode="auto">
              <a:xfrm>
                <a:off x="24000" y="3168"/>
                <a:ext cx="1248" cy="1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67 h 21600"/>
                  <a:gd name="T26" fmla="*/ 18433 w 21600"/>
                  <a:gd name="T27" fmla="*/ 1843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08" y="10800"/>
                    </a:moveTo>
                    <a:cubicBezTo>
                      <a:pt x="2908" y="15159"/>
                      <a:pt x="6441" y="18692"/>
                      <a:pt x="10800" y="18692"/>
                    </a:cubicBezTo>
                    <a:cubicBezTo>
                      <a:pt x="15159" y="18692"/>
                      <a:pt x="18692" y="15159"/>
                      <a:pt x="18692" y="10800"/>
                    </a:cubicBezTo>
                    <a:cubicBezTo>
                      <a:pt x="18692" y="6441"/>
                      <a:pt x="15159" y="2908"/>
                      <a:pt x="10800" y="2908"/>
                    </a:cubicBezTo>
                    <a:cubicBezTo>
                      <a:pt x="6441" y="2908"/>
                      <a:pt x="2908" y="6441"/>
                      <a:pt x="2908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8445" name="AutoShape 10"/>
              <p:cNvSpPr>
                <a:spLocks noChangeArrowheads="1"/>
              </p:cNvSpPr>
              <p:nvPr/>
            </p:nvSpPr>
            <p:spPr bwMode="auto">
              <a:xfrm>
                <a:off x="24336" y="3504"/>
                <a:ext cx="576" cy="57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0 w 21600"/>
                  <a:gd name="T25" fmla="*/ 3150 h 21600"/>
                  <a:gd name="T26" fmla="*/ 18450 w 21600"/>
                  <a:gd name="T27" fmla="*/ 1845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</p:grpSp>
        <p:grpSp>
          <p:nvGrpSpPr>
            <p:cNvPr id="5" name="Group 11"/>
            <p:cNvGrpSpPr>
              <a:grpSpLocks/>
            </p:cNvGrpSpPr>
            <p:nvPr/>
          </p:nvGrpSpPr>
          <p:grpSpPr bwMode="auto">
            <a:xfrm>
              <a:off x="4900" y="480"/>
              <a:ext cx="230" cy="172"/>
              <a:chOff x="24000" y="3168"/>
              <a:chExt cx="1248" cy="1248"/>
            </a:xfrm>
          </p:grpSpPr>
          <p:sp>
            <p:nvSpPr>
              <p:cNvPr id="18442" name="AutoShape 12"/>
              <p:cNvSpPr>
                <a:spLocks noChangeArrowheads="1"/>
              </p:cNvSpPr>
              <p:nvPr/>
            </p:nvSpPr>
            <p:spPr bwMode="auto">
              <a:xfrm>
                <a:off x="24000" y="3168"/>
                <a:ext cx="1248" cy="1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67 h 21600"/>
                  <a:gd name="T26" fmla="*/ 18433 w 21600"/>
                  <a:gd name="T27" fmla="*/ 1843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08" y="10800"/>
                    </a:moveTo>
                    <a:cubicBezTo>
                      <a:pt x="2908" y="15159"/>
                      <a:pt x="6441" y="18692"/>
                      <a:pt x="10800" y="18692"/>
                    </a:cubicBezTo>
                    <a:cubicBezTo>
                      <a:pt x="15159" y="18692"/>
                      <a:pt x="18692" y="15159"/>
                      <a:pt x="18692" y="10800"/>
                    </a:cubicBezTo>
                    <a:cubicBezTo>
                      <a:pt x="18692" y="6441"/>
                      <a:pt x="15159" y="2908"/>
                      <a:pt x="10800" y="2908"/>
                    </a:cubicBezTo>
                    <a:cubicBezTo>
                      <a:pt x="6441" y="2908"/>
                      <a:pt x="2908" y="6441"/>
                      <a:pt x="2908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8443" name="AutoShape 13"/>
              <p:cNvSpPr>
                <a:spLocks noChangeArrowheads="1"/>
              </p:cNvSpPr>
              <p:nvPr/>
            </p:nvSpPr>
            <p:spPr bwMode="auto">
              <a:xfrm>
                <a:off x="24336" y="3504"/>
                <a:ext cx="576" cy="57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0 w 21600"/>
                  <a:gd name="T25" fmla="*/ 3150 h 21600"/>
                  <a:gd name="T26" fmla="*/ 18450 w 21600"/>
                  <a:gd name="T27" fmla="*/ 1845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</p:grpSp>
      </p:grpSp>
      <p:sp>
        <p:nvSpPr>
          <p:cNvPr id="18436" name="Rectangle 14"/>
          <p:cNvSpPr>
            <a:spLocks noChangeArrowheads="1"/>
          </p:cNvSpPr>
          <p:nvPr/>
        </p:nvSpPr>
        <p:spPr bwMode="auto">
          <a:xfrm>
            <a:off x="612602" y="762000"/>
            <a:ext cx="66294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en-AU" dirty="0"/>
              <a:t>Data Manipulation Language (DML)</a:t>
            </a:r>
            <a:endParaRPr lang="en-US" dirty="0"/>
          </a:p>
        </p:txBody>
      </p:sp>
      <p:sp>
        <p:nvSpPr>
          <p:cNvPr id="18437" name="Rectangle 15"/>
          <p:cNvSpPr>
            <a:spLocks noChangeArrowheads="1"/>
          </p:cNvSpPr>
          <p:nvPr/>
        </p:nvSpPr>
        <p:spPr bwMode="auto">
          <a:xfrm>
            <a:off x="228600" y="152400"/>
            <a:ext cx="563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l"/>
            <a:r>
              <a:rPr lang="en-US" sz="2800" i="1" dirty="0">
                <a:solidFill>
                  <a:schemeClr val="tx1"/>
                </a:solidFill>
                <a:latin typeface="Arial" charset="0"/>
              </a:rPr>
              <a:t>Database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Tanzima Hashem, Dept of CSE, BUET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CF104B-57E3-4411-AB68-47EC9C0CCFE4}" type="slidenum">
              <a:rPr lang="fr-FR" smtClean="0"/>
              <a:pPr>
                <a:defRPr/>
              </a:pPr>
              <a:t>15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6095406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u contenu 2"/>
          <p:cNvSpPr>
            <a:spLocks noGrp="1"/>
          </p:cNvSpPr>
          <p:nvPr>
            <p:ph idx="4294967295"/>
          </p:nvPr>
        </p:nvSpPr>
        <p:spPr>
          <a:xfrm>
            <a:off x="357188" y="1676400"/>
            <a:ext cx="8329612" cy="4800600"/>
          </a:xfrm>
        </p:spPr>
        <p:txBody>
          <a:bodyPr/>
          <a:lstStyle/>
          <a:p>
            <a:r>
              <a:rPr lang="en-US" altLang="en-US" sz="2300" dirty="0"/>
              <a:t>Initial phase -- characterize fully the data needs of the prospective database </a:t>
            </a:r>
            <a:r>
              <a:rPr lang="en-US" altLang="en-US" sz="2300" dirty="0" smtClean="0"/>
              <a:t>users </a:t>
            </a:r>
            <a:endParaRPr lang="en-US" altLang="en-US" sz="2300" dirty="0"/>
          </a:p>
          <a:p>
            <a:endParaRPr lang="en-US" altLang="en-US" sz="2300" dirty="0" smtClean="0"/>
          </a:p>
          <a:p>
            <a:r>
              <a:rPr lang="en-US" altLang="en-US" sz="2300" dirty="0" smtClean="0"/>
              <a:t>Second </a:t>
            </a:r>
            <a:r>
              <a:rPr lang="en-US" altLang="en-US" sz="2300" dirty="0"/>
              <a:t>phase  -- choosing  a data </a:t>
            </a:r>
            <a:r>
              <a:rPr lang="en-US" altLang="en-US" sz="2300" dirty="0" smtClean="0"/>
              <a:t>model </a:t>
            </a:r>
            <a:endParaRPr lang="en-US" altLang="en-US" sz="2300" dirty="0"/>
          </a:p>
          <a:p>
            <a:pPr lvl="1"/>
            <a:r>
              <a:rPr lang="en-US" altLang="en-US" sz="2300" dirty="0">
                <a:ea typeface="ＭＳ Ｐゴシック" panose="020B0600070205080204" pitchFamily="34" charset="-128"/>
              </a:rPr>
              <a:t>Applying the concepts of the chosen data model</a:t>
            </a:r>
          </a:p>
          <a:p>
            <a:pPr lvl="1"/>
            <a:r>
              <a:rPr lang="en-US" altLang="en-US" sz="2300" dirty="0">
                <a:ea typeface="ＭＳ Ｐゴシック" panose="020B0600070205080204" pitchFamily="34" charset="-128"/>
              </a:rPr>
              <a:t>Translating  these requirements into a conceptual schema of the </a:t>
            </a:r>
            <a:r>
              <a:rPr lang="en-US" altLang="en-US" sz="2300" dirty="0" smtClean="0">
                <a:ea typeface="ＭＳ Ｐゴシック" panose="020B0600070205080204" pitchFamily="34" charset="-128"/>
              </a:rPr>
              <a:t>database</a:t>
            </a:r>
            <a:endParaRPr lang="en-US" altLang="en-US" sz="2300" dirty="0">
              <a:ea typeface="ＭＳ Ｐゴシック" panose="020B0600070205080204" pitchFamily="34" charset="-128"/>
            </a:endParaRPr>
          </a:p>
          <a:p>
            <a:pPr lvl="1"/>
            <a:r>
              <a:rPr lang="en-US" altLang="en-US" sz="2300" dirty="0">
                <a:ea typeface="ＭＳ Ｐゴシック" panose="020B0600070205080204" pitchFamily="34" charset="-128"/>
              </a:rPr>
              <a:t>A fully developed conceptual schema indicates the functional requirements of the </a:t>
            </a:r>
            <a:r>
              <a:rPr lang="en-US" altLang="en-US" sz="2300" dirty="0" smtClean="0">
                <a:ea typeface="ＭＳ Ｐゴシック" panose="020B0600070205080204" pitchFamily="34" charset="-128"/>
              </a:rPr>
              <a:t>enterprise</a:t>
            </a:r>
            <a:endParaRPr lang="en-US" altLang="en-US" sz="2300" dirty="0">
              <a:ea typeface="ＭＳ Ｐゴシック" panose="020B0600070205080204" pitchFamily="34" charset="-128"/>
            </a:endParaRPr>
          </a:p>
          <a:p>
            <a:pPr lvl="2"/>
            <a:r>
              <a:rPr lang="en-US" altLang="en-US" sz="2300" dirty="0">
                <a:ea typeface="ＭＳ Ｐゴシック" panose="020B0600070205080204" pitchFamily="34" charset="-128"/>
              </a:rPr>
              <a:t>Describe the kinds of operations (or transactions) that will be performed on the </a:t>
            </a:r>
            <a:r>
              <a:rPr lang="en-US" altLang="en-US" sz="2300" dirty="0" smtClean="0">
                <a:ea typeface="ＭＳ Ｐゴシック" panose="020B0600070205080204" pitchFamily="34" charset="-128"/>
              </a:rPr>
              <a:t>data</a:t>
            </a:r>
            <a:endParaRPr lang="en-US" altLang="en-US" sz="2300" dirty="0">
              <a:ea typeface="ＭＳ Ｐゴシック" panose="020B0600070205080204" pitchFamily="34" charset="-128"/>
            </a:endParaRP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0" y="633413"/>
            <a:ext cx="8143875" cy="273050"/>
            <a:chOff x="0" y="480"/>
            <a:chExt cx="5130" cy="172"/>
          </a:xfrm>
        </p:grpSpPr>
        <p:sp>
          <p:nvSpPr>
            <p:cNvPr id="18438" name="Line 4"/>
            <p:cNvSpPr>
              <a:spLocks noChangeShapeType="1"/>
            </p:cNvSpPr>
            <p:nvPr/>
          </p:nvSpPr>
          <p:spPr bwMode="auto">
            <a:xfrm>
              <a:off x="0" y="480"/>
              <a:ext cx="503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AU"/>
            </a:p>
          </p:txBody>
        </p:sp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4320" y="480"/>
              <a:ext cx="230" cy="172"/>
              <a:chOff x="24000" y="3168"/>
              <a:chExt cx="1248" cy="1248"/>
            </a:xfrm>
          </p:grpSpPr>
          <p:sp>
            <p:nvSpPr>
              <p:cNvPr id="18446" name="AutoShape 6"/>
              <p:cNvSpPr>
                <a:spLocks noChangeArrowheads="1"/>
              </p:cNvSpPr>
              <p:nvPr/>
            </p:nvSpPr>
            <p:spPr bwMode="auto">
              <a:xfrm>
                <a:off x="24000" y="3168"/>
                <a:ext cx="1248" cy="1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67 h 21600"/>
                  <a:gd name="T26" fmla="*/ 18433 w 21600"/>
                  <a:gd name="T27" fmla="*/ 1843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08" y="10800"/>
                    </a:moveTo>
                    <a:cubicBezTo>
                      <a:pt x="2908" y="15159"/>
                      <a:pt x="6441" y="18692"/>
                      <a:pt x="10800" y="18692"/>
                    </a:cubicBezTo>
                    <a:cubicBezTo>
                      <a:pt x="15159" y="18692"/>
                      <a:pt x="18692" y="15159"/>
                      <a:pt x="18692" y="10800"/>
                    </a:cubicBezTo>
                    <a:cubicBezTo>
                      <a:pt x="18692" y="6441"/>
                      <a:pt x="15159" y="2908"/>
                      <a:pt x="10800" y="2908"/>
                    </a:cubicBezTo>
                    <a:cubicBezTo>
                      <a:pt x="6441" y="2908"/>
                      <a:pt x="2908" y="6441"/>
                      <a:pt x="2908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8447" name="AutoShape 7"/>
              <p:cNvSpPr>
                <a:spLocks noChangeArrowheads="1"/>
              </p:cNvSpPr>
              <p:nvPr/>
            </p:nvSpPr>
            <p:spPr bwMode="auto">
              <a:xfrm>
                <a:off x="24336" y="3504"/>
                <a:ext cx="576" cy="57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0 w 21600"/>
                  <a:gd name="T25" fmla="*/ 3150 h 21600"/>
                  <a:gd name="T26" fmla="*/ 18450 w 21600"/>
                  <a:gd name="T27" fmla="*/ 1845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</p:grpSp>
        <p:grpSp>
          <p:nvGrpSpPr>
            <p:cNvPr id="4" name="Group 8"/>
            <p:cNvGrpSpPr>
              <a:grpSpLocks/>
            </p:cNvGrpSpPr>
            <p:nvPr/>
          </p:nvGrpSpPr>
          <p:grpSpPr bwMode="auto">
            <a:xfrm>
              <a:off x="4610" y="480"/>
              <a:ext cx="230" cy="172"/>
              <a:chOff x="24000" y="3168"/>
              <a:chExt cx="1248" cy="1248"/>
            </a:xfrm>
          </p:grpSpPr>
          <p:sp>
            <p:nvSpPr>
              <p:cNvPr id="18444" name="AutoShape 9"/>
              <p:cNvSpPr>
                <a:spLocks noChangeArrowheads="1"/>
              </p:cNvSpPr>
              <p:nvPr/>
            </p:nvSpPr>
            <p:spPr bwMode="auto">
              <a:xfrm>
                <a:off x="24000" y="3168"/>
                <a:ext cx="1248" cy="1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67 h 21600"/>
                  <a:gd name="T26" fmla="*/ 18433 w 21600"/>
                  <a:gd name="T27" fmla="*/ 1843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08" y="10800"/>
                    </a:moveTo>
                    <a:cubicBezTo>
                      <a:pt x="2908" y="15159"/>
                      <a:pt x="6441" y="18692"/>
                      <a:pt x="10800" y="18692"/>
                    </a:cubicBezTo>
                    <a:cubicBezTo>
                      <a:pt x="15159" y="18692"/>
                      <a:pt x="18692" y="15159"/>
                      <a:pt x="18692" y="10800"/>
                    </a:cubicBezTo>
                    <a:cubicBezTo>
                      <a:pt x="18692" y="6441"/>
                      <a:pt x="15159" y="2908"/>
                      <a:pt x="10800" y="2908"/>
                    </a:cubicBezTo>
                    <a:cubicBezTo>
                      <a:pt x="6441" y="2908"/>
                      <a:pt x="2908" y="6441"/>
                      <a:pt x="2908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8445" name="AutoShape 10"/>
              <p:cNvSpPr>
                <a:spLocks noChangeArrowheads="1"/>
              </p:cNvSpPr>
              <p:nvPr/>
            </p:nvSpPr>
            <p:spPr bwMode="auto">
              <a:xfrm>
                <a:off x="24336" y="3504"/>
                <a:ext cx="576" cy="57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0 w 21600"/>
                  <a:gd name="T25" fmla="*/ 3150 h 21600"/>
                  <a:gd name="T26" fmla="*/ 18450 w 21600"/>
                  <a:gd name="T27" fmla="*/ 1845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</p:grpSp>
        <p:grpSp>
          <p:nvGrpSpPr>
            <p:cNvPr id="5" name="Group 11"/>
            <p:cNvGrpSpPr>
              <a:grpSpLocks/>
            </p:cNvGrpSpPr>
            <p:nvPr/>
          </p:nvGrpSpPr>
          <p:grpSpPr bwMode="auto">
            <a:xfrm>
              <a:off x="4900" y="480"/>
              <a:ext cx="230" cy="172"/>
              <a:chOff x="24000" y="3168"/>
              <a:chExt cx="1248" cy="1248"/>
            </a:xfrm>
          </p:grpSpPr>
          <p:sp>
            <p:nvSpPr>
              <p:cNvPr id="18442" name="AutoShape 12"/>
              <p:cNvSpPr>
                <a:spLocks noChangeArrowheads="1"/>
              </p:cNvSpPr>
              <p:nvPr/>
            </p:nvSpPr>
            <p:spPr bwMode="auto">
              <a:xfrm>
                <a:off x="24000" y="3168"/>
                <a:ext cx="1248" cy="1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67 h 21600"/>
                  <a:gd name="T26" fmla="*/ 18433 w 21600"/>
                  <a:gd name="T27" fmla="*/ 1843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08" y="10800"/>
                    </a:moveTo>
                    <a:cubicBezTo>
                      <a:pt x="2908" y="15159"/>
                      <a:pt x="6441" y="18692"/>
                      <a:pt x="10800" y="18692"/>
                    </a:cubicBezTo>
                    <a:cubicBezTo>
                      <a:pt x="15159" y="18692"/>
                      <a:pt x="18692" y="15159"/>
                      <a:pt x="18692" y="10800"/>
                    </a:cubicBezTo>
                    <a:cubicBezTo>
                      <a:pt x="18692" y="6441"/>
                      <a:pt x="15159" y="2908"/>
                      <a:pt x="10800" y="2908"/>
                    </a:cubicBezTo>
                    <a:cubicBezTo>
                      <a:pt x="6441" y="2908"/>
                      <a:pt x="2908" y="6441"/>
                      <a:pt x="2908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8443" name="AutoShape 13"/>
              <p:cNvSpPr>
                <a:spLocks noChangeArrowheads="1"/>
              </p:cNvSpPr>
              <p:nvPr/>
            </p:nvSpPr>
            <p:spPr bwMode="auto">
              <a:xfrm>
                <a:off x="24336" y="3504"/>
                <a:ext cx="576" cy="57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0 w 21600"/>
                  <a:gd name="T25" fmla="*/ 3150 h 21600"/>
                  <a:gd name="T26" fmla="*/ 18450 w 21600"/>
                  <a:gd name="T27" fmla="*/ 1845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</p:grpSp>
      </p:grpSp>
      <p:sp>
        <p:nvSpPr>
          <p:cNvPr id="18436" name="Rectangle 14"/>
          <p:cNvSpPr>
            <a:spLocks noChangeArrowheads="1"/>
          </p:cNvSpPr>
          <p:nvPr/>
        </p:nvSpPr>
        <p:spPr bwMode="auto">
          <a:xfrm>
            <a:off x="304800" y="762000"/>
            <a:ext cx="66294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en-AU" dirty="0" smtClean="0"/>
              <a:t>Database Design</a:t>
            </a:r>
            <a:endParaRPr lang="en-US" dirty="0"/>
          </a:p>
        </p:txBody>
      </p:sp>
      <p:sp>
        <p:nvSpPr>
          <p:cNvPr id="18437" name="Rectangle 15"/>
          <p:cNvSpPr>
            <a:spLocks noChangeArrowheads="1"/>
          </p:cNvSpPr>
          <p:nvPr/>
        </p:nvSpPr>
        <p:spPr bwMode="auto">
          <a:xfrm>
            <a:off x="228600" y="152400"/>
            <a:ext cx="563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l"/>
            <a:r>
              <a:rPr lang="en-US" sz="2800" i="1" dirty="0">
                <a:solidFill>
                  <a:schemeClr val="tx1"/>
                </a:solidFill>
                <a:latin typeface="Arial" charset="0"/>
              </a:rPr>
              <a:t>Database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Tanzima Hashem, Dept of CSE, BUET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CF104B-57E3-4411-AB68-47EC9C0CCFE4}" type="slidenum">
              <a:rPr lang="fr-FR" smtClean="0"/>
              <a:pPr>
                <a:defRPr/>
              </a:pPr>
              <a:t>16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8173885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u contenu 2"/>
          <p:cNvSpPr>
            <a:spLocks noGrp="1"/>
          </p:cNvSpPr>
          <p:nvPr>
            <p:ph idx="4294967295"/>
          </p:nvPr>
        </p:nvSpPr>
        <p:spPr>
          <a:xfrm>
            <a:off x="357188" y="1676400"/>
            <a:ext cx="8329612" cy="48006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US" sz="2300" dirty="0" smtClean="0"/>
              <a:t>Final Phase -- Moving from an abstract data model to the implementation of the database</a:t>
            </a:r>
            <a:endParaRPr lang="en-US" altLang="en-US" sz="2300" i="1" dirty="0" smtClean="0"/>
          </a:p>
          <a:p>
            <a:pPr marL="800100" lvl="1" indent="-342900"/>
            <a:r>
              <a:rPr lang="en-US" altLang="en-US" sz="2300" dirty="0" smtClean="0">
                <a:ea typeface="ＭＳ Ｐゴシック" panose="020B0600070205080204" pitchFamily="34" charset="-128"/>
              </a:rPr>
              <a:t>Logical Design –  Deciding on the database schema </a:t>
            </a:r>
          </a:p>
          <a:p>
            <a:pPr lvl="2" indent="-342900"/>
            <a:r>
              <a:rPr lang="en-US" altLang="en-US" sz="2300" dirty="0" smtClean="0">
                <a:ea typeface="ＭＳ Ｐゴシック" panose="020B0600070205080204" pitchFamily="34" charset="-128"/>
              </a:rPr>
              <a:t>Database design requires that we find a “good” collection of relation schemas</a:t>
            </a:r>
          </a:p>
          <a:p>
            <a:pPr lvl="2" indent="-342900">
              <a:buFont typeface="Wingdings" panose="05000000000000000000" pitchFamily="2" charset="2"/>
              <a:buChar char="§"/>
            </a:pPr>
            <a:r>
              <a:rPr lang="en-US" altLang="en-US" sz="2300" dirty="0" smtClean="0">
                <a:ea typeface="ＭＳ Ｐゴシック" panose="020B0600070205080204" pitchFamily="34" charset="-128"/>
              </a:rPr>
              <a:t>Business decision – What attributes should we record in the database?</a:t>
            </a:r>
          </a:p>
          <a:p>
            <a:pPr lvl="2" indent="-342900">
              <a:buFont typeface="Wingdings" panose="05000000000000000000" pitchFamily="2" charset="2"/>
              <a:buChar char="§"/>
            </a:pPr>
            <a:r>
              <a:rPr lang="en-US" altLang="en-US" sz="2300" dirty="0" smtClean="0">
                <a:ea typeface="ＭＳ Ｐゴシック" panose="020B0600070205080204" pitchFamily="34" charset="-128"/>
              </a:rPr>
              <a:t>Computer Science decision –  What relation schemas should we have and how should the attributes be distributed among the various relation schemas?</a:t>
            </a:r>
          </a:p>
          <a:p>
            <a:pPr marL="800100" lvl="1" indent="-342900"/>
            <a:r>
              <a:rPr lang="en-US" altLang="en-US" sz="2300" dirty="0" smtClean="0">
                <a:ea typeface="ＭＳ Ｐゴシック" panose="020B0600070205080204" pitchFamily="34" charset="-128"/>
              </a:rPr>
              <a:t>Physical Design – Deciding on the physical layout of the database</a:t>
            </a:r>
            <a:endParaRPr lang="en-US" altLang="en-US" sz="2300" dirty="0">
              <a:ea typeface="ＭＳ Ｐゴシック" panose="020B0600070205080204" pitchFamily="34" charset="-128"/>
            </a:endParaRP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0" y="633413"/>
            <a:ext cx="8143875" cy="273050"/>
            <a:chOff x="0" y="480"/>
            <a:chExt cx="5130" cy="172"/>
          </a:xfrm>
        </p:grpSpPr>
        <p:sp>
          <p:nvSpPr>
            <p:cNvPr id="18438" name="Line 4"/>
            <p:cNvSpPr>
              <a:spLocks noChangeShapeType="1"/>
            </p:cNvSpPr>
            <p:nvPr/>
          </p:nvSpPr>
          <p:spPr bwMode="auto">
            <a:xfrm>
              <a:off x="0" y="480"/>
              <a:ext cx="503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AU"/>
            </a:p>
          </p:txBody>
        </p:sp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4320" y="480"/>
              <a:ext cx="230" cy="172"/>
              <a:chOff x="24000" y="3168"/>
              <a:chExt cx="1248" cy="1248"/>
            </a:xfrm>
          </p:grpSpPr>
          <p:sp>
            <p:nvSpPr>
              <p:cNvPr id="18446" name="AutoShape 6"/>
              <p:cNvSpPr>
                <a:spLocks noChangeArrowheads="1"/>
              </p:cNvSpPr>
              <p:nvPr/>
            </p:nvSpPr>
            <p:spPr bwMode="auto">
              <a:xfrm>
                <a:off x="24000" y="3168"/>
                <a:ext cx="1248" cy="1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67 h 21600"/>
                  <a:gd name="T26" fmla="*/ 18433 w 21600"/>
                  <a:gd name="T27" fmla="*/ 1843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08" y="10800"/>
                    </a:moveTo>
                    <a:cubicBezTo>
                      <a:pt x="2908" y="15159"/>
                      <a:pt x="6441" y="18692"/>
                      <a:pt x="10800" y="18692"/>
                    </a:cubicBezTo>
                    <a:cubicBezTo>
                      <a:pt x="15159" y="18692"/>
                      <a:pt x="18692" y="15159"/>
                      <a:pt x="18692" y="10800"/>
                    </a:cubicBezTo>
                    <a:cubicBezTo>
                      <a:pt x="18692" y="6441"/>
                      <a:pt x="15159" y="2908"/>
                      <a:pt x="10800" y="2908"/>
                    </a:cubicBezTo>
                    <a:cubicBezTo>
                      <a:pt x="6441" y="2908"/>
                      <a:pt x="2908" y="6441"/>
                      <a:pt x="2908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8447" name="AutoShape 7"/>
              <p:cNvSpPr>
                <a:spLocks noChangeArrowheads="1"/>
              </p:cNvSpPr>
              <p:nvPr/>
            </p:nvSpPr>
            <p:spPr bwMode="auto">
              <a:xfrm>
                <a:off x="24336" y="3504"/>
                <a:ext cx="576" cy="57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0 w 21600"/>
                  <a:gd name="T25" fmla="*/ 3150 h 21600"/>
                  <a:gd name="T26" fmla="*/ 18450 w 21600"/>
                  <a:gd name="T27" fmla="*/ 1845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</p:grpSp>
        <p:grpSp>
          <p:nvGrpSpPr>
            <p:cNvPr id="4" name="Group 8"/>
            <p:cNvGrpSpPr>
              <a:grpSpLocks/>
            </p:cNvGrpSpPr>
            <p:nvPr/>
          </p:nvGrpSpPr>
          <p:grpSpPr bwMode="auto">
            <a:xfrm>
              <a:off x="4610" y="480"/>
              <a:ext cx="230" cy="172"/>
              <a:chOff x="24000" y="3168"/>
              <a:chExt cx="1248" cy="1248"/>
            </a:xfrm>
          </p:grpSpPr>
          <p:sp>
            <p:nvSpPr>
              <p:cNvPr id="18444" name="AutoShape 9"/>
              <p:cNvSpPr>
                <a:spLocks noChangeArrowheads="1"/>
              </p:cNvSpPr>
              <p:nvPr/>
            </p:nvSpPr>
            <p:spPr bwMode="auto">
              <a:xfrm>
                <a:off x="24000" y="3168"/>
                <a:ext cx="1248" cy="1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67 h 21600"/>
                  <a:gd name="T26" fmla="*/ 18433 w 21600"/>
                  <a:gd name="T27" fmla="*/ 1843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08" y="10800"/>
                    </a:moveTo>
                    <a:cubicBezTo>
                      <a:pt x="2908" y="15159"/>
                      <a:pt x="6441" y="18692"/>
                      <a:pt x="10800" y="18692"/>
                    </a:cubicBezTo>
                    <a:cubicBezTo>
                      <a:pt x="15159" y="18692"/>
                      <a:pt x="18692" y="15159"/>
                      <a:pt x="18692" y="10800"/>
                    </a:cubicBezTo>
                    <a:cubicBezTo>
                      <a:pt x="18692" y="6441"/>
                      <a:pt x="15159" y="2908"/>
                      <a:pt x="10800" y="2908"/>
                    </a:cubicBezTo>
                    <a:cubicBezTo>
                      <a:pt x="6441" y="2908"/>
                      <a:pt x="2908" y="6441"/>
                      <a:pt x="2908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8445" name="AutoShape 10"/>
              <p:cNvSpPr>
                <a:spLocks noChangeArrowheads="1"/>
              </p:cNvSpPr>
              <p:nvPr/>
            </p:nvSpPr>
            <p:spPr bwMode="auto">
              <a:xfrm>
                <a:off x="24336" y="3504"/>
                <a:ext cx="576" cy="57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0 w 21600"/>
                  <a:gd name="T25" fmla="*/ 3150 h 21600"/>
                  <a:gd name="T26" fmla="*/ 18450 w 21600"/>
                  <a:gd name="T27" fmla="*/ 1845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</p:grpSp>
        <p:grpSp>
          <p:nvGrpSpPr>
            <p:cNvPr id="5" name="Group 11"/>
            <p:cNvGrpSpPr>
              <a:grpSpLocks/>
            </p:cNvGrpSpPr>
            <p:nvPr/>
          </p:nvGrpSpPr>
          <p:grpSpPr bwMode="auto">
            <a:xfrm>
              <a:off x="4900" y="480"/>
              <a:ext cx="230" cy="172"/>
              <a:chOff x="24000" y="3168"/>
              <a:chExt cx="1248" cy="1248"/>
            </a:xfrm>
          </p:grpSpPr>
          <p:sp>
            <p:nvSpPr>
              <p:cNvPr id="18442" name="AutoShape 12"/>
              <p:cNvSpPr>
                <a:spLocks noChangeArrowheads="1"/>
              </p:cNvSpPr>
              <p:nvPr/>
            </p:nvSpPr>
            <p:spPr bwMode="auto">
              <a:xfrm>
                <a:off x="24000" y="3168"/>
                <a:ext cx="1248" cy="1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67 h 21600"/>
                  <a:gd name="T26" fmla="*/ 18433 w 21600"/>
                  <a:gd name="T27" fmla="*/ 1843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08" y="10800"/>
                    </a:moveTo>
                    <a:cubicBezTo>
                      <a:pt x="2908" y="15159"/>
                      <a:pt x="6441" y="18692"/>
                      <a:pt x="10800" y="18692"/>
                    </a:cubicBezTo>
                    <a:cubicBezTo>
                      <a:pt x="15159" y="18692"/>
                      <a:pt x="18692" y="15159"/>
                      <a:pt x="18692" y="10800"/>
                    </a:cubicBezTo>
                    <a:cubicBezTo>
                      <a:pt x="18692" y="6441"/>
                      <a:pt x="15159" y="2908"/>
                      <a:pt x="10800" y="2908"/>
                    </a:cubicBezTo>
                    <a:cubicBezTo>
                      <a:pt x="6441" y="2908"/>
                      <a:pt x="2908" y="6441"/>
                      <a:pt x="2908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8443" name="AutoShape 13"/>
              <p:cNvSpPr>
                <a:spLocks noChangeArrowheads="1"/>
              </p:cNvSpPr>
              <p:nvPr/>
            </p:nvSpPr>
            <p:spPr bwMode="auto">
              <a:xfrm>
                <a:off x="24336" y="3504"/>
                <a:ext cx="576" cy="57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0 w 21600"/>
                  <a:gd name="T25" fmla="*/ 3150 h 21600"/>
                  <a:gd name="T26" fmla="*/ 18450 w 21600"/>
                  <a:gd name="T27" fmla="*/ 1845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</p:grpSp>
      </p:grpSp>
      <p:sp>
        <p:nvSpPr>
          <p:cNvPr id="18436" name="Rectangle 14"/>
          <p:cNvSpPr>
            <a:spLocks noChangeArrowheads="1"/>
          </p:cNvSpPr>
          <p:nvPr/>
        </p:nvSpPr>
        <p:spPr bwMode="auto">
          <a:xfrm>
            <a:off x="304800" y="762000"/>
            <a:ext cx="66294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en-AU" dirty="0" smtClean="0"/>
              <a:t>Database Design</a:t>
            </a:r>
            <a:endParaRPr lang="en-US" dirty="0"/>
          </a:p>
        </p:txBody>
      </p:sp>
      <p:sp>
        <p:nvSpPr>
          <p:cNvPr id="18437" name="Rectangle 15"/>
          <p:cNvSpPr>
            <a:spLocks noChangeArrowheads="1"/>
          </p:cNvSpPr>
          <p:nvPr/>
        </p:nvSpPr>
        <p:spPr bwMode="auto">
          <a:xfrm>
            <a:off x="228600" y="152400"/>
            <a:ext cx="563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l"/>
            <a:r>
              <a:rPr lang="en-US" sz="2800" i="1" dirty="0">
                <a:solidFill>
                  <a:schemeClr val="tx1"/>
                </a:solidFill>
                <a:latin typeface="Arial" charset="0"/>
              </a:rPr>
              <a:t>Database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Tanzima Hashem, Dept of CSE, BUET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CF104B-57E3-4411-AB68-47EC9C0CCFE4}" type="slidenum">
              <a:rPr lang="fr-FR" smtClean="0"/>
              <a:pPr>
                <a:defRPr/>
              </a:pPr>
              <a:t>17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6600401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u contenu 2"/>
          <p:cNvSpPr>
            <a:spLocks noGrp="1"/>
          </p:cNvSpPr>
          <p:nvPr>
            <p:ph idx="4294967295"/>
          </p:nvPr>
        </p:nvSpPr>
        <p:spPr>
          <a:xfrm>
            <a:off x="357188" y="1676400"/>
            <a:ext cx="8329612" cy="4800600"/>
          </a:xfrm>
        </p:spPr>
        <p:txBody>
          <a:bodyPr/>
          <a:lstStyle/>
          <a:p>
            <a:r>
              <a:rPr lang="en-US" altLang="en-US" sz="2300" dirty="0"/>
              <a:t>In designing a database schema, we must ensure that we avoid two major pitfalls:</a:t>
            </a:r>
          </a:p>
          <a:p>
            <a:pPr lvl="1"/>
            <a:r>
              <a:rPr lang="en-US" altLang="en-US" sz="2300" b="1" dirty="0"/>
              <a:t>Redundancy:</a:t>
            </a:r>
            <a:r>
              <a:rPr lang="en-US" altLang="en-US" sz="2300" dirty="0"/>
              <a:t>  a bad design  may result in repeat information.  </a:t>
            </a:r>
          </a:p>
          <a:p>
            <a:pPr lvl="2"/>
            <a:r>
              <a:rPr lang="en-US" altLang="en-US" sz="2300" dirty="0"/>
              <a:t>Redundant representation of information may lead to data inconsistency among the various copies of information </a:t>
            </a:r>
          </a:p>
          <a:p>
            <a:pPr lvl="1"/>
            <a:r>
              <a:rPr lang="en-US" altLang="en-US" sz="2300" b="1" dirty="0"/>
              <a:t>Incompleteness:</a:t>
            </a:r>
            <a:r>
              <a:rPr lang="en-US" altLang="en-US" sz="2300" dirty="0"/>
              <a:t> a bad design may make certain aspects of the enterprise difficult or impossible to model</a:t>
            </a:r>
            <a:endParaRPr lang="en-US" altLang="en-US" sz="2300" dirty="0">
              <a:ea typeface="ＭＳ Ｐゴシック" panose="020B0600070205080204" pitchFamily="34" charset="-128"/>
            </a:endParaRP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0" y="633413"/>
            <a:ext cx="8143875" cy="273050"/>
            <a:chOff x="0" y="480"/>
            <a:chExt cx="5130" cy="172"/>
          </a:xfrm>
        </p:grpSpPr>
        <p:sp>
          <p:nvSpPr>
            <p:cNvPr id="18438" name="Line 4"/>
            <p:cNvSpPr>
              <a:spLocks noChangeShapeType="1"/>
            </p:cNvSpPr>
            <p:nvPr/>
          </p:nvSpPr>
          <p:spPr bwMode="auto">
            <a:xfrm>
              <a:off x="0" y="480"/>
              <a:ext cx="503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AU"/>
            </a:p>
          </p:txBody>
        </p:sp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4320" y="480"/>
              <a:ext cx="230" cy="172"/>
              <a:chOff x="24000" y="3168"/>
              <a:chExt cx="1248" cy="1248"/>
            </a:xfrm>
          </p:grpSpPr>
          <p:sp>
            <p:nvSpPr>
              <p:cNvPr id="18446" name="AutoShape 6"/>
              <p:cNvSpPr>
                <a:spLocks noChangeArrowheads="1"/>
              </p:cNvSpPr>
              <p:nvPr/>
            </p:nvSpPr>
            <p:spPr bwMode="auto">
              <a:xfrm>
                <a:off x="24000" y="3168"/>
                <a:ext cx="1248" cy="1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67 h 21600"/>
                  <a:gd name="T26" fmla="*/ 18433 w 21600"/>
                  <a:gd name="T27" fmla="*/ 1843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08" y="10800"/>
                    </a:moveTo>
                    <a:cubicBezTo>
                      <a:pt x="2908" y="15159"/>
                      <a:pt x="6441" y="18692"/>
                      <a:pt x="10800" y="18692"/>
                    </a:cubicBezTo>
                    <a:cubicBezTo>
                      <a:pt x="15159" y="18692"/>
                      <a:pt x="18692" y="15159"/>
                      <a:pt x="18692" y="10800"/>
                    </a:cubicBezTo>
                    <a:cubicBezTo>
                      <a:pt x="18692" y="6441"/>
                      <a:pt x="15159" y="2908"/>
                      <a:pt x="10800" y="2908"/>
                    </a:cubicBezTo>
                    <a:cubicBezTo>
                      <a:pt x="6441" y="2908"/>
                      <a:pt x="2908" y="6441"/>
                      <a:pt x="2908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8447" name="AutoShape 7"/>
              <p:cNvSpPr>
                <a:spLocks noChangeArrowheads="1"/>
              </p:cNvSpPr>
              <p:nvPr/>
            </p:nvSpPr>
            <p:spPr bwMode="auto">
              <a:xfrm>
                <a:off x="24336" y="3504"/>
                <a:ext cx="576" cy="57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0 w 21600"/>
                  <a:gd name="T25" fmla="*/ 3150 h 21600"/>
                  <a:gd name="T26" fmla="*/ 18450 w 21600"/>
                  <a:gd name="T27" fmla="*/ 1845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</p:grpSp>
        <p:grpSp>
          <p:nvGrpSpPr>
            <p:cNvPr id="4" name="Group 8"/>
            <p:cNvGrpSpPr>
              <a:grpSpLocks/>
            </p:cNvGrpSpPr>
            <p:nvPr/>
          </p:nvGrpSpPr>
          <p:grpSpPr bwMode="auto">
            <a:xfrm>
              <a:off x="4610" y="480"/>
              <a:ext cx="230" cy="172"/>
              <a:chOff x="24000" y="3168"/>
              <a:chExt cx="1248" cy="1248"/>
            </a:xfrm>
          </p:grpSpPr>
          <p:sp>
            <p:nvSpPr>
              <p:cNvPr id="18444" name="AutoShape 9"/>
              <p:cNvSpPr>
                <a:spLocks noChangeArrowheads="1"/>
              </p:cNvSpPr>
              <p:nvPr/>
            </p:nvSpPr>
            <p:spPr bwMode="auto">
              <a:xfrm>
                <a:off x="24000" y="3168"/>
                <a:ext cx="1248" cy="1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67 h 21600"/>
                  <a:gd name="T26" fmla="*/ 18433 w 21600"/>
                  <a:gd name="T27" fmla="*/ 1843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08" y="10800"/>
                    </a:moveTo>
                    <a:cubicBezTo>
                      <a:pt x="2908" y="15159"/>
                      <a:pt x="6441" y="18692"/>
                      <a:pt x="10800" y="18692"/>
                    </a:cubicBezTo>
                    <a:cubicBezTo>
                      <a:pt x="15159" y="18692"/>
                      <a:pt x="18692" y="15159"/>
                      <a:pt x="18692" y="10800"/>
                    </a:cubicBezTo>
                    <a:cubicBezTo>
                      <a:pt x="18692" y="6441"/>
                      <a:pt x="15159" y="2908"/>
                      <a:pt x="10800" y="2908"/>
                    </a:cubicBezTo>
                    <a:cubicBezTo>
                      <a:pt x="6441" y="2908"/>
                      <a:pt x="2908" y="6441"/>
                      <a:pt x="2908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8445" name="AutoShape 10"/>
              <p:cNvSpPr>
                <a:spLocks noChangeArrowheads="1"/>
              </p:cNvSpPr>
              <p:nvPr/>
            </p:nvSpPr>
            <p:spPr bwMode="auto">
              <a:xfrm>
                <a:off x="24336" y="3504"/>
                <a:ext cx="576" cy="57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0 w 21600"/>
                  <a:gd name="T25" fmla="*/ 3150 h 21600"/>
                  <a:gd name="T26" fmla="*/ 18450 w 21600"/>
                  <a:gd name="T27" fmla="*/ 1845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</p:grpSp>
        <p:grpSp>
          <p:nvGrpSpPr>
            <p:cNvPr id="5" name="Group 11"/>
            <p:cNvGrpSpPr>
              <a:grpSpLocks/>
            </p:cNvGrpSpPr>
            <p:nvPr/>
          </p:nvGrpSpPr>
          <p:grpSpPr bwMode="auto">
            <a:xfrm>
              <a:off x="4900" y="480"/>
              <a:ext cx="230" cy="172"/>
              <a:chOff x="24000" y="3168"/>
              <a:chExt cx="1248" cy="1248"/>
            </a:xfrm>
          </p:grpSpPr>
          <p:sp>
            <p:nvSpPr>
              <p:cNvPr id="18442" name="AutoShape 12"/>
              <p:cNvSpPr>
                <a:spLocks noChangeArrowheads="1"/>
              </p:cNvSpPr>
              <p:nvPr/>
            </p:nvSpPr>
            <p:spPr bwMode="auto">
              <a:xfrm>
                <a:off x="24000" y="3168"/>
                <a:ext cx="1248" cy="1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67 h 21600"/>
                  <a:gd name="T26" fmla="*/ 18433 w 21600"/>
                  <a:gd name="T27" fmla="*/ 1843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08" y="10800"/>
                    </a:moveTo>
                    <a:cubicBezTo>
                      <a:pt x="2908" y="15159"/>
                      <a:pt x="6441" y="18692"/>
                      <a:pt x="10800" y="18692"/>
                    </a:cubicBezTo>
                    <a:cubicBezTo>
                      <a:pt x="15159" y="18692"/>
                      <a:pt x="18692" y="15159"/>
                      <a:pt x="18692" y="10800"/>
                    </a:cubicBezTo>
                    <a:cubicBezTo>
                      <a:pt x="18692" y="6441"/>
                      <a:pt x="15159" y="2908"/>
                      <a:pt x="10800" y="2908"/>
                    </a:cubicBezTo>
                    <a:cubicBezTo>
                      <a:pt x="6441" y="2908"/>
                      <a:pt x="2908" y="6441"/>
                      <a:pt x="2908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8443" name="AutoShape 13"/>
              <p:cNvSpPr>
                <a:spLocks noChangeArrowheads="1"/>
              </p:cNvSpPr>
              <p:nvPr/>
            </p:nvSpPr>
            <p:spPr bwMode="auto">
              <a:xfrm>
                <a:off x="24336" y="3504"/>
                <a:ext cx="576" cy="57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0 w 21600"/>
                  <a:gd name="T25" fmla="*/ 3150 h 21600"/>
                  <a:gd name="T26" fmla="*/ 18450 w 21600"/>
                  <a:gd name="T27" fmla="*/ 1845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</p:grpSp>
      </p:grpSp>
      <p:sp>
        <p:nvSpPr>
          <p:cNvPr id="18436" name="Rectangle 14"/>
          <p:cNvSpPr>
            <a:spLocks noChangeArrowheads="1"/>
          </p:cNvSpPr>
          <p:nvPr/>
        </p:nvSpPr>
        <p:spPr bwMode="auto">
          <a:xfrm>
            <a:off x="304800" y="762000"/>
            <a:ext cx="66294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en-AU" dirty="0" smtClean="0"/>
              <a:t>Database Design</a:t>
            </a:r>
            <a:endParaRPr lang="en-US" dirty="0"/>
          </a:p>
        </p:txBody>
      </p:sp>
      <p:sp>
        <p:nvSpPr>
          <p:cNvPr id="18437" name="Rectangle 15"/>
          <p:cNvSpPr>
            <a:spLocks noChangeArrowheads="1"/>
          </p:cNvSpPr>
          <p:nvPr/>
        </p:nvSpPr>
        <p:spPr bwMode="auto">
          <a:xfrm>
            <a:off x="228600" y="152400"/>
            <a:ext cx="563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l"/>
            <a:r>
              <a:rPr lang="en-US" sz="2800" i="1" dirty="0">
                <a:solidFill>
                  <a:schemeClr val="tx1"/>
                </a:solidFill>
                <a:latin typeface="Arial" charset="0"/>
              </a:rPr>
              <a:t>Database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Tanzima Hashem, Dept of CSE, BUET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CF104B-57E3-4411-AB68-47EC9C0CCFE4}" type="slidenum">
              <a:rPr lang="fr-FR" smtClean="0"/>
              <a:pPr>
                <a:defRPr/>
              </a:pPr>
              <a:t>18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4551665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u contenu 2"/>
          <p:cNvSpPr>
            <a:spLocks noGrp="1"/>
          </p:cNvSpPr>
          <p:nvPr>
            <p:ph idx="4294967295"/>
          </p:nvPr>
        </p:nvSpPr>
        <p:spPr>
          <a:xfrm>
            <a:off x="357188" y="1676400"/>
            <a:ext cx="8329612" cy="4800600"/>
          </a:xfrm>
        </p:spPr>
        <p:txBody>
          <a:bodyPr/>
          <a:lstStyle/>
          <a:p>
            <a:r>
              <a:rPr lang="en-US" sz="2300" dirty="0"/>
              <a:t>A database system is partitioned into modules that deal with each of the responsibilities of the overall </a:t>
            </a:r>
            <a:r>
              <a:rPr lang="en-US" sz="2300" dirty="0" smtClean="0"/>
              <a:t>system</a:t>
            </a:r>
            <a:endParaRPr lang="en-US" sz="2300" dirty="0"/>
          </a:p>
          <a:p>
            <a:r>
              <a:rPr lang="en-US" sz="2300" dirty="0"/>
              <a:t>The functional components of a database </a:t>
            </a:r>
            <a:r>
              <a:rPr lang="en-US" sz="2300" dirty="0" smtClean="0"/>
              <a:t>system:</a:t>
            </a:r>
            <a:endParaRPr lang="en-US" sz="2300" dirty="0"/>
          </a:p>
          <a:p>
            <a:pPr lvl="1"/>
            <a:r>
              <a:rPr lang="en-US" sz="2000" dirty="0"/>
              <a:t>The storage </a:t>
            </a:r>
            <a:r>
              <a:rPr lang="en-US" sz="2000" dirty="0" smtClean="0"/>
              <a:t>manager</a:t>
            </a:r>
            <a:endParaRPr lang="en-US" sz="2000" dirty="0"/>
          </a:p>
          <a:p>
            <a:pPr lvl="2"/>
            <a:r>
              <a:rPr lang="en-US" dirty="0" smtClean="0"/>
              <a:t>Provides </a:t>
            </a:r>
            <a:r>
              <a:rPr lang="en-US" dirty="0"/>
              <a:t>the interface between the low-level data </a:t>
            </a:r>
            <a:r>
              <a:rPr lang="en-US" dirty="0" smtClean="0"/>
              <a:t>and </a:t>
            </a:r>
            <a:r>
              <a:rPr lang="en-US" dirty="0"/>
              <a:t>the application programs and </a:t>
            </a:r>
            <a:r>
              <a:rPr lang="en-US" dirty="0" smtClean="0"/>
              <a:t>user </a:t>
            </a:r>
            <a:r>
              <a:rPr lang="en-US" dirty="0" smtClean="0"/>
              <a:t>queries</a:t>
            </a:r>
            <a:endParaRPr lang="en-US" sz="2000" dirty="0" smtClean="0"/>
          </a:p>
          <a:p>
            <a:pPr lvl="1"/>
            <a:r>
              <a:rPr lang="en-US" sz="2000" dirty="0" smtClean="0"/>
              <a:t>The query processor component</a:t>
            </a:r>
            <a:endParaRPr lang="en-US" sz="2000" dirty="0"/>
          </a:p>
          <a:p>
            <a:pPr lvl="2"/>
            <a:r>
              <a:rPr lang="en-US" dirty="0" smtClean="0"/>
              <a:t>Interprets</a:t>
            </a:r>
            <a:r>
              <a:rPr lang="en-US" dirty="0"/>
              <a:t>, optimizes, and executes user queries by converting them into efficient low-level instructions </a:t>
            </a:r>
          </a:p>
          <a:p>
            <a:pPr lvl="1"/>
            <a:r>
              <a:rPr lang="en-US" sz="2000" dirty="0"/>
              <a:t>The transaction management </a:t>
            </a:r>
            <a:r>
              <a:rPr lang="en-US" sz="2000" dirty="0" smtClean="0"/>
              <a:t>component</a:t>
            </a:r>
          </a:p>
          <a:p>
            <a:pPr lvl="2"/>
            <a:r>
              <a:rPr lang="en-US" dirty="0" smtClean="0"/>
              <a:t>Keeps database </a:t>
            </a:r>
            <a:r>
              <a:rPr lang="en-US" dirty="0"/>
              <a:t>consistent even after system or transaction failures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0" y="633413"/>
            <a:ext cx="8143875" cy="273050"/>
            <a:chOff x="0" y="480"/>
            <a:chExt cx="5130" cy="172"/>
          </a:xfrm>
        </p:grpSpPr>
        <p:sp>
          <p:nvSpPr>
            <p:cNvPr id="18438" name="Line 4"/>
            <p:cNvSpPr>
              <a:spLocks noChangeShapeType="1"/>
            </p:cNvSpPr>
            <p:nvPr/>
          </p:nvSpPr>
          <p:spPr bwMode="auto">
            <a:xfrm>
              <a:off x="0" y="480"/>
              <a:ext cx="503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AU"/>
            </a:p>
          </p:txBody>
        </p:sp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4320" y="480"/>
              <a:ext cx="230" cy="172"/>
              <a:chOff x="24000" y="3168"/>
              <a:chExt cx="1248" cy="1248"/>
            </a:xfrm>
          </p:grpSpPr>
          <p:sp>
            <p:nvSpPr>
              <p:cNvPr id="18446" name="AutoShape 6"/>
              <p:cNvSpPr>
                <a:spLocks noChangeArrowheads="1"/>
              </p:cNvSpPr>
              <p:nvPr/>
            </p:nvSpPr>
            <p:spPr bwMode="auto">
              <a:xfrm>
                <a:off x="24000" y="3168"/>
                <a:ext cx="1248" cy="1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67 h 21600"/>
                  <a:gd name="T26" fmla="*/ 18433 w 21600"/>
                  <a:gd name="T27" fmla="*/ 1843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08" y="10800"/>
                    </a:moveTo>
                    <a:cubicBezTo>
                      <a:pt x="2908" y="15159"/>
                      <a:pt x="6441" y="18692"/>
                      <a:pt x="10800" y="18692"/>
                    </a:cubicBezTo>
                    <a:cubicBezTo>
                      <a:pt x="15159" y="18692"/>
                      <a:pt x="18692" y="15159"/>
                      <a:pt x="18692" y="10800"/>
                    </a:cubicBezTo>
                    <a:cubicBezTo>
                      <a:pt x="18692" y="6441"/>
                      <a:pt x="15159" y="2908"/>
                      <a:pt x="10800" y="2908"/>
                    </a:cubicBezTo>
                    <a:cubicBezTo>
                      <a:pt x="6441" y="2908"/>
                      <a:pt x="2908" y="6441"/>
                      <a:pt x="2908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8447" name="AutoShape 7"/>
              <p:cNvSpPr>
                <a:spLocks noChangeArrowheads="1"/>
              </p:cNvSpPr>
              <p:nvPr/>
            </p:nvSpPr>
            <p:spPr bwMode="auto">
              <a:xfrm>
                <a:off x="24336" y="3504"/>
                <a:ext cx="576" cy="57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0 w 21600"/>
                  <a:gd name="T25" fmla="*/ 3150 h 21600"/>
                  <a:gd name="T26" fmla="*/ 18450 w 21600"/>
                  <a:gd name="T27" fmla="*/ 1845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</p:grpSp>
        <p:grpSp>
          <p:nvGrpSpPr>
            <p:cNvPr id="4" name="Group 8"/>
            <p:cNvGrpSpPr>
              <a:grpSpLocks/>
            </p:cNvGrpSpPr>
            <p:nvPr/>
          </p:nvGrpSpPr>
          <p:grpSpPr bwMode="auto">
            <a:xfrm>
              <a:off x="4610" y="480"/>
              <a:ext cx="230" cy="172"/>
              <a:chOff x="24000" y="3168"/>
              <a:chExt cx="1248" cy="1248"/>
            </a:xfrm>
          </p:grpSpPr>
          <p:sp>
            <p:nvSpPr>
              <p:cNvPr id="18444" name="AutoShape 9"/>
              <p:cNvSpPr>
                <a:spLocks noChangeArrowheads="1"/>
              </p:cNvSpPr>
              <p:nvPr/>
            </p:nvSpPr>
            <p:spPr bwMode="auto">
              <a:xfrm>
                <a:off x="24000" y="3168"/>
                <a:ext cx="1248" cy="1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67 h 21600"/>
                  <a:gd name="T26" fmla="*/ 18433 w 21600"/>
                  <a:gd name="T27" fmla="*/ 1843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08" y="10800"/>
                    </a:moveTo>
                    <a:cubicBezTo>
                      <a:pt x="2908" y="15159"/>
                      <a:pt x="6441" y="18692"/>
                      <a:pt x="10800" y="18692"/>
                    </a:cubicBezTo>
                    <a:cubicBezTo>
                      <a:pt x="15159" y="18692"/>
                      <a:pt x="18692" y="15159"/>
                      <a:pt x="18692" y="10800"/>
                    </a:cubicBezTo>
                    <a:cubicBezTo>
                      <a:pt x="18692" y="6441"/>
                      <a:pt x="15159" y="2908"/>
                      <a:pt x="10800" y="2908"/>
                    </a:cubicBezTo>
                    <a:cubicBezTo>
                      <a:pt x="6441" y="2908"/>
                      <a:pt x="2908" y="6441"/>
                      <a:pt x="2908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8445" name="AutoShape 10"/>
              <p:cNvSpPr>
                <a:spLocks noChangeArrowheads="1"/>
              </p:cNvSpPr>
              <p:nvPr/>
            </p:nvSpPr>
            <p:spPr bwMode="auto">
              <a:xfrm>
                <a:off x="24336" y="3504"/>
                <a:ext cx="576" cy="57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0 w 21600"/>
                  <a:gd name="T25" fmla="*/ 3150 h 21600"/>
                  <a:gd name="T26" fmla="*/ 18450 w 21600"/>
                  <a:gd name="T27" fmla="*/ 1845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</p:grpSp>
        <p:grpSp>
          <p:nvGrpSpPr>
            <p:cNvPr id="5" name="Group 11"/>
            <p:cNvGrpSpPr>
              <a:grpSpLocks/>
            </p:cNvGrpSpPr>
            <p:nvPr/>
          </p:nvGrpSpPr>
          <p:grpSpPr bwMode="auto">
            <a:xfrm>
              <a:off x="4900" y="480"/>
              <a:ext cx="230" cy="172"/>
              <a:chOff x="24000" y="3168"/>
              <a:chExt cx="1248" cy="1248"/>
            </a:xfrm>
          </p:grpSpPr>
          <p:sp>
            <p:nvSpPr>
              <p:cNvPr id="18442" name="AutoShape 12"/>
              <p:cNvSpPr>
                <a:spLocks noChangeArrowheads="1"/>
              </p:cNvSpPr>
              <p:nvPr/>
            </p:nvSpPr>
            <p:spPr bwMode="auto">
              <a:xfrm>
                <a:off x="24000" y="3168"/>
                <a:ext cx="1248" cy="1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67 h 21600"/>
                  <a:gd name="T26" fmla="*/ 18433 w 21600"/>
                  <a:gd name="T27" fmla="*/ 1843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08" y="10800"/>
                    </a:moveTo>
                    <a:cubicBezTo>
                      <a:pt x="2908" y="15159"/>
                      <a:pt x="6441" y="18692"/>
                      <a:pt x="10800" y="18692"/>
                    </a:cubicBezTo>
                    <a:cubicBezTo>
                      <a:pt x="15159" y="18692"/>
                      <a:pt x="18692" y="15159"/>
                      <a:pt x="18692" y="10800"/>
                    </a:cubicBezTo>
                    <a:cubicBezTo>
                      <a:pt x="18692" y="6441"/>
                      <a:pt x="15159" y="2908"/>
                      <a:pt x="10800" y="2908"/>
                    </a:cubicBezTo>
                    <a:cubicBezTo>
                      <a:pt x="6441" y="2908"/>
                      <a:pt x="2908" y="6441"/>
                      <a:pt x="2908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8443" name="AutoShape 13"/>
              <p:cNvSpPr>
                <a:spLocks noChangeArrowheads="1"/>
              </p:cNvSpPr>
              <p:nvPr/>
            </p:nvSpPr>
            <p:spPr bwMode="auto">
              <a:xfrm>
                <a:off x="24336" y="3504"/>
                <a:ext cx="576" cy="57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0 w 21600"/>
                  <a:gd name="T25" fmla="*/ 3150 h 21600"/>
                  <a:gd name="T26" fmla="*/ 18450 w 21600"/>
                  <a:gd name="T27" fmla="*/ 1845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</p:grpSp>
      </p:grpSp>
      <p:sp>
        <p:nvSpPr>
          <p:cNvPr id="18436" name="Rectangle 14"/>
          <p:cNvSpPr>
            <a:spLocks noChangeArrowheads="1"/>
          </p:cNvSpPr>
          <p:nvPr/>
        </p:nvSpPr>
        <p:spPr bwMode="auto">
          <a:xfrm>
            <a:off x="304800" y="762000"/>
            <a:ext cx="66294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en-AU" dirty="0" smtClean="0"/>
              <a:t>Database Engine</a:t>
            </a:r>
            <a:endParaRPr lang="en-US" dirty="0"/>
          </a:p>
        </p:txBody>
      </p:sp>
      <p:sp>
        <p:nvSpPr>
          <p:cNvPr id="18437" name="Rectangle 15"/>
          <p:cNvSpPr>
            <a:spLocks noChangeArrowheads="1"/>
          </p:cNvSpPr>
          <p:nvPr/>
        </p:nvSpPr>
        <p:spPr bwMode="auto">
          <a:xfrm>
            <a:off x="228600" y="152400"/>
            <a:ext cx="563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l"/>
            <a:r>
              <a:rPr lang="en-US" sz="2800" i="1" dirty="0">
                <a:solidFill>
                  <a:schemeClr val="tx1"/>
                </a:solidFill>
                <a:latin typeface="Arial" charset="0"/>
              </a:rPr>
              <a:t>Database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Tanzima Hashem, Dept of CSE, BUET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CF104B-57E3-4411-AB68-47EC9C0CCFE4}" type="slidenum">
              <a:rPr lang="fr-FR" smtClean="0"/>
              <a:pPr>
                <a:defRPr/>
              </a:pPr>
              <a:t>19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8312185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0" y="633413"/>
            <a:ext cx="8143875" cy="273050"/>
            <a:chOff x="0" y="480"/>
            <a:chExt cx="5130" cy="172"/>
          </a:xfrm>
        </p:grpSpPr>
        <p:sp>
          <p:nvSpPr>
            <p:cNvPr id="18438" name="Line 4"/>
            <p:cNvSpPr>
              <a:spLocks noChangeShapeType="1"/>
            </p:cNvSpPr>
            <p:nvPr/>
          </p:nvSpPr>
          <p:spPr bwMode="auto">
            <a:xfrm>
              <a:off x="0" y="480"/>
              <a:ext cx="503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AU"/>
            </a:p>
          </p:txBody>
        </p:sp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4320" y="480"/>
              <a:ext cx="230" cy="172"/>
              <a:chOff x="24000" y="3168"/>
              <a:chExt cx="1248" cy="1248"/>
            </a:xfrm>
          </p:grpSpPr>
          <p:sp>
            <p:nvSpPr>
              <p:cNvPr id="18446" name="AutoShape 6"/>
              <p:cNvSpPr>
                <a:spLocks noChangeArrowheads="1"/>
              </p:cNvSpPr>
              <p:nvPr/>
            </p:nvSpPr>
            <p:spPr bwMode="auto">
              <a:xfrm>
                <a:off x="24000" y="3168"/>
                <a:ext cx="1248" cy="1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67 h 21600"/>
                  <a:gd name="T26" fmla="*/ 18433 w 21600"/>
                  <a:gd name="T27" fmla="*/ 1843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08" y="10800"/>
                    </a:moveTo>
                    <a:cubicBezTo>
                      <a:pt x="2908" y="15159"/>
                      <a:pt x="6441" y="18692"/>
                      <a:pt x="10800" y="18692"/>
                    </a:cubicBezTo>
                    <a:cubicBezTo>
                      <a:pt x="15159" y="18692"/>
                      <a:pt x="18692" y="15159"/>
                      <a:pt x="18692" y="10800"/>
                    </a:cubicBezTo>
                    <a:cubicBezTo>
                      <a:pt x="18692" y="6441"/>
                      <a:pt x="15159" y="2908"/>
                      <a:pt x="10800" y="2908"/>
                    </a:cubicBezTo>
                    <a:cubicBezTo>
                      <a:pt x="6441" y="2908"/>
                      <a:pt x="2908" y="6441"/>
                      <a:pt x="2908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8447" name="AutoShape 7"/>
              <p:cNvSpPr>
                <a:spLocks noChangeArrowheads="1"/>
              </p:cNvSpPr>
              <p:nvPr/>
            </p:nvSpPr>
            <p:spPr bwMode="auto">
              <a:xfrm>
                <a:off x="24336" y="3504"/>
                <a:ext cx="576" cy="57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0 w 21600"/>
                  <a:gd name="T25" fmla="*/ 3150 h 21600"/>
                  <a:gd name="T26" fmla="*/ 18450 w 21600"/>
                  <a:gd name="T27" fmla="*/ 1845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</p:grpSp>
        <p:grpSp>
          <p:nvGrpSpPr>
            <p:cNvPr id="4" name="Group 8"/>
            <p:cNvGrpSpPr>
              <a:grpSpLocks/>
            </p:cNvGrpSpPr>
            <p:nvPr/>
          </p:nvGrpSpPr>
          <p:grpSpPr bwMode="auto">
            <a:xfrm>
              <a:off x="4610" y="480"/>
              <a:ext cx="230" cy="172"/>
              <a:chOff x="24000" y="3168"/>
              <a:chExt cx="1248" cy="1248"/>
            </a:xfrm>
          </p:grpSpPr>
          <p:sp>
            <p:nvSpPr>
              <p:cNvPr id="18444" name="AutoShape 9"/>
              <p:cNvSpPr>
                <a:spLocks noChangeArrowheads="1"/>
              </p:cNvSpPr>
              <p:nvPr/>
            </p:nvSpPr>
            <p:spPr bwMode="auto">
              <a:xfrm>
                <a:off x="24000" y="3168"/>
                <a:ext cx="1248" cy="1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67 h 21600"/>
                  <a:gd name="T26" fmla="*/ 18433 w 21600"/>
                  <a:gd name="T27" fmla="*/ 1843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08" y="10800"/>
                    </a:moveTo>
                    <a:cubicBezTo>
                      <a:pt x="2908" y="15159"/>
                      <a:pt x="6441" y="18692"/>
                      <a:pt x="10800" y="18692"/>
                    </a:cubicBezTo>
                    <a:cubicBezTo>
                      <a:pt x="15159" y="18692"/>
                      <a:pt x="18692" y="15159"/>
                      <a:pt x="18692" y="10800"/>
                    </a:cubicBezTo>
                    <a:cubicBezTo>
                      <a:pt x="18692" y="6441"/>
                      <a:pt x="15159" y="2908"/>
                      <a:pt x="10800" y="2908"/>
                    </a:cubicBezTo>
                    <a:cubicBezTo>
                      <a:pt x="6441" y="2908"/>
                      <a:pt x="2908" y="6441"/>
                      <a:pt x="2908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8445" name="AutoShape 10"/>
              <p:cNvSpPr>
                <a:spLocks noChangeArrowheads="1"/>
              </p:cNvSpPr>
              <p:nvPr/>
            </p:nvSpPr>
            <p:spPr bwMode="auto">
              <a:xfrm>
                <a:off x="24336" y="3504"/>
                <a:ext cx="576" cy="57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0 w 21600"/>
                  <a:gd name="T25" fmla="*/ 3150 h 21600"/>
                  <a:gd name="T26" fmla="*/ 18450 w 21600"/>
                  <a:gd name="T27" fmla="*/ 1845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</p:grpSp>
        <p:grpSp>
          <p:nvGrpSpPr>
            <p:cNvPr id="5" name="Group 11"/>
            <p:cNvGrpSpPr>
              <a:grpSpLocks/>
            </p:cNvGrpSpPr>
            <p:nvPr/>
          </p:nvGrpSpPr>
          <p:grpSpPr bwMode="auto">
            <a:xfrm>
              <a:off x="4900" y="480"/>
              <a:ext cx="230" cy="172"/>
              <a:chOff x="24000" y="3168"/>
              <a:chExt cx="1248" cy="1248"/>
            </a:xfrm>
          </p:grpSpPr>
          <p:sp>
            <p:nvSpPr>
              <p:cNvPr id="18442" name="AutoShape 12"/>
              <p:cNvSpPr>
                <a:spLocks noChangeArrowheads="1"/>
              </p:cNvSpPr>
              <p:nvPr/>
            </p:nvSpPr>
            <p:spPr bwMode="auto">
              <a:xfrm>
                <a:off x="24000" y="3168"/>
                <a:ext cx="1248" cy="1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67 h 21600"/>
                  <a:gd name="T26" fmla="*/ 18433 w 21600"/>
                  <a:gd name="T27" fmla="*/ 1843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08" y="10800"/>
                    </a:moveTo>
                    <a:cubicBezTo>
                      <a:pt x="2908" y="15159"/>
                      <a:pt x="6441" y="18692"/>
                      <a:pt x="10800" y="18692"/>
                    </a:cubicBezTo>
                    <a:cubicBezTo>
                      <a:pt x="15159" y="18692"/>
                      <a:pt x="18692" y="15159"/>
                      <a:pt x="18692" y="10800"/>
                    </a:cubicBezTo>
                    <a:cubicBezTo>
                      <a:pt x="18692" y="6441"/>
                      <a:pt x="15159" y="2908"/>
                      <a:pt x="10800" y="2908"/>
                    </a:cubicBezTo>
                    <a:cubicBezTo>
                      <a:pt x="6441" y="2908"/>
                      <a:pt x="2908" y="6441"/>
                      <a:pt x="2908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8443" name="AutoShape 13"/>
              <p:cNvSpPr>
                <a:spLocks noChangeArrowheads="1"/>
              </p:cNvSpPr>
              <p:nvPr/>
            </p:nvSpPr>
            <p:spPr bwMode="auto">
              <a:xfrm>
                <a:off x="24336" y="3504"/>
                <a:ext cx="576" cy="57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0 w 21600"/>
                  <a:gd name="T25" fmla="*/ 3150 h 21600"/>
                  <a:gd name="T26" fmla="*/ 18450 w 21600"/>
                  <a:gd name="T27" fmla="*/ 1845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</p:grpSp>
      </p:grpSp>
      <p:sp>
        <p:nvSpPr>
          <p:cNvPr id="18436" name="Rectangle 14"/>
          <p:cNvSpPr>
            <a:spLocks noChangeArrowheads="1"/>
          </p:cNvSpPr>
          <p:nvPr/>
        </p:nvSpPr>
        <p:spPr bwMode="auto">
          <a:xfrm>
            <a:off x="304800" y="762000"/>
            <a:ext cx="66294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en-AU" dirty="0" smtClean="0"/>
              <a:t>Database Architecture</a:t>
            </a:r>
            <a:endParaRPr lang="en-US" dirty="0"/>
          </a:p>
        </p:txBody>
      </p:sp>
      <p:sp>
        <p:nvSpPr>
          <p:cNvPr id="18437" name="Rectangle 15"/>
          <p:cNvSpPr>
            <a:spLocks noChangeArrowheads="1"/>
          </p:cNvSpPr>
          <p:nvPr/>
        </p:nvSpPr>
        <p:spPr bwMode="auto">
          <a:xfrm>
            <a:off x="228600" y="152400"/>
            <a:ext cx="563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l"/>
            <a:r>
              <a:rPr lang="en-US" sz="2800" i="1" dirty="0">
                <a:solidFill>
                  <a:schemeClr val="tx1"/>
                </a:solidFill>
                <a:latin typeface="Arial" charset="0"/>
              </a:rPr>
              <a:t>Database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Tanzima Hashem, Dept of CSE, BUET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CF104B-57E3-4411-AB68-47EC9C0CCFE4}" type="slidenum">
              <a:rPr lang="fr-FR" smtClean="0"/>
              <a:pPr>
                <a:defRPr/>
              </a:pPr>
              <a:t>20</a:t>
            </a:fld>
            <a:endParaRPr lang="fr-FR" dirty="0"/>
          </a:p>
        </p:txBody>
      </p:sp>
      <p:pic>
        <p:nvPicPr>
          <p:cNvPr id="18" name="Graphic 2">
            <a:extLst>
              <a:ext uri="{FF2B5EF4-FFF2-40B4-BE49-F238E27FC236}">
                <a16:creationId xmlns="" xmlns:a16="http://schemas.microsoft.com/office/drawing/2014/main" id="{73A18438-CAED-46A8-AC4A-9CD37495AB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44638" y="1777250"/>
            <a:ext cx="6568649" cy="42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7052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u contenu 2"/>
          <p:cNvSpPr>
            <a:spLocks noGrp="1"/>
          </p:cNvSpPr>
          <p:nvPr>
            <p:ph idx="4294967295"/>
          </p:nvPr>
        </p:nvSpPr>
        <p:spPr>
          <a:xfrm>
            <a:off x="357188" y="1676400"/>
            <a:ext cx="8329612" cy="4800600"/>
          </a:xfrm>
        </p:spPr>
        <p:txBody>
          <a:bodyPr/>
          <a:lstStyle/>
          <a:p>
            <a:r>
              <a:rPr lang="en-US" sz="2300" dirty="0" smtClean="0"/>
              <a:t>Database Users</a:t>
            </a:r>
            <a:endParaRPr lang="en-US" sz="2300" b="1" dirty="0" smtClean="0"/>
          </a:p>
          <a:p>
            <a:pPr lvl="1"/>
            <a:r>
              <a:rPr lang="en-US" sz="2000" dirty="0" smtClean="0"/>
              <a:t>Naïve Users: </a:t>
            </a:r>
            <a:r>
              <a:rPr lang="en-US" sz="2000" dirty="0" smtClean="0"/>
              <a:t>Interact with the system by using the predefined interface</a:t>
            </a:r>
            <a:endParaRPr lang="en-US" sz="2000" dirty="0" smtClean="0"/>
          </a:p>
          <a:p>
            <a:pPr lvl="1"/>
            <a:r>
              <a:rPr lang="en-US" sz="2000" dirty="0" smtClean="0"/>
              <a:t>Application </a:t>
            </a:r>
            <a:r>
              <a:rPr lang="en-US" sz="2000" dirty="0" smtClean="0"/>
              <a:t>Programmers: </a:t>
            </a:r>
            <a:r>
              <a:rPr lang="en-US" sz="2000" dirty="0" smtClean="0"/>
              <a:t>Write application programs</a:t>
            </a:r>
            <a:endParaRPr lang="en-US" sz="2000" dirty="0" smtClean="0"/>
          </a:p>
          <a:p>
            <a:pPr lvl="1"/>
            <a:r>
              <a:rPr lang="en-US" sz="2000" dirty="0" smtClean="0"/>
              <a:t>Analysts: </a:t>
            </a:r>
            <a:r>
              <a:rPr lang="en-US" sz="2000" dirty="0" smtClean="0"/>
              <a:t>Submit query to explore data without writing programs</a:t>
            </a:r>
            <a:endParaRPr lang="en-US" sz="2000" dirty="0" smtClean="0"/>
          </a:p>
          <a:p>
            <a:endParaRPr lang="en-US" sz="2300" dirty="0" smtClean="0"/>
          </a:p>
          <a:p>
            <a:r>
              <a:rPr lang="en-US" sz="2300" dirty="0" smtClean="0"/>
              <a:t>Database Administrator</a:t>
            </a:r>
            <a:endParaRPr lang="en-US" sz="2000" dirty="0" smtClean="0"/>
          </a:p>
          <a:p>
            <a:pPr lvl="1"/>
            <a:r>
              <a:rPr lang="en-US" sz="2000" dirty="0" smtClean="0"/>
              <a:t>Has central control over the system</a:t>
            </a:r>
            <a:endParaRPr lang="en-US" sz="2000" dirty="0" smtClean="0"/>
          </a:p>
          <a:p>
            <a:pPr lvl="2"/>
            <a:r>
              <a:rPr lang="en-US" dirty="0" smtClean="0"/>
              <a:t>Schema definition</a:t>
            </a:r>
          </a:p>
          <a:p>
            <a:pPr lvl="2"/>
            <a:r>
              <a:rPr lang="en-US" dirty="0" smtClean="0"/>
              <a:t>Storage structure and access-method definition</a:t>
            </a:r>
          </a:p>
          <a:p>
            <a:pPr lvl="2"/>
            <a:r>
              <a:rPr lang="en-US" dirty="0" smtClean="0"/>
              <a:t>Schema and physical  organization modification</a:t>
            </a:r>
            <a:endParaRPr lang="en-US" dirty="0" smtClean="0"/>
          </a:p>
          <a:p>
            <a:pPr lvl="2"/>
            <a:r>
              <a:rPr lang="en-US" dirty="0" smtClean="0"/>
              <a:t>Granting authorization for data access</a:t>
            </a:r>
            <a:endParaRPr lang="en-US" dirty="0" smtClean="0"/>
          </a:p>
          <a:p>
            <a:pPr lvl="2"/>
            <a:r>
              <a:rPr lang="en-US" dirty="0" smtClean="0"/>
              <a:t>Routine maintenance</a:t>
            </a:r>
            <a:endParaRPr lang="en-US" dirty="0"/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0" y="633413"/>
            <a:ext cx="8143875" cy="273050"/>
            <a:chOff x="0" y="480"/>
            <a:chExt cx="5130" cy="172"/>
          </a:xfrm>
        </p:grpSpPr>
        <p:sp>
          <p:nvSpPr>
            <p:cNvPr id="18438" name="Line 4"/>
            <p:cNvSpPr>
              <a:spLocks noChangeShapeType="1"/>
            </p:cNvSpPr>
            <p:nvPr/>
          </p:nvSpPr>
          <p:spPr bwMode="auto">
            <a:xfrm>
              <a:off x="0" y="480"/>
              <a:ext cx="503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AU"/>
            </a:p>
          </p:txBody>
        </p:sp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4320" y="480"/>
              <a:ext cx="230" cy="172"/>
              <a:chOff x="24000" y="3168"/>
              <a:chExt cx="1248" cy="1248"/>
            </a:xfrm>
          </p:grpSpPr>
          <p:sp>
            <p:nvSpPr>
              <p:cNvPr id="18446" name="AutoShape 6"/>
              <p:cNvSpPr>
                <a:spLocks noChangeArrowheads="1"/>
              </p:cNvSpPr>
              <p:nvPr/>
            </p:nvSpPr>
            <p:spPr bwMode="auto">
              <a:xfrm>
                <a:off x="24000" y="3168"/>
                <a:ext cx="1248" cy="1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67 h 21600"/>
                  <a:gd name="T26" fmla="*/ 18433 w 21600"/>
                  <a:gd name="T27" fmla="*/ 1843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08" y="10800"/>
                    </a:moveTo>
                    <a:cubicBezTo>
                      <a:pt x="2908" y="15159"/>
                      <a:pt x="6441" y="18692"/>
                      <a:pt x="10800" y="18692"/>
                    </a:cubicBezTo>
                    <a:cubicBezTo>
                      <a:pt x="15159" y="18692"/>
                      <a:pt x="18692" y="15159"/>
                      <a:pt x="18692" y="10800"/>
                    </a:cubicBezTo>
                    <a:cubicBezTo>
                      <a:pt x="18692" y="6441"/>
                      <a:pt x="15159" y="2908"/>
                      <a:pt x="10800" y="2908"/>
                    </a:cubicBezTo>
                    <a:cubicBezTo>
                      <a:pt x="6441" y="2908"/>
                      <a:pt x="2908" y="6441"/>
                      <a:pt x="2908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8447" name="AutoShape 7"/>
              <p:cNvSpPr>
                <a:spLocks noChangeArrowheads="1"/>
              </p:cNvSpPr>
              <p:nvPr/>
            </p:nvSpPr>
            <p:spPr bwMode="auto">
              <a:xfrm>
                <a:off x="24336" y="3504"/>
                <a:ext cx="576" cy="57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0 w 21600"/>
                  <a:gd name="T25" fmla="*/ 3150 h 21600"/>
                  <a:gd name="T26" fmla="*/ 18450 w 21600"/>
                  <a:gd name="T27" fmla="*/ 1845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</p:grpSp>
        <p:grpSp>
          <p:nvGrpSpPr>
            <p:cNvPr id="4" name="Group 8"/>
            <p:cNvGrpSpPr>
              <a:grpSpLocks/>
            </p:cNvGrpSpPr>
            <p:nvPr/>
          </p:nvGrpSpPr>
          <p:grpSpPr bwMode="auto">
            <a:xfrm>
              <a:off x="4610" y="480"/>
              <a:ext cx="230" cy="172"/>
              <a:chOff x="24000" y="3168"/>
              <a:chExt cx="1248" cy="1248"/>
            </a:xfrm>
          </p:grpSpPr>
          <p:sp>
            <p:nvSpPr>
              <p:cNvPr id="18444" name="AutoShape 9"/>
              <p:cNvSpPr>
                <a:spLocks noChangeArrowheads="1"/>
              </p:cNvSpPr>
              <p:nvPr/>
            </p:nvSpPr>
            <p:spPr bwMode="auto">
              <a:xfrm>
                <a:off x="24000" y="3168"/>
                <a:ext cx="1248" cy="1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67 h 21600"/>
                  <a:gd name="T26" fmla="*/ 18433 w 21600"/>
                  <a:gd name="T27" fmla="*/ 1843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08" y="10800"/>
                    </a:moveTo>
                    <a:cubicBezTo>
                      <a:pt x="2908" y="15159"/>
                      <a:pt x="6441" y="18692"/>
                      <a:pt x="10800" y="18692"/>
                    </a:cubicBezTo>
                    <a:cubicBezTo>
                      <a:pt x="15159" y="18692"/>
                      <a:pt x="18692" y="15159"/>
                      <a:pt x="18692" y="10800"/>
                    </a:cubicBezTo>
                    <a:cubicBezTo>
                      <a:pt x="18692" y="6441"/>
                      <a:pt x="15159" y="2908"/>
                      <a:pt x="10800" y="2908"/>
                    </a:cubicBezTo>
                    <a:cubicBezTo>
                      <a:pt x="6441" y="2908"/>
                      <a:pt x="2908" y="6441"/>
                      <a:pt x="2908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8445" name="AutoShape 10"/>
              <p:cNvSpPr>
                <a:spLocks noChangeArrowheads="1"/>
              </p:cNvSpPr>
              <p:nvPr/>
            </p:nvSpPr>
            <p:spPr bwMode="auto">
              <a:xfrm>
                <a:off x="24336" y="3504"/>
                <a:ext cx="576" cy="57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0 w 21600"/>
                  <a:gd name="T25" fmla="*/ 3150 h 21600"/>
                  <a:gd name="T26" fmla="*/ 18450 w 21600"/>
                  <a:gd name="T27" fmla="*/ 1845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</p:grpSp>
        <p:grpSp>
          <p:nvGrpSpPr>
            <p:cNvPr id="5" name="Group 11"/>
            <p:cNvGrpSpPr>
              <a:grpSpLocks/>
            </p:cNvGrpSpPr>
            <p:nvPr/>
          </p:nvGrpSpPr>
          <p:grpSpPr bwMode="auto">
            <a:xfrm>
              <a:off x="4900" y="480"/>
              <a:ext cx="230" cy="172"/>
              <a:chOff x="24000" y="3168"/>
              <a:chExt cx="1248" cy="1248"/>
            </a:xfrm>
          </p:grpSpPr>
          <p:sp>
            <p:nvSpPr>
              <p:cNvPr id="18442" name="AutoShape 12"/>
              <p:cNvSpPr>
                <a:spLocks noChangeArrowheads="1"/>
              </p:cNvSpPr>
              <p:nvPr/>
            </p:nvSpPr>
            <p:spPr bwMode="auto">
              <a:xfrm>
                <a:off x="24000" y="3168"/>
                <a:ext cx="1248" cy="1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67 h 21600"/>
                  <a:gd name="T26" fmla="*/ 18433 w 21600"/>
                  <a:gd name="T27" fmla="*/ 1843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08" y="10800"/>
                    </a:moveTo>
                    <a:cubicBezTo>
                      <a:pt x="2908" y="15159"/>
                      <a:pt x="6441" y="18692"/>
                      <a:pt x="10800" y="18692"/>
                    </a:cubicBezTo>
                    <a:cubicBezTo>
                      <a:pt x="15159" y="18692"/>
                      <a:pt x="18692" y="15159"/>
                      <a:pt x="18692" y="10800"/>
                    </a:cubicBezTo>
                    <a:cubicBezTo>
                      <a:pt x="18692" y="6441"/>
                      <a:pt x="15159" y="2908"/>
                      <a:pt x="10800" y="2908"/>
                    </a:cubicBezTo>
                    <a:cubicBezTo>
                      <a:pt x="6441" y="2908"/>
                      <a:pt x="2908" y="6441"/>
                      <a:pt x="2908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8443" name="AutoShape 13"/>
              <p:cNvSpPr>
                <a:spLocks noChangeArrowheads="1"/>
              </p:cNvSpPr>
              <p:nvPr/>
            </p:nvSpPr>
            <p:spPr bwMode="auto">
              <a:xfrm>
                <a:off x="24336" y="3504"/>
                <a:ext cx="576" cy="57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0 w 21600"/>
                  <a:gd name="T25" fmla="*/ 3150 h 21600"/>
                  <a:gd name="T26" fmla="*/ 18450 w 21600"/>
                  <a:gd name="T27" fmla="*/ 1845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</p:grpSp>
      </p:grpSp>
      <p:sp>
        <p:nvSpPr>
          <p:cNvPr id="18436" name="Rectangle 14"/>
          <p:cNvSpPr>
            <a:spLocks noChangeArrowheads="1"/>
          </p:cNvSpPr>
          <p:nvPr/>
        </p:nvSpPr>
        <p:spPr bwMode="auto">
          <a:xfrm>
            <a:off x="304800" y="762000"/>
            <a:ext cx="66294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en-AU" dirty="0" smtClean="0"/>
              <a:t>Key People</a:t>
            </a:r>
            <a:endParaRPr lang="en-US" dirty="0"/>
          </a:p>
        </p:txBody>
      </p:sp>
      <p:sp>
        <p:nvSpPr>
          <p:cNvPr id="18437" name="Rectangle 15"/>
          <p:cNvSpPr>
            <a:spLocks noChangeArrowheads="1"/>
          </p:cNvSpPr>
          <p:nvPr/>
        </p:nvSpPr>
        <p:spPr bwMode="auto">
          <a:xfrm>
            <a:off x="228600" y="152400"/>
            <a:ext cx="563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l"/>
            <a:r>
              <a:rPr lang="en-US" sz="2800" i="1" dirty="0">
                <a:solidFill>
                  <a:schemeClr val="tx1"/>
                </a:solidFill>
                <a:latin typeface="Arial" charset="0"/>
              </a:rPr>
              <a:t>Database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Tanzima Hashem, Dept of CSE, BUET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CF104B-57E3-4411-AB68-47EC9C0CCFE4}" type="slidenum">
              <a:rPr lang="fr-FR" smtClean="0"/>
              <a:pPr>
                <a:defRPr/>
              </a:pPr>
              <a:t>21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8312185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u contenu 2"/>
          <p:cNvSpPr>
            <a:spLocks noGrp="1"/>
          </p:cNvSpPr>
          <p:nvPr>
            <p:ph idx="4294967295"/>
          </p:nvPr>
        </p:nvSpPr>
        <p:spPr>
          <a:xfrm>
            <a:off x="357188" y="1676400"/>
            <a:ext cx="8329612" cy="4800600"/>
          </a:xfrm>
        </p:spPr>
        <p:txBody>
          <a:bodyPr/>
          <a:lstStyle/>
          <a:p>
            <a:r>
              <a:rPr lang="en-AU" sz="2300" dirty="0" smtClean="0"/>
              <a:t>Some slides and figures are collected from</a:t>
            </a:r>
          </a:p>
          <a:p>
            <a:pPr lvl="1"/>
            <a:r>
              <a:rPr lang="en-AU" sz="1900" dirty="0"/>
              <a:t>https://www.db-book.com/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0" y="633413"/>
            <a:ext cx="8143875" cy="273050"/>
            <a:chOff x="0" y="480"/>
            <a:chExt cx="5130" cy="172"/>
          </a:xfrm>
        </p:grpSpPr>
        <p:sp>
          <p:nvSpPr>
            <p:cNvPr id="19463" name="Line 4"/>
            <p:cNvSpPr>
              <a:spLocks noChangeShapeType="1"/>
            </p:cNvSpPr>
            <p:nvPr/>
          </p:nvSpPr>
          <p:spPr bwMode="auto">
            <a:xfrm>
              <a:off x="0" y="480"/>
              <a:ext cx="503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AU"/>
            </a:p>
          </p:txBody>
        </p:sp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4320" y="480"/>
              <a:ext cx="230" cy="172"/>
              <a:chOff x="24000" y="3168"/>
              <a:chExt cx="1248" cy="1248"/>
            </a:xfrm>
          </p:grpSpPr>
          <p:sp>
            <p:nvSpPr>
              <p:cNvPr id="19471" name="AutoShape 6"/>
              <p:cNvSpPr>
                <a:spLocks noChangeArrowheads="1"/>
              </p:cNvSpPr>
              <p:nvPr/>
            </p:nvSpPr>
            <p:spPr bwMode="auto">
              <a:xfrm>
                <a:off x="24000" y="3168"/>
                <a:ext cx="1248" cy="1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67 h 21600"/>
                  <a:gd name="T26" fmla="*/ 18433 w 21600"/>
                  <a:gd name="T27" fmla="*/ 1843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08" y="10800"/>
                    </a:moveTo>
                    <a:cubicBezTo>
                      <a:pt x="2908" y="15159"/>
                      <a:pt x="6441" y="18692"/>
                      <a:pt x="10800" y="18692"/>
                    </a:cubicBezTo>
                    <a:cubicBezTo>
                      <a:pt x="15159" y="18692"/>
                      <a:pt x="18692" y="15159"/>
                      <a:pt x="18692" y="10800"/>
                    </a:cubicBezTo>
                    <a:cubicBezTo>
                      <a:pt x="18692" y="6441"/>
                      <a:pt x="15159" y="2908"/>
                      <a:pt x="10800" y="2908"/>
                    </a:cubicBezTo>
                    <a:cubicBezTo>
                      <a:pt x="6441" y="2908"/>
                      <a:pt x="2908" y="6441"/>
                      <a:pt x="2908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472" name="AutoShape 7"/>
              <p:cNvSpPr>
                <a:spLocks noChangeArrowheads="1"/>
              </p:cNvSpPr>
              <p:nvPr/>
            </p:nvSpPr>
            <p:spPr bwMode="auto">
              <a:xfrm>
                <a:off x="24336" y="3504"/>
                <a:ext cx="576" cy="57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0 w 21600"/>
                  <a:gd name="T25" fmla="*/ 3150 h 21600"/>
                  <a:gd name="T26" fmla="*/ 18450 w 21600"/>
                  <a:gd name="T27" fmla="*/ 1845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" name="Group 8"/>
            <p:cNvGrpSpPr>
              <a:grpSpLocks/>
            </p:cNvGrpSpPr>
            <p:nvPr/>
          </p:nvGrpSpPr>
          <p:grpSpPr bwMode="auto">
            <a:xfrm>
              <a:off x="4610" y="480"/>
              <a:ext cx="230" cy="172"/>
              <a:chOff x="24000" y="3168"/>
              <a:chExt cx="1248" cy="1248"/>
            </a:xfrm>
          </p:grpSpPr>
          <p:sp>
            <p:nvSpPr>
              <p:cNvPr id="19469" name="AutoShape 9"/>
              <p:cNvSpPr>
                <a:spLocks noChangeArrowheads="1"/>
              </p:cNvSpPr>
              <p:nvPr/>
            </p:nvSpPr>
            <p:spPr bwMode="auto">
              <a:xfrm>
                <a:off x="24000" y="3168"/>
                <a:ext cx="1248" cy="1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67 h 21600"/>
                  <a:gd name="T26" fmla="*/ 18433 w 21600"/>
                  <a:gd name="T27" fmla="*/ 1843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08" y="10800"/>
                    </a:moveTo>
                    <a:cubicBezTo>
                      <a:pt x="2908" y="15159"/>
                      <a:pt x="6441" y="18692"/>
                      <a:pt x="10800" y="18692"/>
                    </a:cubicBezTo>
                    <a:cubicBezTo>
                      <a:pt x="15159" y="18692"/>
                      <a:pt x="18692" y="15159"/>
                      <a:pt x="18692" y="10800"/>
                    </a:cubicBezTo>
                    <a:cubicBezTo>
                      <a:pt x="18692" y="6441"/>
                      <a:pt x="15159" y="2908"/>
                      <a:pt x="10800" y="2908"/>
                    </a:cubicBezTo>
                    <a:cubicBezTo>
                      <a:pt x="6441" y="2908"/>
                      <a:pt x="2908" y="6441"/>
                      <a:pt x="2908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470" name="AutoShape 10"/>
              <p:cNvSpPr>
                <a:spLocks noChangeArrowheads="1"/>
              </p:cNvSpPr>
              <p:nvPr/>
            </p:nvSpPr>
            <p:spPr bwMode="auto">
              <a:xfrm>
                <a:off x="24336" y="3504"/>
                <a:ext cx="576" cy="57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0 w 21600"/>
                  <a:gd name="T25" fmla="*/ 3150 h 21600"/>
                  <a:gd name="T26" fmla="*/ 18450 w 21600"/>
                  <a:gd name="T27" fmla="*/ 1845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" name="Group 11"/>
            <p:cNvGrpSpPr>
              <a:grpSpLocks/>
            </p:cNvGrpSpPr>
            <p:nvPr/>
          </p:nvGrpSpPr>
          <p:grpSpPr bwMode="auto">
            <a:xfrm>
              <a:off x="4900" y="480"/>
              <a:ext cx="230" cy="172"/>
              <a:chOff x="24000" y="3168"/>
              <a:chExt cx="1248" cy="1248"/>
            </a:xfrm>
          </p:grpSpPr>
          <p:sp>
            <p:nvSpPr>
              <p:cNvPr id="19467" name="AutoShape 12"/>
              <p:cNvSpPr>
                <a:spLocks noChangeArrowheads="1"/>
              </p:cNvSpPr>
              <p:nvPr/>
            </p:nvSpPr>
            <p:spPr bwMode="auto">
              <a:xfrm>
                <a:off x="24000" y="3168"/>
                <a:ext cx="1248" cy="1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67 h 21600"/>
                  <a:gd name="T26" fmla="*/ 18433 w 21600"/>
                  <a:gd name="T27" fmla="*/ 1843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08" y="10800"/>
                    </a:moveTo>
                    <a:cubicBezTo>
                      <a:pt x="2908" y="15159"/>
                      <a:pt x="6441" y="18692"/>
                      <a:pt x="10800" y="18692"/>
                    </a:cubicBezTo>
                    <a:cubicBezTo>
                      <a:pt x="15159" y="18692"/>
                      <a:pt x="18692" y="15159"/>
                      <a:pt x="18692" y="10800"/>
                    </a:cubicBezTo>
                    <a:cubicBezTo>
                      <a:pt x="18692" y="6441"/>
                      <a:pt x="15159" y="2908"/>
                      <a:pt x="10800" y="2908"/>
                    </a:cubicBezTo>
                    <a:cubicBezTo>
                      <a:pt x="6441" y="2908"/>
                      <a:pt x="2908" y="6441"/>
                      <a:pt x="2908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468" name="AutoShape 13"/>
              <p:cNvSpPr>
                <a:spLocks noChangeArrowheads="1"/>
              </p:cNvSpPr>
              <p:nvPr/>
            </p:nvSpPr>
            <p:spPr bwMode="auto">
              <a:xfrm>
                <a:off x="24336" y="3504"/>
                <a:ext cx="576" cy="57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0 w 21600"/>
                  <a:gd name="T25" fmla="*/ 3150 h 21600"/>
                  <a:gd name="T26" fmla="*/ 18450 w 21600"/>
                  <a:gd name="T27" fmla="*/ 1845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19460" name="Rectangle 14"/>
          <p:cNvSpPr>
            <a:spLocks noChangeArrowheads="1"/>
          </p:cNvSpPr>
          <p:nvPr/>
        </p:nvSpPr>
        <p:spPr bwMode="auto">
          <a:xfrm>
            <a:off x="304800" y="762000"/>
            <a:ext cx="66294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dirty="0" smtClean="0"/>
              <a:t>Acknowledgement</a:t>
            </a:r>
            <a:endParaRPr lang="en-US" dirty="0"/>
          </a:p>
        </p:txBody>
      </p:sp>
      <p:sp>
        <p:nvSpPr>
          <p:cNvPr id="19461" name="Rectangle 15"/>
          <p:cNvSpPr>
            <a:spLocks noChangeArrowheads="1"/>
          </p:cNvSpPr>
          <p:nvPr/>
        </p:nvSpPr>
        <p:spPr bwMode="auto">
          <a:xfrm>
            <a:off x="228600" y="152400"/>
            <a:ext cx="563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l"/>
            <a:r>
              <a:rPr lang="en-US" sz="2800" i="1" dirty="0">
                <a:solidFill>
                  <a:schemeClr val="tx1"/>
                </a:solidFill>
                <a:latin typeface="Arial" charset="0"/>
              </a:rPr>
              <a:t>Database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Tanzima Hashem, Dept of CSE, BUET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CF104B-57E3-4411-AB68-47EC9C0CCFE4}" type="slidenum">
              <a:rPr lang="fr-FR" smtClean="0"/>
              <a:pPr>
                <a:defRPr/>
              </a:pPr>
              <a:t>22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9364822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59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59</Template>
  <TotalTime>20263</TotalTime>
  <Words>1239</Words>
  <Application>Microsoft Office PowerPoint</Application>
  <PresentationFormat>On-screen Show (4:3)</PresentationFormat>
  <Paragraphs>233</Paragraphs>
  <Slides>22</Slides>
  <Notes>22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59</vt:lpstr>
      <vt:lpstr> CSE 215: Database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@cs.mu.oz.au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 NAME</dc:title>
  <dc:creator>eunus</dc:creator>
  <cp:lastModifiedBy>lenovo</cp:lastModifiedBy>
  <cp:revision>1533</cp:revision>
  <dcterms:created xsi:type="dcterms:W3CDTF">2008-02-25T00:58:13Z</dcterms:created>
  <dcterms:modified xsi:type="dcterms:W3CDTF">2025-11-28T16:44:35Z</dcterms:modified>
</cp:coreProperties>
</file>