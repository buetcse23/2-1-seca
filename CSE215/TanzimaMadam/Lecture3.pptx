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84" r:id="rId2"/>
    <p:sldId id="454" r:id="rId3"/>
    <p:sldId id="456" r:id="rId4"/>
    <p:sldId id="455" r:id="rId5"/>
    <p:sldId id="457" r:id="rId6"/>
    <p:sldId id="458" r:id="rId7"/>
    <p:sldId id="460" r:id="rId8"/>
    <p:sldId id="459" r:id="rId9"/>
    <p:sldId id="453" r:id="rId10"/>
  </p:sldIdLst>
  <p:sldSz cx="9144000" cy="6858000" type="screen4x3"/>
  <p:notesSz cx="6997700" cy="9283700"/>
  <p:defaultTextStyle>
    <a:defPPr>
      <a:defRPr lang="fr-FR"/>
    </a:defPPr>
    <a:lvl1pPr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77C0"/>
    <a:srgbClr val="EFADD9"/>
    <a:srgbClr val="0099FF"/>
    <a:srgbClr val="5FFD7D"/>
    <a:srgbClr val="95F963"/>
    <a:srgbClr val="FE9138"/>
    <a:srgbClr val="FF6600"/>
    <a:srgbClr val="FF5050"/>
    <a:srgbClr val="0000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14" autoAdjust="0"/>
  </p:normalViewPr>
  <p:slideViewPr>
    <p:cSldViewPr snapToGrid="0" snapToObjects="1">
      <p:cViewPr>
        <p:scale>
          <a:sx n="50" d="100"/>
          <a:sy n="50" d="100"/>
        </p:scale>
        <p:origin x="-1664" y="-212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2184"/>
    </p:cViewPr>
  </p:sorterViewPr>
  <p:notesViewPr>
    <p:cSldViewPr snapToGrid="0" snapToObjects="1">
      <p:cViewPr varScale="1">
        <p:scale>
          <a:sx n="80" d="100"/>
          <a:sy n="80" d="100"/>
        </p:scale>
        <p:origin x="-1404" y="-90"/>
      </p:cViewPr>
      <p:guideLst>
        <p:guide orient="horz" pos="2924"/>
        <p:guide pos="2204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l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84A9E5EA-8094-440C-A492-B4D068C86B5D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l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FE389508-52AA-467F-8578-CFB3CCEEAC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16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l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06D4D452-A904-4650-9106-5FA9FD2AB884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l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F0E5AF66-D874-4D06-96A2-91888396C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703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242CD-A77B-44DD-9C85-0453EABE0C7C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1D94F-CBF6-40D2-833D-2912DB21ED66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6238A-8378-4DA3-BCB6-23A45A03C651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BCA27-9083-4FF6-B436-5F2C6F9FD502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A16D3-81D4-4840-9D56-4427763F429B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5C4BE-6E88-47F0-8C41-A3EBB63B9FDA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2F7C9A-D69F-4901-A11F-59ECE2E4FD8F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EA4C5-2885-4509-B487-37938B596AA2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950C-7136-4403-8FBB-2F2464330A31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86D27-3251-43B8-9A9B-0CE1CD1CF3C0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F3307-2C69-441E-8767-3BD00A30114D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F7835-2375-40D2-8D45-4E1D823FEAFB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222D2-F063-4148-901A-C40FB91EE8F5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CF104B-57E3-4411-AB68-47EC9C0CCFE4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78050-F2C6-4850-AD99-3CABA648DEEB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E0524-6157-4574-8A4E-10E1179821A4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 dirty="0" smtClean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19599-BBDE-4FBC-887F-F6524840BFFA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C0EDF-A357-455C-9864-8F6C167EA289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85862D-DA77-42D3-8498-C5D9E03E26D7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4104C-BF02-43B0-BAB6-E190D149467B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3747E-8526-49B5-A53E-A25AD471C411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24FD7-F725-43F8-95BD-5DEEAB1837B1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76400"/>
            <a:ext cx="8229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0C550E1-F6E5-4883-B977-F60AAAAE1271}" type="datetime1">
              <a:rPr lang="fr-FR" smtClean="0"/>
              <a:t>05/12/2025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478ADAF-0B19-4D82-8C64-4E91835AE258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grpSp>
        <p:nvGrpSpPr>
          <p:cNvPr id="1030" name="Group 7"/>
          <p:cNvGrpSpPr>
            <a:grpSpLocks/>
          </p:cNvGrpSpPr>
          <p:nvPr userDrawn="1"/>
        </p:nvGrpSpPr>
        <p:grpSpPr bwMode="auto">
          <a:xfrm>
            <a:off x="9525" y="641350"/>
            <a:ext cx="8143875" cy="273050"/>
            <a:chOff x="0" y="480"/>
            <a:chExt cx="5130" cy="172"/>
          </a:xfrm>
        </p:grpSpPr>
        <p:sp>
          <p:nvSpPr>
            <p:cNvPr id="1034" name="Line 8"/>
            <p:cNvSpPr>
              <a:spLocks noChangeShapeType="1"/>
            </p:cNvSpPr>
            <p:nvPr userDrawn="1"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1035" name="Group 9"/>
            <p:cNvGrpSpPr>
              <a:grpSpLocks/>
            </p:cNvGrpSpPr>
            <p:nvPr userDrawn="1"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042" name="AutoShape 10"/>
              <p:cNvSpPr>
                <a:spLocks noChangeArrowheads="1"/>
              </p:cNvSpPr>
              <p:nvPr userDrawn="1"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3" name="AutoShape 11"/>
              <p:cNvSpPr>
                <a:spLocks noChangeArrowheads="1"/>
              </p:cNvSpPr>
              <p:nvPr userDrawn="1"/>
            </p:nvSpPr>
            <p:spPr bwMode="auto">
              <a:xfrm>
                <a:off x="24336" y="3502"/>
                <a:ext cx="575" cy="5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66 h 21600"/>
                  <a:gd name="T26" fmla="*/ 18445 w 21600"/>
                  <a:gd name="T27" fmla="*/ 1843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1036" name="Group 12"/>
            <p:cNvGrpSpPr>
              <a:grpSpLocks/>
            </p:cNvGrpSpPr>
            <p:nvPr userDrawn="1"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040" name="AutoShape 13"/>
              <p:cNvSpPr>
                <a:spLocks noChangeArrowheads="1"/>
              </p:cNvSpPr>
              <p:nvPr userDrawn="1"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1" name="AutoShape 14"/>
              <p:cNvSpPr>
                <a:spLocks noChangeArrowheads="1"/>
              </p:cNvSpPr>
              <p:nvPr userDrawn="1"/>
            </p:nvSpPr>
            <p:spPr bwMode="auto">
              <a:xfrm>
                <a:off x="24336" y="3502"/>
                <a:ext cx="575" cy="5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66 h 21600"/>
                  <a:gd name="T26" fmla="*/ 18445 w 21600"/>
                  <a:gd name="T27" fmla="*/ 1843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1037" name="Group 15"/>
            <p:cNvGrpSpPr>
              <a:grpSpLocks/>
            </p:cNvGrpSpPr>
            <p:nvPr userDrawn="1"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038" name="AutoShape 16"/>
              <p:cNvSpPr>
                <a:spLocks noChangeArrowheads="1"/>
              </p:cNvSpPr>
              <p:nvPr userDrawn="1"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39" name="AutoShape 17"/>
              <p:cNvSpPr>
                <a:spLocks noChangeArrowheads="1"/>
              </p:cNvSpPr>
              <p:nvPr userDrawn="1"/>
            </p:nvSpPr>
            <p:spPr bwMode="auto">
              <a:xfrm>
                <a:off x="24336" y="3502"/>
                <a:ext cx="575" cy="5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66 h 21600"/>
                  <a:gd name="T26" fmla="*/ 18445 w 21600"/>
                  <a:gd name="T27" fmla="*/ 1843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031" name="Rectangle 18"/>
          <p:cNvSpPr>
            <a:spLocks noChangeArrowheads="1"/>
          </p:cNvSpPr>
          <p:nvPr userDrawn="1"/>
        </p:nvSpPr>
        <p:spPr bwMode="auto">
          <a:xfrm>
            <a:off x="533400" y="914400"/>
            <a:ext cx="7162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2" name="Rectangle 19"/>
          <p:cNvSpPr>
            <a:spLocks noChangeArrowheads="1"/>
          </p:cNvSpPr>
          <p:nvPr userDrawn="1"/>
        </p:nvSpPr>
        <p:spPr bwMode="auto">
          <a:xfrm>
            <a:off x="533400" y="1524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3" name="Rectangle 20"/>
          <p:cNvSpPr>
            <a:spLocks noChangeArrowheads="1"/>
          </p:cNvSpPr>
          <p:nvPr userDrawn="1"/>
        </p:nvSpPr>
        <p:spPr bwMode="auto">
          <a:xfrm>
            <a:off x="685800" y="685800"/>
            <a:ext cx="6248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re 1"/>
          <p:cNvSpPr>
            <a:spLocks noGrp="1"/>
          </p:cNvSpPr>
          <p:nvPr>
            <p:ph type="ctrTitle" idx="4294967295"/>
          </p:nvPr>
        </p:nvSpPr>
        <p:spPr bwMode="auto">
          <a:xfrm>
            <a:off x="990600" y="1781492"/>
            <a:ext cx="7153275" cy="134532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dirty="0" smtClean="0">
                <a:latin typeface="Arial" charset="0"/>
              </a:rPr>
              <a:t/>
            </a:r>
            <a:br>
              <a:rPr lang="fr-FR" dirty="0" smtClean="0">
                <a:latin typeface="Arial" charset="0"/>
              </a:rPr>
            </a:br>
            <a:r>
              <a:rPr lang="fr-FR" dirty="0" smtClean="0">
                <a:latin typeface="Arial" charset="0"/>
              </a:rPr>
              <a:t>CSE 215: </a:t>
            </a:r>
            <a:r>
              <a:rPr lang="fr-FR" dirty="0" err="1" smtClean="0">
                <a:latin typeface="Arial" charset="0"/>
              </a:rPr>
              <a:t>Database</a:t>
            </a:r>
            <a:r>
              <a:rPr lang="fr-FR" dirty="0" smtClean="0">
                <a:latin typeface="Arial" charset="0"/>
              </a:rPr>
              <a:t/>
            </a:r>
            <a:br>
              <a:rPr lang="fr-FR" dirty="0" smtClean="0">
                <a:latin typeface="Arial" charset="0"/>
              </a:rPr>
            </a:br>
            <a:endParaRPr lang="fr-FR" dirty="0" smtClean="0">
              <a:latin typeface="Arial" charset="0"/>
            </a:endParaRPr>
          </a:p>
        </p:txBody>
      </p:sp>
      <p:sp>
        <p:nvSpPr>
          <p:cNvPr id="2053" name="Rectangle 6"/>
          <p:cNvSpPr>
            <a:spLocks noChangeArrowheads="1"/>
          </p:cNvSpPr>
          <p:nvPr/>
        </p:nvSpPr>
        <p:spPr bwMode="auto">
          <a:xfrm>
            <a:off x="152400" y="838200"/>
            <a:ext cx="8763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2400" i="1">
              <a:solidFill>
                <a:schemeClr val="tx1"/>
              </a:solidFill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419367" y="4317248"/>
            <a:ext cx="6155139" cy="1078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60" tIns="8330" rIns="16660" bIns="8330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endParaRPr lang="en-US" sz="1800" i="1" dirty="0">
              <a:solidFill>
                <a:srgbClr val="F59247"/>
              </a:solidFill>
              <a:latin typeface="Times New Roman" pitchFamily="18" charset="0"/>
            </a:endParaRPr>
          </a:p>
          <a:p>
            <a:endParaRPr lang="en-US" sz="20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r>
              <a:rPr lang="en-US" sz="2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Department of CSE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Bangladesh University of Engineering &amp; Technology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Instructor Relation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 smtClean="0">
                <a:solidFill>
                  <a:schemeClr val="tx1"/>
                </a:solidFill>
                <a:latin typeface="Arial" charset="0"/>
              </a:rPr>
              <a:t>Relational </a:t>
            </a:r>
            <a:r>
              <a:rPr lang="en-US" sz="2800" i="1" dirty="0" smtClean="0">
                <a:solidFill>
                  <a:schemeClr val="tx1"/>
                </a:solidFill>
                <a:latin typeface="Arial" charset="0"/>
              </a:rPr>
              <a:t>Model</a:t>
            </a:r>
            <a:endParaRPr lang="en-US" sz="2800" i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7040563" y="1587500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attributes</a:t>
            </a:r>
          </a:p>
          <a:p>
            <a:pPr algn="ctr"/>
            <a:r>
              <a:rPr lang="en-US" altLang="en-US" sz="1800"/>
              <a:t>(or columns)</a:t>
            </a:r>
            <a:endParaRPr lang="en-US" altLang="en-US"/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 flipH="1">
            <a:off x="3238499" y="1819275"/>
            <a:ext cx="3927475" cy="350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 flipH="1">
            <a:off x="4608513" y="1800225"/>
            <a:ext cx="2557461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1" name="Line 7"/>
          <p:cNvSpPr>
            <a:spLocks noChangeShapeType="1"/>
          </p:cNvSpPr>
          <p:nvPr/>
        </p:nvSpPr>
        <p:spPr bwMode="auto">
          <a:xfrm flipH="1">
            <a:off x="5819775" y="1819275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6988175" y="2776538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tuples</a:t>
            </a:r>
          </a:p>
          <a:p>
            <a:pPr algn="ctr"/>
            <a:r>
              <a:rPr lang="en-US" altLang="en-US" sz="1800"/>
              <a:t>(or rows)</a:t>
            </a:r>
            <a:endParaRPr lang="en-US" altLang="en-US"/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 flipH="1" flipV="1">
            <a:off x="6742113" y="2741613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4" name="Line 10"/>
          <p:cNvSpPr>
            <a:spLocks noChangeShapeType="1"/>
          </p:cNvSpPr>
          <p:nvPr/>
        </p:nvSpPr>
        <p:spPr bwMode="auto">
          <a:xfrm flipH="1">
            <a:off x="6729413" y="2960688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5" name="Line 11"/>
          <p:cNvSpPr>
            <a:spLocks noChangeShapeType="1"/>
          </p:cNvSpPr>
          <p:nvPr/>
        </p:nvSpPr>
        <p:spPr bwMode="auto">
          <a:xfrm flipH="1">
            <a:off x="6718300" y="2971800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6" name="Line 12"/>
          <p:cNvSpPr>
            <a:spLocks noChangeShapeType="1"/>
          </p:cNvSpPr>
          <p:nvPr/>
        </p:nvSpPr>
        <p:spPr bwMode="auto">
          <a:xfrm flipH="1">
            <a:off x="6729413" y="2981325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pic>
        <p:nvPicPr>
          <p:cNvPr id="27" name="Graphic 2">
            <a:extLst>
              <a:ext uri="{FF2B5EF4-FFF2-40B4-BE49-F238E27FC236}">
                <a16:creationId xmlns:a16="http://schemas.microsoft.com/office/drawing/2014/main" xmlns="" id="{30151978-E921-4884-8DCD-8A5563064E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b="13197"/>
          <a:stretch/>
        </p:blipFill>
        <p:spPr>
          <a:xfrm>
            <a:off x="1680369" y="2010896"/>
            <a:ext cx="5154612" cy="44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914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altLang="en-US" sz="23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3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sz="2300" dirty="0">
                <a:ea typeface="ＭＳ Ｐゴシック" panose="020B0600070205080204" pitchFamily="34" charset="-128"/>
              </a:rPr>
              <a:t>, 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3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sz="2300" dirty="0">
                <a:ea typeface="ＭＳ Ｐゴシック" panose="020B0600070205080204" pitchFamily="34" charset="-128"/>
              </a:rPr>
              <a:t>, …, 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300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2300" dirty="0">
                <a:ea typeface="ＭＳ Ｐゴシック" panose="020B0600070205080204" pitchFamily="34" charset="-128"/>
              </a:rPr>
              <a:t>are 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attributes</a:t>
            </a:r>
            <a:endParaRPr lang="en-US" altLang="en-US" sz="2300" dirty="0">
              <a:ea typeface="ＭＳ Ｐゴシック" panose="020B0600070205080204" pitchFamily="34" charset="-128"/>
            </a:endParaRPr>
          </a:p>
          <a:p>
            <a:r>
              <a:rPr lang="en-US" altLang="en-US" sz="23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2300" dirty="0">
                <a:ea typeface="ＭＳ Ｐゴシック" panose="020B0600070205080204" pitchFamily="34" charset="-128"/>
              </a:rPr>
              <a:t> = (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3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sz="2300" dirty="0">
                <a:ea typeface="ＭＳ Ｐゴシック" panose="020B0600070205080204" pitchFamily="34" charset="-128"/>
              </a:rPr>
              <a:t>, 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3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sz="2300" dirty="0">
                <a:ea typeface="ＭＳ Ｐゴシック" panose="020B0600070205080204" pitchFamily="34" charset="-128"/>
              </a:rPr>
              <a:t>, …, 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300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sz="2300" dirty="0">
                <a:ea typeface="ＭＳ Ｐゴシック" panose="020B0600070205080204" pitchFamily="34" charset="-128"/>
              </a:rPr>
              <a:t> ) is a 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relation schema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sz="2300" dirty="0">
                <a:ea typeface="ＭＳ Ｐゴシック" panose="020B0600070205080204" pitchFamily="34" charset="-128"/>
              </a:rPr>
              <a:t>	Example: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sz="2300" dirty="0">
                <a:ea typeface="ＭＳ Ｐゴシック" panose="020B0600070205080204" pitchFamily="34" charset="-128"/>
              </a:rPr>
              <a:t>	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     instructor </a:t>
            </a:r>
            <a:r>
              <a:rPr lang="en-US" altLang="en-US" sz="2300" dirty="0">
                <a:ea typeface="ＭＳ Ｐゴシック" panose="020B0600070205080204" pitchFamily="34" charset="-128"/>
              </a:rPr>
              <a:t> = (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ID,  name, </a:t>
            </a:r>
            <a:r>
              <a:rPr lang="en-US" altLang="en-US" sz="2300" i="1" dirty="0" err="1">
                <a:ea typeface="ＭＳ Ｐゴシック" panose="020B0600070205080204" pitchFamily="34" charset="-128"/>
              </a:rPr>
              <a:t>dept_name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, salary</a:t>
            </a:r>
            <a:r>
              <a:rPr lang="en-US" altLang="en-US" sz="2300" dirty="0"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sz="2300" dirty="0"/>
              <a:t>A relation instance </a:t>
            </a:r>
            <a:r>
              <a:rPr lang="en-US" altLang="en-US" sz="2300" i="1" dirty="0"/>
              <a:t>r</a:t>
            </a:r>
            <a:r>
              <a:rPr lang="en-US" altLang="en-US" sz="2300" dirty="0"/>
              <a:t> defined over schema </a:t>
            </a:r>
            <a:r>
              <a:rPr lang="en-US" altLang="en-US" sz="2300" i="1" dirty="0"/>
              <a:t>R</a:t>
            </a:r>
            <a:r>
              <a:rPr lang="en-US" altLang="en-US" sz="2300" dirty="0"/>
              <a:t> is denoted  by </a:t>
            </a:r>
            <a:r>
              <a:rPr lang="en-US" altLang="en-US" sz="2300" i="1" dirty="0"/>
              <a:t>r </a:t>
            </a:r>
            <a:r>
              <a:rPr lang="en-US" altLang="en-US" sz="2300" dirty="0"/>
              <a:t>(</a:t>
            </a:r>
            <a:r>
              <a:rPr lang="en-US" altLang="en-US" sz="2300" i="1" dirty="0"/>
              <a:t>R</a:t>
            </a:r>
            <a:r>
              <a:rPr lang="en-US" altLang="en-US" sz="2300" dirty="0" smtClean="0"/>
              <a:t>)</a:t>
            </a:r>
            <a:endParaRPr lang="en-US" altLang="en-US" sz="2300" dirty="0"/>
          </a:p>
          <a:p>
            <a:pPr>
              <a:lnSpc>
                <a:spcPct val="120000"/>
              </a:lnSpc>
            </a:pPr>
            <a:r>
              <a:rPr lang="en-US" altLang="en-US" sz="2300" dirty="0"/>
              <a:t>The current values a relation are specified by a table</a:t>
            </a:r>
          </a:p>
          <a:p>
            <a:pPr>
              <a:lnSpc>
                <a:spcPct val="120000"/>
              </a:lnSpc>
            </a:pPr>
            <a:r>
              <a:rPr lang="en-US" altLang="en-US" sz="2300" dirty="0"/>
              <a:t>An element </a:t>
            </a:r>
            <a:r>
              <a:rPr lang="en-US" altLang="en-US" sz="2300" b="1" i="1" dirty="0">
                <a:solidFill>
                  <a:srgbClr val="000099"/>
                </a:solidFill>
              </a:rPr>
              <a:t>t</a:t>
            </a:r>
            <a:r>
              <a:rPr lang="en-US" altLang="en-US" sz="2300" b="1" dirty="0">
                <a:solidFill>
                  <a:srgbClr val="000099"/>
                </a:solidFill>
              </a:rPr>
              <a:t> </a:t>
            </a:r>
            <a:r>
              <a:rPr lang="en-US" altLang="en-US" sz="2300" dirty="0"/>
              <a:t>of</a:t>
            </a:r>
            <a:r>
              <a:rPr lang="en-US" altLang="en-US" sz="2300" b="1" dirty="0">
                <a:solidFill>
                  <a:schemeClr val="bg2"/>
                </a:solidFill>
              </a:rPr>
              <a:t> </a:t>
            </a:r>
            <a:r>
              <a:rPr lang="en-US" altLang="en-US" sz="2300" dirty="0"/>
              <a:t>relation</a:t>
            </a:r>
            <a:r>
              <a:rPr lang="en-US" altLang="en-US" sz="2300" b="1" dirty="0">
                <a:solidFill>
                  <a:schemeClr val="bg2"/>
                </a:solidFill>
              </a:rPr>
              <a:t> </a:t>
            </a:r>
            <a:r>
              <a:rPr lang="en-US" altLang="en-US" sz="2300" b="1" i="1" dirty="0">
                <a:solidFill>
                  <a:srgbClr val="000099"/>
                </a:solidFill>
              </a:rPr>
              <a:t>r</a:t>
            </a:r>
            <a:r>
              <a:rPr lang="en-US" altLang="en-US" sz="2300" dirty="0"/>
              <a:t> is called a  </a:t>
            </a:r>
            <a:r>
              <a:rPr lang="en-US" altLang="en-US" sz="2300" i="1" dirty="0"/>
              <a:t>tuple</a:t>
            </a:r>
            <a:r>
              <a:rPr lang="en-US" altLang="en-US" sz="2300" dirty="0"/>
              <a:t> and is represented by a </a:t>
            </a:r>
            <a:r>
              <a:rPr lang="en-US" altLang="en-US" sz="2300" i="1" dirty="0"/>
              <a:t>row </a:t>
            </a:r>
            <a:r>
              <a:rPr lang="en-US" altLang="en-US" sz="2300" dirty="0"/>
              <a:t>in a table</a:t>
            </a:r>
          </a:p>
          <a:p>
            <a:pPr>
              <a:lnSpc>
                <a:spcPct val="120000"/>
              </a:lnSpc>
            </a:pPr>
            <a:endParaRPr lang="en-US" altLang="en-US" sz="2300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Relation Schema and Instance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Relational Model</a:t>
            </a:r>
            <a:endParaRPr lang="en-US" sz="2800" i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89227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/>
              <a:t>The set of allowed values for each attribute is called the domain of the attribute</a:t>
            </a:r>
          </a:p>
          <a:p>
            <a:r>
              <a:rPr lang="en-US" sz="2300" dirty="0"/>
              <a:t>Attribute values are (normally) required to be atomic; that is, indivisible</a:t>
            </a:r>
          </a:p>
          <a:p>
            <a:r>
              <a:rPr lang="en-US" sz="2300" dirty="0"/>
              <a:t>The special value null  is a member of every domain. Indicated that the value is “unknown”</a:t>
            </a:r>
          </a:p>
          <a:p>
            <a:r>
              <a:rPr lang="en-US" sz="2300" dirty="0"/>
              <a:t>The null value causes complications in the definition of many operations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Attributes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Relational Model</a:t>
            </a:r>
            <a:endParaRPr lang="en-US" sz="2800" i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4672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/>
              <a:t>Order of tuples is irrelevant (tuples may be stored in an arbitrary order)</a:t>
            </a:r>
          </a:p>
          <a:p>
            <a:r>
              <a:rPr lang="en-US" sz="2300" dirty="0"/>
              <a:t>Example: instructor  relation with unordered tuples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/>
              <a:t>Relations are Unordered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 smtClean="0">
                <a:solidFill>
                  <a:schemeClr val="tx1"/>
                </a:solidFill>
                <a:latin typeface="Arial" charset="0"/>
              </a:rPr>
              <a:t>ER Model</a:t>
            </a:r>
            <a:endParaRPr lang="en-US" sz="2800" i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pic>
        <p:nvPicPr>
          <p:cNvPr id="18" name="Graphic 5">
            <a:extLst>
              <a:ext uri="{FF2B5EF4-FFF2-40B4-BE49-F238E27FC236}">
                <a16:creationId xmlns:a16="http://schemas.microsoft.com/office/drawing/2014/main" xmlns="" id="{422967B4-430E-442F-B611-B9DC46ED7A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-1" b="12197"/>
          <a:stretch/>
        </p:blipFill>
        <p:spPr>
          <a:xfrm>
            <a:off x="1948917" y="2734404"/>
            <a:ext cx="4702738" cy="371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765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/>
              <a:t>Database schema -- is the logical structure of the database.</a:t>
            </a:r>
          </a:p>
          <a:p>
            <a:r>
              <a:rPr lang="en-US" sz="2300" dirty="0"/>
              <a:t>Database instance -- is a snapshot of the data in the database at a given instant in time. </a:t>
            </a:r>
          </a:p>
          <a:p>
            <a:r>
              <a:rPr lang="en-US" sz="2300" dirty="0"/>
              <a:t>schema:   instructor (ID, name, </a:t>
            </a:r>
            <a:r>
              <a:rPr lang="en-US" sz="2300" dirty="0" err="1"/>
              <a:t>dept_name</a:t>
            </a:r>
            <a:r>
              <a:rPr lang="en-US" sz="2300" dirty="0"/>
              <a:t>, salary)</a:t>
            </a:r>
          </a:p>
          <a:p>
            <a:r>
              <a:rPr lang="en-US" sz="2300" dirty="0"/>
              <a:t>Instance: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Database Schema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Relational Model</a:t>
            </a:r>
            <a:endParaRPr lang="en-US" sz="2800" i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pic>
        <p:nvPicPr>
          <p:cNvPr id="18" name="Graphic 5">
            <a:extLst>
              <a:ext uri="{FF2B5EF4-FFF2-40B4-BE49-F238E27FC236}">
                <a16:creationId xmlns:a16="http://schemas.microsoft.com/office/drawing/2014/main" xmlns="" id="{BD43850F-C798-4B0C-AB3F-7891AC7842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-1" b="12197"/>
          <a:stretch/>
        </p:blipFill>
        <p:spPr>
          <a:xfrm>
            <a:off x="2374949" y="3295673"/>
            <a:ext cx="4020671" cy="317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550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altLang="en-US" sz="2300" dirty="0"/>
              <a:t>Let K </a:t>
            </a:r>
            <a:r>
              <a:rPr lang="en-US" altLang="en-US" sz="2300" dirty="0">
                <a:sym typeface="Symbol" panose="05050102010706020507" pitchFamily="18" charset="2"/>
              </a:rPr>
              <a:t> R</a:t>
            </a:r>
          </a:p>
          <a:p>
            <a:r>
              <a:rPr lang="en-US" altLang="en-US" sz="2300" i="1" dirty="0">
                <a:sym typeface="Symbol" panose="05050102010706020507" pitchFamily="18" charset="2"/>
              </a:rPr>
              <a:t>K </a:t>
            </a:r>
            <a:r>
              <a:rPr lang="en-US" altLang="en-US" sz="2300" dirty="0">
                <a:sym typeface="Symbol" panose="05050102010706020507" pitchFamily="18" charset="2"/>
              </a:rPr>
              <a:t>is a </a:t>
            </a:r>
            <a:r>
              <a:rPr lang="en-US" altLang="en-US" sz="23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23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2300" dirty="0">
                <a:sym typeface="Symbol" panose="05050102010706020507" pitchFamily="18" charset="2"/>
              </a:rPr>
              <a:t>of </a:t>
            </a:r>
            <a:r>
              <a:rPr lang="en-US" altLang="en-US" sz="2300" i="1" dirty="0">
                <a:sym typeface="Symbol" panose="05050102010706020507" pitchFamily="18" charset="2"/>
              </a:rPr>
              <a:t>R</a:t>
            </a:r>
            <a:r>
              <a:rPr lang="en-US" altLang="en-US" sz="2300" dirty="0">
                <a:sym typeface="Symbol" panose="05050102010706020507" pitchFamily="18" charset="2"/>
              </a:rPr>
              <a:t> if values for </a:t>
            </a:r>
            <a:r>
              <a:rPr lang="en-US" altLang="en-US" sz="2300" i="1" dirty="0">
                <a:sym typeface="Symbol" panose="05050102010706020507" pitchFamily="18" charset="2"/>
              </a:rPr>
              <a:t>K</a:t>
            </a:r>
            <a:r>
              <a:rPr lang="en-US" altLang="en-US" sz="23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2300" i="1" dirty="0">
                <a:sym typeface="Symbol" panose="05050102010706020507" pitchFamily="18" charset="2"/>
              </a:rPr>
              <a:t>r(R)</a:t>
            </a:r>
            <a:r>
              <a:rPr lang="en-US" altLang="en-US" sz="23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Example:  {</a:t>
            </a:r>
            <a:r>
              <a:rPr lang="en-US" altLang="en-US" sz="2000" i="1" dirty="0">
                <a:sym typeface="Symbol" panose="05050102010706020507" pitchFamily="18" charset="2"/>
              </a:rPr>
              <a:t>ID</a:t>
            </a:r>
            <a:r>
              <a:rPr lang="en-US" altLang="en-US" sz="2000" dirty="0">
                <a:sym typeface="Symbol" panose="05050102010706020507" pitchFamily="18" charset="2"/>
              </a:rPr>
              <a:t>} and {</a:t>
            </a:r>
            <a:r>
              <a:rPr lang="en-US" altLang="en-US" sz="2000" dirty="0" err="1">
                <a:sym typeface="Symbol" panose="05050102010706020507" pitchFamily="18" charset="2"/>
              </a:rPr>
              <a:t>ID,name</a:t>
            </a:r>
            <a:r>
              <a:rPr lang="en-US" altLang="en-US" sz="2000" dirty="0">
                <a:sym typeface="Symbol" panose="05050102010706020507" pitchFamily="18" charset="2"/>
              </a:rPr>
              <a:t>} are both </a:t>
            </a:r>
            <a:r>
              <a:rPr lang="en-US" altLang="en-US" sz="2000" dirty="0" err="1">
                <a:sym typeface="Symbol" panose="05050102010706020507" pitchFamily="18" charset="2"/>
              </a:rPr>
              <a:t>superkeys</a:t>
            </a:r>
            <a:r>
              <a:rPr lang="en-US" altLang="en-US" sz="2000" dirty="0">
                <a:sym typeface="Symbol" panose="05050102010706020507" pitchFamily="18" charset="2"/>
              </a:rPr>
              <a:t> of </a:t>
            </a:r>
            <a:r>
              <a:rPr lang="en-US" altLang="en-US" sz="2000" i="1" dirty="0" smtClean="0">
                <a:sym typeface="Symbol" panose="05050102010706020507" pitchFamily="18" charset="2"/>
              </a:rPr>
              <a:t>instructor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2300" dirty="0" err="1">
                <a:sym typeface="Symbol" panose="05050102010706020507" pitchFamily="18" charset="2"/>
              </a:rPr>
              <a:t>Superkey</a:t>
            </a:r>
            <a:r>
              <a:rPr lang="en-US" altLang="en-US" sz="2300" dirty="0">
                <a:sym typeface="Symbol" panose="05050102010706020507" pitchFamily="18" charset="2"/>
              </a:rPr>
              <a:t> </a:t>
            </a:r>
            <a:r>
              <a:rPr lang="en-US" altLang="en-US" sz="2300" i="1" dirty="0">
                <a:sym typeface="Symbol" panose="05050102010706020507" pitchFamily="18" charset="2"/>
              </a:rPr>
              <a:t>K</a:t>
            </a:r>
            <a:r>
              <a:rPr lang="en-US" altLang="en-US" sz="2300" dirty="0">
                <a:sym typeface="Symbol" panose="05050102010706020507" pitchFamily="18" charset="2"/>
              </a:rPr>
              <a:t> is a </a:t>
            </a:r>
            <a:r>
              <a:rPr lang="en-US" altLang="en-US" sz="2300" b="1" dirty="0">
                <a:solidFill>
                  <a:srgbClr val="002060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sz="2300" dirty="0">
                <a:sym typeface="Symbol" panose="05050102010706020507" pitchFamily="18" charset="2"/>
              </a:rPr>
              <a:t> if </a:t>
            </a:r>
            <a:r>
              <a:rPr lang="en-US" altLang="en-US" sz="2300" i="1" dirty="0">
                <a:sym typeface="Symbol" panose="05050102010706020507" pitchFamily="18" charset="2"/>
              </a:rPr>
              <a:t>K</a:t>
            </a:r>
            <a:r>
              <a:rPr lang="en-US" altLang="en-US" sz="2300" dirty="0">
                <a:sym typeface="Symbol" panose="05050102010706020507" pitchFamily="18" charset="2"/>
              </a:rPr>
              <a:t> is minimal</a:t>
            </a:r>
            <a:br>
              <a:rPr lang="en-US" altLang="en-US" sz="23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Example:  {</a:t>
            </a:r>
            <a:r>
              <a:rPr lang="en-US" altLang="en-US" sz="2000" i="1" dirty="0">
                <a:sym typeface="Symbol" panose="05050102010706020507" pitchFamily="18" charset="2"/>
              </a:rPr>
              <a:t>ID</a:t>
            </a:r>
            <a:r>
              <a:rPr lang="en-US" altLang="en-US" sz="2000" dirty="0">
                <a:sym typeface="Symbol" panose="05050102010706020507" pitchFamily="18" charset="2"/>
              </a:rPr>
              <a:t>} is a candidate key for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2300" dirty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sz="2300" b="1" dirty="0">
                <a:solidFill>
                  <a:srgbClr val="002060"/>
                </a:solidFill>
                <a:sym typeface="Symbol" panose="05050102010706020507" pitchFamily="18" charset="2"/>
              </a:rPr>
              <a:t>primary </a:t>
            </a:r>
            <a:r>
              <a:rPr lang="en-US" altLang="en-US" sz="2300" b="1" dirty="0" smtClean="0">
                <a:solidFill>
                  <a:srgbClr val="002060"/>
                </a:solidFill>
                <a:sym typeface="Symbol" panose="05050102010706020507" pitchFamily="18" charset="2"/>
              </a:rPr>
              <a:t>key</a:t>
            </a:r>
            <a:endParaRPr lang="en-US" altLang="en-US" sz="2300" dirty="0">
              <a:sym typeface="Symbol" panose="05050102010706020507" pitchFamily="18" charset="2"/>
            </a:endParaRPr>
          </a:p>
          <a:p>
            <a:r>
              <a:rPr lang="en-US" altLang="en-US" sz="2300" b="1" dirty="0">
                <a:solidFill>
                  <a:srgbClr val="002060"/>
                </a:solidFill>
              </a:rPr>
              <a:t>Foreign key</a:t>
            </a:r>
            <a:r>
              <a:rPr lang="en-US" altLang="en-US" sz="2300" dirty="0">
                <a:solidFill>
                  <a:srgbClr val="002060"/>
                </a:solidFill>
              </a:rPr>
              <a:t> </a:t>
            </a:r>
            <a:r>
              <a:rPr lang="en-US" altLang="en-US" sz="2300" dirty="0"/>
              <a:t>constraint: Value in one relation must appear in another</a:t>
            </a:r>
          </a:p>
          <a:p>
            <a:pPr lvl="1"/>
            <a:r>
              <a:rPr lang="en-US" altLang="en-US" sz="2000" b="1" dirty="0">
                <a:solidFill>
                  <a:srgbClr val="002060"/>
                </a:solidFill>
              </a:rPr>
              <a:t>Referencing</a:t>
            </a:r>
            <a:r>
              <a:rPr lang="en-US" altLang="en-US" sz="2000" dirty="0"/>
              <a:t> </a:t>
            </a:r>
            <a:r>
              <a:rPr lang="en-US" altLang="en-US" sz="2000" dirty="0" smtClean="0"/>
              <a:t>relation, </a:t>
            </a:r>
            <a:r>
              <a:rPr lang="en-US" altLang="en-US" sz="2000" b="1" dirty="0" smtClean="0">
                <a:solidFill>
                  <a:srgbClr val="002060"/>
                </a:solidFill>
              </a:rPr>
              <a:t>Referenced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relation</a:t>
            </a: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Example: </a:t>
            </a:r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sym typeface="Symbol" panose="05050102010706020507" pitchFamily="18" charset="2"/>
              </a:rPr>
              <a:t> in i</a:t>
            </a:r>
            <a:r>
              <a:rPr lang="en-US" altLang="en-US" sz="2000" i="1" dirty="0">
                <a:sym typeface="Symbol" panose="05050102010706020507" pitchFamily="18" charset="2"/>
              </a:rPr>
              <a:t>nstructor</a:t>
            </a:r>
            <a:r>
              <a:rPr lang="en-US" altLang="en-US" sz="2000" dirty="0">
                <a:sym typeface="Symbol" panose="05050102010706020507" pitchFamily="18" charset="2"/>
              </a:rPr>
              <a:t>  is a foreign key from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r>
              <a:rPr lang="en-US" altLang="en-US" sz="2000" dirty="0">
                <a:sym typeface="Symbol" panose="05050102010706020507" pitchFamily="18" charset="2"/>
              </a:rPr>
              <a:t> referencing </a:t>
            </a:r>
            <a:r>
              <a:rPr lang="en-US" altLang="en-US" sz="2000" i="1" dirty="0">
                <a:sym typeface="Symbol" panose="05050102010706020507" pitchFamily="18" charset="2"/>
              </a:rPr>
              <a:t>department</a:t>
            </a:r>
            <a:endParaRPr lang="en-US" altLang="en-US" sz="2000" i="1" dirty="0">
              <a:sym typeface="Symbol" panose="05050102010706020507" pitchFamily="18" charset="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Keys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Relational Model</a:t>
            </a:r>
            <a:endParaRPr lang="en-US" sz="2800" i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Tanzima</a:t>
            </a:r>
            <a:r>
              <a:rPr lang="en-US" dirty="0" smtClean="0"/>
              <a:t> </a:t>
            </a:r>
            <a:r>
              <a:rPr lang="en-US" dirty="0" err="1" smtClean="0"/>
              <a:t>Hashem</a:t>
            </a:r>
            <a:r>
              <a:rPr lang="en-US" dirty="0" smtClean="0"/>
              <a:t>, </a:t>
            </a:r>
            <a:r>
              <a:rPr lang="en-US" dirty="0" err="1" smtClean="0"/>
              <a:t>Dept</a:t>
            </a:r>
            <a:r>
              <a:rPr lang="en-US" dirty="0" smtClean="0"/>
              <a:t> of CSE, BUET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4090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Schema Diagram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Relational Model</a:t>
            </a:r>
            <a:endParaRPr lang="en-US" sz="2800" i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pic>
        <p:nvPicPr>
          <p:cNvPr id="18" name="Graphic 2">
            <a:extLst>
              <a:ext uri="{FF2B5EF4-FFF2-40B4-BE49-F238E27FC236}">
                <a16:creationId xmlns:a16="http://schemas.microsoft.com/office/drawing/2014/main" xmlns="" id="{D6B8FF63-5393-4696-8B56-06CDA84E9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17102" y="1701238"/>
            <a:ext cx="8131996" cy="48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90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AU" sz="2300" dirty="0" smtClean="0"/>
              <a:t>Some slides and figures are collected from</a:t>
            </a:r>
          </a:p>
          <a:p>
            <a:pPr lvl="1"/>
            <a:r>
              <a:rPr lang="en-AU" sz="1900" dirty="0"/>
              <a:t>https://www.db-book.com/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9463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9471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2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9469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0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9467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68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9460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dirty="0" smtClean="0"/>
              <a:t>Acknowledgement</a:t>
            </a:r>
            <a:endParaRPr lang="en-US" dirty="0"/>
          </a:p>
        </p:txBody>
      </p:sp>
      <p:sp>
        <p:nvSpPr>
          <p:cNvPr id="19461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Relational Model</a:t>
            </a:r>
            <a:endParaRPr lang="en-US" sz="2800" i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36482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59</Template>
  <TotalTime>21029</TotalTime>
  <Words>333</Words>
  <Application>Microsoft Office PowerPoint</Application>
  <PresentationFormat>On-screen Show (4:3)</PresentationFormat>
  <Paragraphs>68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59</vt:lpstr>
      <vt:lpstr> CSE 215: Database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@cs.mu.oz.au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NAME</dc:title>
  <dc:creator>eunus</dc:creator>
  <cp:lastModifiedBy>lenovo</cp:lastModifiedBy>
  <cp:revision>1595</cp:revision>
  <dcterms:created xsi:type="dcterms:W3CDTF">2008-02-25T00:58:13Z</dcterms:created>
  <dcterms:modified xsi:type="dcterms:W3CDTF">2025-12-05T17:36:05Z</dcterms:modified>
</cp:coreProperties>
</file>