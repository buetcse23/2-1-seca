
<file path=[Content_Types].xml><?xml version="1.0" encoding="utf-8"?>
<Types xmlns="http://schemas.openxmlformats.org/package/2006/content-types"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84" r:id="rId2"/>
    <p:sldId id="454" r:id="rId3"/>
    <p:sldId id="440" r:id="rId4"/>
    <p:sldId id="455" r:id="rId5"/>
    <p:sldId id="457" r:id="rId6"/>
    <p:sldId id="458" r:id="rId7"/>
    <p:sldId id="461" r:id="rId8"/>
    <p:sldId id="462" r:id="rId9"/>
    <p:sldId id="463" r:id="rId10"/>
    <p:sldId id="464" r:id="rId11"/>
    <p:sldId id="465" r:id="rId12"/>
    <p:sldId id="466" r:id="rId13"/>
    <p:sldId id="467" r:id="rId14"/>
    <p:sldId id="468" r:id="rId15"/>
    <p:sldId id="470" r:id="rId16"/>
    <p:sldId id="469" r:id="rId17"/>
    <p:sldId id="471" r:id="rId18"/>
    <p:sldId id="472" r:id="rId19"/>
    <p:sldId id="474" r:id="rId20"/>
    <p:sldId id="473" r:id="rId21"/>
    <p:sldId id="475" r:id="rId22"/>
    <p:sldId id="476" r:id="rId23"/>
    <p:sldId id="477" r:id="rId24"/>
    <p:sldId id="478" r:id="rId25"/>
    <p:sldId id="481" r:id="rId26"/>
    <p:sldId id="479" r:id="rId27"/>
    <p:sldId id="480" r:id="rId28"/>
    <p:sldId id="482" r:id="rId29"/>
    <p:sldId id="484" r:id="rId30"/>
    <p:sldId id="485" r:id="rId31"/>
    <p:sldId id="483" r:id="rId32"/>
    <p:sldId id="453" r:id="rId33"/>
  </p:sldIdLst>
  <p:sldSz cx="9144000" cy="6858000" type="screen4x3"/>
  <p:notesSz cx="6997700" cy="9283700"/>
  <p:defaultTextStyle>
    <a:defPPr>
      <a:defRPr lang="fr-FR"/>
    </a:defPPr>
    <a:lvl1pPr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Calibri" pitchFamily="34" charset="0"/>
        <a:ea typeface="+mn-ea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Calibri" pitchFamily="34" charset="0"/>
        <a:ea typeface="+mn-ea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Calibri" pitchFamily="34" charset="0"/>
        <a:ea typeface="+mn-ea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Calibri" pitchFamily="34" charset="0"/>
        <a:ea typeface="+mn-ea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4000" kern="1200">
        <a:solidFill>
          <a:schemeClr val="bg1"/>
        </a:solidFill>
        <a:latin typeface="Calibri" pitchFamily="34" charset="0"/>
        <a:ea typeface="+mn-ea"/>
        <a:cs typeface="+mn-cs"/>
      </a:defRPr>
    </a:lvl6pPr>
    <a:lvl7pPr marL="2743200" algn="l" defTabSz="914400" rtl="0" eaLnBrk="1" latinLnBrk="0" hangingPunct="1">
      <a:defRPr sz="4000" kern="1200">
        <a:solidFill>
          <a:schemeClr val="bg1"/>
        </a:solidFill>
        <a:latin typeface="Calibri" pitchFamily="34" charset="0"/>
        <a:ea typeface="+mn-ea"/>
        <a:cs typeface="+mn-cs"/>
      </a:defRPr>
    </a:lvl7pPr>
    <a:lvl8pPr marL="3200400" algn="l" defTabSz="914400" rtl="0" eaLnBrk="1" latinLnBrk="0" hangingPunct="1">
      <a:defRPr sz="4000" kern="1200">
        <a:solidFill>
          <a:schemeClr val="bg1"/>
        </a:solidFill>
        <a:latin typeface="Calibri" pitchFamily="34" charset="0"/>
        <a:ea typeface="+mn-ea"/>
        <a:cs typeface="+mn-cs"/>
      </a:defRPr>
    </a:lvl8pPr>
    <a:lvl9pPr marL="3657600" algn="l" defTabSz="914400" rtl="0" eaLnBrk="1" latinLnBrk="0" hangingPunct="1">
      <a:defRPr sz="4000" kern="1200">
        <a:solidFill>
          <a:schemeClr val="bg1"/>
        </a:solidFill>
        <a:latin typeface="Calibri" pitchFamily="34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77C0"/>
    <a:srgbClr val="EFADD9"/>
    <a:srgbClr val="0099FF"/>
    <a:srgbClr val="5FFD7D"/>
    <a:srgbClr val="95F963"/>
    <a:srgbClr val="FE9138"/>
    <a:srgbClr val="FF6600"/>
    <a:srgbClr val="FF5050"/>
    <a:srgbClr val="00000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814" autoAdjust="0"/>
  </p:normalViewPr>
  <p:slideViewPr>
    <p:cSldViewPr snapToGrid="0" snapToObjects="1">
      <p:cViewPr>
        <p:scale>
          <a:sx n="50" d="100"/>
          <a:sy n="50" d="100"/>
        </p:scale>
        <p:origin x="-1664" y="-212"/>
      </p:cViewPr>
      <p:guideLst>
        <p:guide orient="horz" pos="216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66" d="100"/>
        <a:sy n="66" d="100"/>
      </p:scale>
      <p:origin x="0" y="2184"/>
    </p:cViewPr>
  </p:sorterViewPr>
  <p:notesViewPr>
    <p:cSldViewPr snapToGrid="0" snapToObjects="1">
      <p:cViewPr varScale="1">
        <p:scale>
          <a:sx n="80" d="100"/>
          <a:sy n="80" d="100"/>
        </p:scale>
        <p:origin x="-1404" y="-90"/>
      </p:cViewPr>
      <p:guideLst>
        <p:guide orient="horz" pos="2924"/>
        <p:guide pos="2204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>
            <a:lvl1pPr algn="l" defTabSz="930275" eaLnBrk="0" hangingPunct="0"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3988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>
            <a:lvl1pPr algn="r" defTabSz="930275" eaLnBrk="0" hangingPunct="0"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84A9E5EA-8094-440C-A492-B4D068C86B5D}" type="datetimeFigureOut">
              <a:rPr lang="en-US"/>
              <a:pPr>
                <a:defRPr/>
              </a:pPr>
              <a:t>11/30/2025</a:t>
            </a:fld>
            <a:endParaRPr lang="en-US"/>
          </a:p>
        </p:txBody>
      </p:sp>
      <p:sp>
        <p:nvSpPr>
          <p:cNvPr id="2048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18563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31" tIns="46516" rIns="93031" bIns="46516" numCol="1" anchor="b" anchorCtr="0" compatLnSpc="1">
            <a:prstTxWarp prst="textNoShape">
              <a:avLst/>
            </a:prstTxWarp>
          </a:bodyPr>
          <a:lstStyle>
            <a:lvl1pPr algn="l" defTabSz="930275" eaLnBrk="0" hangingPunct="0"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8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3988" y="8818563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31" tIns="46516" rIns="93031" bIns="46516" numCol="1" anchor="b" anchorCtr="0" compatLnSpc="1">
            <a:prstTxWarp prst="textNoShape">
              <a:avLst/>
            </a:prstTxWarp>
          </a:bodyPr>
          <a:lstStyle>
            <a:lvl1pPr algn="r" defTabSz="930275" eaLnBrk="0" hangingPunct="0"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FE389508-52AA-467F-8578-CFB3CCEEAC5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0169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>
            <a:lvl1pPr algn="l" defTabSz="930275" eaLnBrk="0" hangingPunct="0"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63988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>
            <a:lvl1pPr algn="r" defTabSz="930275" eaLnBrk="0" hangingPunct="0"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06D4D452-A904-4650-9106-5FA9FD2AB884}" type="datetimeFigureOut">
              <a:rPr lang="en-US"/>
              <a:pPr>
                <a:defRPr/>
              </a:pPr>
              <a:t>11/30/2025</a:t>
            </a:fld>
            <a:endParaRPr lang="en-US"/>
          </a:p>
        </p:txBody>
      </p:sp>
      <p:sp>
        <p:nvSpPr>
          <p:cNvPr id="2355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77925" y="696913"/>
            <a:ext cx="4641850" cy="34813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0088" y="4410075"/>
            <a:ext cx="5597525" cy="417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smtClean="0"/>
              <a:t>Click to 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</a:p>
        </p:txBody>
      </p:sp>
      <p:sp>
        <p:nvSpPr>
          <p:cNvPr id="1639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18563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31" tIns="46516" rIns="93031" bIns="46516" numCol="1" anchor="b" anchorCtr="0" compatLnSpc="1">
            <a:prstTxWarp prst="textNoShape">
              <a:avLst/>
            </a:prstTxWarp>
          </a:bodyPr>
          <a:lstStyle>
            <a:lvl1pPr algn="l" defTabSz="930275" eaLnBrk="0" hangingPunct="0"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39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63988" y="8818563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31" tIns="46516" rIns="93031" bIns="46516" numCol="1" anchor="b" anchorCtr="0" compatLnSpc="1">
            <a:prstTxWarp prst="textNoShape">
              <a:avLst/>
            </a:prstTxWarp>
          </a:bodyPr>
          <a:lstStyle>
            <a:lvl1pPr algn="r" defTabSz="930275" eaLnBrk="0" hangingPunct="0"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F0E5AF66-D874-4D06-96A2-91888396C9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97034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 smtClean="0">
              <a:latin typeface="Arial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sz="1200" kern="1200" baseline="0" dirty="0" smtClean="0">
              <a:solidFill>
                <a:schemeClr val="tx1"/>
              </a:solidFill>
              <a:latin typeface="Calibri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F242CD-A77B-44DD-9C85-0453EABE0C7C}" type="datetime1">
              <a:rPr lang="fr-FR" smtClean="0"/>
              <a:t>30/11/2025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F1D94F-CBF6-40D2-833D-2912DB21ED66}" type="slidenum">
              <a:rPr lang="fr-FR"/>
              <a:pPr>
                <a:defRPr/>
              </a:pPr>
              <a:t>‹#›</a:t>
            </a:fld>
            <a:endParaRPr lang="fr-FR" dirty="0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96238A-8378-4DA3-BCB6-23A45A03C651}" type="datetime1">
              <a:rPr lang="fr-FR" smtClean="0"/>
              <a:t>30/11/2025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7BCA27-9083-4FF6-B436-5F2C6F9FD502}" type="slidenum">
              <a:rPr lang="fr-FR"/>
              <a:pPr>
                <a:defRPr/>
              </a:pPr>
              <a:t>‹#›</a:t>
            </a:fld>
            <a:endParaRPr lang="fr-FR" dirty="0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DAA16D3-81D4-4840-9D56-4427763F429B}" type="datetime1">
              <a:rPr lang="fr-FR" smtClean="0"/>
              <a:t>30/11/2025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35C4BE-6E88-47F0-8C41-A3EBB63B9FDA}" type="slidenum">
              <a:rPr lang="fr-FR"/>
              <a:pPr>
                <a:defRPr/>
              </a:pPr>
              <a:t>‹#›</a:t>
            </a:fld>
            <a:endParaRPr lang="fr-FR" dirty="0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2F7C9A-D69F-4901-A11F-59ECE2E4FD8F}" type="datetime1">
              <a:rPr lang="fr-FR" smtClean="0"/>
              <a:t>30/11/2025</a:t>
            </a:fld>
            <a:endParaRPr lang="fr-FR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C5EA4C5-2885-4509-B487-37938B596AA2}" type="slidenum">
              <a:rPr lang="fr-FR"/>
              <a:pPr>
                <a:defRPr/>
              </a:pPr>
              <a:t>‹#›</a:t>
            </a:fld>
            <a:endParaRPr lang="fr-FR" dirty="0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D4950C-7136-4403-8FBB-2F2464330A31}" type="datetime1">
              <a:rPr lang="fr-FR" smtClean="0"/>
              <a:t>30/11/2025</a:t>
            </a:fld>
            <a:endParaRPr lang="fr-FR" dirty="0"/>
          </a:p>
        </p:txBody>
      </p:sp>
      <p:sp>
        <p:nvSpPr>
          <p:cNvPr id="8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9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E86D27-3251-43B8-9A9B-0CE1CD1CF3C0}" type="slidenum">
              <a:rPr lang="fr-FR"/>
              <a:pPr>
                <a:defRPr/>
              </a:pPr>
              <a:t>‹#›</a:t>
            </a:fld>
            <a:endParaRPr lang="fr-FR" dirty="0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DF3307-2C69-441E-8767-3BD00A30114D}" type="datetime1">
              <a:rPr lang="fr-FR" smtClean="0"/>
              <a:t>30/11/2025</a:t>
            </a:fld>
            <a:endParaRPr lang="fr-FR" dirty="0"/>
          </a:p>
        </p:txBody>
      </p:sp>
      <p:sp>
        <p:nvSpPr>
          <p:cNvPr id="4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AF7835-2375-40D2-8D45-4E1D823FEAFB}" type="slidenum">
              <a:rPr lang="fr-FR"/>
              <a:pPr>
                <a:defRPr/>
              </a:pPr>
              <a:t>‹#›</a:t>
            </a:fld>
            <a:endParaRPr lang="fr-FR" dirty="0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5222D2-F063-4148-901A-C40FB91EE8F5}" type="datetime1">
              <a:rPr lang="fr-FR" smtClean="0"/>
              <a:t>30/11/2025</a:t>
            </a:fld>
            <a:endParaRPr lang="fr-FR" dirty="0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CF104B-57E3-4411-AB68-47EC9C0CCFE4}" type="slidenum">
              <a:rPr lang="fr-FR"/>
              <a:pPr>
                <a:defRPr/>
              </a:pPr>
              <a:t>‹#›</a:t>
            </a:fld>
            <a:endParaRPr lang="fr-FR" dirty="0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>
                <a:latin typeface="Calibri" pitchFamily="34" charset="0"/>
              </a:defRPr>
            </a:lvl2pPr>
            <a:lvl3pPr>
              <a:defRPr sz="2400">
                <a:latin typeface="Calibri" pitchFamily="34" charset="0"/>
              </a:defRPr>
            </a:lvl3pPr>
            <a:lvl4pPr>
              <a:defRPr sz="2000">
                <a:latin typeface="Calibri" pitchFamily="34" charset="0"/>
              </a:defRPr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AA78050-F2C6-4850-AD99-3CABA648DEEB}" type="datetime1">
              <a:rPr lang="fr-FR" smtClean="0"/>
              <a:t>30/11/2025</a:t>
            </a:fld>
            <a:endParaRPr lang="fr-FR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3E0524-6157-4574-8A4E-10E1179821A4}" type="slidenum">
              <a:rPr lang="fr-FR"/>
              <a:pPr>
                <a:defRPr/>
              </a:pPr>
              <a:t>‹#›</a:t>
            </a:fld>
            <a:endParaRPr lang="fr-FR" dirty="0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fr-FR" noProof="0" dirty="0" smtClean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119599-BBDE-4FBC-887F-F6524840BFFA}" type="datetime1">
              <a:rPr lang="fr-FR" smtClean="0"/>
              <a:t>30/11/2025</a:t>
            </a:fld>
            <a:endParaRPr lang="fr-FR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EAC0EDF-A357-455C-9864-8F6C167EA289}" type="slidenum">
              <a:rPr lang="fr-FR"/>
              <a:pPr>
                <a:defRPr/>
              </a:pPr>
              <a:t>‹#›</a:t>
            </a:fld>
            <a:endParaRPr lang="fr-FR" dirty="0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85862D-DA77-42D3-8498-C5D9E03E26D7}" type="datetime1">
              <a:rPr lang="fr-FR" smtClean="0"/>
              <a:t>30/11/2025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654104C-BF02-43B0-BAB6-E190D149467B}" type="slidenum">
              <a:rPr lang="fr-FR"/>
              <a:pPr>
                <a:defRPr/>
              </a:pPr>
              <a:t>‹#›</a:t>
            </a:fld>
            <a:endParaRPr lang="fr-FR" dirty="0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63747E-8526-49B5-A53E-A25AD471C411}" type="datetime1">
              <a:rPr lang="fr-FR" smtClean="0"/>
              <a:t>30/11/2025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624FD7-F725-43F8-95BD-5DEEAB1837B1}" type="slidenum">
              <a:rPr lang="fr-FR"/>
              <a:pPr>
                <a:defRPr/>
              </a:pPr>
              <a:t>‹#›</a:t>
            </a:fld>
            <a:endParaRPr lang="fr-FR" dirty="0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76400"/>
            <a:ext cx="8229600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F0C550E1-F6E5-4883-B977-F60AAAAE1271}" type="datetime1">
              <a:rPr lang="fr-FR" smtClean="0"/>
              <a:t>30/11/2025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6478ADAF-0B19-4D82-8C64-4E91835AE258}" type="slidenum">
              <a:rPr lang="fr-FR"/>
              <a:pPr>
                <a:defRPr/>
              </a:pPr>
              <a:t>‹#›</a:t>
            </a:fld>
            <a:endParaRPr lang="fr-FR" dirty="0"/>
          </a:p>
        </p:txBody>
      </p:sp>
      <p:grpSp>
        <p:nvGrpSpPr>
          <p:cNvPr id="1030" name="Group 7"/>
          <p:cNvGrpSpPr>
            <a:grpSpLocks/>
          </p:cNvGrpSpPr>
          <p:nvPr userDrawn="1"/>
        </p:nvGrpSpPr>
        <p:grpSpPr bwMode="auto">
          <a:xfrm>
            <a:off x="9525" y="641350"/>
            <a:ext cx="8143875" cy="273050"/>
            <a:chOff x="0" y="480"/>
            <a:chExt cx="5130" cy="172"/>
          </a:xfrm>
        </p:grpSpPr>
        <p:sp>
          <p:nvSpPr>
            <p:cNvPr id="1034" name="Line 8"/>
            <p:cNvSpPr>
              <a:spLocks noChangeShapeType="1"/>
            </p:cNvSpPr>
            <p:nvPr userDrawn="1"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1035" name="Group 9"/>
            <p:cNvGrpSpPr>
              <a:grpSpLocks/>
            </p:cNvGrpSpPr>
            <p:nvPr userDrawn="1"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042" name="AutoShape 10"/>
              <p:cNvSpPr>
                <a:spLocks noChangeArrowheads="1"/>
              </p:cNvSpPr>
              <p:nvPr userDrawn="1"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043" name="AutoShape 11"/>
              <p:cNvSpPr>
                <a:spLocks noChangeArrowheads="1"/>
              </p:cNvSpPr>
              <p:nvPr userDrawn="1"/>
            </p:nvSpPr>
            <p:spPr bwMode="auto">
              <a:xfrm>
                <a:off x="24336" y="3502"/>
                <a:ext cx="575" cy="58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5 w 21600"/>
                  <a:gd name="T25" fmla="*/ 3166 h 21600"/>
                  <a:gd name="T26" fmla="*/ 18445 w 21600"/>
                  <a:gd name="T27" fmla="*/ 18434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1036" name="Group 12"/>
            <p:cNvGrpSpPr>
              <a:grpSpLocks/>
            </p:cNvGrpSpPr>
            <p:nvPr userDrawn="1"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040" name="AutoShape 13"/>
              <p:cNvSpPr>
                <a:spLocks noChangeArrowheads="1"/>
              </p:cNvSpPr>
              <p:nvPr userDrawn="1"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041" name="AutoShape 14"/>
              <p:cNvSpPr>
                <a:spLocks noChangeArrowheads="1"/>
              </p:cNvSpPr>
              <p:nvPr userDrawn="1"/>
            </p:nvSpPr>
            <p:spPr bwMode="auto">
              <a:xfrm>
                <a:off x="24336" y="3502"/>
                <a:ext cx="575" cy="58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5 w 21600"/>
                  <a:gd name="T25" fmla="*/ 3166 h 21600"/>
                  <a:gd name="T26" fmla="*/ 18445 w 21600"/>
                  <a:gd name="T27" fmla="*/ 18434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1037" name="Group 15"/>
            <p:cNvGrpSpPr>
              <a:grpSpLocks/>
            </p:cNvGrpSpPr>
            <p:nvPr userDrawn="1"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038" name="AutoShape 16"/>
              <p:cNvSpPr>
                <a:spLocks noChangeArrowheads="1"/>
              </p:cNvSpPr>
              <p:nvPr userDrawn="1"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039" name="AutoShape 17"/>
              <p:cNvSpPr>
                <a:spLocks noChangeArrowheads="1"/>
              </p:cNvSpPr>
              <p:nvPr userDrawn="1"/>
            </p:nvSpPr>
            <p:spPr bwMode="auto">
              <a:xfrm>
                <a:off x="24336" y="3502"/>
                <a:ext cx="575" cy="58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5 w 21600"/>
                  <a:gd name="T25" fmla="*/ 3166 h 21600"/>
                  <a:gd name="T26" fmla="*/ 18445 w 21600"/>
                  <a:gd name="T27" fmla="*/ 18434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031" name="Rectangle 18"/>
          <p:cNvSpPr>
            <a:spLocks noChangeArrowheads="1"/>
          </p:cNvSpPr>
          <p:nvPr userDrawn="1"/>
        </p:nvSpPr>
        <p:spPr bwMode="auto">
          <a:xfrm>
            <a:off x="533400" y="914400"/>
            <a:ext cx="71628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2" name="Rectangle 19"/>
          <p:cNvSpPr>
            <a:spLocks noChangeArrowheads="1"/>
          </p:cNvSpPr>
          <p:nvPr userDrawn="1"/>
        </p:nvSpPr>
        <p:spPr bwMode="auto">
          <a:xfrm>
            <a:off x="533400" y="152400"/>
            <a:ext cx="4191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3" name="Rectangle 20"/>
          <p:cNvSpPr>
            <a:spLocks noChangeArrowheads="1"/>
          </p:cNvSpPr>
          <p:nvPr userDrawn="1"/>
        </p:nvSpPr>
        <p:spPr bwMode="auto">
          <a:xfrm>
            <a:off x="685800" y="685800"/>
            <a:ext cx="6248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Calibri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800" kern="1200">
          <a:solidFill>
            <a:schemeClr val="tx1"/>
          </a:solidFill>
          <a:latin typeface="Calibri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Calibri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Calibri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alibri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alibri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re 1"/>
          <p:cNvSpPr>
            <a:spLocks noGrp="1"/>
          </p:cNvSpPr>
          <p:nvPr>
            <p:ph type="ctrTitle" idx="4294967295"/>
          </p:nvPr>
        </p:nvSpPr>
        <p:spPr bwMode="auto">
          <a:xfrm>
            <a:off x="990600" y="1781492"/>
            <a:ext cx="7153275" cy="134532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 anchor="ctr"/>
          <a:lstStyle/>
          <a:p>
            <a:pPr eaLnBrk="1" hangingPunct="1"/>
            <a:r>
              <a:rPr lang="fr-FR" dirty="0" smtClean="0">
                <a:latin typeface="Arial" charset="0"/>
              </a:rPr>
              <a:t/>
            </a:r>
            <a:br>
              <a:rPr lang="fr-FR" dirty="0" smtClean="0">
                <a:latin typeface="Arial" charset="0"/>
              </a:rPr>
            </a:br>
            <a:r>
              <a:rPr lang="fr-FR" dirty="0" smtClean="0">
                <a:latin typeface="Arial" charset="0"/>
              </a:rPr>
              <a:t>CSE 215: </a:t>
            </a:r>
            <a:r>
              <a:rPr lang="fr-FR" dirty="0" err="1" smtClean="0">
                <a:latin typeface="Arial" charset="0"/>
              </a:rPr>
              <a:t>Database</a:t>
            </a:r>
            <a:r>
              <a:rPr lang="fr-FR" dirty="0" smtClean="0">
                <a:latin typeface="Arial" charset="0"/>
              </a:rPr>
              <a:t/>
            </a:r>
            <a:br>
              <a:rPr lang="fr-FR" dirty="0" smtClean="0">
                <a:latin typeface="Arial" charset="0"/>
              </a:rPr>
            </a:br>
            <a:endParaRPr lang="fr-FR" dirty="0" smtClean="0">
              <a:latin typeface="Arial" charset="0"/>
            </a:endParaRPr>
          </a:p>
        </p:txBody>
      </p:sp>
      <p:sp>
        <p:nvSpPr>
          <p:cNvPr id="2053" name="Rectangle 6"/>
          <p:cNvSpPr>
            <a:spLocks noChangeArrowheads="1"/>
          </p:cNvSpPr>
          <p:nvPr/>
        </p:nvSpPr>
        <p:spPr bwMode="auto">
          <a:xfrm>
            <a:off x="152400" y="838200"/>
            <a:ext cx="87630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400" i="1">
              <a:solidFill>
                <a:schemeClr val="tx1"/>
              </a:solidFill>
            </a:endParaRP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1419367" y="4317248"/>
            <a:ext cx="6155139" cy="1078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16660" tIns="8330" rIns="16660" bIns="8330">
            <a:spAutoFit/>
          </a:bodyPr>
          <a:lstStyle/>
          <a:p>
            <a:pPr>
              <a:lnSpc>
                <a:spcPct val="50000"/>
              </a:lnSpc>
              <a:spcBef>
                <a:spcPct val="50000"/>
              </a:spcBef>
            </a:pPr>
            <a:endParaRPr lang="en-US" sz="1800" i="1" dirty="0">
              <a:solidFill>
                <a:srgbClr val="F59247"/>
              </a:solidFill>
              <a:latin typeface="Times New Roman" pitchFamily="18" charset="0"/>
            </a:endParaRPr>
          </a:p>
          <a:p>
            <a:endParaRPr lang="en-US" sz="2000" dirty="0" smtClean="0">
              <a:solidFill>
                <a:schemeClr val="tx1"/>
              </a:solidFill>
              <a:latin typeface="Arial" charset="0"/>
              <a:cs typeface="Arial" charset="0"/>
            </a:endParaRPr>
          </a:p>
          <a:p>
            <a:r>
              <a:rPr lang="en-US" sz="2000" dirty="0" smtClean="0">
                <a:solidFill>
                  <a:schemeClr val="tx1"/>
                </a:solidFill>
                <a:latin typeface="Arial" charset="0"/>
                <a:cs typeface="Arial" charset="0"/>
              </a:rPr>
              <a:t>Department of CSE</a:t>
            </a:r>
          </a:p>
          <a:p>
            <a:r>
              <a:rPr lang="en-US" sz="2000" dirty="0" smtClean="0">
                <a:solidFill>
                  <a:schemeClr val="tx1"/>
                </a:solidFill>
                <a:latin typeface="Arial" charset="0"/>
                <a:cs typeface="Arial" charset="0"/>
              </a:rPr>
              <a:t>Bangladesh University of Engineering &amp; Technology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The ER data model employs three basic concepts: </a:t>
            </a:r>
          </a:p>
          <a:p>
            <a:pPr lvl="1"/>
            <a:r>
              <a:rPr lang="en-US" sz="2300" dirty="0"/>
              <a:t>entity </a:t>
            </a:r>
            <a:r>
              <a:rPr lang="en-US" sz="2300" dirty="0" smtClean="0"/>
              <a:t>sets</a:t>
            </a:r>
            <a:endParaRPr lang="en-US" sz="2300" dirty="0"/>
          </a:p>
          <a:p>
            <a:pPr lvl="1"/>
            <a:r>
              <a:rPr lang="en-US" sz="2300" dirty="0"/>
              <a:t>relationship </a:t>
            </a:r>
            <a:r>
              <a:rPr lang="en-US" sz="2300" dirty="0" smtClean="0"/>
              <a:t>sets </a:t>
            </a:r>
            <a:endParaRPr lang="en-US" sz="2300" dirty="0"/>
          </a:p>
          <a:p>
            <a:pPr lvl="1"/>
            <a:r>
              <a:rPr lang="en-US" sz="2300" dirty="0" smtClean="0"/>
              <a:t>attributes</a:t>
            </a:r>
            <a:endParaRPr lang="en-US" sz="2300" dirty="0"/>
          </a:p>
          <a:p>
            <a:r>
              <a:rPr lang="en-US" sz="2300" dirty="0"/>
              <a:t>The ER model also has an associated diagrammatic representation, </a:t>
            </a:r>
            <a:r>
              <a:rPr lang="en-US" sz="2300" dirty="0" smtClean="0"/>
              <a:t>which </a:t>
            </a:r>
            <a:r>
              <a:rPr lang="en-US" sz="2300" dirty="0"/>
              <a:t>can express the overall logical structure of a database </a:t>
            </a:r>
            <a:r>
              <a:rPr lang="en-US" sz="2300" dirty="0" smtClean="0"/>
              <a:t>graphically</a:t>
            </a:r>
          </a:p>
          <a:p>
            <a:pPr lvl="1"/>
            <a:r>
              <a:rPr lang="en-US" sz="2300" dirty="0" smtClean="0"/>
              <a:t>ER </a:t>
            </a:r>
            <a:r>
              <a:rPr lang="en-US" sz="2300" dirty="0" smtClean="0"/>
              <a:t>diagram</a:t>
            </a:r>
            <a:endParaRPr lang="en-US" sz="2300" dirty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What is it?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7059145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An </a:t>
            </a:r>
            <a:r>
              <a:rPr lang="en-US" altLang="en-US" sz="2400" b="1" dirty="0">
                <a:solidFill>
                  <a:srgbClr val="002060"/>
                </a:solidFill>
              </a:rPr>
              <a:t>entity</a:t>
            </a:r>
            <a:r>
              <a:rPr lang="en-US" sz="2300" dirty="0" smtClean="0"/>
              <a:t> </a:t>
            </a:r>
            <a:r>
              <a:rPr lang="en-US" sz="2300" dirty="0"/>
              <a:t>is an object that exists and is distinguishable from other </a:t>
            </a:r>
            <a:r>
              <a:rPr lang="en-US" sz="2300" dirty="0" smtClean="0"/>
              <a:t>objects</a:t>
            </a:r>
            <a:endParaRPr lang="en-US" sz="2300" dirty="0"/>
          </a:p>
          <a:p>
            <a:pPr lvl="1"/>
            <a:r>
              <a:rPr lang="en-US" sz="2000" dirty="0"/>
              <a:t>Example:  specific person, company, </a:t>
            </a:r>
            <a:r>
              <a:rPr lang="en-US" sz="2000" dirty="0" smtClean="0"/>
              <a:t>plant</a:t>
            </a:r>
            <a:endParaRPr lang="en-US" sz="2000" dirty="0"/>
          </a:p>
          <a:p>
            <a:r>
              <a:rPr lang="en-US" sz="2300" dirty="0"/>
              <a:t>An </a:t>
            </a:r>
            <a:r>
              <a:rPr lang="en-US" altLang="en-US" sz="2300" b="1" dirty="0">
                <a:solidFill>
                  <a:srgbClr val="002060"/>
                </a:solidFill>
              </a:rPr>
              <a:t>entity </a:t>
            </a:r>
            <a:r>
              <a:rPr lang="en-US" altLang="en-US" sz="2300" b="1" dirty="0" smtClean="0">
                <a:solidFill>
                  <a:srgbClr val="002060"/>
                </a:solidFill>
              </a:rPr>
              <a:t>set</a:t>
            </a:r>
            <a:r>
              <a:rPr lang="en-US" sz="2300" dirty="0" smtClean="0"/>
              <a:t> </a:t>
            </a:r>
            <a:r>
              <a:rPr lang="en-US" sz="2300" dirty="0"/>
              <a:t>is a set of entities of the same type that share the same </a:t>
            </a:r>
            <a:r>
              <a:rPr lang="en-US" sz="2300" dirty="0" smtClean="0"/>
              <a:t>properties</a:t>
            </a:r>
            <a:endParaRPr lang="en-US" sz="2300" dirty="0"/>
          </a:p>
          <a:p>
            <a:pPr lvl="1"/>
            <a:r>
              <a:rPr lang="en-US" sz="2000" dirty="0"/>
              <a:t>Example: set of all persons, companies, trees</a:t>
            </a:r>
            <a:r>
              <a:rPr lang="en-US" sz="2000" dirty="0" smtClean="0"/>
              <a:t>,</a:t>
            </a:r>
            <a:endParaRPr lang="en-US" sz="2000" dirty="0"/>
          </a:p>
          <a:p>
            <a:r>
              <a:rPr lang="en-US" sz="2300" dirty="0"/>
              <a:t>An entity is represented by a set of attributes; i.e., descriptive properties possessed by all members of an entity </a:t>
            </a:r>
            <a:r>
              <a:rPr lang="en-US" sz="2300" dirty="0" smtClean="0"/>
              <a:t>set</a:t>
            </a:r>
            <a:endParaRPr lang="en-US" sz="2300" dirty="0"/>
          </a:p>
          <a:p>
            <a:pPr lvl="1"/>
            <a:r>
              <a:rPr lang="en-US" sz="2000" dirty="0"/>
              <a:t>Example: </a:t>
            </a:r>
            <a:endParaRPr lang="en-US" sz="2000" dirty="0" smtClean="0"/>
          </a:p>
          <a:p>
            <a:pPr marL="0" indent="0">
              <a:buNone/>
            </a:pPr>
            <a:r>
              <a:rPr lang="en-US" sz="2000" dirty="0" smtClean="0"/>
              <a:t>	instructor </a:t>
            </a:r>
            <a:r>
              <a:rPr lang="en-US" sz="2000" dirty="0"/>
              <a:t>= (ID, name, salary )</a:t>
            </a:r>
            <a:br>
              <a:rPr lang="en-US" sz="2000" dirty="0"/>
            </a:br>
            <a:r>
              <a:rPr lang="en-US" sz="2000" dirty="0"/>
              <a:t>	course= (</a:t>
            </a:r>
            <a:r>
              <a:rPr lang="en-US" sz="2000" dirty="0" err="1"/>
              <a:t>course_id</a:t>
            </a:r>
            <a:r>
              <a:rPr lang="en-US" sz="2000" dirty="0"/>
              <a:t>, title, credits)</a:t>
            </a:r>
          </a:p>
          <a:p>
            <a:r>
              <a:rPr lang="en-US" sz="2300" dirty="0" smtClean="0"/>
              <a:t>A </a:t>
            </a:r>
            <a:r>
              <a:rPr lang="en-US" sz="2300" dirty="0"/>
              <a:t>subset of the attributes form a </a:t>
            </a:r>
            <a:r>
              <a:rPr lang="en-US" altLang="en-US" sz="2300" b="1" dirty="0" smtClean="0">
                <a:solidFill>
                  <a:srgbClr val="002060"/>
                </a:solidFill>
              </a:rPr>
              <a:t>primary key</a:t>
            </a:r>
            <a:r>
              <a:rPr lang="en-US" sz="2300" dirty="0" smtClean="0"/>
              <a:t> </a:t>
            </a:r>
            <a:r>
              <a:rPr lang="en-US" sz="2300" dirty="0"/>
              <a:t>of the entity set; i.e., uniquely identifying each member of the </a:t>
            </a:r>
            <a:r>
              <a:rPr lang="en-US" sz="2300" dirty="0" smtClean="0"/>
              <a:t>set</a:t>
            </a:r>
            <a:endParaRPr lang="en-US" sz="2300" dirty="0"/>
          </a:p>
          <a:p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Entity Sets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1517636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Entity sets can be represented graphically as follows:</a:t>
            </a:r>
          </a:p>
          <a:p>
            <a:pPr lvl="1"/>
            <a:r>
              <a:rPr lang="en-US" sz="2000" dirty="0"/>
              <a:t>Rectangles represent entity sets.</a:t>
            </a:r>
          </a:p>
          <a:p>
            <a:pPr lvl="1"/>
            <a:r>
              <a:rPr lang="en-US" sz="2000" dirty="0"/>
              <a:t>Attributes listed inside entity rectangle</a:t>
            </a:r>
          </a:p>
          <a:p>
            <a:pPr lvl="1"/>
            <a:r>
              <a:rPr lang="en-US" sz="2000" dirty="0"/>
              <a:t>Underline indicates primary key attributes</a:t>
            </a:r>
          </a:p>
          <a:p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Entity Sets – ER Diagram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4</a:t>
            </a:fld>
            <a:endParaRPr lang="fr-FR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xmlns="" id="{91290F8C-1B79-4693-9B6C-81A613B75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719" y="3435718"/>
            <a:ext cx="4465041" cy="171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5724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pPr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/>
              <a:t>A </a:t>
            </a:r>
            <a:r>
              <a:rPr lang="en-US" altLang="en-US" sz="2300" b="1" dirty="0">
                <a:solidFill>
                  <a:srgbClr val="002060"/>
                </a:solidFill>
              </a:rPr>
              <a:t>relationship</a:t>
            </a:r>
            <a:r>
              <a:rPr lang="en-US" altLang="en-US" sz="2300" dirty="0"/>
              <a:t> is an association among several entities</a:t>
            </a:r>
          </a:p>
          <a:p>
            <a:pPr>
              <a:buFont typeface="Monotype Sorts" charset="2"/>
              <a:buNone/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/>
              <a:t>	Example:</a:t>
            </a:r>
            <a:br>
              <a:rPr lang="en-US" altLang="en-US" sz="2300" dirty="0"/>
            </a:br>
            <a:r>
              <a:rPr lang="en-US" altLang="en-US" sz="2300" dirty="0"/>
              <a:t>	 44553 (</a:t>
            </a:r>
            <a:r>
              <a:rPr lang="en-US" altLang="en-US" sz="2300" dirty="0" err="1"/>
              <a:t>Peltier</a:t>
            </a:r>
            <a:r>
              <a:rPr lang="en-US" altLang="en-US" sz="2300" u="sng" dirty="0"/>
              <a:t>)</a:t>
            </a:r>
            <a:r>
              <a:rPr lang="en-US" altLang="en-US" sz="2300" dirty="0"/>
              <a:t> 	</a:t>
            </a:r>
            <a:r>
              <a:rPr lang="en-US" altLang="en-US" sz="2300" i="1" u="sng" dirty="0"/>
              <a:t>advisor</a:t>
            </a:r>
            <a:r>
              <a:rPr lang="en-US" altLang="en-US" sz="2300" dirty="0"/>
              <a:t>	 22222 (</a:t>
            </a:r>
            <a:r>
              <a:rPr lang="en-US" altLang="en-US" sz="2300" u="sng" dirty="0"/>
              <a:t>Einstein)</a:t>
            </a:r>
            <a:r>
              <a:rPr lang="en-US" altLang="en-US" sz="2300" dirty="0"/>
              <a:t> </a:t>
            </a:r>
            <a:r>
              <a:rPr lang="en-US" altLang="en-US" sz="2300" u="sng" dirty="0"/>
              <a:t/>
            </a:r>
            <a:br>
              <a:rPr lang="en-US" altLang="en-US" sz="2300" u="sng" dirty="0"/>
            </a:br>
            <a:r>
              <a:rPr lang="en-US" altLang="en-US" sz="2300" dirty="0"/>
              <a:t>	 </a:t>
            </a:r>
            <a:r>
              <a:rPr lang="en-US" altLang="en-US" sz="2300" i="1" dirty="0"/>
              <a:t>student</a:t>
            </a:r>
            <a:r>
              <a:rPr lang="en-US" altLang="en-US" sz="2300" dirty="0"/>
              <a:t> entity	relationship set	 </a:t>
            </a:r>
            <a:r>
              <a:rPr lang="en-US" altLang="en-US" sz="2300" i="1" dirty="0"/>
              <a:t>instructor</a:t>
            </a:r>
            <a:r>
              <a:rPr lang="en-US" altLang="en-US" sz="2300" dirty="0"/>
              <a:t> entity</a:t>
            </a:r>
          </a:p>
          <a:p>
            <a:pPr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/>
              <a:t>A </a:t>
            </a:r>
            <a:r>
              <a:rPr lang="en-US" altLang="en-US" sz="2300" b="1" dirty="0">
                <a:solidFill>
                  <a:srgbClr val="002060"/>
                </a:solidFill>
              </a:rPr>
              <a:t>relationship set</a:t>
            </a:r>
            <a:r>
              <a:rPr lang="en-US" altLang="en-US" sz="2300" dirty="0">
                <a:solidFill>
                  <a:srgbClr val="002060"/>
                </a:solidFill>
              </a:rPr>
              <a:t> </a:t>
            </a:r>
            <a:r>
              <a:rPr lang="en-US" altLang="en-US" sz="2300" dirty="0"/>
              <a:t>is a mathematical relation among </a:t>
            </a:r>
            <a:r>
              <a:rPr lang="en-US" altLang="en-US" sz="2300" i="1" dirty="0"/>
              <a:t>n</a:t>
            </a:r>
            <a:r>
              <a:rPr lang="en-US" altLang="en-US" sz="2300" dirty="0"/>
              <a:t> </a:t>
            </a:r>
            <a:r>
              <a:rPr lang="en-US" altLang="en-US" sz="2300" dirty="0">
                <a:sym typeface="Symbol" panose="05050102010706020507" pitchFamily="18" charset="2"/>
              </a:rPr>
              <a:t> 2 entities, each taken from entity sets</a:t>
            </a:r>
          </a:p>
          <a:p>
            <a:pPr>
              <a:buFont typeface="Monotype Sorts" charset="2"/>
              <a:buNone/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>
                <a:sym typeface="Symbol" panose="05050102010706020507" pitchFamily="18" charset="2"/>
              </a:rPr>
              <a:t>			{(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1</a:t>
            </a:r>
            <a:r>
              <a:rPr lang="en-US" altLang="en-US" sz="2300" dirty="0">
                <a:sym typeface="Symbol" panose="05050102010706020507" pitchFamily="18" charset="2"/>
              </a:rPr>
              <a:t>,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2</a:t>
            </a:r>
            <a:r>
              <a:rPr lang="en-US" altLang="en-US" sz="2300" dirty="0">
                <a:sym typeface="Symbol" panose="05050102010706020507" pitchFamily="18" charset="2"/>
              </a:rPr>
              <a:t>, …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i="1" baseline="-25000" dirty="0">
                <a:sym typeface="Symbol" panose="05050102010706020507" pitchFamily="18" charset="2"/>
              </a:rPr>
              <a:t>n</a:t>
            </a:r>
            <a:r>
              <a:rPr lang="en-US" altLang="en-US" sz="2300" dirty="0">
                <a:sym typeface="Symbol" panose="05050102010706020507" pitchFamily="18" charset="2"/>
              </a:rPr>
              <a:t>) |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1</a:t>
            </a:r>
            <a:r>
              <a:rPr lang="en-US" altLang="en-US" sz="2300" dirty="0">
                <a:sym typeface="Symbol" panose="05050102010706020507" pitchFamily="18" charset="2"/>
              </a:rPr>
              <a:t>  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1</a:t>
            </a:r>
            <a:r>
              <a:rPr lang="en-US" altLang="en-US" sz="2300" dirty="0">
                <a:sym typeface="Symbol" panose="05050102010706020507" pitchFamily="18" charset="2"/>
              </a:rPr>
              <a:t>,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2</a:t>
            </a:r>
            <a:r>
              <a:rPr lang="en-US" altLang="en-US" sz="2300" dirty="0">
                <a:sym typeface="Symbol" panose="05050102010706020507" pitchFamily="18" charset="2"/>
              </a:rPr>
              <a:t>  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2</a:t>
            </a:r>
            <a:r>
              <a:rPr lang="en-US" altLang="en-US" sz="2300" dirty="0">
                <a:sym typeface="Symbol" panose="05050102010706020507" pitchFamily="18" charset="2"/>
              </a:rPr>
              <a:t>, …,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i="1" baseline="-25000" dirty="0">
                <a:sym typeface="Symbol" panose="05050102010706020507" pitchFamily="18" charset="2"/>
              </a:rPr>
              <a:t>n</a:t>
            </a:r>
            <a:r>
              <a:rPr lang="en-US" altLang="en-US" sz="2300" dirty="0">
                <a:sym typeface="Symbol" panose="05050102010706020507" pitchFamily="18" charset="2"/>
              </a:rPr>
              <a:t>  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i="1" baseline="-25000" dirty="0">
                <a:sym typeface="Symbol" panose="05050102010706020507" pitchFamily="18" charset="2"/>
              </a:rPr>
              <a:t>n</a:t>
            </a:r>
            <a:r>
              <a:rPr lang="en-US" altLang="en-US" sz="2300" dirty="0">
                <a:sym typeface="Symbol" panose="05050102010706020507" pitchFamily="18" charset="2"/>
              </a:rPr>
              <a:t>}</a:t>
            </a:r>
            <a:br>
              <a:rPr lang="en-US" altLang="en-US" sz="2300" dirty="0">
                <a:sym typeface="Symbol" panose="05050102010706020507" pitchFamily="18" charset="2"/>
              </a:rPr>
            </a:br>
            <a:r>
              <a:rPr lang="en-US" altLang="en-US" sz="2300" dirty="0">
                <a:sym typeface="Symbol" panose="05050102010706020507" pitchFamily="18" charset="2"/>
              </a:rPr>
              <a:t/>
            </a:r>
            <a:br>
              <a:rPr lang="en-US" altLang="en-US" sz="2300" dirty="0">
                <a:sym typeface="Symbol" panose="05050102010706020507" pitchFamily="18" charset="2"/>
              </a:rPr>
            </a:br>
            <a:r>
              <a:rPr lang="en-US" altLang="en-US" sz="2300" dirty="0">
                <a:sym typeface="Symbol" panose="05050102010706020507" pitchFamily="18" charset="2"/>
              </a:rPr>
              <a:t>where (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1</a:t>
            </a:r>
            <a:r>
              <a:rPr lang="en-US" altLang="en-US" sz="2300" dirty="0">
                <a:sym typeface="Symbol" panose="05050102010706020507" pitchFamily="18" charset="2"/>
              </a:rPr>
              <a:t>,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2</a:t>
            </a:r>
            <a:r>
              <a:rPr lang="en-US" altLang="en-US" sz="2300" dirty="0">
                <a:sym typeface="Symbol" panose="05050102010706020507" pitchFamily="18" charset="2"/>
              </a:rPr>
              <a:t>, …,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i="1" baseline="-25000" dirty="0">
                <a:sym typeface="Symbol" panose="05050102010706020507" pitchFamily="18" charset="2"/>
              </a:rPr>
              <a:t>n</a:t>
            </a:r>
            <a:r>
              <a:rPr lang="en-US" altLang="en-US" sz="2300" dirty="0">
                <a:sym typeface="Symbol" panose="05050102010706020507" pitchFamily="18" charset="2"/>
              </a:rPr>
              <a:t>) is a relationship</a:t>
            </a:r>
          </a:p>
          <a:p>
            <a:pPr lvl="1"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>
                <a:ea typeface="ＭＳ Ｐゴシック" panose="020B0600070205080204" pitchFamily="34" charset="-128"/>
                <a:sym typeface="Symbol" panose="05050102010706020507" pitchFamily="18" charset="2"/>
              </a:rPr>
              <a:t>Example: </a:t>
            </a:r>
          </a:p>
          <a:p>
            <a:pPr lvl="1">
              <a:buFont typeface="Monotype Sorts" charset="2"/>
              <a:buNone/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>
                <a:ea typeface="ＭＳ Ｐゴシック" panose="020B0600070205080204" pitchFamily="34" charset="-128"/>
                <a:sym typeface="Symbol" panose="05050102010706020507" pitchFamily="18" charset="2"/>
              </a:rPr>
              <a:t>		        (44553,22222)  </a:t>
            </a:r>
            <a:r>
              <a:rPr lang="en-US" altLang="en-US" sz="2300" i="1" dirty="0">
                <a:ea typeface="ＭＳ Ｐゴシック" panose="020B0600070205080204" pitchFamily="34" charset="-128"/>
                <a:sym typeface="Symbol" panose="05050102010706020507" pitchFamily="18" charset="2"/>
              </a:rPr>
              <a:t>advisor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Relationship Sets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4484689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pPr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/>
              <a:t>A </a:t>
            </a:r>
            <a:r>
              <a:rPr lang="en-US" altLang="en-US" sz="2300" b="1" dirty="0">
                <a:solidFill>
                  <a:srgbClr val="002060"/>
                </a:solidFill>
              </a:rPr>
              <a:t>relationship</a:t>
            </a:r>
            <a:r>
              <a:rPr lang="en-US" altLang="en-US" sz="2300" dirty="0"/>
              <a:t> is an association among several entities</a:t>
            </a:r>
          </a:p>
          <a:p>
            <a:pPr>
              <a:buFont typeface="Monotype Sorts" charset="2"/>
              <a:buNone/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/>
              <a:t>	Example:</a:t>
            </a:r>
            <a:br>
              <a:rPr lang="en-US" altLang="en-US" sz="2300" dirty="0"/>
            </a:br>
            <a:r>
              <a:rPr lang="en-US" altLang="en-US" sz="2300" dirty="0"/>
              <a:t>	 44553 (</a:t>
            </a:r>
            <a:r>
              <a:rPr lang="en-US" altLang="en-US" sz="2300" dirty="0" err="1"/>
              <a:t>Peltier</a:t>
            </a:r>
            <a:r>
              <a:rPr lang="en-US" altLang="en-US" sz="2300" u="sng" dirty="0"/>
              <a:t>)</a:t>
            </a:r>
            <a:r>
              <a:rPr lang="en-US" altLang="en-US" sz="2300" dirty="0"/>
              <a:t> 	</a:t>
            </a:r>
            <a:r>
              <a:rPr lang="en-US" altLang="en-US" sz="2300" i="1" u="sng" dirty="0"/>
              <a:t>advisor</a:t>
            </a:r>
            <a:r>
              <a:rPr lang="en-US" altLang="en-US" sz="2300" dirty="0"/>
              <a:t>	 22222 (</a:t>
            </a:r>
            <a:r>
              <a:rPr lang="en-US" altLang="en-US" sz="2300" u="sng" dirty="0"/>
              <a:t>Einstein)</a:t>
            </a:r>
            <a:r>
              <a:rPr lang="en-US" altLang="en-US" sz="2300" dirty="0"/>
              <a:t> </a:t>
            </a:r>
            <a:r>
              <a:rPr lang="en-US" altLang="en-US" sz="2300" u="sng" dirty="0"/>
              <a:t/>
            </a:r>
            <a:br>
              <a:rPr lang="en-US" altLang="en-US" sz="2300" u="sng" dirty="0"/>
            </a:br>
            <a:r>
              <a:rPr lang="en-US" altLang="en-US" sz="2300" dirty="0"/>
              <a:t>	 </a:t>
            </a:r>
            <a:r>
              <a:rPr lang="en-US" altLang="en-US" sz="2300" i="1" dirty="0"/>
              <a:t>student</a:t>
            </a:r>
            <a:r>
              <a:rPr lang="en-US" altLang="en-US" sz="2300" dirty="0"/>
              <a:t> entity	relationship set	 </a:t>
            </a:r>
            <a:r>
              <a:rPr lang="en-US" altLang="en-US" sz="2300" i="1" dirty="0"/>
              <a:t>instructor</a:t>
            </a:r>
            <a:r>
              <a:rPr lang="en-US" altLang="en-US" sz="2300" dirty="0"/>
              <a:t> entity</a:t>
            </a:r>
          </a:p>
          <a:p>
            <a:pPr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/>
              <a:t>A </a:t>
            </a:r>
            <a:r>
              <a:rPr lang="en-US" altLang="en-US" sz="2300" b="1" dirty="0">
                <a:solidFill>
                  <a:srgbClr val="002060"/>
                </a:solidFill>
              </a:rPr>
              <a:t>relationship set</a:t>
            </a:r>
            <a:r>
              <a:rPr lang="en-US" altLang="en-US" sz="2300" dirty="0">
                <a:solidFill>
                  <a:srgbClr val="002060"/>
                </a:solidFill>
              </a:rPr>
              <a:t> </a:t>
            </a:r>
            <a:r>
              <a:rPr lang="en-US" altLang="en-US" sz="2300" dirty="0"/>
              <a:t>is a mathematical relation among </a:t>
            </a:r>
            <a:r>
              <a:rPr lang="en-US" altLang="en-US" sz="2300" i="1" dirty="0"/>
              <a:t>n</a:t>
            </a:r>
            <a:r>
              <a:rPr lang="en-US" altLang="en-US" sz="2300" dirty="0"/>
              <a:t> </a:t>
            </a:r>
            <a:r>
              <a:rPr lang="en-US" altLang="en-US" sz="2300" dirty="0">
                <a:sym typeface="Symbol" panose="05050102010706020507" pitchFamily="18" charset="2"/>
              </a:rPr>
              <a:t> 2 entities, each taken from entity sets</a:t>
            </a:r>
          </a:p>
          <a:p>
            <a:pPr>
              <a:buFont typeface="Monotype Sorts" charset="2"/>
              <a:buNone/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>
                <a:sym typeface="Symbol" panose="05050102010706020507" pitchFamily="18" charset="2"/>
              </a:rPr>
              <a:t>			{(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1</a:t>
            </a:r>
            <a:r>
              <a:rPr lang="en-US" altLang="en-US" sz="2300" dirty="0">
                <a:sym typeface="Symbol" panose="05050102010706020507" pitchFamily="18" charset="2"/>
              </a:rPr>
              <a:t>,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2</a:t>
            </a:r>
            <a:r>
              <a:rPr lang="en-US" altLang="en-US" sz="2300" dirty="0">
                <a:sym typeface="Symbol" panose="05050102010706020507" pitchFamily="18" charset="2"/>
              </a:rPr>
              <a:t>, …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i="1" baseline="-25000" dirty="0">
                <a:sym typeface="Symbol" panose="05050102010706020507" pitchFamily="18" charset="2"/>
              </a:rPr>
              <a:t>n</a:t>
            </a:r>
            <a:r>
              <a:rPr lang="en-US" altLang="en-US" sz="2300" dirty="0">
                <a:sym typeface="Symbol" panose="05050102010706020507" pitchFamily="18" charset="2"/>
              </a:rPr>
              <a:t>) |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1</a:t>
            </a:r>
            <a:r>
              <a:rPr lang="en-US" altLang="en-US" sz="2300" dirty="0">
                <a:sym typeface="Symbol" panose="05050102010706020507" pitchFamily="18" charset="2"/>
              </a:rPr>
              <a:t>  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1</a:t>
            </a:r>
            <a:r>
              <a:rPr lang="en-US" altLang="en-US" sz="2300" dirty="0">
                <a:sym typeface="Symbol" panose="05050102010706020507" pitchFamily="18" charset="2"/>
              </a:rPr>
              <a:t>,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2</a:t>
            </a:r>
            <a:r>
              <a:rPr lang="en-US" altLang="en-US" sz="2300" dirty="0">
                <a:sym typeface="Symbol" panose="05050102010706020507" pitchFamily="18" charset="2"/>
              </a:rPr>
              <a:t>  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2</a:t>
            </a:r>
            <a:r>
              <a:rPr lang="en-US" altLang="en-US" sz="2300" dirty="0">
                <a:sym typeface="Symbol" panose="05050102010706020507" pitchFamily="18" charset="2"/>
              </a:rPr>
              <a:t>, …,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i="1" baseline="-25000" dirty="0">
                <a:sym typeface="Symbol" panose="05050102010706020507" pitchFamily="18" charset="2"/>
              </a:rPr>
              <a:t>n</a:t>
            </a:r>
            <a:r>
              <a:rPr lang="en-US" altLang="en-US" sz="2300" dirty="0">
                <a:sym typeface="Symbol" panose="05050102010706020507" pitchFamily="18" charset="2"/>
              </a:rPr>
              <a:t>  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i="1" baseline="-25000" dirty="0">
                <a:sym typeface="Symbol" panose="05050102010706020507" pitchFamily="18" charset="2"/>
              </a:rPr>
              <a:t>n</a:t>
            </a:r>
            <a:r>
              <a:rPr lang="en-US" altLang="en-US" sz="2300" dirty="0">
                <a:sym typeface="Symbol" panose="05050102010706020507" pitchFamily="18" charset="2"/>
              </a:rPr>
              <a:t>}</a:t>
            </a:r>
            <a:br>
              <a:rPr lang="en-US" altLang="en-US" sz="2300" dirty="0">
                <a:sym typeface="Symbol" panose="05050102010706020507" pitchFamily="18" charset="2"/>
              </a:rPr>
            </a:br>
            <a:r>
              <a:rPr lang="en-US" altLang="en-US" sz="2300" dirty="0">
                <a:sym typeface="Symbol" panose="05050102010706020507" pitchFamily="18" charset="2"/>
              </a:rPr>
              <a:t/>
            </a:r>
            <a:br>
              <a:rPr lang="en-US" altLang="en-US" sz="2300" dirty="0">
                <a:sym typeface="Symbol" panose="05050102010706020507" pitchFamily="18" charset="2"/>
              </a:rPr>
            </a:br>
            <a:r>
              <a:rPr lang="en-US" altLang="en-US" sz="2300" dirty="0">
                <a:sym typeface="Symbol" panose="05050102010706020507" pitchFamily="18" charset="2"/>
              </a:rPr>
              <a:t>where (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1</a:t>
            </a:r>
            <a:r>
              <a:rPr lang="en-US" altLang="en-US" sz="2300" dirty="0">
                <a:sym typeface="Symbol" panose="05050102010706020507" pitchFamily="18" charset="2"/>
              </a:rPr>
              <a:t>,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baseline="-25000" dirty="0">
                <a:sym typeface="Symbol" panose="05050102010706020507" pitchFamily="18" charset="2"/>
              </a:rPr>
              <a:t>2</a:t>
            </a:r>
            <a:r>
              <a:rPr lang="en-US" altLang="en-US" sz="2300" dirty="0">
                <a:sym typeface="Symbol" panose="05050102010706020507" pitchFamily="18" charset="2"/>
              </a:rPr>
              <a:t>, …, </a:t>
            </a:r>
            <a:r>
              <a:rPr lang="en-US" altLang="en-US" sz="2300" i="1" dirty="0">
                <a:sym typeface="Symbol" panose="05050102010706020507" pitchFamily="18" charset="2"/>
              </a:rPr>
              <a:t>e</a:t>
            </a:r>
            <a:r>
              <a:rPr lang="en-US" altLang="en-US" sz="2300" i="1" baseline="-25000" dirty="0">
                <a:sym typeface="Symbol" panose="05050102010706020507" pitchFamily="18" charset="2"/>
              </a:rPr>
              <a:t>n</a:t>
            </a:r>
            <a:r>
              <a:rPr lang="en-US" altLang="en-US" sz="2300" dirty="0">
                <a:sym typeface="Symbol" panose="05050102010706020507" pitchFamily="18" charset="2"/>
              </a:rPr>
              <a:t>) is a relationship</a:t>
            </a:r>
          </a:p>
          <a:p>
            <a:pPr lvl="1"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>
                <a:ea typeface="ＭＳ Ｐゴシック" panose="020B0600070205080204" pitchFamily="34" charset="-128"/>
                <a:sym typeface="Symbol" panose="05050102010706020507" pitchFamily="18" charset="2"/>
              </a:rPr>
              <a:t>Example: </a:t>
            </a:r>
          </a:p>
          <a:p>
            <a:pPr lvl="1">
              <a:buFont typeface="Monotype Sorts" charset="2"/>
              <a:buNone/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>
                <a:ea typeface="ＭＳ Ｐゴシック" panose="020B0600070205080204" pitchFamily="34" charset="-128"/>
                <a:sym typeface="Symbol" panose="05050102010706020507" pitchFamily="18" charset="2"/>
              </a:rPr>
              <a:t>		        (44553,22222)  </a:t>
            </a:r>
            <a:r>
              <a:rPr lang="en-US" altLang="en-US" sz="2300" i="1" dirty="0">
                <a:ea typeface="ＭＳ Ｐゴシック" panose="020B0600070205080204" pitchFamily="34" charset="-128"/>
                <a:sym typeface="Symbol" panose="05050102010706020507" pitchFamily="18" charset="2"/>
              </a:rPr>
              <a:t>advisor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Relationship Sets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071504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pPr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/>
              <a:t>Example: we define the relationship set  advisor to denote the associations between students and the instructors who act as their advisors</a:t>
            </a:r>
          </a:p>
          <a:p>
            <a:pPr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/>
              <a:t>Pictorially, we draw a line between related entities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Relationship Sets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7</a:t>
            </a:fld>
            <a:endParaRPr lang="fr-FR" dirty="0"/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3184" y="3538631"/>
            <a:ext cx="4967024" cy="27563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7695922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pPr>
              <a:tabLst>
                <a:tab pos="1536700" algn="ctr"/>
                <a:tab pos="3543300" algn="ctr"/>
                <a:tab pos="5481638" algn="ctr"/>
              </a:tabLst>
            </a:pPr>
            <a:r>
              <a:rPr kumimoji="1" lang="en-US" altLang="en-US" sz="2400" dirty="0"/>
              <a:t>Diamonds represent relationship sets</a:t>
            </a:r>
            <a:endParaRPr lang="en-US" altLang="en-US" sz="2300" dirty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Relationship Sets-ER Diagram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8</a:t>
            </a:fld>
            <a:endParaRPr lang="fr-FR" dirty="0"/>
          </a:p>
        </p:txBody>
      </p:sp>
      <p:pic>
        <p:nvPicPr>
          <p:cNvPr id="21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4281" y="2926617"/>
            <a:ext cx="6006782" cy="1228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370787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pPr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/>
              <a:t>An attribute can also be associated with a relationship set.</a:t>
            </a:r>
          </a:p>
          <a:p>
            <a:pPr>
              <a:tabLst>
                <a:tab pos="1536700" algn="ctr"/>
                <a:tab pos="3543300" algn="ctr"/>
                <a:tab pos="5481638" algn="ctr"/>
              </a:tabLst>
            </a:pPr>
            <a:r>
              <a:rPr lang="en-US" altLang="en-US" sz="2300" dirty="0"/>
              <a:t>For instance, the advisor relationship set between entity sets instructor and student may have the attribute date which tracks when the student started being associated with the advisor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Relationship Sets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9</a:t>
            </a:fld>
            <a:endParaRPr lang="fr-FR" dirty="0"/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825" y="3335375"/>
            <a:ext cx="5993450" cy="28427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8098415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pPr>
              <a:tabLst>
                <a:tab pos="1536700" algn="ctr"/>
                <a:tab pos="3543300" algn="ctr"/>
                <a:tab pos="5481638" algn="ctr"/>
              </a:tabLst>
            </a:pPr>
            <a:r>
              <a:rPr kumimoji="1" lang="en-US" altLang="en-US" sz="2400" dirty="0"/>
              <a:t>Diamonds represent relationship sets</a:t>
            </a:r>
            <a:endParaRPr lang="en-US" altLang="en-US" sz="2300" dirty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Relationship Sets-ER Diagram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10</a:t>
            </a:fld>
            <a:endParaRPr lang="fr-FR" dirty="0"/>
          </a:p>
        </p:txBody>
      </p:sp>
      <p:pic>
        <p:nvPicPr>
          <p:cNvPr id="20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481" y="2673860"/>
            <a:ext cx="6932613" cy="201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2627554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Entity sets of a relationship need not be distinct</a:t>
            </a:r>
          </a:p>
          <a:p>
            <a:pPr lvl="1"/>
            <a:r>
              <a:rPr lang="en-US" sz="2300" dirty="0"/>
              <a:t>Each occurrence of an entity set plays a “</a:t>
            </a:r>
            <a:r>
              <a:rPr lang="en-US" sz="2300" b="1" dirty="0">
                <a:solidFill>
                  <a:schemeClr val="tx2"/>
                </a:solidFill>
              </a:rPr>
              <a:t>role</a:t>
            </a:r>
            <a:r>
              <a:rPr lang="en-US" sz="2300" dirty="0"/>
              <a:t>” in the relationship</a:t>
            </a:r>
          </a:p>
          <a:p>
            <a:r>
              <a:rPr lang="en-US" sz="2300" dirty="0"/>
              <a:t>The labels “</a:t>
            </a:r>
            <a:r>
              <a:rPr lang="en-US" sz="2300" dirty="0" err="1"/>
              <a:t>course_id</a:t>
            </a:r>
            <a:r>
              <a:rPr lang="en-US" sz="2300" dirty="0"/>
              <a:t>” and “</a:t>
            </a:r>
            <a:r>
              <a:rPr lang="en-US" sz="2300" dirty="0" err="1"/>
              <a:t>prereq_id</a:t>
            </a:r>
            <a:r>
              <a:rPr lang="en-US" sz="2300" dirty="0"/>
              <a:t>” are called roles.</a:t>
            </a:r>
          </a:p>
          <a:p>
            <a:pPr marL="0" indent="0">
              <a:buNone/>
            </a:pPr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Roles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11</a:t>
            </a:fld>
            <a:endParaRPr lang="fr-FR" dirty="0"/>
          </a:p>
        </p:txBody>
      </p:sp>
      <p:pic>
        <p:nvPicPr>
          <p:cNvPr id="18" name="Picture 1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520" y="3600918"/>
            <a:ext cx="5139204" cy="15160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146866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Binary relationship</a:t>
            </a:r>
          </a:p>
          <a:p>
            <a:pPr lvl="1"/>
            <a:r>
              <a:rPr lang="en-US" sz="1900" dirty="0" smtClean="0"/>
              <a:t>Involve </a:t>
            </a:r>
            <a:r>
              <a:rPr lang="en-US" sz="1900" dirty="0"/>
              <a:t>two entity sets (or degree two</a:t>
            </a:r>
            <a:r>
              <a:rPr lang="en-US" sz="1900" dirty="0" smtClean="0"/>
              <a:t>)</a:t>
            </a:r>
            <a:endParaRPr lang="en-US" sz="1900" dirty="0"/>
          </a:p>
          <a:p>
            <a:r>
              <a:rPr lang="en-US" sz="2300" dirty="0"/>
              <a:t>Relationships between more than two entity sets are </a:t>
            </a:r>
            <a:r>
              <a:rPr lang="en-US" sz="2300" dirty="0" smtClean="0"/>
              <a:t>rare</a:t>
            </a:r>
            <a:endParaRPr lang="en-US" sz="2300" dirty="0"/>
          </a:p>
          <a:p>
            <a:pPr lvl="1"/>
            <a:r>
              <a:rPr lang="en-US" sz="1900" dirty="0"/>
              <a:t>Example: students work on research projects under the guidance of an instructor. </a:t>
            </a:r>
          </a:p>
          <a:p>
            <a:pPr lvl="1"/>
            <a:r>
              <a:rPr lang="en-US" sz="1900" dirty="0"/>
              <a:t>relationship </a:t>
            </a:r>
            <a:r>
              <a:rPr lang="en-US" sz="1900" dirty="0" err="1"/>
              <a:t>proj_guide</a:t>
            </a:r>
            <a:r>
              <a:rPr lang="en-US" sz="1900" dirty="0"/>
              <a:t> is a ternary relationship between instructor, student, and project</a:t>
            </a:r>
          </a:p>
          <a:p>
            <a:pPr marL="0" indent="0">
              <a:buNone/>
            </a:pPr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Relationship Degree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12</a:t>
            </a:fld>
            <a:endParaRPr lang="fr-FR" dirty="0"/>
          </a:p>
        </p:txBody>
      </p:sp>
      <p:pic>
        <p:nvPicPr>
          <p:cNvPr id="19" name="Picture 20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1952" y="4095236"/>
            <a:ext cx="5098159" cy="19632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7954206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5400816" cy="4800600"/>
          </a:xfrm>
        </p:spPr>
        <p:txBody>
          <a:bodyPr/>
          <a:lstStyle/>
          <a:p>
            <a:r>
              <a:rPr lang="en-US" altLang="en-US" sz="2300" dirty="0"/>
              <a:t>Attribute types:</a:t>
            </a:r>
          </a:p>
          <a:p>
            <a:pPr lvl="1"/>
            <a:r>
              <a:rPr lang="en-US" altLang="en-US" sz="2300" b="1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Simple</a:t>
            </a:r>
            <a:r>
              <a:rPr lang="en-US" altLang="en-US" sz="2300" dirty="0">
                <a:ea typeface="ＭＳ Ｐゴシック" panose="020B0600070205080204" pitchFamily="34" charset="-128"/>
              </a:rPr>
              <a:t> and </a:t>
            </a:r>
            <a:r>
              <a:rPr lang="en-US" altLang="en-US" sz="2300" b="1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composite</a:t>
            </a:r>
            <a:r>
              <a:rPr lang="en-US" altLang="en-US" sz="2300" dirty="0">
                <a:ea typeface="ＭＳ Ｐゴシック" panose="020B0600070205080204" pitchFamily="34" charset="-128"/>
              </a:rPr>
              <a:t> </a:t>
            </a:r>
            <a:r>
              <a:rPr lang="en-US" altLang="en-US" sz="2300" dirty="0" smtClean="0">
                <a:ea typeface="ＭＳ Ｐゴシック" panose="020B0600070205080204" pitchFamily="34" charset="-128"/>
              </a:rPr>
              <a:t>attributes</a:t>
            </a:r>
          </a:p>
          <a:p>
            <a:pPr lvl="2"/>
            <a:r>
              <a:rPr lang="en-US" altLang="en-US" dirty="0"/>
              <a:t>Composite attributes allow us to divided attributes  into subparts</a:t>
            </a:r>
            <a:endParaRPr lang="en-US" altLang="en-US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en-US" sz="2300" b="1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Single-valued</a:t>
            </a:r>
            <a:r>
              <a:rPr lang="en-US" altLang="en-US" sz="2300" dirty="0">
                <a:ea typeface="ＭＳ Ｐゴシック" panose="020B0600070205080204" pitchFamily="34" charset="-128"/>
              </a:rPr>
              <a:t> and </a:t>
            </a:r>
            <a:r>
              <a:rPr lang="en-US" altLang="en-US" sz="2300" b="1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multivalued</a:t>
            </a:r>
            <a:r>
              <a:rPr lang="en-US" altLang="en-US" sz="2300" dirty="0">
                <a:ea typeface="ＭＳ Ｐゴシック" panose="020B0600070205080204" pitchFamily="34" charset="-128"/>
              </a:rPr>
              <a:t> attributes</a:t>
            </a:r>
          </a:p>
          <a:p>
            <a:pPr lvl="2"/>
            <a:r>
              <a:rPr lang="en-US" altLang="en-US" dirty="0">
                <a:ea typeface="ＭＳ Ｐゴシック" panose="020B0600070205080204" pitchFamily="34" charset="-128"/>
              </a:rPr>
              <a:t>Example: multivalued attribute: </a:t>
            </a:r>
            <a:r>
              <a:rPr lang="en-US" altLang="en-US" i="1" dirty="0" err="1">
                <a:ea typeface="ＭＳ Ｐゴシック" panose="020B0600070205080204" pitchFamily="34" charset="-128"/>
              </a:rPr>
              <a:t>phone_numbers</a:t>
            </a:r>
            <a:endParaRPr lang="en-US" altLang="en-US" i="1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en-US" sz="2300" b="1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Derived</a:t>
            </a:r>
            <a:r>
              <a:rPr lang="en-US" altLang="en-US" sz="2300" dirty="0">
                <a:ea typeface="ＭＳ Ｐゴシック" panose="020B0600070205080204" pitchFamily="34" charset="-128"/>
              </a:rPr>
              <a:t> attributes</a:t>
            </a:r>
          </a:p>
          <a:p>
            <a:pPr lvl="2"/>
            <a:r>
              <a:rPr lang="en-US" altLang="en-US" dirty="0">
                <a:ea typeface="ＭＳ Ｐゴシック" panose="020B0600070205080204" pitchFamily="34" charset="-128"/>
              </a:rPr>
              <a:t>Can be computed from other attributes</a:t>
            </a:r>
          </a:p>
          <a:p>
            <a:pPr lvl="2"/>
            <a:r>
              <a:rPr lang="en-US" altLang="en-US" dirty="0">
                <a:ea typeface="ＭＳ Ｐゴシック" panose="020B0600070205080204" pitchFamily="34" charset="-128"/>
              </a:rPr>
              <a:t>Example:  age, given </a:t>
            </a:r>
            <a:r>
              <a:rPr lang="en-US" altLang="en-US" dirty="0" err="1">
                <a:ea typeface="ＭＳ Ｐゴシック" panose="020B0600070205080204" pitchFamily="34" charset="-128"/>
              </a:rPr>
              <a:t>date_of_birth</a:t>
            </a:r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sz="2300" b="1" dirty="0">
                <a:solidFill>
                  <a:srgbClr val="002060"/>
                </a:solidFill>
              </a:rPr>
              <a:t>Domain</a:t>
            </a:r>
            <a:r>
              <a:rPr lang="en-US" altLang="en-US" sz="2300" dirty="0"/>
              <a:t> – the set of permitted values for each attribute </a:t>
            </a:r>
          </a:p>
          <a:p>
            <a:pPr marL="0" indent="0">
              <a:buNone/>
            </a:pPr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Attributes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13</a:t>
            </a:fld>
            <a:endParaRPr lang="fr-FR" dirty="0"/>
          </a:p>
        </p:txBody>
      </p:sp>
      <p:pic>
        <p:nvPicPr>
          <p:cNvPr id="20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3950" y="1751013"/>
            <a:ext cx="1916113" cy="4060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2303441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200" dirty="0"/>
              <a:t>Express the number of entities to which another entity can be associated via a relationship </a:t>
            </a:r>
            <a:r>
              <a:rPr lang="en-US" sz="2200" dirty="0" smtClean="0"/>
              <a:t>set</a:t>
            </a:r>
          </a:p>
          <a:p>
            <a:r>
              <a:rPr lang="en-US" sz="2200" b="1" dirty="0">
                <a:solidFill>
                  <a:schemeClr val="tx2"/>
                </a:solidFill>
              </a:rPr>
              <a:t>One to </a:t>
            </a:r>
            <a:r>
              <a:rPr lang="en-US" sz="2200" b="1" dirty="0" smtClean="0">
                <a:solidFill>
                  <a:schemeClr val="tx2"/>
                </a:solidFill>
              </a:rPr>
              <a:t>one</a:t>
            </a:r>
          </a:p>
          <a:p>
            <a:pPr lvl="1"/>
            <a:r>
              <a:rPr lang="en-US" sz="1900" dirty="0" smtClean="0"/>
              <a:t>An entity in A is associated with at most one entity in B, An </a:t>
            </a:r>
            <a:r>
              <a:rPr lang="en-US" sz="1900" dirty="0"/>
              <a:t>entity in </a:t>
            </a:r>
            <a:r>
              <a:rPr lang="en-US" sz="1900" dirty="0" smtClean="0"/>
              <a:t>B </a:t>
            </a:r>
            <a:r>
              <a:rPr lang="en-US" sz="1900" dirty="0"/>
              <a:t>is associated with at most one entity in </a:t>
            </a:r>
            <a:r>
              <a:rPr lang="en-US" sz="1900" dirty="0" smtClean="0"/>
              <a:t>A </a:t>
            </a:r>
            <a:endParaRPr lang="en-US" sz="1900" dirty="0"/>
          </a:p>
          <a:p>
            <a:r>
              <a:rPr lang="en-US" sz="2200" b="1" dirty="0">
                <a:solidFill>
                  <a:schemeClr val="tx2"/>
                </a:solidFill>
              </a:rPr>
              <a:t>One to </a:t>
            </a:r>
            <a:r>
              <a:rPr lang="en-US" sz="2200" b="1" dirty="0" smtClean="0">
                <a:solidFill>
                  <a:schemeClr val="tx2"/>
                </a:solidFill>
              </a:rPr>
              <a:t>many</a:t>
            </a:r>
          </a:p>
          <a:p>
            <a:pPr lvl="1"/>
            <a:r>
              <a:rPr lang="en-US" sz="1900" dirty="0"/>
              <a:t>An entity in A is associated with </a:t>
            </a:r>
            <a:r>
              <a:rPr lang="en-US" sz="1900" dirty="0" smtClean="0"/>
              <a:t>any number (0 or more) of entities </a:t>
            </a:r>
            <a:r>
              <a:rPr lang="en-US" sz="1900" dirty="0"/>
              <a:t>in </a:t>
            </a:r>
            <a:r>
              <a:rPr lang="en-US" sz="1900" dirty="0" smtClean="0"/>
              <a:t>B, An </a:t>
            </a:r>
            <a:r>
              <a:rPr lang="en-US" sz="1900" dirty="0"/>
              <a:t>entity in B is associated with at most one entity in A</a:t>
            </a:r>
          </a:p>
          <a:p>
            <a:r>
              <a:rPr lang="en-US" sz="2200" b="1" dirty="0">
                <a:solidFill>
                  <a:schemeClr val="tx2"/>
                </a:solidFill>
              </a:rPr>
              <a:t>Many to </a:t>
            </a:r>
            <a:r>
              <a:rPr lang="en-US" sz="2200" b="1" dirty="0" smtClean="0">
                <a:solidFill>
                  <a:schemeClr val="tx2"/>
                </a:solidFill>
              </a:rPr>
              <a:t>one</a:t>
            </a:r>
          </a:p>
          <a:p>
            <a:pPr lvl="1"/>
            <a:r>
              <a:rPr lang="en-US" sz="1900" dirty="0"/>
              <a:t>An entity in A is associated with at most one entity in B, </a:t>
            </a:r>
            <a:r>
              <a:rPr lang="en-US" sz="1900" dirty="0" smtClean="0"/>
              <a:t>An </a:t>
            </a:r>
            <a:r>
              <a:rPr lang="en-US" sz="1900" dirty="0"/>
              <a:t>entity in </a:t>
            </a:r>
            <a:r>
              <a:rPr lang="en-US" sz="1900" dirty="0" smtClean="0"/>
              <a:t>B </a:t>
            </a:r>
            <a:r>
              <a:rPr lang="en-US" sz="1900" dirty="0"/>
              <a:t>is associated with any number </a:t>
            </a:r>
            <a:r>
              <a:rPr lang="en-US" sz="1900" dirty="0" smtClean="0"/>
              <a:t>(0 or more) </a:t>
            </a:r>
            <a:r>
              <a:rPr lang="en-US" sz="1900" dirty="0"/>
              <a:t>of entities in </a:t>
            </a:r>
            <a:r>
              <a:rPr lang="en-US" sz="1900" dirty="0" smtClean="0"/>
              <a:t>A</a:t>
            </a:r>
            <a:endParaRPr lang="en-US" sz="1900" dirty="0"/>
          </a:p>
          <a:p>
            <a:r>
              <a:rPr lang="en-US" sz="2200" b="1" dirty="0" smtClean="0">
                <a:solidFill>
                  <a:schemeClr val="tx2"/>
                </a:solidFill>
              </a:rPr>
              <a:t>Many </a:t>
            </a:r>
            <a:r>
              <a:rPr lang="en-US" sz="2200" b="1" dirty="0">
                <a:solidFill>
                  <a:schemeClr val="tx2"/>
                </a:solidFill>
              </a:rPr>
              <a:t>to </a:t>
            </a:r>
            <a:r>
              <a:rPr lang="en-US" sz="2200" b="1" dirty="0" smtClean="0">
                <a:solidFill>
                  <a:schemeClr val="tx2"/>
                </a:solidFill>
              </a:rPr>
              <a:t>many</a:t>
            </a:r>
          </a:p>
          <a:p>
            <a:pPr lvl="1"/>
            <a:r>
              <a:rPr lang="en-US" sz="1900" dirty="0"/>
              <a:t>An entity in A is associated with any number </a:t>
            </a:r>
            <a:r>
              <a:rPr lang="en-US" sz="1900" dirty="0" smtClean="0"/>
              <a:t>(0 </a:t>
            </a:r>
            <a:r>
              <a:rPr lang="en-US" sz="1900" dirty="0"/>
              <a:t>or more) of entities in </a:t>
            </a:r>
            <a:r>
              <a:rPr lang="en-US" sz="1900" dirty="0" smtClean="0"/>
              <a:t>B, An </a:t>
            </a:r>
            <a:r>
              <a:rPr lang="en-US" sz="1900" dirty="0"/>
              <a:t>entity in B is associated with any number </a:t>
            </a:r>
            <a:r>
              <a:rPr lang="en-US" sz="1900" dirty="0" smtClean="0"/>
              <a:t>(0 </a:t>
            </a:r>
            <a:r>
              <a:rPr lang="en-US" sz="1900" dirty="0"/>
              <a:t>or more) of entities in A</a:t>
            </a:r>
          </a:p>
          <a:p>
            <a:pPr lvl="1"/>
            <a:endParaRPr lang="en-US" sz="2000" dirty="0"/>
          </a:p>
          <a:p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Mapping Cardinalities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14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334986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Mapping Cardinalities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15</a:t>
            </a:fld>
            <a:endParaRPr lang="fr-FR" dirty="0"/>
          </a:p>
        </p:txBody>
      </p:sp>
      <p:sp>
        <p:nvSpPr>
          <p:cNvPr id="21" name="Text Box 3"/>
          <p:cNvSpPr txBox="1">
            <a:spLocks noChangeArrowheads="1"/>
          </p:cNvSpPr>
          <p:nvPr/>
        </p:nvSpPr>
        <p:spPr bwMode="auto">
          <a:xfrm>
            <a:off x="2529459" y="5437886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700" dirty="0"/>
              <a:t>One to one</a:t>
            </a:r>
          </a:p>
        </p:txBody>
      </p:sp>
      <p:sp>
        <p:nvSpPr>
          <p:cNvPr id="22" name="Text Box 4"/>
          <p:cNvSpPr txBox="1">
            <a:spLocks noChangeArrowheads="1"/>
          </p:cNvSpPr>
          <p:nvPr/>
        </p:nvSpPr>
        <p:spPr bwMode="auto">
          <a:xfrm>
            <a:off x="6265696" y="5441855"/>
            <a:ext cx="148748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700" dirty="0"/>
              <a:t>One to many</a:t>
            </a:r>
          </a:p>
        </p:txBody>
      </p:sp>
      <p:pic>
        <p:nvPicPr>
          <p:cNvPr id="23" name="Picture 7" descr="7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1680" y="2151379"/>
            <a:ext cx="5939028" cy="30257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6755375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Mapping Cardinalities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16</a:t>
            </a:fld>
            <a:endParaRPr lang="fr-FR" dirty="0"/>
          </a:p>
        </p:txBody>
      </p:sp>
      <p:sp>
        <p:nvSpPr>
          <p:cNvPr id="18" name="Text Box 3"/>
          <p:cNvSpPr txBox="1">
            <a:spLocks noChangeArrowheads="1"/>
          </p:cNvSpPr>
          <p:nvPr/>
        </p:nvSpPr>
        <p:spPr bwMode="auto">
          <a:xfrm>
            <a:off x="2284921" y="5381181"/>
            <a:ext cx="1689671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700" dirty="0"/>
              <a:t>Many to one</a:t>
            </a:r>
          </a:p>
        </p:txBody>
      </p:sp>
      <p:sp>
        <p:nvSpPr>
          <p:cNvPr id="19" name="Text Box 4"/>
          <p:cNvSpPr txBox="1">
            <a:spLocks noChangeArrowheads="1"/>
          </p:cNvSpPr>
          <p:nvPr/>
        </p:nvSpPr>
        <p:spPr bwMode="auto">
          <a:xfrm>
            <a:off x="5962206" y="5419852"/>
            <a:ext cx="160972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700" dirty="0"/>
              <a:t>Many to many</a:t>
            </a:r>
          </a:p>
        </p:txBody>
      </p:sp>
      <p:pic>
        <p:nvPicPr>
          <p:cNvPr id="20" name="Picture 7" descr="7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313" y="2064556"/>
            <a:ext cx="5851524" cy="3053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5211031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We express cardinality constraints by drawing either a directed line (), signifying “one,” or an undirected line (—), signifying “many,” between the relationship set and the entity set</a:t>
            </a:r>
            <a:endParaRPr lang="en-US" sz="2000" dirty="0" smtClean="0"/>
          </a:p>
          <a:p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Cardinality Constraints-ER Diagram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17</a:t>
            </a:fld>
            <a:endParaRPr lang="fr-FR" dirty="0"/>
          </a:p>
        </p:txBody>
      </p:sp>
      <p:pic>
        <p:nvPicPr>
          <p:cNvPr id="18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418"/>
          <a:stretch>
            <a:fillRect/>
          </a:stretch>
        </p:blipFill>
        <p:spPr bwMode="auto">
          <a:xfrm>
            <a:off x="2050346" y="3374947"/>
            <a:ext cx="5534851" cy="1453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 Box 3"/>
          <p:cNvSpPr txBox="1">
            <a:spLocks noChangeArrowheads="1"/>
          </p:cNvSpPr>
          <p:nvPr/>
        </p:nvSpPr>
        <p:spPr bwMode="auto">
          <a:xfrm>
            <a:off x="4205859" y="5171186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700" dirty="0"/>
              <a:t>One to one</a:t>
            </a:r>
          </a:p>
        </p:txBody>
      </p:sp>
    </p:spTree>
    <p:extLst>
      <p:ext uri="{BB962C8B-B14F-4D97-AF65-F5344CB8AC3E}">
        <p14:creationId xmlns:p14="http://schemas.microsoft.com/office/powerpoint/2010/main" val="20142665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We express cardinality constraints by drawing either a directed line (), signifying “one,” or an undirected line (—), signifying “many,” between the relationship set and the entity set</a:t>
            </a:r>
            <a:endParaRPr lang="en-US" sz="2000" dirty="0" smtClean="0"/>
          </a:p>
          <a:p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Cardinality Constraints-ER Diagram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18</a:t>
            </a:fld>
            <a:endParaRPr lang="fr-FR" dirty="0"/>
          </a:p>
        </p:txBody>
      </p:sp>
      <p:pic>
        <p:nvPicPr>
          <p:cNvPr id="19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459" b="44698"/>
          <a:stretch>
            <a:fillRect/>
          </a:stretch>
        </p:blipFill>
        <p:spPr bwMode="auto">
          <a:xfrm>
            <a:off x="2264278" y="3099447"/>
            <a:ext cx="5152400" cy="14971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 Box 4"/>
          <p:cNvSpPr txBox="1">
            <a:spLocks noChangeArrowheads="1"/>
          </p:cNvSpPr>
          <p:nvPr/>
        </p:nvSpPr>
        <p:spPr bwMode="auto">
          <a:xfrm>
            <a:off x="4271796" y="4984655"/>
            <a:ext cx="148748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700" dirty="0"/>
              <a:t>One to many</a:t>
            </a:r>
          </a:p>
        </p:txBody>
      </p:sp>
    </p:spTree>
    <p:extLst>
      <p:ext uri="{BB962C8B-B14F-4D97-AF65-F5344CB8AC3E}">
        <p14:creationId xmlns:p14="http://schemas.microsoft.com/office/powerpoint/2010/main" val="423366906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We express cardinality constraints by drawing either a directed line (), signifying “one,” or an undirected line (—), signifying “many,” between the relationship set and the entity set</a:t>
            </a:r>
            <a:endParaRPr lang="en-US" sz="2000" dirty="0" smtClean="0"/>
          </a:p>
          <a:p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Cardinality Constraints-ER Diagram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19</a:t>
            </a:fld>
            <a:endParaRPr lang="fr-FR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xmlns="" id="{0F11A9D3-B35F-4D20-8A97-EE883DFF5759}"/>
              </a:ext>
            </a:extLst>
          </p:cNvPr>
          <p:cNvGrpSpPr/>
          <p:nvPr/>
        </p:nvGrpSpPr>
        <p:grpSpPr>
          <a:xfrm>
            <a:off x="2059749" y="3396054"/>
            <a:ext cx="5876163" cy="1814513"/>
            <a:chOff x="1999869" y="2532454"/>
            <a:chExt cx="5876163" cy="1814513"/>
          </a:xfrm>
        </p:grpSpPr>
        <p:pic>
          <p:nvPicPr>
            <p:cNvPr id="20" name="Picture 5"/>
            <p:cNvPicPr preferRelativeResize="0"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8164" b="6378"/>
            <a:stretch>
              <a:fillRect/>
            </a:stretch>
          </p:blipFill>
          <p:spPr bwMode="auto">
            <a:xfrm>
              <a:off x="1999869" y="2532454"/>
              <a:ext cx="5876163" cy="1814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" name="Line 6"/>
            <p:cNvSpPr>
              <a:spLocks noChangeShapeType="1"/>
            </p:cNvSpPr>
            <p:nvPr/>
          </p:nvSpPr>
          <p:spPr bwMode="auto">
            <a:xfrm>
              <a:off x="6361211" y="3472078"/>
              <a:ext cx="228600" cy="158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22" name="Text Box 3"/>
          <p:cNvSpPr txBox="1">
            <a:spLocks noChangeArrowheads="1"/>
          </p:cNvSpPr>
          <p:nvPr/>
        </p:nvSpPr>
        <p:spPr bwMode="auto">
          <a:xfrm>
            <a:off x="4152994" y="5381181"/>
            <a:ext cx="1689671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700" dirty="0"/>
              <a:t>Many to one</a:t>
            </a:r>
          </a:p>
        </p:txBody>
      </p:sp>
    </p:spTree>
    <p:extLst>
      <p:ext uri="{BB962C8B-B14F-4D97-AF65-F5344CB8AC3E}">
        <p14:creationId xmlns:p14="http://schemas.microsoft.com/office/powerpoint/2010/main" val="423366906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We express cardinality constraints by drawing either a directed line (), signifying “one,” or an undirected line (—), signifying “many,” between the relationship set and the entity set</a:t>
            </a:r>
            <a:endParaRPr lang="en-US" sz="2000" dirty="0" smtClean="0"/>
          </a:p>
          <a:p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Cardinality Constraints-ER Diagram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20</a:t>
            </a:fld>
            <a:endParaRPr lang="fr-FR" dirty="0"/>
          </a:p>
        </p:txBody>
      </p:sp>
      <p:pic>
        <p:nvPicPr>
          <p:cNvPr id="19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0984" y="3392014"/>
            <a:ext cx="6161088" cy="12607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 Box 4"/>
          <p:cNvSpPr txBox="1">
            <a:spLocks noChangeArrowheads="1"/>
          </p:cNvSpPr>
          <p:nvPr/>
        </p:nvSpPr>
        <p:spPr bwMode="auto">
          <a:xfrm>
            <a:off x="4096665" y="5053139"/>
            <a:ext cx="160972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700" dirty="0"/>
              <a:t>Many to many</a:t>
            </a:r>
          </a:p>
        </p:txBody>
      </p:sp>
    </p:spTree>
    <p:extLst>
      <p:ext uri="{BB962C8B-B14F-4D97-AF65-F5344CB8AC3E}">
        <p14:creationId xmlns:p14="http://schemas.microsoft.com/office/powerpoint/2010/main" val="423366906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b="1" dirty="0">
                <a:solidFill>
                  <a:schemeClr val="tx2"/>
                </a:solidFill>
              </a:rPr>
              <a:t>Total participation</a:t>
            </a:r>
            <a:r>
              <a:rPr lang="en-US" sz="2300" dirty="0"/>
              <a:t> (indicated by double line):  every entity in the entity set participates in at least one relationship in the relationship </a:t>
            </a:r>
            <a:r>
              <a:rPr lang="en-US" sz="2300" dirty="0" smtClean="0"/>
              <a:t>set</a:t>
            </a:r>
          </a:p>
          <a:p>
            <a:pPr lvl="1"/>
            <a:r>
              <a:rPr lang="en-US" sz="2000" dirty="0"/>
              <a:t>Example: participation of student  in advisor relation is total, every student must have an associated instructor</a:t>
            </a:r>
          </a:p>
          <a:p>
            <a:pPr marL="0" indent="0">
              <a:buNone/>
            </a:pPr>
            <a:endParaRPr lang="en-US" sz="2300" dirty="0" smtClean="0"/>
          </a:p>
          <a:p>
            <a:pPr marL="0" indent="0">
              <a:buNone/>
            </a:pPr>
            <a:endParaRPr lang="en-US" sz="2300" dirty="0"/>
          </a:p>
          <a:p>
            <a:pPr marL="0" indent="0">
              <a:buNone/>
            </a:pPr>
            <a:endParaRPr lang="en-US" sz="2300" dirty="0" smtClean="0"/>
          </a:p>
          <a:p>
            <a:pPr marL="0" indent="0">
              <a:buNone/>
            </a:pPr>
            <a:endParaRPr lang="en-US" sz="2300" dirty="0" smtClean="0"/>
          </a:p>
          <a:p>
            <a:r>
              <a:rPr lang="en-US" sz="2300" b="1" dirty="0">
                <a:solidFill>
                  <a:schemeClr val="tx2"/>
                </a:solidFill>
              </a:rPr>
              <a:t>Partial participation</a:t>
            </a:r>
            <a:r>
              <a:rPr lang="en-US" sz="2300" dirty="0"/>
              <a:t>:  some entities may not participate in any relationship in the relationship </a:t>
            </a:r>
            <a:r>
              <a:rPr lang="en-US" sz="2300" dirty="0" smtClean="0"/>
              <a:t>set</a:t>
            </a:r>
          </a:p>
          <a:p>
            <a:pPr lvl="1"/>
            <a:r>
              <a:rPr lang="en-US" sz="2000" dirty="0"/>
              <a:t>Example: participation of instructor in advisor is partial</a:t>
            </a:r>
            <a:endParaRPr lang="en-AU" sz="2000" dirty="0"/>
          </a:p>
          <a:p>
            <a:endParaRPr lang="en-US" sz="2300" dirty="0"/>
          </a:p>
          <a:p>
            <a:endParaRPr lang="en-US" sz="2300" dirty="0"/>
          </a:p>
          <a:p>
            <a:endParaRPr lang="en-US" sz="2300" dirty="0"/>
          </a:p>
          <a:p>
            <a:endParaRPr lang="en-US" sz="2300" dirty="0"/>
          </a:p>
          <a:p>
            <a:endParaRPr lang="en-US" sz="2300" dirty="0"/>
          </a:p>
          <a:p>
            <a:endParaRPr lang="en-US" sz="2300" dirty="0"/>
          </a:p>
          <a:p>
            <a:endParaRPr lang="en-US" sz="2300" dirty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Cardinality Constraints-ER Diagram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21</a:t>
            </a:fld>
            <a:endParaRPr lang="fr-FR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xmlns="" id="{7AD8FC18-4D82-4ED5-AF97-0EC81F628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753" y="3703280"/>
            <a:ext cx="5985366" cy="118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55468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A line may have an associated minimum and maximum cardinality, shown in the form </a:t>
            </a:r>
            <a:r>
              <a:rPr lang="en-US" sz="2300" dirty="0" err="1"/>
              <a:t>l..h</a:t>
            </a:r>
            <a:r>
              <a:rPr lang="en-US" sz="2300" dirty="0"/>
              <a:t>, where l is the minimum and h the maximum cardinality</a:t>
            </a:r>
          </a:p>
          <a:p>
            <a:pPr lvl="1"/>
            <a:r>
              <a:rPr lang="en-US" sz="2000" dirty="0"/>
              <a:t>A minimum value of 1 indicates total </a:t>
            </a:r>
            <a:r>
              <a:rPr lang="en-US" sz="2000" dirty="0" smtClean="0"/>
              <a:t>participation</a:t>
            </a:r>
            <a:endParaRPr lang="en-US" sz="2000" dirty="0"/>
          </a:p>
          <a:p>
            <a:pPr lvl="1"/>
            <a:r>
              <a:rPr lang="en-US" sz="2000" dirty="0"/>
              <a:t>A maximum value of 1 indicates that the entity participates  in at most one relationship</a:t>
            </a:r>
          </a:p>
          <a:p>
            <a:pPr lvl="1"/>
            <a:r>
              <a:rPr lang="en-US" sz="2000" dirty="0"/>
              <a:t>A maximum value of * indicates no limit</a:t>
            </a:r>
            <a:endParaRPr lang="en-AU" sz="20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Cardinality Constraints-ER Diagram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22</a:t>
            </a:fld>
            <a:endParaRPr lang="fr-FR" dirty="0"/>
          </a:p>
        </p:txBody>
      </p:sp>
      <p:pic>
        <p:nvPicPr>
          <p:cNvPr id="2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1457" y="4441033"/>
            <a:ext cx="5392484" cy="10537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774700" y="5702300"/>
            <a:ext cx="787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kumimoji="1" lang="en-US" altLang="en-US" sz="2000" b="1" dirty="0">
                <a:solidFill>
                  <a:schemeClr val="tx2"/>
                </a:solidFill>
              </a:rPr>
              <a:t>Instructor can advise 0 or more </a:t>
            </a:r>
            <a:r>
              <a:rPr kumimoji="1" lang="en-US" altLang="en-US" sz="2000" b="1" dirty="0" smtClean="0">
                <a:solidFill>
                  <a:schemeClr val="tx2"/>
                </a:solidFill>
              </a:rPr>
              <a:t>students  </a:t>
            </a:r>
          </a:p>
          <a:p>
            <a:pPr marL="0" lvl="1"/>
            <a:r>
              <a:rPr kumimoji="1" lang="en-US" altLang="en-US" sz="2000" b="1" dirty="0" smtClean="0">
                <a:solidFill>
                  <a:schemeClr val="tx2"/>
                </a:solidFill>
              </a:rPr>
              <a:t>A </a:t>
            </a:r>
            <a:r>
              <a:rPr kumimoji="1" lang="en-US" altLang="en-US" sz="2000" b="1" dirty="0">
                <a:solidFill>
                  <a:schemeClr val="tx2"/>
                </a:solidFill>
              </a:rPr>
              <a:t>student must have 1 advisor; cannot have multiple </a:t>
            </a:r>
            <a:r>
              <a:rPr kumimoji="1" lang="en-US" altLang="en-US" sz="2000" b="1" dirty="0" smtClean="0">
                <a:solidFill>
                  <a:schemeClr val="tx2"/>
                </a:solidFill>
              </a:rPr>
              <a:t>advisors</a:t>
            </a:r>
            <a:endParaRPr kumimoji="1" lang="en-US" altLang="en-US" sz="20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59809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We allow at most one arrow out of a ternary (or greater degree) relationship to indicate a cardinality constraint</a:t>
            </a:r>
          </a:p>
          <a:p>
            <a:pPr lvl="1"/>
            <a:r>
              <a:rPr lang="en-US" sz="2000" dirty="0"/>
              <a:t>For example, an arrow from </a:t>
            </a:r>
            <a:r>
              <a:rPr lang="en-US" sz="2000" dirty="0" err="1"/>
              <a:t>proj_guide</a:t>
            </a:r>
            <a:r>
              <a:rPr lang="en-US" sz="2000" dirty="0"/>
              <a:t> to instructor indicates each student has at most one guide for a project</a:t>
            </a:r>
          </a:p>
          <a:p>
            <a:r>
              <a:rPr lang="en-US" sz="2300" dirty="0"/>
              <a:t>If there is more than one arrow, there are two ways of defining the meaning.  </a:t>
            </a:r>
          </a:p>
          <a:p>
            <a:pPr lvl="1"/>
            <a:r>
              <a:rPr lang="en-US" sz="2000" dirty="0"/>
              <a:t>For example, a ternary relationship R between A, B and C with arrows to B and C could </a:t>
            </a:r>
            <a:r>
              <a:rPr lang="en-US" sz="2000" dirty="0" smtClean="0"/>
              <a:t>mean</a:t>
            </a:r>
          </a:p>
          <a:p>
            <a:pPr marL="1257300" lvl="2" indent="-457200">
              <a:buFont typeface="+mj-lt"/>
              <a:buAutoNum type="arabicPeriod"/>
            </a:pPr>
            <a:r>
              <a:rPr lang="en-US" dirty="0" smtClean="0"/>
              <a:t>Each A entity is associated with a unique entity from B and </a:t>
            </a:r>
            <a:r>
              <a:rPr lang="en-US" dirty="0"/>
              <a:t>C </a:t>
            </a:r>
          </a:p>
          <a:p>
            <a:pPr marL="1257300" lvl="2" indent="-457200">
              <a:buFont typeface="+mj-lt"/>
              <a:buAutoNum type="arabicPeriod"/>
            </a:pPr>
            <a:r>
              <a:rPr lang="en-US" dirty="0" smtClean="0"/>
              <a:t>Each </a:t>
            </a:r>
            <a:r>
              <a:rPr lang="en-US" dirty="0"/>
              <a:t>pair of entities from (A, B) is associated with a </a:t>
            </a:r>
            <a:r>
              <a:rPr lang="en-US" dirty="0" smtClean="0"/>
              <a:t>unique  </a:t>
            </a:r>
            <a:r>
              <a:rPr lang="en-US" dirty="0"/>
              <a:t>C entity, and each pair (A, C) is associated </a:t>
            </a:r>
            <a:r>
              <a:rPr lang="en-US" dirty="0" smtClean="0"/>
              <a:t>with </a:t>
            </a:r>
            <a:r>
              <a:rPr lang="en-US" dirty="0"/>
              <a:t>a unique B</a:t>
            </a:r>
          </a:p>
          <a:p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Cardinality Constraints-ER Diagram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23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2168170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By definition, individual entities are distinct.</a:t>
            </a:r>
          </a:p>
          <a:p>
            <a:r>
              <a:rPr lang="en-US" sz="2300" dirty="0"/>
              <a:t>From database perspective, the differences among them must be expressed in terms of their attributes.</a:t>
            </a:r>
          </a:p>
          <a:p>
            <a:endParaRPr lang="en-US" sz="2300" dirty="0" smtClean="0"/>
          </a:p>
          <a:p>
            <a:r>
              <a:rPr lang="en-US" sz="2300" dirty="0" smtClean="0"/>
              <a:t>The </a:t>
            </a:r>
            <a:r>
              <a:rPr lang="en-US" sz="2300" dirty="0"/>
              <a:t>values of the attribute values of an entity must be such that they can uniquely identify the entity.</a:t>
            </a:r>
          </a:p>
          <a:p>
            <a:pPr lvl="1"/>
            <a:r>
              <a:rPr lang="en-US" sz="2300" dirty="0"/>
              <a:t>No two entities in an entity set are allowed to have exactly the same value for all attributes.</a:t>
            </a:r>
          </a:p>
          <a:p>
            <a:endParaRPr lang="en-US" sz="2300" dirty="0" smtClean="0"/>
          </a:p>
          <a:p>
            <a:r>
              <a:rPr lang="en-US" sz="2300" dirty="0" smtClean="0"/>
              <a:t>A </a:t>
            </a:r>
            <a:r>
              <a:rPr lang="en-US" sz="2300" b="1" dirty="0" smtClean="0">
                <a:solidFill>
                  <a:schemeClr val="tx2"/>
                </a:solidFill>
              </a:rPr>
              <a:t>key</a:t>
            </a:r>
            <a:r>
              <a:rPr lang="en-US" sz="2300" dirty="0" smtClean="0"/>
              <a:t> </a:t>
            </a:r>
            <a:r>
              <a:rPr lang="en-US" sz="2300" dirty="0"/>
              <a:t>for an entity is a set of attributes that suffice to distinguish entities from each other</a:t>
            </a:r>
          </a:p>
          <a:p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Primary Key for Entity Sets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24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011443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Let </a:t>
            </a:r>
            <a:r>
              <a:rPr lang="en-US" sz="2300" dirty="0" smtClean="0"/>
              <a:t>K is a subset of attributes</a:t>
            </a:r>
            <a:endParaRPr lang="en-US" sz="2300" dirty="0"/>
          </a:p>
          <a:p>
            <a:r>
              <a:rPr lang="en-US" sz="2300" dirty="0"/>
              <a:t>K is a </a:t>
            </a:r>
            <a:r>
              <a:rPr lang="en-US" sz="2300" dirty="0" err="1"/>
              <a:t>superkey</a:t>
            </a:r>
            <a:r>
              <a:rPr lang="en-US" sz="2300" dirty="0"/>
              <a:t> </a:t>
            </a:r>
            <a:r>
              <a:rPr lang="en-US" sz="2300" dirty="0" smtClean="0"/>
              <a:t>if </a:t>
            </a:r>
            <a:r>
              <a:rPr lang="en-US" sz="2300" dirty="0"/>
              <a:t>values for K are sufficient to identify a unique tuple of each possible relation r(R) </a:t>
            </a:r>
          </a:p>
          <a:p>
            <a:pPr lvl="1"/>
            <a:r>
              <a:rPr lang="en-US" sz="2000" dirty="0" smtClean="0"/>
              <a:t>Example:  {ID} and {</a:t>
            </a:r>
            <a:r>
              <a:rPr lang="en-US" sz="2000" dirty="0" err="1" smtClean="0"/>
              <a:t>ID,name</a:t>
            </a:r>
            <a:r>
              <a:rPr lang="en-US" sz="2000" dirty="0" smtClean="0"/>
              <a:t>} are both </a:t>
            </a:r>
            <a:r>
              <a:rPr lang="en-US" sz="2000" dirty="0" err="1" smtClean="0"/>
              <a:t>superkeys</a:t>
            </a:r>
            <a:r>
              <a:rPr lang="en-US" sz="2000" dirty="0" smtClean="0"/>
              <a:t> of instructor</a:t>
            </a:r>
          </a:p>
          <a:p>
            <a:endParaRPr lang="en-US" sz="2300" dirty="0" smtClean="0"/>
          </a:p>
          <a:p>
            <a:r>
              <a:rPr lang="en-US" sz="2300" dirty="0" err="1" smtClean="0"/>
              <a:t>Superkey</a:t>
            </a:r>
            <a:r>
              <a:rPr lang="en-US" sz="2300" dirty="0" smtClean="0"/>
              <a:t> </a:t>
            </a:r>
            <a:r>
              <a:rPr lang="en-US" sz="2300" dirty="0"/>
              <a:t>K is a candidate key if K is </a:t>
            </a:r>
            <a:r>
              <a:rPr lang="en-US" sz="2300" dirty="0" smtClean="0"/>
              <a:t>minimal</a:t>
            </a:r>
          </a:p>
          <a:p>
            <a:pPr lvl="1"/>
            <a:r>
              <a:rPr lang="en-US" sz="2000" dirty="0" smtClean="0"/>
              <a:t>Example</a:t>
            </a:r>
            <a:r>
              <a:rPr lang="en-US" sz="2000" dirty="0"/>
              <a:t>:  {ID} is a candidate key for Instructor</a:t>
            </a:r>
          </a:p>
          <a:p>
            <a:endParaRPr lang="en-US" sz="2300" dirty="0" smtClean="0"/>
          </a:p>
          <a:p>
            <a:r>
              <a:rPr lang="en-US" sz="2300" dirty="0" smtClean="0"/>
              <a:t>One </a:t>
            </a:r>
            <a:r>
              <a:rPr lang="en-US" sz="2300" dirty="0"/>
              <a:t>of the candidate keys is selected to be the primary key</a:t>
            </a:r>
            <a:endParaRPr lang="en-AU" sz="23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Keys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25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6304877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 smtClean="0"/>
              <a:t>To distinguish among the various relationships of a relationship set we use the individual  primary keys of the entities in the relationship set</a:t>
            </a:r>
          </a:p>
          <a:p>
            <a:endParaRPr lang="en-US" sz="2300" dirty="0" smtClean="0"/>
          </a:p>
          <a:p>
            <a:r>
              <a:rPr lang="en-US" sz="2300" dirty="0" smtClean="0"/>
              <a:t>Let </a:t>
            </a:r>
            <a:r>
              <a:rPr lang="en-US" sz="2300" dirty="0"/>
              <a:t>R be a relationship set involving entity sets E1, E2, .. En</a:t>
            </a:r>
          </a:p>
          <a:p>
            <a:r>
              <a:rPr lang="en-US" sz="2300" dirty="0"/>
              <a:t>The primary key for R is consists of the  union of the primary keys of entity sets E1, E2, ..En</a:t>
            </a:r>
          </a:p>
          <a:p>
            <a:pPr lvl="1"/>
            <a:r>
              <a:rPr lang="en-US" sz="2000" dirty="0"/>
              <a:t>If the relationship set R has attributes  a1, a2, .., am associated with it, then the  primary key of R  also includes the attributes  a1, a2, .., am </a:t>
            </a:r>
          </a:p>
          <a:p>
            <a:endParaRPr lang="en-US" sz="2300" dirty="0" smtClean="0"/>
          </a:p>
          <a:p>
            <a:r>
              <a:rPr lang="en-US" sz="2300" dirty="0" smtClean="0"/>
              <a:t>Example</a:t>
            </a:r>
            <a:r>
              <a:rPr lang="en-US" sz="2300" dirty="0"/>
              <a:t>: relationship set “advisor</a:t>
            </a:r>
            <a:r>
              <a:rPr lang="en-US" sz="2300" dirty="0" smtClean="0"/>
              <a:t>”</a:t>
            </a:r>
            <a:endParaRPr lang="en-US" sz="2300" dirty="0"/>
          </a:p>
          <a:p>
            <a:pPr lvl="1"/>
            <a:r>
              <a:rPr lang="en-US" sz="2000" dirty="0"/>
              <a:t>The primary key  consists of instructor.ID and student.ID</a:t>
            </a:r>
          </a:p>
          <a:p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Primary Key for Relationship Sets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26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750005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altLang="en-US" sz="2300" dirty="0"/>
              <a:t>The choice of the primary key for a relationship set depends on  the mapping cardinality of the relationship </a:t>
            </a:r>
            <a:r>
              <a:rPr lang="en-US" altLang="en-US" sz="2300" dirty="0" smtClean="0"/>
              <a:t>set</a:t>
            </a:r>
            <a:endParaRPr lang="en-US" sz="2300" dirty="0" smtClean="0"/>
          </a:p>
          <a:p>
            <a:r>
              <a:rPr lang="en-US" sz="2300" dirty="0"/>
              <a:t>Many-to-Many </a:t>
            </a:r>
            <a:r>
              <a:rPr lang="en-US" sz="2300" dirty="0" smtClean="0"/>
              <a:t>relationships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dirty="0"/>
              <a:t>preceding union of the primary keys is a minimal </a:t>
            </a:r>
            <a:r>
              <a:rPr lang="en-US" sz="2000" dirty="0" err="1"/>
              <a:t>superkey</a:t>
            </a:r>
            <a:r>
              <a:rPr lang="en-US" sz="2000" dirty="0"/>
              <a:t> and is chosen  as the primary </a:t>
            </a:r>
            <a:r>
              <a:rPr lang="en-US" sz="2000" dirty="0" smtClean="0"/>
              <a:t>key</a:t>
            </a:r>
            <a:endParaRPr lang="en-US" sz="2000" dirty="0"/>
          </a:p>
          <a:p>
            <a:r>
              <a:rPr lang="en-US" sz="2300" dirty="0"/>
              <a:t>One-to-Many relationships </a:t>
            </a:r>
            <a:endParaRPr lang="en-US" sz="2300" dirty="0" smtClean="0"/>
          </a:p>
          <a:p>
            <a:pPr lvl="1"/>
            <a:r>
              <a:rPr lang="en-US" sz="2000" dirty="0" smtClean="0"/>
              <a:t>The </a:t>
            </a:r>
            <a:r>
              <a:rPr lang="en-US" sz="2000" dirty="0"/>
              <a:t>primary key of the “Many” side is a minimal </a:t>
            </a:r>
            <a:r>
              <a:rPr lang="en-US" sz="2000" dirty="0" err="1"/>
              <a:t>superkey</a:t>
            </a:r>
            <a:r>
              <a:rPr lang="en-US" sz="2000" dirty="0"/>
              <a:t> and is used as the primary </a:t>
            </a:r>
            <a:r>
              <a:rPr lang="en-US" sz="2000" dirty="0" smtClean="0"/>
              <a:t>key</a:t>
            </a:r>
            <a:endParaRPr lang="en-US" sz="2000" dirty="0"/>
          </a:p>
          <a:p>
            <a:r>
              <a:rPr lang="en-US" sz="2300" dirty="0"/>
              <a:t>Many-to-one </a:t>
            </a:r>
            <a:r>
              <a:rPr lang="en-US" sz="2300" dirty="0" smtClean="0"/>
              <a:t>relationships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dirty="0"/>
              <a:t>primary key of the “Many” side is a minimal </a:t>
            </a:r>
            <a:r>
              <a:rPr lang="en-US" sz="2000" dirty="0" err="1"/>
              <a:t>superkey</a:t>
            </a:r>
            <a:r>
              <a:rPr lang="en-US" sz="2000" dirty="0"/>
              <a:t> and is used as the primary </a:t>
            </a:r>
            <a:r>
              <a:rPr lang="en-US" sz="2000" dirty="0" smtClean="0"/>
              <a:t>key</a:t>
            </a:r>
            <a:endParaRPr lang="en-US" sz="2000" dirty="0"/>
          </a:p>
          <a:p>
            <a:r>
              <a:rPr lang="en-US" sz="2300" dirty="0"/>
              <a:t>One-to-one </a:t>
            </a:r>
            <a:r>
              <a:rPr lang="en-US" sz="2300" dirty="0" smtClean="0"/>
              <a:t>relationships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dirty="0"/>
              <a:t>primary key of either one of the participating entity sets forms a minimal </a:t>
            </a:r>
            <a:r>
              <a:rPr lang="en-US" sz="2000" dirty="0" err="1"/>
              <a:t>superkey</a:t>
            </a:r>
            <a:r>
              <a:rPr lang="en-US" sz="2000" dirty="0"/>
              <a:t>, and either one can be chosen as the primary </a:t>
            </a:r>
            <a:r>
              <a:rPr lang="en-US" sz="2000" dirty="0" smtClean="0"/>
              <a:t>key</a:t>
            </a:r>
            <a:endParaRPr lang="en-US" sz="2000" dirty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AU" dirty="0" smtClean="0"/>
              <a:t>Primary </a:t>
            </a:r>
            <a:r>
              <a:rPr lang="en-AU" dirty="0" smtClean="0"/>
              <a:t>Key for </a:t>
            </a:r>
            <a:r>
              <a:rPr lang="en-AU" dirty="0" smtClean="0"/>
              <a:t>Relationship Sets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27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0031261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altLang="en-US" sz="2300" dirty="0"/>
              <a:t>A </a:t>
            </a:r>
            <a:r>
              <a:rPr lang="en-US" altLang="en-US" sz="2300" b="1" dirty="0">
                <a:solidFill>
                  <a:srgbClr val="002060"/>
                </a:solidFill>
              </a:rPr>
              <a:t>weak entity set</a:t>
            </a:r>
            <a:r>
              <a:rPr lang="en-US" altLang="en-US" sz="2300" dirty="0">
                <a:solidFill>
                  <a:srgbClr val="002060"/>
                </a:solidFill>
              </a:rPr>
              <a:t> </a:t>
            </a:r>
            <a:r>
              <a:rPr lang="en-US" altLang="en-US" sz="2300" dirty="0"/>
              <a:t>is one whose existence is dependent on another entity, called its </a:t>
            </a:r>
            <a:r>
              <a:rPr lang="en-US" altLang="en-US" sz="2300" b="1" dirty="0">
                <a:solidFill>
                  <a:srgbClr val="002060"/>
                </a:solidFill>
              </a:rPr>
              <a:t>identifying entity</a:t>
            </a:r>
            <a:endParaRPr lang="en-US" altLang="en-US" sz="2300" dirty="0">
              <a:solidFill>
                <a:srgbClr val="002060"/>
              </a:solidFill>
            </a:endParaRPr>
          </a:p>
          <a:p>
            <a:r>
              <a:rPr lang="en-US" altLang="en-US" sz="2300" dirty="0"/>
              <a:t>Instead of associating a primary key with a weak entity, we use </a:t>
            </a:r>
            <a:r>
              <a:rPr lang="en-US" altLang="en-US" sz="2300" dirty="0" smtClean="0"/>
              <a:t>the primary key of identifying </a:t>
            </a:r>
            <a:r>
              <a:rPr lang="en-US" altLang="en-US" sz="2300" dirty="0"/>
              <a:t>entity, along with extra attributes called </a:t>
            </a:r>
            <a:r>
              <a:rPr lang="en-US" altLang="en-US" sz="2300" b="1" dirty="0">
                <a:solidFill>
                  <a:srgbClr val="002060"/>
                </a:solidFill>
              </a:rPr>
              <a:t>discriminator</a:t>
            </a:r>
            <a:r>
              <a:rPr lang="en-US" altLang="en-US" sz="2300" dirty="0">
                <a:solidFill>
                  <a:srgbClr val="002060"/>
                </a:solidFill>
              </a:rPr>
              <a:t> </a:t>
            </a:r>
            <a:r>
              <a:rPr lang="en-US" altLang="en-US" sz="2300" dirty="0"/>
              <a:t>to uniquely identify a weak </a:t>
            </a:r>
            <a:r>
              <a:rPr lang="en-US" altLang="en-US" sz="2300" dirty="0" smtClean="0"/>
              <a:t>entity</a:t>
            </a:r>
          </a:p>
          <a:p>
            <a:r>
              <a:rPr lang="en-US" altLang="en-US" sz="2300" dirty="0" smtClean="0"/>
              <a:t>The </a:t>
            </a:r>
            <a:r>
              <a:rPr lang="en-US" altLang="en-US" sz="2300" dirty="0"/>
              <a:t>identifying entity set is said to </a:t>
            </a:r>
            <a:r>
              <a:rPr lang="en-US" altLang="en-US" sz="2300" b="1" dirty="0">
                <a:solidFill>
                  <a:srgbClr val="002060"/>
                </a:solidFill>
              </a:rPr>
              <a:t>own</a:t>
            </a:r>
            <a:r>
              <a:rPr lang="en-US" altLang="en-US" sz="2300" dirty="0"/>
              <a:t> the weak entity set that it </a:t>
            </a:r>
            <a:r>
              <a:rPr lang="en-US" altLang="en-US" sz="2300" dirty="0" smtClean="0"/>
              <a:t>identifies</a:t>
            </a:r>
            <a:endParaRPr lang="en-US" altLang="en-US" sz="2300" dirty="0"/>
          </a:p>
          <a:p>
            <a:r>
              <a:rPr lang="en-US" altLang="en-US" sz="2300" dirty="0"/>
              <a:t>The relationship associating the weak entity set with the identifying entity set is called the </a:t>
            </a:r>
            <a:r>
              <a:rPr lang="en-US" altLang="en-US" sz="2300" b="1" dirty="0">
                <a:solidFill>
                  <a:srgbClr val="002060"/>
                </a:solidFill>
              </a:rPr>
              <a:t>identifying </a:t>
            </a:r>
            <a:r>
              <a:rPr lang="en-US" altLang="en-US" sz="2300" b="1" dirty="0" smtClean="0">
                <a:solidFill>
                  <a:srgbClr val="002060"/>
                </a:solidFill>
              </a:rPr>
              <a:t>relationship</a:t>
            </a:r>
            <a:endParaRPr lang="en-US" altLang="en-US" sz="2300" dirty="0"/>
          </a:p>
          <a:p>
            <a:endParaRPr lang="en-US" altLang="en-US" sz="2300" dirty="0" smtClean="0"/>
          </a:p>
          <a:p>
            <a:r>
              <a:rPr lang="en-US" altLang="en-US" sz="2300" dirty="0" smtClean="0"/>
              <a:t>An </a:t>
            </a:r>
            <a:r>
              <a:rPr lang="en-US" altLang="en-US" sz="2300" dirty="0"/>
              <a:t>entity set that is not a weak entity set is termed a </a:t>
            </a:r>
            <a:r>
              <a:rPr lang="en-US" altLang="en-US" sz="2300" b="1" dirty="0">
                <a:solidFill>
                  <a:srgbClr val="002060"/>
                </a:solidFill>
              </a:rPr>
              <a:t>strong entity set</a:t>
            </a:r>
            <a:r>
              <a:rPr lang="en-US" altLang="en-US" sz="2300" dirty="0">
                <a:solidFill>
                  <a:srgbClr val="000099"/>
                </a:solidFill>
              </a:rPr>
              <a:t>.</a:t>
            </a:r>
          </a:p>
          <a:p>
            <a:endParaRPr lang="en-AU" sz="23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US" dirty="0" smtClean="0"/>
              <a:t>Weak/Strong Entity Sets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28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2936588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sz="2300" dirty="0"/>
              <a:t>In E-R diagrams, a weak entity set is depicted via a double rectangle.</a:t>
            </a:r>
          </a:p>
          <a:p>
            <a:r>
              <a:rPr lang="en-US" sz="2300" dirty="0"/>
              <a:t>We underline the discriminator of a weak entity set  with a dashed line.</a:t>
            </a:r>
          </a:p>
          <a:p>
            <a:r>
              <a:rPr lang="en-US" sz="2300" dirty="0"/>
              <a:t>The relationship set connecting the  weak entity set to the identifying strong entity set is depicted by a double diamond. </a:t>
            </a:r>
          </a:p>
          <a:p>
            <a:r>
              <a:rPr lang="en-US" sz="2300" dirty="0"/>
              <a:t>Primary key for section – (</a:t>
            </a:r>
            <a:r>
              <a:rPr lang="en-US" sz="2300" dirty="0" err="1"/>
              <a:t>course_id</a:t>
            </a:r>
            <a:r>
              <a:rPr lang="en-US" sz="2300" dirty="0"/>
              <a:t>, </a:t>
            </a:r>
            <a:r>
              <a:rPr lang="en-US" sz="2300" dirty="0" err="1"/>
              <a:t>sec_id</a:t>
            </a:r>
            <a:r>
              <a:rPr lang="en-US" sz="2300" dirty="0"/>
              <a:t>, semester, year)</a:t>
            </a:r>
          </a:p>
          <a:p>
            <a:endParaRPr lang="en-AU" sz="24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US" dirty="0" smtClean="0"/>
              <a:t>Weak Entity Sets-ER Diagram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29</a:t>
            </a:fld>
            <a:endParaRPr lang="fr-FR" dirty="0"/>
          </a:p>
        </p:txBody>
      </p:sp>
      <p:pic>
        <p:nvPicPr>
          <p:cNvPr id="18" name="Picture 17">
            <a:extLst>
              <a:ext uri="{FF2B5EF4-FFF2-40B4-BE49-F238E27FC236}">
                <a16:creationId xmlns="" xmlns:a16="http://schemas.microsoft.com/office/drawing/2014/main" id="{4DAEF5BF-475C-4A31-832E-515CEDA7E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7965" y="4737100"/>
            <a:ext cx="6591616" cy="1351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4790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US" altLang="en-US" sz="2300" dirty="0"/>
              <a:t>We model the fact that each student has an associated department using a relationship set </a:t>
            </a:r>
            <a:r>
              <a:rPr lang="en-US" altLang="en-US" sz="2300" dirty="0" err="1"/>
              <a:t>stud_dept</a:t>
            </a:r>
            <a:endParaRPr lang="en-US" altLang="en-US" sz="2300" dirty="0"/>
          </a:p>
          <a:p>
            <a:r>
              <a:rPr lang="en-US" altLang="en-US" sz="2300" dirty="0"/>
              <a:t>The attribute </a:t>
            </a:r>
            <a:r>
              <a:rPr lang="en-US" altLang="en-US" sz="2300" dirty="0" err="1"/>
              <a:t>dept_name</a:t>
            </a:r>
            <a:r>
              <a:rPr lang="en-US" altLang="en-US" sz="2300" dirty="0"/>
              <a:t> in student below replicates information present in the relationship and is therefore  </a:t>
            </a:r>
            <a:r>
              <a:rPr lang="en-US" altLang="en-US" sz="2300" dirty="0" smtClean="0"/>
              <a:t>redundant and </a:t>
            </a:r>
            <a:r>
              <a:rPr lang="en-US" altLang="en-US" sz="2300" dirty="0"/>
              <a:t>needs to be removed.</a:t>
            </a:r>
          </a:p>
          <a:p>
            <a:r>
              <a:rPr lang="en-US" altLang="en-US" sz="2300" dirty="0"/>
              <a:t>BUT: when converting back to tables, in some cases the attribute gets reintroduced, as we will see </a:t>
            </a:r>
            <a:r>
              <a:rPr lang="en-US" altLang="en-US" sz="2300" dirty="0" smtClean="0"/>
              <a:t>later</a:t>
            </a:r>
            <a:endParaRPr lang="en-AU" sz="2300" dirty="0" smtClean="0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US" dirty="0" smtClean="0"/>
              <a:t>Redundant Attributes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30</a:t>
            </a:fld>
            <a:endParaRPr lang="fr-FR" dirty="0"/>
          </a:p>
        </p:txBody>
      </p:sp>
      <p:pic>
        <p:nvPicPr>
          <p:cNvPr id="18" name="Picture 17">
            <a:extLst>
              <a:ext uri="{FF2B5EF4-FFF2-40B4-BE49-F238E27FC236}">
                <a16:creationId xmlns="" xmlns:a16="http://schemas.microsoft.com/office/drawing/2014/main" id="{31DC5132-C467-4720-85B4-2A9134371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3579" y="4325271"/>
            <a:ext cx="5560258" cy="208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25766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8438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8446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7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8444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5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8442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  <p:sp>
            <p:nvSpPr>
              <p:cNvPr id="18443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AU"/>
              </a:p>
            </p:txBody>
          </p:sp>
        </p:grpSp>
      </p:grpSp>
      <p:sp>
        <p:nvSpPr>
          <p:cNvPr id="18436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r>
              <a:rPr lang="en-US" dirty="0" smtClean="0"/>
              <a:t>ER Diagram of University</a:t>
            </a:r>
            <a:endParaRPr lang="en-US" dirty="0"/>
          </a:p>
        </p:txBody>
      </p:sp>
      <p:sp>
        <p:nvSpPr>
          <p:cNvPr id="18437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 smtClean="0">
                <a:solidFill>
                  <a:schemeClr val="tx1"/>
                </a:solidFill>
                <a:latin typeface="Arial" charset="0"/>
              </a:rPr>
              <a:t>ER Model</a:t>
            </a:r>
            <a:endParaRPr lang="en-US" sz="2800" i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31</a:t>
            </a:fld>
            <a:endParaRPr lang="fr-FR" dirty="0"/>
          </a:p>
        </p:txBody>
      </p:sp>
      <p:pic>
        <p:nvPicPr>
          <p:cNvPr id="18" name="Picture 17">
            <a:extLst>
              <a:ext uri="{FF2B5EF4-FFF2-40B4-BE49-F238E27FC236}">
                <a16:creationId xmlns="" xmlns:a16="http://schemas.microsoft.com/office/drawing/2014/main" id="{F52F3C4F-CF32-4104-A221-A27D4040C2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-2934"/>
          <a:stretch/>
        </p:blipFill>
        <p:spPr>
          <a:xfrm>
            <a:off x="2186895" y="1752602"/>
            <a:ext cx="4836960" cy="443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1119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Espace réservé du contenu 2"/>
          <p:cNvSpPr>
            <a:spLocks noGrp="1"/>
          </p:cNvSpPr>
          <p:nvPr>
            <p:ph idx="4294967295"/>
          </p:nvPr>
        </p:nvSpPr>
        <p:spPr>
          <a:xfrm>
            <a:off x="357188" y="1676400"/>
            <a:ext cx="8329612" cy="4800600"/>
          </a:xfrm>
        </p:spPr>
        <p:txBody>
          <a:bodyPr/>
          <a:lstStyle/>
          <a:p>
            <a:r>
              <a:rPr lang="en-AU" sz="2300" dirty="0" smtClean="0"/>
              <a:t>Some slides and figures are collected from</a:t>
            </a:r>
          </a:p>
          <a:p>
            <a:pPr lvl="1"/>
            <a:r>
              <a:rPr lang="en-AU" sz="1900" dirty="0"/>
              <a:t>https://www.db-book.com/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0" y="633413"/>
            <a:ext cx="8143875" cy="273050"/>
            <a:chOff x="0" y="480"/>
            <a:chExt cx="5130" cy="172"/>
          </a:xfrm>
        </p:grpSpPr>
        <p:sp>
          <p:nvSpPr>
            <p:cNvPr id="19463" name="Line 4"/>
            <p:cNvSpPr>
              <a:spLocks noChangeShapeType="1"/>
            </p:cNvSpPr>
            <p:nvPr/>
          </p:nvSpPr>
          <p:spPr bwMode="auto">
            <a:xfrm>
              <a:off x="0" y="480"/>
              <a:ext cx="503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AU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4320" y="480"/>
              <a:ext cx="230" cy="172"/>
              <a:chOff x="24000" y="3168"/>
              <a:chExt cx="1248" cy="1248"/>
            </a:xfrm>
          </p:grpSpPr>
          <p:sp>
            <p:nvSpPr>
              <p:cNvPr id="19471" name="AutoShape 6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9472" name="AutoShape 7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4" name="Group 8"/>
            <p:cNvGrpSpPr>
              <a:grpSpLocks/>
            </p:cNvGrpSpPr>
            <p:nvPr/>
          </p:nvGrpSpPr>
          <p:grpSpPr bwMode="auto">
            <a:xfrm>
              <a:off x="4610" y="480"/>
              <a:ext cx="230" cy="172"/>
              <a:chOff x="24000" y="3168"/>
              <a:chExt cx="1248" cy="1248"/>
            </a:xfrm>
          </p:grpSpPr>
          <p:sp>
            <p:nvSpPr>
              <p:cNvPr id="19469" name="AutoShape 9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9470" name="AutoShape 10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5" name="Group 11"/>
            <p:cNvGrpSpPr>
              <a:grpSpLocks/>
            </p:cNvGrpSpPr>
            <p:nvPr/>
          </p:nvGrpSpPr>
          <p:grpSpPr bwMode="auto">
            <a:xfrm>
              <a:off x="4900" y="480"/>
              <a:ext cx="230" cy="172"/>
              <a:chOff x="24000" y="3168"/>
              <a:chExt cx="1248" cy="1248"/>
            </a:xfrm>
          </p:grpSpPr>
          <p:sp>
            <p:nvSpPr>
              <p:cNvPr id="19467" name="AutoShape 12"/>
              <p:cNvSpPr>
                <a:spLocks noChangeArrowheads="1"/>
              </p:cNvSpPr>
              <p:nvPr/>
            </p:nvSpPr>
            <p:spPr bwMode="auto">
              <a:xfrm>
                <a:off x="24000" y="3168"/>
                <a:ext cx="1248" cy="1248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67 w 21600"/>
                  <a:gd name="T25" fmla="*/ 3167 h 21600"/>
                  <a:gd name="T26" fmla="*/ 18433 w 21600"/>
                  <a:gd name="T27" fmla="*/ 18433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2908" y="10800"/>
                    </a:moveTo>
                    <a:cubicBezTo>
                      <a:pt x="2908" y="15159"/>
                      <a:pt x="6441" y="18692"/>
                      <a:pt x="10800" y="18692"/>
                    </a:cubicBezTo>
                    <a:cubicBezTo>
                      <a:pt x="15159" y="18692"/>
                      <a:pt x="18692" y="15159"/>
                      <a:pt x="18692" y="10800"/>
                    </a:cubicBezTo>
                    <a:cubicBezTo>
                      <a:pt x="18692" y="6441"/>
                      <a:pt x="15159" y="2908"/>
                      <a:pt x="10800" y="2908"/>
                    </a:cubicBezTo>
                    <a:cubicBezTo>
                      <a:pt x="6441" y="2908"/>
                      <a:pt x="2908" y="6441"/>
                      <a:pt x="2908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9468" name="AutoShape 13"/>
              <p:cNvSpPr>
                <a:spLocks noChangeArrowheads="1"/>
              </p:cNvSpPr>
              <p:nvPr/>
            </p:nvSpPr>
            <p:spPr bwMode="auto">
              <a:xfrm>
                <a:off x="24336" y="3504"/>
                <a:ext cx="576" cy="576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w 21600"/>
                  <a:gd name="T9" fmla="*/ 0 h 21600"/>
                  <a:gd name="T10" fmla="*/ 0 w 21600"/>
                  <a:gd name="T11" fmla="*/ 0 h 21600"/>
                  <a:gd name="T12" fmla="*/ 0 w 21600"/>
                  <a:gd name="T13" fmla="*/ 0 h 21600"/>
                  <a:gd name="T14" fmla="*/ 0 w 21600"/>
                  <a:gd name="T15" fmla="*/ 0 h 21600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3150 w 21600"/>
                  <a:gd name="T25" fmla="*/ 3150 h 21600"/>
                  <a:gd name="T26" fmla="*/ 18450 w 21600"/>
                  <a:gd name="T27" fmla="*/ 18450 h 21600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5400" y="10800"/>
                    </a:moveTo>
                    <a:cubicBezTo>
                      <a:pt x="5400" y="13782"/>
                      <a:pt x="7818" y="16200"/>
                      <a:pt x="10800" y="16200"/>
                    </a:cubicBezTo>
                    <a:cubicBezTo>
                      <a:pt x="13782" y="16200"/>
                      <a:pt x="16200" y="13782"/>
                      <a:pt x="16200" y="10800"/>
                    </a:cubicBezTo>
                    <a:cubicBezTo>
                      <a:pt x="16200" y="7818"/>
                      <a:pt x="13782" y="5400"/>
                      <a:pt x="10800" y="5400"/>
                    </a:cubicBezTo>
                    <a:cubicBezTo>
                      <a:pt x="7818" y="5400"/>
                      <a:pt x="5400" y="7818"/>
                      <a:pt x="5400" y="10800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9460" name="Rectangle 14"/>
          <p:cNvSpPr>
            <a:spLocks noChangeArrowheads="1"/>
          </p:cNvSpPr>
          <p:nvPr/>
        </p:nvSpPr>
        <p:spPr bwMode="auto">
          <a:xfrm>
            <a:off x="304800" y="762000"/>
            <a:ext cx="6629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dirty="0" smtClean="0"/>
              <a:t>Acknowledgement</a:t>
            </a:r>
            <a:endParaRPr lang="en-US" dirty="0"/>
          </a:p>
        </p:txBody>
      </p:sp>
      <p:sp>
        <p:nvSpPr>
          <p:cNvPr id="19461" name="Rectangle 15"/>
          <p:cNvSpPr>
            <a:spLocks noChangeArrowheads="1"/>
          </p:cNvSpPr>
          <p:nvPr/>
        </p:nvSpPr>
        <p:spPr bwMode="auto">
          <a:xfrm>
            <a:off x="228600" y="152400"/>
            <a:ext cx="5638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l"/>
            <a:r>
              <a:rPr lang="en-US" sz="2800" i="1" dirty="0">
                <a:solidFill>
                  <a:schemeClr val="tx1"/>
                </a:solidFill>
                <a:latin typeface="Arial" charset="0"/>
              </a:rPr>
              <a:t>Database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Tanzima Hashem, Dept of CSE, BUET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CF104B-57E3-4411-AB68-47EC9C0CCFE4}" type="slidenum">
              <a:rPr lang="fr-FR" smtClean="0"/>
              <a:pPr>
                <a:defRPr/>
              </a:pPr>
              <a:t>32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9364822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5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59</Template>
  <TotalTime>21006</TotalTime>
  <Words>1991</Words>
  <Application>Microsoft Office PowerPoint</Application>
  <PresentationFormat>On-screen Show (4:3)</PresentationFormat>
  <Paragraphs>275</Paragraphs>
  <Slides>32</Slides>
  <Notes>32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59</vt:lpstr>
      <vt:lpstr> CSE 215: Database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@cs.mu.oz.au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 NAME</dc:title>
  <dc:creator>eunus</dc:creator>
  <cp:lastModifiedBy>lenovo</cp:lastModifiedBy>
  <cp:revision>1584</cp:revision>
  <dcterms:created xsi:type="dcterms:W3CDTF">2008-02-25T00:58:13Z</dcterms:created>
  <dcterms:modified xsi:type="dcterms:W3CDTF">2025-11-30T17:38:29Z</dcterms:modified>
</cp:coreProperties>
</file>