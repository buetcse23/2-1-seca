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85"/>
  </p:notesMasterIdLst>
  <p:handoutMasterIdLst>
    <p:handoutMasterId r:id="rId86"/>
  </p:handoutMasterIdLst>
  <p:sldIdLst>
    <p:sldId id="256" r:id="rId2"/>
    <p:sldId id="278" r:id="rId3"/>
    <p:sldId id="299" r:id="rId4"/>
    <p:sldId id="302" r:id="rId5"/>
    <p:sldId id="300" r:id="rId6"/>
    <p:sldId id="301" r:id="rId7"/>
    <p:sldId id="303" r:id="rId8"/>
    <p:sldId id="281" r:id="rId9"/>
    <p:sldId id="294" r:id="rId10"/>
    <p:sldId id="295" r:id="rId11"/>
    <p:sldId id="285" r:id="rId12"/>
    <p:sldId id="296" r:id="rId13"/>
    <p:sldId id="304" r:id="rId14"/>
    <p:sldId id="287" r:id="rId15"/>
    <p:sldId id="288" r:id="rId16"/>
    <p:sldId id="289" r:id="rId17"/>
    <p:sldId id="297" r:id="rId18"/>
    <p:sldId id="291" r:id="rId19"/>
    <p:sldId id="298" r:id="rId20"/>
    <p:sldId id="306" r:id="rId21"/>
    <p:sldId id="305" r:id="rId22"/>
    <p:sldId id="307" r:id="rId23"/>
    <p:sldId id="320" r:id="rId24"/>
    <p:sldId id="309" r:id="rId25"/>
    <p:sldId id="321" r:id="rId26"/>
    <p:sldId id="342" r:id="rId27"/>
    <p:sldId id="322" r:id="rId28"/>
    <p:sldId id="323" r:id="rId29"/>
    <p:sldId id="312" r:id="rId30"/>
    <p:sldId id="324" r:id="rId31"/>
    <p:sldId id="325" r:id="rId32"/>
    <p:sldId id="326" r:id="rId33"/>
    <p:sldId id="327" r:id="rId34"/>
    <p:sldId id="328" r:id="rId35"/>
    <p:sldId id="317" r:id="rId36"/>
    <p:sldId id="329" r:id="rId37"/>
    <p:sldId id="330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3" r:id="rId49"/>
    <p:sldId id="354" r:id="rId50"/>
    <p:sldId id="370" r:id="rId51"/>
    <p:sldId id="355" r:id="rId52"/>
    <p:sldId id="368" r:id="rId53"/>
    <p:sldId id="371" r:id="rId54"/>
    <p:sldId id="372" r:id="rId55"/>
    <p:sldId id="373" r:id="rId56"/>
    <p:sldId id="361" r:id="rId57"/>
    <p:sldId id="362" r:id="rId58"/>
    <p:sldId id="363" r:id="rId59"/>
    <p:sldId id="364" r:id="rId60"/>
    <p:sldId id="374" r:id="rId61"/>
    <p:sldId id="402" r:id="rId62"/>
    <p:sldId id="404" r:id="rId63"/>
    <p:sldId id="405" r:id="rId64"/>
    <p:sldId id="406" r:id="rId65"/>
    <p:sldId id="407" r:id="rId66"/>
    <p:sldId id="408" r:id="rId67"/>
    <p:sldId id="382" r:id="rId68"/>
    <p:sldId id="383" r:id="rId69"/>
    <p:sldId id="409" r:id="rId70"/>
    <p:sldId id="410" r:id="rId71"/>
    <p:sldId id="411" r:id="rId72"/>
    <p:sldId id="387" r:id="rId73"/>
    <p:sldId id="414" r:id="rId74"/>
    <p:sldId id="415" r:id="rId75"/>
    <p:sldId id="416" r:id="rId76"/>
    <p:sldId id="413" r:id="rId77"/>
    <p:sldId id="392" r:id="rId78"/>
    <p:sldId id="418" r:id="rId79"/>
    <p:sldId id="419" r:id="rId80"/>
    <p:sldId id="420" r:id="rId81"/>
    <p:sldId id="421" r:id="rId82"/>
    <p:sldId id="422" r:id="rId83"/>
    <p:sldId id="430" r:id="rId8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80218" autoAdjust="0"/>
  </p:normalViewPr>
  <p:slideViewPr>
    <p:cSldViewPr snapToGrid="0">
      <p:cViewPr>
        <p:scale>
          <a:sx n="50" d="100"/>
          <a:sy n="50" d="100"/>
        </p:scale>
        <p:origin x="-1626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DDAA8-2571-4EEF-8A14-844D596EE726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B613-7FED-4192-8E5B-1481EA2AE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205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33E0B-8985-4C80-9212-0E2B041D2DB7}" type="datetimeFigureOut">
              <a:rPr lang="en-US" smtClean="0"/>
              <a:pPr/>
              <a:t>5/16/2017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E32228-077E-4C6D-9838-E60F51038F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40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1300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1300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48CB71-7AAF-454F-812B-33637F7F256A}" type="slidenum">
              <a:rPr lang="en-US"/>
              <a:pPr/>
              <a:t>52</a:t>
            </a:fld>
            <a:endParaRPr lang="en-US"/>
          </a:p>
        </p:txBody>
      </p:sp>
      <p:sp>
        <p:nvSpPr>
          <p:cNvPr id="1300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53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54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83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C7ABDB8-B3F5-47A4-9711-3777097313E1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0C7453-5EB7-426C-953A-B1BEE0DC2850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65C4C3B-E9F6-4B3F-BFA4-47000192CD50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64E5-3D11-41A1-A8FF-4233BBCB609C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B279-38B0-44CD-87B6-270BEE6682AE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B1E256-9A78-47EF-BC62-13EC55DEEF32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7023-EB44-4A49-8D1E-CA226DFA12E4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FF60033-61F6-4F32-B158-8B7BF2CCC4F4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C326B57-48FE-4F89-9485-22981ED8D38D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8DB20-CB48-4E1E-B9D9-60D119054EBB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063-3249-449C-AA5F-8FF72848E7CE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0A57B3C-C493-4246-9095-3DD941B09960}" type="datetime1">
              <a:rPr lang="en-US" smtClean="0"/>
              <a:pPr/>
              <a:t>5/16/2017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667000"/>
            <a:ext cx="6553200" cy="1894362"/>
          </a:xfrm>
        </p:spPr>
        <p:txBody>
          <a:bodyPr/>
          <a:lstStyle/>
          <a:p>
            <a:r>
              <a:rPr lang="en-US" dirty="0" smtClean="0"/>
              <a:t>CSE 205: Digital Logic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648200"/>
            <a:ext cx="6172200" cy="1371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Dr. </a:t>
            </a:r>
            <a:r>
              <a:rPr lang="en-US" sz="2400" dirty="0" err="1" smtClean="0"/>
              <a:t>Tanzima</a:t>
            </a:r>
            <a:r>
              <a:rPr lang="en-US" sz="2400" dirty="0" smtClean="0"/>
              <a:t> </a:t>
            </a:r>
            <a:r>
              <a:rPr lang="en-US" sz="2400" dirty="0" err="1" smtClean="0"/>
              <a:t>Hashem</a:t>
            </a:r>
            <a:endParaRPr lang="en-US" sz="2400" dirty="0" smtClean="0"/>
          </a:p>
          <a:p>
            <a:r>
              <a:rPr lang="en-US" sz="2400" smtClean="0"/>
              <a:t>Associate </a:t>
            </a:r>
            <a:r>
              <a:rPr lang="en-US" sz="2400" dirty="0" smtClean="0"/>
              <a:t>Professor</a:t>
            </a:r>
          </a:p>
          <a:p>
            <a:r>
              <a:rPr lang="en-US" sz="2400" dirty="0" smtClean="0"/>
              <a:t>CSE, BUET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7724460-6C57-4D62-B1BB-2C6C6C941E19}" type="slidenum">
              <a:rPr lang="zh-TW" altLang="en-US"/>
              <a:pPr/>
              <a:t>2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Sequential Circuits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Consist of a combinational circuit to which storage elements are connected to form a feedback path </a:t>
            </a:r>
          </a:p>
          <a:p>
            <a:r>
              <a:rPr lang="en-US" dirty="0" smtClean="0"/>
              <a:t>Specified by </a:t>
            </a:r>
            <a:r>
              <a:rPr lang="en-US" b="1" dirty="0" smtClean="0"/>
              <a:t>a time sequence of inputs, outputs </a:t>
            </a:r>
            <a:r>
              <a:rPr lang="en-US" dirty="0" smtClean="0"/>
              <a:t>and </a:t>
            </a:r>
            <a:r>
              <a:rPr lang="en-US" b="1" dirty="0" smtClean="0"/>
              <a:t>internal states</a:t>
            </a:r>
            <a:endParaRPr lang="en-US" altLang="zh-TW" dirty="0" smtClean="0"/>
          </a:p>
          <a:p>
            <a:pPr lvl="1" eaLnBrk="1" hangingPunct="1"/>
            <a:endParaRPr lang="en-US" altLang="zh-TW" dirty="0" smtClean="0"/>
          </a:p>
        </p:txBody>
      </p:sp>
      <p:pic>
        <p:nvPicPr>
          <p:cNvPr id="4101" name="Picture 4" descr="AACFLPV0"/>
          <p:cNvPicPr>
            <a:picLocks noChangeAspect="1" noChangeArrowheads="1"/>
          </p:cNvPicPr>
          <p:nvPr/>
        </p:nvPicPr>
        <p:blipFill>
          <a:blip r:embed="rId2" cstate="print"/>
          <a:srcRect t="87509"/>
          <a:stretch>
            <a:fillRect/>
          </a:stretch>
        </p:blipFill>
        <p:spPr bwMode="auto">
          <a:xfrm>
            <a:off x="395288" y="5340350"/>
            <a:ext cx="7985125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5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684213" y="3311525"/>
            <a:ext cx="7600950" cy="185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7724460-6C57-4D62-B1BB-2C6C6C941E19}" type="slidenum">
              <a:rPr lang="zh-TW" altLang="en-US"/>
              <a:pPr/>
              <a:t>3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Synchronous Sequential Circuit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Synchronous sequential circuits</a:t>
            </a:r>
          </a:p>
          <a:p>
            <a:pPr lvl="1"/>
            <a:r>
              <a:rPr lang="en-US" dirty="0" smtClean="0"/>
              <a:t>Synchronized by a </a:t>
            </a:r>
            <a:r>
              <a:rPr lang="en-US" b="1" dirty="0" smtClean="0"/>
              <a:t>periodic train </a:t>
            </a:r>
            <a:r>
              <a:rPr lang="en-US" dirty="0" smtClean="0"/>
              <a:t>of clock pulses</a:t>
            </a:r>
          </a:p>
          <a:p>
            <a:pPr lvl="1"/>
            <a:r>
              <a:rPr lang="en-US" dirty="0" smtClean="0"/>
              <a:t> Much easier to design (preferred design style)</a:t>
            </a:r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</p:txBody>
      </p:sp>
      <p:pic>
        <p:nvPicPr>
          <p:cNvPr id="4101" name="Picture 4" descr="AACFLPV0"/>
          <p:cNvPicPr>
            <a:picLocks noChangeAspect="1" noChangeArrowheads="1"/>
          </p:cNvPicPr>
          <p:nvPr/>
        </p:nvPicPr>
        <p:blipFill>
          <a:blip r:embed="rId2" cstate="print"/>
          <a:srcRect t="87509"/>
          <a:stretch>
            <a:fillRect/>
          </a:stretch>
        </p:blipFill>
        <p:spPr bwMode="auto">
          <a:xfrm>
            <a:off x="395288" y="5359400"/>
            <a:ext cx="7985125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5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684213" y="3330575"/>
            <a:ext cx="7600950" cy="185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7724460-6C57-4D62-B1BB-2C6C6C941E19}" type="slidenum">
              <a:rPr lang="zh-TW" altLang="en-US"/>
              <a:pPr/>
              <a:t>4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Asynchronous Sequential Circuit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419600" cy="487375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Inputs / Outputs</a:t>
            </a:r>
          </a:p>
          <a:p>
            <a:r>
              <a:rPr lang="en-US" dirty="0" smtClean="0"/>
              <a:t>Delay elements:</a:t>
            </a:r>
          </a:p>
          <a:p>
            <a:pPr lvl="1"/>
            <a:r>
              <a:rPr lang="en-US" dirty="0" smtClean="0"/>
              <a:t>Only a short term memory</a:t>
            </a:r>
          </a:p>
          <a:p>
            <a:pPr lvl="1"/>
            <a:r>
              <a:rPr lang="en-US" dirty="0" smtClean="0"/>
              <a:t>May not really exist due to original gate delay</a:t>
            </a:r>
          </a:p>
          <a:p>
            <a:r>
              <a:rPr lang="en-US" dirty="0" smtClean="0"/>
              <a:t>Secondary variable:</a:t>
            </a:r>
          </a:p>
          <a:p>
            <a:pPr lvl="1"/>
            <a:r>
              <a:rPr lang="en-US" dirty="0" smtClean="0"/>
              <a:t>Current state (small y)</a:t>
            </a:r>
          </a:p>
          <a:p>
            <a:r>
              <a:rPr lang="en-US" dirty="0" smtClean="0"/>
              <a:t>Excitation variable:</a:t>
            </a:r>
          </a:p>
          <a:p>
            <a:pPr lvl="1"/>
            <a:r>
              <a:rPr lang="en-US" dirty="0" smtClean="0"/>
              <a:t>Next state (big Y)</a:t>
            </a:r>
          </a:p>
          <a:p>
            <a:pPr lvl="1"/>
            <a:r>
              <a:rPr lang="en-US" dirty="0" smtClean="0"/>
              <a:t>Have some delay in response to input changes</a:t>
            </a:r>
            <a:endParaRPr lang="en-US" altLang="zh-TW" dirty="0" smtClean="0"/>
          </a:p>
          <a:p>
            <a:pPr lvl="1" eaLnBrk="1" hangingPunct="1"/>
            <a:endParaRPr lang="en-US" altLang="zh-TW" dirty="0" smtClean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 l="613" r="1453" b="1405"/>
          <a:stretch>
            <a:fillRect/>
          </a:stretch>
        </p:blipFill>
        <p:spPr bwMode="auto">
          <a:xfrm>
            <a:off x="4915736" y="1524000"/>
            <a:ext cx="3663114" cy="35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438775" y="5313363"/>
            <a:ext cx="259238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 smtClean="0"/>
              <a:t>Block </a:t>
            </a:r>
            <a:r>
              <a:rPr lang="en-US" altLang="zh-TW" dirty="0"/>
              <a:t>diagram of an asynchronous sequential circuit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7724460-6C57-4D62-B1BB-2C6C6C941E19}" type="slidenum">
              <a:rPr lang="zh-TW" altLang="en-US"/>
              <a:pPr/>
              <a:t>5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Asynchronous Sequential Circuit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381500" cy="4873752"/>
          </a:xfrm>
        </p:spPr>
        <p:txBody>
          <a:bodyPr>
            <a:normAutofit/>
          </a:bodyPr>
          <a:lstStyle/>
          <a:p>
            <a:r>
              <a:rPr lang="en-US" dirty="0" smtClean="0"/>
              <a:t>Internal states can change at </a:t>
            </a:r>
            <a:r>
              <a:rPr lang="en-US" b="1" dirty="0" smtClean="0"/>
              <a:t>any instant of time when there is a </a:t>
            </a:r>
            <a:r>
              <a:rPr lang="en-US" dirty="0" smtClean="0"/>
              <a:t>change in the input variables</a:t>
            </a:r>
          </a:p>
          <a:p>
            <a:r>
              <a:rPr lang="en-US" b="1" dirty="0" smtClean="0"/>
              <a:t>No clock signal is required</a:t>
            </a:r>
          </a:p>
          <a:p>
            <a:r>
              <a:rPr lang="en-US" dirty="0" smtClean="0"/>
              <a:t>Have better performance but hard to design due to timing problems</a:t>
            </a:r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  <a:p>
            <a:pPr lvl="1" eaLnBrk="1" hangingPunct="1"/>
            <a:endParaRPr lang="en-US" altLang="zh-TW" dirty="0" smtClean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 l="613" r="1453" b="1405"/>
          <a:stretch>
            <a:fillRect/>
          </a:stretch>
        </p:blipFill>
        <p:spPr bwMode="auto">
          <a:xfrm>
            <a:off x="4915736" y="1524000"/>
            <a:ext cx="3663114" cy="35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438775" y="5313363"/>
            <a:ext cx="259238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 smtClean="0"/>
              <a:t>Block </a:t>
            </a:r>
            <a:r>
              <a:rPr lang="en-US" altLang="zh-TW" dirty="0"/>
              <a:t>diagram of an asynchronous sequential circuit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Used when speed of operation is important</a:t>
            </a:r>
          </a:p>
          <a:p>
            <a:pPr lvl="1"/>
            <a:r>
              <a:rPr lang="en-US" dirty="0" smtClean="0"/>
              <a:t>Response quickly without waiting for a clock pulse</a:t>
            </a:r>
          </a:p>
          <a:p>
            <a:r>
              <a:rPr lang="en-US" dirty="0" smtClean="0"/>
              <a:t>Used in small independent systems</a:t>
            </a:r>
          </a:p>
          <a:p>
            <a:pPr lvl="1"/>
            <a:r>
              <a:rPr lang="en-US" dirty="0" smtClean="0"/>
              <a:t>Only a few components are required</a:t>
            </a:r>
          </a:p>
          <a:p>
            <a:r>
              <a:rPr lang="en-US" dirty="0" smtClean="0"/>
              <a:t>Used when the input signals may change independently of internal clock</a:t>
            </a:r>
          </a:p>
          <a:p>
            <a:pPr lvl="1"/>
            <a:r>
              <a:rPr lang="en-US" dirty="0" smtClean="0"/>
              <a:t>Asynchronous in nature</a:t>
            </a:r>
          </a:p>
          <a:p>
            <a:r>
              <a:rPr lang="en-US" dirty="0" smtClean="0"/>
              <a:t>Used in the communication between two units that have their own independent clocks</a:t>
            </a:r>
          </a:p>
          <a:p>
            <a:pPr lvl="1"/>
            <a:r>
              <a:rPr lang="en-US" dirty="0" smtClean="0"/>
              <a:t>Must be done in an asynchronous fashion</a:t>
            </a:r>
            <a:endParaRPr lang="zh-TW" altLang="en-US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Why Asynchronous Circuits?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Steady-state condition:</a:t>
            </a:r>
          </a:p>
          <a:p>
            <a:pPr lvl="1"/>
            <a:r>
              <a:rPr lang="en-US" dirty="0" smtClean="0"/>
              <a:t>Current states and next states are the same</a:t>
            </a:r>
          </a:p>
          <a:p>
            <a:pPr lvl="1"/>
            <a:r>
              <a:rPr lang="en-US" dirty="0" smtClean="0"/>
              <a:t>Difference between </a:t>
            </a:r>
            <a:r>
              <a:rPr lang="en-US" i="1" dirty="0" smtClean="0"/>
              <a:t>Y</a:t>
            </a:r>
            <a:r>
              <a:rPr lang="en-US" dirty="0" smtClean="0"/>
              <a:t> and </a:t>
            </a:r>
            <a:r>
              <a:rPr lang="en-US" i="1" dirty="0" smtClean="0"/>
              <a:t>y</a:t>
            </a:r>
            <a:r>
              <a:rPr lang="en-US" dirty="0" smtClean="0"/>
              <a:t> will cause a transition</a:t>
            </a:r>
          </a:p>
          <a:p>
            <a:r>
              <a:rPr lang="en-US" dirty="0" smtClean="0"/>
              <a:t>Fundamental mode:</a:t>
            </a:r>
          </a:p>
          <a:p>
            <a:pPr lvl="1"/>
            <a:r>
              <a:rPr lang="en-US" dirty="0" smtClean="0"/>
              <a:t>No simultaneous changes of two or more variables</a:t>
            </a:r>
          </a:p>
          <a:p>
            <a:pPr lvl="1"/>
            <a:r>
              <a:rPr lang="en-US" dirty="0" smtClean="0"/>
              <a:t>The time between two input changes must be longer than the time it takes the circuit to a stable state</a:t>
            </a:r>
          </a:p>
          <a:p>
            <a:pPr lvl="1"/>
            <a:r>
              <a:rPr lang="en-US" dirty="0" smtClean="0"/>
              <a:t>The input signals change one at a time and only when the circuit is in a stable condition</a:t>
            </a:r>
            <a:endParaRPr lang="zh-TW" altLang="en-US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Operational Mode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Analysis Procedure</a:t>
            </a:r>
            <a:br>
              <a:rPr lang="en-US" altLang="zh-TW" dirty="0" smtClean="0"/>
            </a:br>
            <a:r>
              <a:rPr lang="en-US" altLang="zh-TW" dirty="0" smtClean="0"/>
              <a:t>Transition Table</a:t>
            </a:r>
            <a:endParaRPr lang="zh-TW" altLang="en-US" dirty="0" smtClean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Transition table is useful to analyze an asynchronous circuit from the circuit diagram</a:t>
            </a:r>
          </a:p>
          <a:p>
            <a:r>
              <a:rPr lang="en-US" dirty="0" smtClean="0"/>
              <a:t>Procedure to obtain transition table:</a:t>
            </a:r>
          </a:p>
          <a:p>
            <a:pPr lvl="1">
              <a:buNone/>
            </a:pPr>
            <a:r>
              <a:rPr lang="en-US" dirty="0" smtClean="0"/>
              <a:t>1. Determine all feedback loops in the circuits</a:t>
            </a:r>
          </a:p>
          <a:p>
            <a:pPr lvl="1">
              <a:buNone/>
            </a:pPr>
            <a:r>
              <a:rPr lang="en-US" dirty="0" smtClean="0"/>
              <a:t>2. Mark the input (</a:t>
            </a:r>
            <a:r>
              <a:rPr lang="en-US" altLang="zh-TW" i="1" dirty="0" smtClean="0"/>
              <a:t>y</a:t>
            </a:r>
            <a:r>
              <a:rPr lang="en-US" altLang="zh-TW" i="1" baseline="-20000" dirty="0" smtClean="0"/>
              <a:t>i</a:t>
            </a:r>
            <a:r>
              <a:rPr lang="en-US" dirty="0" smtClean="0"/>
              <a:t>) and output (</a:t>
            </a:r>
            <a:r>
              <a:rPr lang="en-US" altLang="zh-TW" i="1" dirty="0" smtClean="0"/>
              <a:t>Y</a:t>
            </a:r>
            <a:r>
              <a:rPr lang="en-US" altLang="zh-TW" i="1" baseline="-20000" dirty="0" smtClean="0"/>
              <a:t>i</a:t>
            </a:r>
            <a:r>
              <a:rPr lang="en-US" dirty="0" smtClean="0"/>
              <a:t>) of each feedback loop</a:t>
            </a:r>
          </a:p>
          <a:p>
            <a:pPr lvl="1">
              <a:buNone/>
            </a:pPr>
            <a:r>
              <a:rPr lang="en-US" dirty="0" smtClean="0"/>
              <a:t>3. Derive the Boolean functions of all </a:t>
            </a:r>
            <a:r>
              <a:rPr lang="en-US" i="1" dirty="0" smtClean="0"/>
              <a:t>Y</a:t>
            </a:r>
            <a:r>
              <a:rPr lang="en-US" dirty="0" smtClean="0"/>
              <a:t>’s</a:t>
            </a:r>
          </a:p>
          <a:p>
            <a:pPr lvl="1">
              <a:buNone/>
            </a:pPr>
            <a:r>
              <a:rPr lang="en-US" dirty="0" smtClean="0"/>
              <a:t>4. Plot each </a:t>
            </a:r>
            <a:r>
              <a:rPr lang="en-US" i="1" dirty="0" smtClean="0"/>
              <a:t>Y</a:t>
            </a:r>
            <a:r>
              <a:rPr lang="en-US" dirty="0" smtClean="0"/>
              <a:t> function in a map and combine all maps into one table</a:t>
            </a:r>
          </a:p>
          <a:p>
            <a:pPr lvl="1">
              <a:buNone/>
            </a:pPr>
            <a:r>
              <a:rPr lang="en-US" dirty="0" smtClean="0"/>
              <a:t>5. Circle those values of </a:t>
            </a:r>
            <a:r>
              <a:rPr lang="en-US" i="1" dirty="0" smtClean="0"/>
              <a:t>Y</a:t>
            </a:r>
            <a:r>
              <a:rPr lang="en-US" dirty="0" smtClean="0"/>
              <a:t> in each square that are equal to the value of </a:t>
            </a:r>
            <a:r>
              <a:rPr lang="en-US" i="1" dirty="0" smtClean="0"/>
              <a:t>y</a:t>
            </a:r>
            <a:r>
              <a:rPr lang="en-US" dirty="0" smtClean="0"/>
              <a:t> in the same row</a:t>
            </a:r>
            <a:endParaRPr lang="zh-TW" altLang="en-US" dirty="0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 Example of Transition Table</a:t>
            </a:r>
            <a:endParaRPr lang="zh-TW" altLang="en-US" dirty="0" smtClean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lvl="1"/>
            <a:r>
              <a:rPr lang="en-US" altLang="zh-TW" dirty="0" smtClean="0"/>
              <a:t>The excitation variables: 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and Y</a:t>
            </a:r>
            <a:r>
              <a:rPr lang="en-US" altLang="zh-TW" baseline="-25000" dirty="0" smtClean="0"/>
              <a:t>2</a:t>
            </a:r>
            <a:endParaRPr lang="en-US" altLang="zh-TW" dirty="0" smtClean="0"/>
          </a:p>
          <a:p>
            <a:pPr lvl="1"/>
            <a:r>
              <a:rPr lang="en-US" altLang="zh-TW" i="1" dirty="0" smtClean="0"/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xy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+ </a:t>
            </a:r>
            <a:r>
              <a:rPr lang="en-US" altLang="zh-TW" i="1" dirty="0" smtClean="0"/>
              <a:t>x'y</a:t>
            </a:r>
            <a:r>
              <a:rPr lang="en-US" altLang="zh-TW" baseline="-25000" dirty="0" smtClean="0"/>
              <a:t>2</a:t>
            </a:r>
            <a:endParaRPr lang="en-US" altLang="zh-TW" dirty="0" smtClean="0"/>
          </a:p>
          <a:p>
            <a:pPr lvl="1"/>
            <a:r>
              <a:rPr lang="en-US" altLang="zh-TW" i="1" dirty="0" smtClean="0"/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xy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'</a:t>
            </a:r>
            <a:r>
              <a:rPr lang="en-US" altLang="zh-TW" dirty="0" smtClean="0"/>
              <a:t> + </a:t>
            </a:r>
            <a:r>
              <a:rPr lang="en-US" altLang="zh-TW" i="1" dirty="0" smtClean="0"/>
              <a:t>x'y</a:t>
            </a:r>
            <a:r>
              <a:rPr lang="en-US" altLang="zh-TW" baseline="-25000" dirty="0" smtClean="0"/>
              <a:t>2</a:t>
            </a:r>
            <a:endParaRPr lang="zh-TW" altLang="en-US" dirty="0" smtClean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112963" y="1677988"/>
            <a:ext cx="6378575" cy="346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388" y="2955925"/>
            <a:ext cx="252095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/>
              <a:t>Fig. 9.2</a:t>
            </a:r>
          </a:p>
          <a:p>
            <a:r>
              <a:rPr lang="en-US" altLang="zh-TW" dirty="0"/>
              <a:t>Example of an asynchronous sequential circuit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 Example of Transition Table</a:t>
            </a:r>
            <a:endParaRPr lang="zh-TW" altLang="en-US" dirty="0" smtClean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altLang="zh-TW" dirty="0" smtClean="0"/>
              <a:t>Maps and transition table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lvl="1">
              <a:lnSpc>
                <a:spcPct val="90000"/>
              </a:lnSpc>
            </a:pPr>
            <a:endParaRPr lang="en-US" altLang="zh-TW" dirty="0" smtClean="0"/>
          </a:p>
          <a:p>
            <a:pPr>
              <a:lnSpc>
                <a:spcPct val="90000"/>
              </a:lnSpc>
            </a:pPr>
            <a:r>
              <a:rPr lang="en-US" altLang="zh-TW" dirty="0" smtClean="0"/>
              <a:t>y variables for the rows</a:t>
            </a:r>
          </a:p>
          <a:p>
            <a:pPr>
              <a:lnSpc>
                <a:spcPct val="90000"/>
              </a:lnSpc>
            </a:pPr>
            <a:r>
              <a:rPr lang="en-US" altLang="zh-TW" dirty="0" smtClean="0"/>
              <a:t>External variable for the columns</a:t>
            </a:r>
          </a:p>
          <a:p>
            <a:pPr>
              <a:lnSpc>
                <a:spcPct val="90000"/>
              </a:lnSpc>
            </a:pPr>
            <a:r>
              <a:rPr lang="en-US" altLang="zh-TW" dirty="0" smtClean="0"/>
              <a:t>Circle the stable states</a:t>
            </a:r>
          </a:p>
          <a:p>
            <a:pPr lvl="1">
              <a:lnSpc>
                <a:spcPct val="90000"/>
              </a:lnSpc>
            </a:pPr>
            <a:r>
              <a:rPr lang="en-US" altLang="zh-TW" i="1" dirty="0" smtClean="0"/>
              <a:t>Y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y</a:t>
            </a:r>
            <a:endParaRPr lang="zh-TW" altLang="en-US" i="1" dirty="0" smtClean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266950" y="1993901"/>
            <a:ext cx="5429250" cy="2904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69888" y="2492375"/>
            <a:ext cx="208915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/>
              <a:t>Fig. 9.3</a:t>
            </a:r>
          </a:p>
          <a:p>
            <a:r>
              <a:rPr lang="en-US" altLang="zh-TW" dirty="0"/>
              <a:t>Maps and transition table for the circuit of Fig. 9.2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When input x changes from 0 to 1 while </a:t>
            </a:r>
            <a:r>
              <a:rPr lang="en-US" i="1" dirty="0" smtClean="0"/>
              <a:t>y</a:t>
            </a:r>
            <a:r>
              <a:rPr lang="en-US" dirty="0" smtClean="0"/>
              <a:t>=00:</a:t>
            </a:r>
          </a:p>
          <a:p>
            <a:pPr lvl="1"/>
            <a:r>
              <a:rPr lang="en-US" i="1" dirty="0" smtClean="0"/>
              <a:t>Y</a:t>
            </a:r>
            <a:r>
              <a:rPr lang="en-US" dirty="0" smtClean="0"/>
              <a:t> changes to 01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unstable</a:t>
            </a:r>
          </a:p>
          <a:p>
            <a:pPr lvl="1"/>
            <a:r>
              <a:rPr lang="en-US" i="1" dirty="0" smtClean="0"/>
              <a:t>y</a:t>
            </a:r>
            <a:r>
              <a:rPr lang="en-US" dirty="0" smtClean="0"/>
              <a:t> becomes 01 after a short delay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stable at the </a:t>
            </a:r>
            <a:r>
              <a:rPr lang="en-US" smtClean="0"/>
              <a:t>second row</a:t>
            </a:r>
            <a:endParaRPr lang="en-US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State Table</a:t>
            </a:r>
            <a:endParaRPr lang="zh-TW" alt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3814763"/>
            <a:ext cx="7186002" cy="233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Similar to a transition table except the states are represented by </a:t>
            </a:r>
            <a:r>
              <a:rPr lang="en-US" b="1" dirty="0" smtClean="0"/>
              <a:t>letter symbols</a:t>
            </a:r>
          </a:p>
          <a:p>
            <a:r>
              <a:rPr lang="en-US" dirty="0" smtClean="0"/>
              <a:t>Can also include the output values</a:t>
            </a:r>
          </a:p>
          <a:p>
            <a:r>
              <a:rPr lang="en-US" dirty="0" smtClean="0"/>
              <a:t>Suitable to obtain the logic diagram from it</a:t>
            </a:r>
          </a:p>
          <a:p>
            <a:r>
              <a:rPr lang="en-US" dirty="0" smtClean="0"/>
              <a:t>Primitive flow table:</a:t>
            </a:r>
          </a:p>
          <a:p>
            <a:pPr lvl="1"/>
            <a:r>
              <a:rPr lang="en-US" b="1" dirty="0" smtClean="0"/>
              <a:t>only one stable </a:t>
            </a:r>
            <a:r>
              <a:rPr lang="en-US" dirty="0" smtClean="0"/>
              <a:t>state in each row</a:t>
            </a:r>
            <a:endParaRPr lang="zh-TW" altLang="en-US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Flow Table</a:t>
            </a:r>
            <a:endParaRPr lang="zh-TW" altLang="en-US" dirty="0" smtClean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3695700" y="4099767"/>
            <a:ext cx="3981450" cy="2758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552450" y="4629835"/>
            <a:ext cx="304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Equivalent to 9-3(c) if</a:t>
            </a:r>
          </a:p>
          <a:p>
            <a:r>
              <a:rPr lang="en-US" sz="2000" dirty="0" smtClean="0"/>
              <a:t>a=00, b=01, c=11, d=10</a:t>
            </a:r>
            <a:endParaRPr lang="en-US" sz="2000" dirty="0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79438" y="5811838"/>
            <a:ext cx="2592387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/>
              <a:t>Fig. 9.4</a:t>
            </a:r>
          </a:p>
          <a:p>
            <a:r>
              <a:rPr lang="en-US" altLang="zh-TW" dirty="0"/>
              <a:t>Example of flow tables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FC80183F-920D-4FD4-AFD6-820D67AD5F9B}" type="slidenum">
              <a:rPr lang="zh-TW" altLang="en-US"/>
              <a:pPr/>
              <a:t>13</a:t>
            </a:fld>
            <a:endParaRPr lang="en-US" altLang="zh-TW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Procedure to obtain circuits from flow table:</a:t>
            </a:r>
          </a:p>
          <a:p>
            <a:pPr lvl="1"/>
            <a:r>
              <a:rPr lang="en-US" dirty="0" smtClean="0"/>
              <a:t>Assign to each state a distinct binary value (convert to a transition table)</a:t>
            </a:r>
          </a:p>
          <a:p>
            <a:pPr lvl="1"/>
            <a:r>
              <a:rPr lang="en-US" dirty="0" smtClean="0"/>
              <a:t>Obtain circuits from the map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Two difficulties:</a:t>
            </a:r>
          </a:p>
          <a:p>
            <a:pPr lvl="1"/>
            <a:r>
              <a:rPr lang="en-US" dirty="0" smtClean="0"/>
              <a:t>The binary state assignment (to avoid race)</a:t>
            </a:r>
          </a:p>
          <a:p>
            <a:pPr lvl="1"/>
            <a:r>
              <a:rPr lang="en-US" dirty="0" smtClean="0"/>
              <a:t>The output assigned to the unstable states</a:t>
            </a:r>
            <a:endParaRPr lang="zh-TW" altLang="en-US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Flow Table to Circuits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A500B6B-A5AA-4CC6-B9D8-791E800DA006}" type="slidenum">
              <a:rPr lang="zh-TW" altLang="en-US"/>
              <a:pPr/>
              <a:t>14</a:t>
            </a:fld>
            <a:endParaRPr lang="en-US" altLang="zh-TW"/>
          </a:p>
        </p:txBody>
      </p:sp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495300" y="2153480"/>
            <a:ext cx="6007100" cy="217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6"/>
          <p:cNvPicPr>
            <a:picLocks noChangeAspect="1" noChangeArrowheads="1"/>
          </p:cNvPicPr>
          <p:nvPr/>
        </p:nvPicPr>
        <p:blipFill>
          <a:blip r:embed="rId3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3467100" y="4156636"/>
            <a:ext cx="5168900" cy="243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731838" y="4600575"/>
            <a:ext cx="2663825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/>
              <a:t>Fig. 9.5</a:t>
            </a:r>
          </a:p>
          <a:p>
            <a:r>
              <a:rPr lang="en-US" altLang="zh-TW" dirty="0"/>
              <a:t>Derivation of a circuit specified by the flow table of Fig. 9.4(b)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600200"/>
            <a:ext cx="76962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0000"/>
            </a:pPr>
            <a:endParaRPr lang="en-US" altLang="zh-TW" sz="2400" dirty="0" smtClean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endParaRPr kumimoji="0" lang="zh-TW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Flow Table to Circuits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FC80183F-920D-4FD4-AFD6-820D67AD5F9B}" type="slidenum">
              <a:rPr lang="zh-TW" altLang="en-US"/>
              <a:pPr/>
              <a:t>15</a:t>
            </a:fld>
            <a:endParaRPr lang="en-US" altLang="zh-TW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Race condition: </a:t>
            </a:r>
          </a:p>
          <a:p>
            <a:pPr lvl="1"/>
            <a:r>
              <a:rPr lang="en-US" b="1" dirty="0" smtClean="0"/>
              <a:t>two or more binary state variables </a:t>
            </a:r>
            <a:r>
              <a:rPr lang="en-US" dirty="0" smtClean="0"/>
              <a:t>will change value when one input variable changes</a:t>
            </a:r>
          </a:p>
          <a:p>
            <a:pPr lvl="1"/>
            <a:r>
              <a:rPr lang="en-US" dirty="0" smtClean="0"/>
              <a:t>Cannot predict state sequence if unequal delay is encountered</a:t>
            </a:r>
          </a:p>
          <a:p>
            <a:pPr lvl="1"/>
            <a:r>
              <a:rPr lang="en-US" altLang="zh-TW" dirty="0" smtClean="0"/>
              <a:t>00 </a:t>
            </a:r>
            <a:r>
              <a:rPr lang="en-US" altLang="zh-TW" dirty="0" smtClean="0">
                <a:latin typeface="Symbol" pitchFamily="18" charset="2"/>
              </a:rPr>
              <a:t>®</a:t>
            </a:r>
            <a:r>
              <a:rPr lang="en-US" altLang="zh-TW" dirty="0" smtClean="0"/>
              <a:t> 11</a:t>
            </a:r>
          </a:p>
          <a:p>
            <a:pPr lvl="2"/>
            <a:r>
              <a:rPr lang="zh-TW" altLang="en-US" dirty="0" smtClean="0"/>
              <a:t>00 </a:t>
            </a:r>
            <a:r>
              <a:rPr lang="zh-TW" altLang="en-US" dirty="0" smtClean="0">
                <a:latin typeface="Symbol" pitchFamily="18" charset="2"/>
              </a:rPr>
              <a:t>®</a:t>
            </a:r>
            <a:r>
              <a:rPr lang="zh-TW" altLang="en-US" dirty="0" smtClean="0"/>
              <a:t> 10 </a:t>
            </a:r>
            <a:r>
              <a:rPr lang="zh-TW" altLang="en-US" dirty="0" smtClean="0">
                <a:latin typeface="Symbol" pitchFamily="18" charset="2"/>
              </a:rPr>
              <a:t>®</a:t>
            </a:r>
            <a:r>
              <a:rPr lang="zh-TW" altLang="en-US" dirty="0" smtClean="0"/>
              <a:t> 11 </a:t>
            </a:r>
            <a:r>
              <a:rPr lang="en-US" altLang="zh-TW" dirty="0" smtClean="0"/>
              <a:t>or  00 </a:t>
            </a:r>
            <a:r>
              <a:rPr lang="zh-TW" altLang="en-US" dirty="0" smtClean="0">
                <a:latin typeface="Symbol" pitchFamily="18" charset="2"/>
              </a:rPr>
              <a:t>®</a:t>
            </a:r>
            <a:r>
              <a:rPr lang="en-US" altLang="zh-TW" dirty="0" smtClean="0"/>
              <a:t> 01 </a:t>
            </a:r>
            <a:r>
              <a:rPr lang="zh-TW" altLang="en-US" dirty="0" smtClean="0">
                <a:latin typeface="Symbol" pitchFamily="18" charset="2"/>
              </a:rPr>
              <a:t>®</a:t>
            </a:r>
            <a:r>
              <a:rPr lang="en-US" altLang="zh-TW" dirty="0" smtClean="0"/>
              <a:t> 11</a:t>
            </a:r>
            <a:endParaRPr lang="en-US" dirty="0" smtClean="0"/>
          </a:p>
          <a:p>
            <a:r>
              <a:rPr lang="en-US" dirty="0" smtClean="0"/>
              <a:t>Non-critical race:</a:t>
            </a:r>
          </a:p>
          <a:p>
            <a:pPr lvl="1"/>
            <a:r>
              <a:rPr lang="en-US" dirty="0" smtClean="0"/>
              <a:t>The final stable state </a:t>
            </a:r>
            <a:r>
              <a:rPr lang="en-US" b="1" dirty="0" smtClean="0"/>
              <a:t>does not </a:t>
            </a:r>
            <a:r>
              <a:rPr lang="en-US" dirty="0" smtClean="0"/>
              <a:t>depend on the change order of state variables</a:t>
            </a:r>
          </a:p>
          <a:p>
            <a:r>
              <a:rPr lang="en-US" dirty="0" smtClean="0"/>
              <a:t>Critical race:</a:t>
            </a:r>
          </a:p>
          <a:p>
            <a:pPr lvl="1"/>
            <a:r>
              <a:rPr lang="en-US" dirty="0" smtClean="0"/>
              <a:t>The change order of state variables will result in </a:t>
            </a:r>
            <a:r>
              <a:rPr lang="en-US" b="1" dirty="0" smtClean="0"/>
              <a:t>different stable states</a:t>
            </a:r>
          </a:p>
          <a:p>
            <a:pPr lvl="1"/>
            <a:r>
              <a:rPr lang="en-US" dirty="0" smtClean="0"/>
              <a:t>Should be avoided !!</a:t>
            </a:r>
            <a:endParaRPr lang="zh-TW" altLang="en-US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Race Conditions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2" cstate="print">
            <a:lum bright="-6000" contrast="12000"/>
          </a:blip>
          <a:srcRect/>
          <a:stretch>
            <a:fillRect/>
          </a:stretch>
        </p:blipFill>
        <p:spPr bwMode="auto">
          <a:xfrm>
            <a:off x="434975" y="1757363"/>
            <a:ext cx="6481763" cy="471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Noncritical Race: Examples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Critical Race: Examples</a:t>
            </a:r>
            <a:endParaRPr lang="zh-TW" altLang="en-US" dirty="0" smtClean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lum bright="-6000" contrast="18000"/>
          </a:blip>
          <a:srcRect r="2754" b="19371"/>
          <a:stretch>
            <a:fillRect/>
          </a:stretch>
        </p:blipFill>
        <p:spPr bwMode="auto">
          <a:xfrm>
            <a:off x="552450" y="1512951"/>
            <a:ext cx="5318125" cy="4494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Race can be avoided by proper state assignment</a:t>
            </a:r>
          </a:p>
          <a:p>
            <a:pPr lvl="1"/>
            <a:r>
              <a:rPr lang="en-US" dirty="0" smtClean="0"/>
              <a:t>Direct the circuit through intermediate unstable states with a unique state-variable change</a:t>
            </a:r>
          </a:p>
          <a:p>
            <a:pPr lvl="1"/>
            <a:r>
              <a:rPr lang="en-US" dirty="0" smtClean="0"/>
              <a:t>It is said to have a </a:t>
            </a:r>
            <a:r>
              <a:rPr lang="en-US" b="1" dirty="0" smtClean="0"/>
              <a:t>cycle</a:t>
            </a:r>
            <a:endParaRPr lang="en-US" altLang="zh-TW" dirty="0" smtClean="0"/>
          </a:p>
          <a:p>
            <a:r>
              <a:rPr lang="en-US" dirty="0" smtClean="0"/>
              <a:t>Must ensure that a cycle will terminate with a stable state</a:t>
            </a:r>
          </a:p>
          <a:p>
            <a:pPr lvl="1"/>
            <a:r>
              <a:rPr lang="en-US" dirty="0" smtClean="0"/>
              <a:t>Otherwise, the circuit will keep going in unstable states</a:t>
            </a:r>
            <a:endParaRPr lang="zh-TW" altLang="en-US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Race Conditions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2" cstate="print">
            <a:lum bright="-6000" contrast="24000"/>
          </a:blip>
          <a:srcRect/>
          <a:stretch>
            <a:fillRect/>
          </a:stretch>
        </p:blipFill>
        <p:spPr bwMode="auto">
          <a:xfrm>
            <a:off x="323850" y="2464815"/>
            <a:ext cx="6610350" cy="3485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628650" y="5835650"/>
            <a:ext cx="66246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 smtClean="0"/>
              <a:t>Fig: Examples </a:t>
            </a:r>
            <a:r>
              <a:rPr lang="en-US" altLang="zh-TW" dirty="0"/>
              <a:t>of cycles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Cycles</a:t>
            </a:r>
            <a:endParaRPr lang="zh-TW" altLang="en-US" dirty="0" smtClean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600200"/>
            <a:ext cx="76962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altLang="zh-TW" sz="2400" dirty="0" smtClean="0"/>
              <a:t>A cycle</a:t>
            </a:r>
          </a:p>
          <a:p>
            <a:pPr marL="731520" lvl="2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altLang="zh-TW" sz="2400" dirty="0" smtClean="0"/>
              <a:t>a unique sequence of unstable states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endParaRPr lang="en-US" altLang="zh-TW" sz="2400" dirty="0" smtClean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endParaRPr kumimoji="0" lang="zh-TW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dirty="0" smtClean="0"/>
              <a:t>Asynchronous sequential circuits may oscillate between unstable states due to the feedback</a:t>
            </a:r>
            <a:endParaRPr lang="en-US" altLang="zh-TW" dirty="0" smtClean="0"/>
          </a:p>
          <a:p>
            <a:pPr lvl="1"/>
            <a:r>
              <a:rPr lang="en-US" dirty="0" smtClean="0"/>
              <a:t>Must check for stability to ensure proper operations</a:t>
            </a:r>
          </a:p>
          <a:p>
            <a:pPr lvl="1" eaLnBrk="1" hangingPunct="1"/>
            <a:endParaRPr lang="en-US" altLang="zh-TW" dirty="0" smtClean="0"/>
          </a:p>
          <a:p>
            <a:r>
              <a:rPr lang="en-US" dirty="0" smtClean="0"/>
              <a:t>Can be easily checked from the transition table</a:t>
            </a:r>
          </a:p>
          <a:p>
            <a:pPr lvl="1"/>
            <a:r>
              <a:rPr lang="en-US" dirty="0" smtClean="0"/>
              <a:t>Any column has no stable states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unstable</a:t>
            </a:r>
          </a:p>
          <a:p>
            <a:pPr eaLnBrk="1" hangingPunct="1"/>
            <a:endParaRPr lang="zh-TW" altLang="en-US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Stability Check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F591195D-422A-43C7-95C0-801D0E332A6E}" type="slidenum">
              <a:rPr lang="zh-TW" altLang="en-US"/>
              <a:pPr/>
              <a:t>21</a:t>
            </a:fld>
            <a:endParaRPr lang="en-US" altLang="zh-TW"/>
          </a:p>
        </p:txBody>
      </p:sp>
      <p:pic>
        <p:nvPicPr>
          <p:cNvPr id="19460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514350" y="3206131"/>
            <a:ext cx="5124450" cy="1730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6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5603907" y="3049446"/>
            <a:ext cx="2778093" cy="188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522288" y="5281613"/>
            <a:ext cx="70405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dirty="0"/>
              <a:t>Fig. </a:t>
            </a:r>
            <a:r>
              <a:rPr lang="en-US" altLang="zh-TW" dirty="0" smtClean="0"/>
              <a:t>9.9: Example </a:t>
            </a:r>
            <a:r>
              <a:rPr lang="en-US" altLang="zh-TW" dirty="0"/>
              <a:t>of an unstable circuit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Example of an Unstable Circuit</a:t>
            </a:r>
            <a:endParaRPr lang="en-US" altLang="zh-TW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600200"/>
            <a:ext cx="76962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/>
            </a:pPr>
            <a:r>
              <a:rPr lang="en-US" sz="2400" dirty="0" smtClean="0"/>
              <a:t>When </a:t>
            </a:r>
            <a:r>
              <a:rPr lang="en-US" sz="2400" i="1" dirty="0" smtClean="0"/>
              <a:t>x</a:t>
            </a:r>
            <a:r>
              <a:rPr lang="en-US" sz="1000" dirty="0" smtClean="0"/>
              <a:t>1</a:t>
            </a:r>
            <a:r>
              <a:rPr lang="en-US" sz="2400" i="1" dirty="0" smtClean="0"/>
              <a:t>x</a:t>
            </a:r>
            <a:r>
              <a:rPr lang="en-US" sz="1000" dirty="0" smtClean="0"/>
              <a:t>2</a:t>
            </a:r>
            <a:r>
              <a:rPr lang="en-US" sz="2400" dirty="0" smtClean="0"/>
              <a:t>=11 in Fig. 9-9(b), </a:t>
            </a:r>
            <a:r>
              <a:rPr lang="en-US" sz="2400" i="1" dirty="0" smtClean="0"/>
              <a:t>Y</a:t>
            </a:r>
            <a:r>
              <a:rPr lang="en-US" sz="2400" dirty="0" smtClean="0"/>
              <a:t> and </a:t>
            </a:r>
            <a:r>
              <a:rPr lang="en-US" sz="2400" i="1" dirty="0" smtClean="0"/>
              <a:t>y</a:t>
            </a:r>
            <a:r>
              <a:rPr lang="en-US" sz="2400" dirty="0" smtClean="0"/>
              <a:t> are never the same</a:t>
            </a:r>
            <a:endParaRPr lang="en-US" altLang="zh-TW" sz="2400" dirty="0" smtClean="0"/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altLang="zh-TW" sz="2400" dirty="0" smtClean="0"/>
              <a:t>a square waveform generator?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endParaRPr kumimoji="0" lang="zh-TW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Circuits with Latches</a:t>
            </a:r>
            <a:endParaRPr lang="zh-TW" altLang="en-US" dirty="0" smtClean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traditional configuration of asynchronous circuits is using one or more feedback loops</a:t>
            </a:r>
          </a:p>
          <a:p>
            <a:pPr lvl="1"/>
            <a:r>
              <a:rPr lang="en-US" dirty="0" smtClean="0"/>
              <a:t>No real delay elements</a:t>
            </a:r>
          </a:p>
          <a:p>
            <a:r>
              <a:rPr lang="en-US" dirty="0" smtClean="0"/>
              <a:t>It is more convenient to employ the SR latch as a memory element in asynchronous circuits</a:t>
            </a:r>
          </a:p>
          <a:p>
            <a:pPr lvl="1"/>
            <a:r>
              <a:rPr lang="en-US" dirty="0" smtClean="0"/>
              <a:t>Produce an orderly pattern in the logic diagram with the memory elements clearly visible</a:t>
            </a:r>
          </a:p>
          <a:p>
            <a:r>
              <a:rPr lang="en-US" dirty="0" smtClean="0"/>
              <a:t>SR latch is also an asynchronous circuit</a:t>
            </a:r>
          </a:p>
          <a:p>
            <a:pPr lvl="1"/>
            <a:r>
              <a:rPr lang="en-US" dirty="0" smtClean="0"/>
              <a:t>Will be analyzed first using the method for asynchronous circuits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SR</a:t>
            </a:r>
            <a:r>
              <a:rPr lang="en-US" dirty="0" smtClean="0"/>
              <a:t> Latch with NOR Gates</a:t>
            </a:r>
            <a:endParaRPr lang="zh-TW" altLang="en-US" dirty="0" smtClean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723900" y="1781635"/>
            <a:ext cx="7007225" cy="186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725939" y="3749245"/>
            <a:ext cx="5976485" cy="214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88938" y="6056313"/>
            <a:ext cx="89646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dirty="0"/>
              <a:t>Fig. </a:t>
            </a:r>
            <a:r>
              <a:rPr lang="en-US" altLang="zh-TW" dirty="0" smtClean="0"/>
              <a:t>9.10: </a:t>
            </a:r>
            <a:r>
              <a:rPr lang="en-US" altLang="zh-TW" i="1" dirty="0" smtClean="0"/>
              <a:t>SR</a:t>
            </a:r>
            <a:r>
              <a:rPr lang="en-US" altLang="zh-TW" dirty="0" smtClean="0"/>
              <a:t> </a:t>
            </a:r>
            <a:r>
              <a:rPr lang="en-US" altLang="zh-TW" dirty="0"/>
              <a:t>latch with NOR gates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1E1E761C-0048-43C9-A1C4-7A24E41F350F}" type="slidenum">
              <a:rPr lang="zh-TW" altLang="en-US"/>
              <a:pPr/>
              <a:t>24</a:t>
            </a:fld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i="1" dirty="0" smtClean="0"/>
              <a:t>Y</a:t>
            </a:r>
            <a:r>
              <a:rPr lang="en-US" altLang="zh-TW" dirty="0" smtClean="0"/>
              <a:t> = ((</a:t>
            </a:r>
            <a:r>
              <a:rPr lang="en-US" altLang="zh-TW" i="1" dirty="0" err="1" smtClean="0"/>
              <a:t>S</a:t>
            </a:r>
            <a:r>
              <a:rPr lang="en-US" altLang="zh-TW" dirty="0" err="1" smtClean="0"/>
              <a:t>+</a:t>
            </a:r>
            <a:r>
              <a:rPr lang="en-US" altLang="zh-TW" i="1" dirty="0" err="1" smtClean="0"/>
              <a:t>y</a:t>
            </a:r>
            <a:r>
              <a:rPr lang="en-US" altLang="zh-TW" dirty="0" smtClean="0"/>
              <a:t>)</a:t>
            </a:r>
            <a:r>
              <a:rPr lang="en-US" altLang="zh-TW" i="1" dirty="0" smtClean="0"/>
              <a:t>'</a:t>
            </a:r>
            <a:r>
              <a:rPr lang="en-US" altLang="zh-TW" dirty="0" smtClean="0"/>
              <a:t>+</a:t>
            </a:r>
            <a:r>
              <a:rPr lang="en-US" altLang="zh-TW" i="1" dirty="0" smtClean="0"/>
              <a:t>R</a:t>
            </a:r>
            <a:r>
              <a:rPr lang="en-US" altLang="zh-TW" dirty="0" smtClean="0"/>
              <a:t>)</a:t>
            </a:r>
            <a:r>
              <a:rPr lang="en-US" altLang="zh-TW" i="1" dirty="0" smtClean="0"/>
              <a:t>'</a:t>
            </a:r>
            <a:r>
              <a:rPr lang="en-US" altLang="zh-TW" dirty="0" smtClean="0"/>
              <a:t> = (</a:t>
            </a:r>
            <a:r>
              <a:rPr lang="en-US" altLang="zh-TW" i="1" dirty="0" err="1" smtClean="0"/>
              <a:t>S</a:t>
            </a:r>
            <a:r>
              <a:rPr lang="en-US" altLang="zh-TW" dirty="0" err="1" smtClean="0"/>
              <a:t>+</a:t>
            </a:r>
            <a:r>
              <a:rPr lang="en-US" altLang="zh-TW" i="1" dirty="0" err="1" smtClean="0"/>
              <a:t>y</a:t>
            </a:r>
            <a:r>
              <a:rPr lang="en-US" altLang="zh-TW" dirty="0" smtClean="0"/>
              <a:t>)</a:t>
            </a:r>
            <a:r>
              <a:rPr lang="en-US" altLang="zh-TW" i="1" dirty="0" smtClean="0"/>
              <a:t>R'</a:t>
            </a:r>
            <a:r>
              <a:rPr lang="en-US" altLang="zh-TW" dirty="0" smtClean="0"/>
              <a:t> = </a:t>
            </a:r>
            <a:r>
              <a:rPr lang="en-US" altLang="zh-TW" i="1" dirty="0" err="1" smtClean="0"/>
              <a:t>SR'</a:t>
            </a:r>
            <a:r>
              <a:rPr lang="en-US" altLang="zh-TW" dirty="0" err="1" smtClean="0"/>
              <a:t>+</a:t>
            </a:r>
            <a:r>
              <a:rPr lang="en-US" altLang="zh-TW" i="1" dirty="0" err="1" smtClean="0"/>
              <a:t>R'y</a:t>
            </a:r>
            <a:endParaRPr lang="en-US" altLang="zh-TW" i="1" dirty="0" smtClean="0"/>
          </a:p>
          <a:p>
            <a:r>
              <a:rPr lang="en-US" altLang="zh-TW" dirty="0" smtClean="0"/>
              <a:t>An unpredictable result when </a:t>
            </a:r>
            <a:r>
              <a:rPr lang="en-US" altLang="zh-TW" i="1" dirty="0" smtClean="0"/>
              <a:t>SR</a:t>
            </a:r>
            <a:r>
              <a:rPr lang="en-US" altLang="zh-TW" dirty="0" smtClean="0"/>
              <a:t>: 11 </a:t>
            </a:r>
            <a:r>
              <a:rPr lang="en-US" altLang="zh-TW" dirty="0" smtClean="0">
                <a:latin typeface="Symbol" pitchFamily="18" charset="2"/>
              </a:rPr>
              <a:t>®</a:t>
            </a:r>
            <a:r>
              <a:rPr lang="en-US" altLang="zh-TW" dirty="0" smtClean="0"/>
              <a:t> 00</a:t>
            </a:r>
          </a:p>
          <a:p>
            <a:r>
              <a:rPr lang="en-US" altLang="zh-TW" i="1" dirty="0" smtClean="0"/>
              <a:t>SR</a:t>
            </a:r>
            <a:r>
              <a:rPr lang="en-US" altLang="zh-TW" dirty="0" smtClean="0"/>
              <a:t> = 0 in operation</a:t>
            </a:r>
          </a:p>
          <a:p>
            <a:r>
              <a:rPr lang="en-US" altLang="zh-TW" i="1" dirty="0" smtClean="0"/>
              <a:t>Y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 + </a:t>
            </a:r>
            <a:r>
              <a:rPr lang="en-US" altLang="zh-TW" i="1" dirty="0" err="1" smtClean="0"/>
              <a:t>R'y</a:t>
            </a:r>
            <a:r>
              <a:rPr lang="en-US" altLang="zh-TW" dirty="0" smtClean="0"/>
              <a:t> when </a:t>
            </a:r>
            <a:r>
              <a:rPr lang="en-US" altLang="zh-TW" i="1" dirty="0" smtClean="0"/>
              <a:t>SR</a:t>
            </a:r>
            <a:r>
              <a:rPr lang="en-US" altLang="zh-TW" dirty="0" smtClean="0"/>
              <a:t> = 0</a:t>
            </a:r>
            <a:endParaRPr lang="zh-TW" altLang="en-US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i="1" dirty="0" smtClean="0"/>
              <a:t>SR</a:t>
            </a:r>
            <a:r>
              <a:rPr lang="en-US" dirty="0" smtClean="0"/>
              <a:t> Latch with NOR Gates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SR</a:t>
            </a:r>
            <a:r>
              <a:rPr lang="en-US" dirty="0" smtClean="0"/>
              <a:t> Latch with NAND Gates</a:t>
            </a:r>
            <a:endParaRPr lang="zh-TW" altLang="en-US" dirty="0" smtClean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552450" y="1813510"/>
            <a:ext cx="7554913" cy="2010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567411" y="3904056"/>
            <a:ext cx="6644602" cy="1812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35596" y="5897652"/>
            <a:ext cx="74463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dirty="0"/>
              <a:t>Fig. </a:t>
            </a:r>
            <a:r>
              <a:rPr lang="en-US" altLang="zh-TW" dirty="0" smtClean="0"/>
              <a:t>9.11: </a:t>
            </a:r>
            <a:r>
              <a:rPr lang="en-US" altLang="zh-TW" i="1" dirty="0" smtClean="0"/>
              <a:t>SR</a:t>
            </a:r>
            <a:r>
              <a:rPr lang="en-US" altLang="zh-TW" dirty="0" smtClean="0"/>
              <a:t> </a:t>
            </a:r>
            <a:r>
              <a:rPr lang="en-US" altLang="zh-TW" dirty="0"/>
              <a:t>latch with NAND gates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1E1E761C-0048-43C9-A1C4-7A24E41F350F}" type="slidenum">
              <a:rPr lang="zh-TW" altLang="en-US"/>
              <a:pPr/>
              <a:t>26</a:t>
            </a:fld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altLang="zh-TW" dirty="0" smtClean="0"/>
          </a:p>
          <a:p>
            <a:r>
              <a:rPr lang="en-US" altLang="zh-TW" dirty="0" smtClean="0"/>
              <a:t>Two cross-coupled NAND gate</a:t>
            </a:r>
          </a:p>
          <a:p>
            <a:pPr lvl="1"/>
            <a:r>
              <a:rPr lang="en-US" altLang="zh-TW" i="1" dirty="0" smtClean="0"/>
              <a:t>S'R'</a:t>
            </a:r>
            <a:r>
              <a:rPr lang="en-US" altLang="zh-TW" dirty="0" smtClean="0"/>
              <a:t> = 0</a:t>
            </a:r>
          </a:p>
          <a:p>
            <a:pPr lvl="1"/>
            <a:r>
              <a:rPr lang="en-US" altLang="zh-TW" i="1" dirty="0" smtClean="0"/>
              <a:t>Y</a:t>
            </a:r>
            <a:r>
              <a:rPr lang="en-US" altLang="zh-TW" dirty="0" smtClean="0"/>
              <a:t> = (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(</a:t>
            </a:r>
            <a:r>
              <a:rPr lang="en-US" altLang="zh-TW" i="1" dirty="0" err="1" smtClean="0"/>
              <a:t>Ry</a:t>
            </a:r>
            <a:r>
              <a:rPr lang="en-US" altLang="zh-TW" dirty="0" smtClean="0"/>
              <a:t>)</a:t>
            </a:r>
            <a:r>
              <a:rPr lang="en-US" altLang="zh-TW" i="1" dirty="0" smtClean="0"/>
              <a:t>'</a:t>
            </a:r>
            <a:r>
              <a:rPr lang="en-US" altLang="zh-TW" dirty="0" smtClean="0"/>
              <a:t>)</a:t>
            </a:r>
            <a:r>
              <a:rPr lang="en-US" altLang="zh-TW" i="1" dirty="0" smtClean="0"/>
              <a:t>'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S'</a:t>
            </a:r>
            <a:r>
              <a:rPr lang="en-US" altLang="zh-TW" dirty="0" smtClean="0"/>
              <a:t>+ </a:t>
            </a:r>
            <a:r>
              <a:rPr lang="en-US" altLang="zh-TW" i="1" dirty="0" err="1" smtClean="0"/>
              <a:t>Ry</a:t>
            </a:r>
            <a:r>
              <a:rPr lang="en-US" altLang="zh-TW" smtClean="0"/>
              <a:t>  </a:t>
            </a:r>
            <a:endParaRPr lang="en-US" altLang="zh-TW" dirty="0" smtClean="0"/>
          </a:p>
          <a:p>
            <a:pPr lvl="1"/>
            <a:r>
              <a:rPr lang="en-US" altLang="zh-TW" i="1" dirty="0" smtClean="0"/>
              <a:t>S'R'</a:t>
            </a:r>
            <a:r>
              <a:rPr lang="en-US" altLang="zh-TW" dirty="0" smtClean="0"/>
              <a:t> latch</a:t>
            </a:r>
          </a:p>
          <a:p>
            <a:pPr eaLnBrk="1" hangingPunct="1"/>
            <a:endParaRPr lang="zh-TW" altLang="en-US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i="1" dirty="0" smtClean="0"/>
              <a:t>SR</a:t>
            </a:r>
            <a:r>
              <a:rPr lang="en-US" dirty="0" smtClean="0"/>
              <a:t> Latch with NAND Gates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1E1E761C-0048-43C9-A1C4-7A24E41F350F}" type="slidenum">
              <a:rPr lang="zh-TW" altLang="en-US"/>
              <a:pPr/>
              <a:t>27</a:t>
            </a:fld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Procedure to analyze an asynchronous sequential circuits with </a:t>
            </a:r>
            <a:r>
              <a:rPr lang="en-US" i="1" dirty="0" smtClean="0"/>
              <a:t>SR</a:t>
            </a:r>
            <a:r>
              <a:rPr lang="en-US" dirty="0" smtClean="0"/>
              <a:t> latches:</a:t>
            </a:r>
          </a:p>
          <a:p>
            <a:pPr lvl="1">
              <a:buNone/>
            </a:pPr>
            <a:r>
              <a:rPr lang="en-US" dirty="0" smtClean="0"/>
              <a:t>1. Label each latch output with </a:t>
            </a:r>
            <a:r>
              <a:rPr lang="en-US" i="1" dirty="0" smtClean="0"/>
              <a:t>Y</a:t>
            </a:r>
            <a:r>
              <a:rPr lang="en-US" i="1" baseline="-25000" dirty="0" smtClean="0"/>
              <a:t>i</a:t>
            </a:r>
            <a:r>
              <a:rPr lang="en-US" dirty="0" smtClean="0"/>
              <a:t> and its external feedback path (if any) with </a:t>
            </a:r>
            <a:r>
              <a:rPr lang="en-US" i="1" dirty="0" smtClean="0"/>
              <a:t>y</a:t>
            </a:r>
            <a:r>
              <a:rPr lang="en-US" i="1" baseline="-25000" dirty="0" smtClean="0"/>
              <a:t>i</a:t>
            </a:r>
          </a:p>
          <a:p>
            <a:pPr lvl="1">
              <a:buNone/>
            </a:pPr>
            <a:r>
              <a:rPr lang="en-US" dirty="0" smtClean="0"/>
              <a:t>2. Derive the Boolean functions for each </a:t>
            </a:r>
            <a:r>
              <a:rPr lang="en-US" i="1" dirty="0" smtClean="0"/>
              <a:t>S</a:t>
            </a:r>
            <a:r>
              <a:rPr lang="en-US" i="1" baseline="-25000" dirty="0" smtClean="0"/>
              <a:t>i</a:t>
            </a:r>
            <a:r>
              <a:rPr lang="en-US" dirty="0" smtClean="0"/>
              <a:t> and </a:t>
            </a:r>
            <a:r>
              <a:rPr lang="en-US" i="1" dirty="0" err="1" smtClean="0"/>
              <a:t>R</a:t>
            </a:r>
            <a:r>
              <a:rPr lang="en-US" i="1" baseline="-25000" dirty="0" err="1" smtClean="0"/>
              <a:t>i</a:t>
            </a:r>
            <a:endParaRPr lang="en-US" i="1" baseline="-25000" dirty="0" smtClean="0"/>
          </a:p>
          <a:p>
            <a:pPr lvl="1">
              <a:buNone/>
            </a:pPr>
            <a:r>
              <a:rPr lang="en-US" dirty="0" smtClean="0"/>
              <a:t>3. Check whether </a:t>
            </a:r>
            <a:r>
              <a:rPr lang="en-US" i="1" dirty="0" smtClean="0"/>
              <a:t>SR</a:t>
            </a:r>
            <a:r>
              <a:rPr lang="en-US" dirty="0" smtClean="0"/>
              <a:t>=0 (NOR latch) or </a:t>
            </a:r>
            <a:r>
              <a:rPr lang="en-US" i="1" dirty="0" smtClean="0"/>
              <a:t>S’R’</a:t>
            </a:r>
            <a:r>
              <a:rPr lang="en-US" dirty="0" smtClean="0"/>
              <a:t>=0 (NAND latch) is satisfied</a:t>
            </a:r>
          </a:p>
          <a:p>
            <a:pPr lvl="1">
              <a:buNone/>
            </a:pPr>
            <a:r>
              <a:rPr lang="en-US" dirty="0" smtClean="0"/>
              <a:t>4. Evaluate </a:t>
            </a:r>
            <a:r>
              <a:rPr lang="en-US" i="1" dirty="0" smtClean="0"/>
              <a:t>Y</a:t>
            </a:r>
            <a:r>
              <a:rPr lang="en-US" dirty="0" smtClean="0"/>
              <a:t>=</a:t>
            </a:r>
            <a:r>
              <a:rPr lang="en-US" i="1" dirty="0" err="1" smtClean="0"/>
              <a:t>S</a:t>
            </a:r>
            <a:r>
              <a:rPr lang="en-US" dirty="0" err="1" smtClean="0"/>
              <a:t>+</a:t>
            </a:r>
            <a:r>
              <a:rPr lang="en-US" i="1" dirty="0" err="1" smtClean="0"/>
              <a:t>R’y</a:t>
            </a:r>
            <a:r>
              <a:rPr lang="en-US" dirty="0" smtClean="0"/>
              <a:t> (NOR latch) or </a:t>
            </a:r>
            <a:r>
              <a:rPr lang="en-US" i="1" dirty="0" smtClean="0"/>
              <a:t>Y</a:t>
            </a:r>
            <a:r>
              <a:rPr lang="en-US" dirty="0" smtClean="0"/>
              <a:t>=</a:t>
            </a:r>
            <a:r>
              <a:rPr lang="en-US" i="1" dirty="0" err="1" smtClean="0"/>
              <a:t>S’</a:t>
            </a:r>
            <a:r>
              <a:rPr lang="en-US" dirty="0" err="1" smtClean="0"/>
              <a:t>+</a:t>
            </a:r>
            <a:r>
              <a:rPr lang="en-US" i="1" dirty="0" err="1" smtClean="0"/>
              <a:t>Ry</a:t>
            </a:r>
            <a:r>
              <a:rPr lang="en-US" dirty="0" smtClean="0"/>
              <a:t>(NAND latch)</a:t>
            </a:r>
          </a:p>
          <a:p>
            <a:pPr lvl="1">
              <a:buNone/>
            </a:pPr>
            <a:r>
              <a:rPr lang="en-US" dirty="0" smtClean="0"/>
              <a:t>5. Construct the transition table for </a:t>
            </a:r>
            <a:r>
              <a:rPr lang="en-US" i="1" dirty="0" smtClean="0"/>
              <a:t>Y</a:t>
            </a:r>
            <a:r>
              <a:rPr lang="en-US" dirty="0" smtClean="0"/>
              <a:t>=</a:t>
            </a:r>
            <a:r>
              <a:rPr lang="en-US" i="1" dirty="0" smtClean="0"/>
              <a:t>Y</a:t>
            </a:r>
            <a:r>
              <a:rPr lang="en-US" i="1" baseline="-25000" dirty="0" smtClean="0"/>
              <a:t>1</a:t>
            </a:r>
            <a:r>
              <a:rPr lang="en-US" i="1" dirty="0" smtClean="0"/>
              <a:t>Y</a:t>
            </a:r>
            <a:r>
              <a:rPr lang="en-US" i="1" baseline="-25000" dirty="0" smtClean="0"/>
              <a:t>2</a:t>
            </a:r>
            <a:r>
              <a:rPr lang="en-US" i="1" dirty="0" smtClean="0"/>
              <a:t>…Y</a:t>
            </a:r>
            <a:r>
              <a:rPr lang="en-US" i="1" baseline="-25000" dirty="0" smtClean="0"/>
              <a:t>k</a:t>
            </a:r>
          </a:p>
          <a:p>
            <a:pPr lvl="1">
              <a:buNone/>
            </a:pPr>
            <a:r>
              <a:rPr lang="en-US" dirty="0" smtClean="0"/>
              <a:t>6. Circle all stable states where </a:t>
            </a:r>
            <a:r>
              <a:rPr lang="en-US" i="1" dirty="0" smtClean="0"/>
              <a:t>Y</a:t>
            </a:r>
            <a:r>
              <a:rPr lang="en-US" dirty="0" smtClean="0"/>
              <a:t>=</a:t>
            </a:r>
            <a:r>
              <a:rPr lang="en-US" i="1" dirty="0" smtClean="0"/>
              <a:t>y</a:t>
            </a:r>
            <a:endParaRPr lang="zh-TW" altLang="en-US" i="1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dirty="0" smtClean="0"/>
              <a:t>Analysis Procedure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1E1E761C-0048-43C9-A1C4-7A24E41F350F}" type="slidenum">
              <a:rPr lang="zh-TW" altLang="en-US"/>
              <a:pPr/>
              <a:t>28</a:t>
            </a:fld>
            <a:endParaRPr lang="en-US" altLang="zh-TW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TW" altLang="en-US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dirty="0" smtClean="0"/>
              <a:t>Analysis Example</a:t>
            </a:r>
            <a:endParaRPr lang="zh-TW" altLang="en-US" dirty="0" smtClean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lum bright="-18000" contrast="36000"/>
          </a:blip>
          <a:srcRect/>
          <a:stretch>
            <a:fillRect/>
          </a:stretch>
        </p:blipFill>
        <p:spPr bwMode="auto">
          <a:xfrm>
            <a:off x="914400" y="1635252"/>
            <a:ext cx="6159500" cy="4311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87362" y="6081712"/>
            <a:ext cx="61610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dirty="0"/>
              <a:t>Fig. </a:t>
            </a:r>
            <a:r>
              <a:rPr lang="en-US" altLang="zh-TW" dirty="0" smtClean="0"/>
              <a:t>9.12: Examples </a:t>
            </a:r>
            <a:r>
              <a:rPr lang="en-US" altLang="zh-TW" dirty="0"/>
              <a:t>of a circuit with </a:t>
            </a:r>
            <a:r>
              <a:rPr lang="en-US" altLang="zh-TW" i="1" dirty="0"/>
              <a:t>SR</a:t>
            </a:r>
            <a:r>
              <a:rPr lang="en-US" altLang="zh-TW" dirty="0"/>
              <a:t> latch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B7B5E76A-4DE0-4389-8EBF-C11B42FFBBF0}" type="slidenum">
              <a:rPr lang="zh-TW" altLang="en-US"/>
              <a:pPr/>
              <a:t>29</a:t>
            </a:fld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Label each latch output with </a:t>
            </a:r>
            <a:r>
              <a:rPr lang="en-US" altLang="zh-TW" i="1" dirty="0" smtClean="0"/>
              <a:t>Y</a:t>
            </a:r>
            <a:r>
              <a:rPr lang="en-US" altLang="zh-TW" i="1" baseline="-25000" dirty="0" smtClean="0"/>
              <a:t>i</a:t>
            </a:r>
            <a:r>
              <a:rPr lang="en-US" altLang="zh-TW" dirty="0" smtClean="0"/>
              <a:t> and its external feedback path with </a:t>
            </a:r>
            <a:r>
              <a:rPr lang="en-US" altLang="zh-TW" i="1" dirty="0" smtClean="0"/>
              <a:t>y</a:t>
            </a:r>
            <a:r>
              <a:rPr lang="en-US" altLang="zh-TW" i="1" baseline="-25000" dirty="0" smtClean="0"/>
              <a:t>i</a:t>
            </a:r>
            <a:endParaRPr lang="en-US" altLang="zh-TW" i="1" dirty="0" smtClean="0"/>
          </a:p>
          <a:p>
            <a:r>
              <a:rPr lang="en-US" altLang="zh-TW" dirty="0" smtClean="0"/>
              <a:t>Derive the Boolean functions for the </a:t>
            </a:r>
            <a:r>
              <a:rPr lang="en-US" altLang="zh-TW" i="1" dirty="0" smtClean="0"/>
              <a:t>S</a:t>
            </a:r>
            <a:r>
              <a:rPr lang="en-US" altLang="zh-TW" i="1" baseline="-25000" dirty="0" smtClean="0"/>
              <a:t>i</a:t>
            </a:r>
            <a:r>
              <a:rPr lang="en-US" altLang="zh-TW" dirty="0" smtClean="0"/>
              <a:t> and </a:t>
            </a:r>
            <a:r>
              <a:rPr lang="en-US" altLang="zh-TW" i="1" dirty="0" err="1" smtClean="0"/>
              <a:t>R</a:t>
            </a:r>
            <a:r>
              <a:rPr lang="en-US" altLang="zh-TW" i="1" baseline="-25000" dirty="0" err="1" smtClean="0"/>
              <a:t>i</a:t>
            </a:r>
            <a:endParaRPr lang="en-US" altLang="zh-TW" i="1" dirty="0" smtClean="0"/>
          </a:p>
          <a:p>
            <a:pPr lvl="1"/>
            <a:r>
              <a:rPr lang="en-US" altLang="zh-TW" i="1" dirty="0" smtClean="0"/>
              <a:t>S</a:t>
            </a:r>
            <a:r>
              <a:rPr lang="en-US" altLang="zh-TW" baseline="-25000" dirty="0" smtClean="0"/>
              <a:t>1 </a:t>
            </a:r>
            <a:r>
              <a:rPr lang="en-US" altLang="zh-TW" dirty="0" smtClean="0"/>
              <a:t>= 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y</a:t>
            </a:r>
            <a:r>
              <a:rPr lang="en-US" altLang="zh-TW" baseline="-25000" dirty="0" smtClean="0"/>
              <a:t>2</a:t>
            </a:r>
            <a:endParaRPr lang="en-US" altLang="zh-TW" dirty="0" smtClean="0"/>
          </a:p>
          <a:p>
            <a:pPr lvl="1"/>
            <a:r>
              <a:rPr lang="en-US" altLang="zh-TW" i="1" dirty="0" smtClean="0"/>
              <a:t>R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x'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x'</a:t>
            </a:r>
            <a:r>
              <a:rPr lang="en-US" altLang="zh-TW" baseline="-25000" dirty="0" smtClean="0"/>
              <a:t>2</a:t>
            </a:r>
            <a:endParaRPr lang="en-US" altLang="zh-TW" dirty="0" smtClean="0"/>
          </a:p>
          <a:p>
            <a:pPr lvl="1"/>
            <a:r>
              <a:rPr lang="en-US" altLang="zh-TW" i="1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2</a:t>
            </a:r>
            <a:endParaRPr lang="en-US" altLang="zh-TW" dirty="0" smtClean="0"/>
          </a:p>
          <a:p>
            <a:pPr lvl="1"/>
            <a:r>
              <a:rPr lang="en-US" altLang="zh-TW" i="1" dirty="0" smtClean="0"/>
              <a:t>R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'</a:t>
            </a:r>
            <a:r>
              <a:rPr lang="en-US" altLang="zh-TW" baseline="-25000" dirty="0" smtClean="0"/>
              <a:t>2</a:t>
            </a:r>
            <a:r>
              <a:rPr lang="en-US" altLang="zh-TW" i="1" dirty="0" smtClean="0"/>
              <a:t>y</a:t>
            </a:r>
            <a:r>
              <a:rPr lang="en-US" altLang="zh-TW" baseline="-25000" dirty="0" smtClean="0"/>
              <a:t>1</a:t>
            </a:r>
          </a:p>
          <a:p>
            <a:r>
              <a:rPr lang="en-US" altLang="zh-TW" dirty="0" smtClean="0"/>
              <a:t>Check whether </a:t>
            </a:r>
            <a:r>
              <a:rPr lang="en-US" altLang="zh-TW" i="1" dirty="0" smtClean="0"/>
              <a:t>SR</a:t>
            </a:r>
            <a:r>
              <a:rPr lang="en-US" altLang="zh-TW" dirty="0" smtClean="0"/>
              <a:t>=0 for each NOR latch or whether </a:t>
            </a:r>
            <a:r>
              <a:rPr lang="en-US" altLang="zh-TW" i="1" dirty="0" smtClean="0"/>
              <a:t>S'R'</a:t>
            </a:r>
            <a:r>
              <a:rPr lang="en-US" altLang="zh-TW" dirty="0" smtClean="0"/>
              <a:t>=0 for each NAND latch</a:t>
            </a:r>
          </a:p>
          <a:p>
            <a:pPr lvl="1"/>
            <a:r>
              <a:rPr lang="en-US" altLang="zh-TW" i="1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R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y</a:t>
            </a:r>
            <a:r>
              <a:rPr lang="en-US" altLang="zh-TW" baseline="-25000" dirty="0" smtClean="0"/>
              <a:t>2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'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'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0</a:t>
            </a:r>
          </a:p>
          <a:p>
            <a:pPr lvl="1"/>
            <a:r>
              <a:rPr lang="en-US" altLang="zh-TW" i="1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i="1" dirty="0" smtClean="0"/>
              <a:t>R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2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'</a:t>
            </a:r>
            <a:r>
              <a:rPr lang="en-US" altLang="zh-TW" baseline="-25000" dirty="0" smtClean="0"/>
              <a:t>2</a:t>
            </a:r>
            <a:r>
              <a:rPr lang="en-US" altLang="zh-TW" i="1" dirty="0" smtClean="0"/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0</a:t>
            </a:r>
          </a:p>
          <a:p>
            <a:pPr lvl="2" eaLnBrk="1" hangingPunct="1"/>
            <a:endParaRPr lang="en-US" altLang="zh-TW" baseline="-25000" dirty="0" smtClean="0"/>
          </a:p>
          <a:p>
            <a:pPr lvl="2" eaLnBrk="1" hangingPunct="1"/>
            <a:endParaRPr lang="zh-TW" altLang="en-US" baseline="-250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dirty="0" smtClean="0"/>
              <a:t>Analysis Example</a:t>
            </a:r>
            <a:endParaRPr lang="zh-TW" altLang="en-US" dirty="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B7B5E76A-4DE0-4389-8EBF-C11B42FFBBF0}" type="slidenum">
              <a:rPr lang="zh-TW" altLang="en-US"/>
              <a:pPr/>
              <a:t>30</a:t>
            </a:fld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Evaluate Y = S +</a:t>
            </a:r>
            <a:r>
              <a:rPr lang="en-US" altLang="zh-TW" dirty="0" err="1" smtClean="0"/>
              <a:t>R'y</a:t>
            </a:r>
            <a:r>
              <a:rPr lang="en-US" altLang="zh-TW" dirty="0" smtClean="0"/>
              <a:t> for each NOR latch or Y = S' + </a:t>
            </a:r>
            <a:r>
              <a:rPr lang="en-US" altLang="zh-TW" dirty="0" err="1" smtClean="0"/>
              <a:t>Ry</a:t>
            </a:r>
            <a:r>
              <a:rPr lang="en-US" altLang="zh-TW" dirty="0" smtClean="0"/>
              <a:t> for each NAND latch</a:t>
            </a:r>
          </a:p>
          <a:p>
            <a:pPr lvl="1"/>
            <a:r>
              <a:rPr lang="en-US" altLang="zh-TW" dirty="0" smtClean="0"/>
              <a:t>Y</a:t>
            </a:r>
            <a:r>
              <a:rPr lang="en-US" altLang="zh-TW" baseline="-25000" dirty="0" smtClean="0"/>
              <a:t>1 </a:t>
            </a:r>
            <a:r>
              <a:rPr lang="en-US" altLang="zh-TW" dirty="0" smtClean="0"/>
              <a:t>= 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+ (x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+x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)y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+x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+x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1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Y</a:t>
            </a:r>
            <a:r>
              <a:rPr lang="en-US" altLang="zh-TW" baseline="-25000" dirty="0" smtClean="0"/>
              <a:t>2 </a:t>
            </a:r>
            <a:r>
              <a:rPr lang="en-US" altLang="zh-TW" dirty="0" smtClean="0"/>
              <a:t>= 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+ (x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+y'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)y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+x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+y'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2</a:t>
            </a:r>
            <a:endParaRPr lang="en-US" altLang="zh-TW" dirty="0" smtClean="0"/>
          </a:p>
          <a:p>
            <a:r>
              <a:rPr lang="en-US" altLang="zh-TW" dirty="0" smtClean="0"/>
              <a:t>Construct the state transition table</a:t>
            </a:r>
            <a:endParaRPr lang="zh-TW" altLang="en-US" dirty="0" smtClean="0"/>
          </a:p>
          <a:p>
            <a:r>
              <a:rPr lang="en-US" altLang="zh-TW" dirty="0" smtClean="0"/>
              <a:t>Circle all stable states</a:t>
            </a:r>
          </a:p>
          <a:p>
            <a:endParaRPr lang="zh-TW" altLang="en-US" baseline="-250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dirty="0" smtClean="0"/>
              <a:t>Analysis Example</a:t>
            </a:r>
            <a:endParaRPr lang="zh-TW" altLang="en-US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B7B5E76A-4DE0-4389-8EBF-C11B42FFBBF0}" type="slidenum">
              <a:rPr lang="zh-TW" altLang="en-US"/>
              <a:pPr/>
              <a:t>31</a:t>
            </a:fld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Race example:</a:t>
            </a:r>
          </a:p>
          <a:p>
            <a:pPr lvl="1"/>
            <a:r>
              <a:rPr lang="en-US" altLang="zh-TW" dirty="0" smtClean="0"/>
              <a:t>Let initial state is</a:t>
            </a:r>
          </a:p>
          <a:p>
            <a:pPr lvl="1">
              <a:buNone/>
            </a:pPr>
            <a:r>
              <a:rPr lang="en-US" altLang="zh-TW" dirty="0" smtClean="0"/>
              <a:t>   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=1101</a:t>
            </a:r>
          </a:p>
          <a:p>
            <a:pPr lvl="1">
              <a:buNone/>
            </a:pPr>
            <a:r>
              <a:rPr lang="en-US" altLang="zh-TW" dirty="0" smtClean="0"/>
              <a:t>   input 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is changed to 0</a:t>
            </a:r>
          </a:p>
          <a:p>
            <a:pPr lvl="1">
              <a:buNone/>
            </a:pPr>
            <a:r>
              <a:rPr lang="en-US" altLang="zh-TW" dirty="0" smtClean="0"/>
              <a:t>   if 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change to 0 before Y</a:t>
            </a:r>
            <a:r>
              <a:rPr lang="en-US" altLang="zh-TW" baseline="-25000" dirty="0" smtClean="0"/>
              <a:t>2</a:t>
            </a:r>
          </a:p>
          <a:p>
            <a:pPr lvl="1">
              <a:buNone/>
            </a:pPr>
            <a:r>
              <a:rPr lang="en-US" altLang="zh-TW" dirty="0" smtClean="0"/>
              <a:t>   then  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=0100</a:t>
            </a:r>
          </a:p>
          <a:p>
            <a:pPr lvl="1">
              <a:buNone/>
            </a:pPr>
            <a:r>
              <a:rPr lang="en-US" altLang="zh-TW" dirty="0" smtClean="0"/>
              <a:t>   instead of 0000</a:t>
            </a:r>
          </a:p>
          <a:p>
            <a:endParaRPr lang="zh-TW" altLang="en-US" baseline="-25000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dirty="0" smtClean="0"/>
              <a:t>Analysis Example</a:t>
            </a:r>
            <a:endParaRPr lang="zh-TW" altLang="en-US" dirty="0" smtClean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4862513" y="1495425"/>
            <a:ext cx="3744912" cy="355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532438" y="5153025"/>
            <a:ext cx="304006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000" dirty="0"/>
              <a:t>Fig. 9.13</a:t>
            </a:r>
          </a:p>
          <a:p>
            <a:r>
              <a:rPr lang="en-US" altLang="zh-TW" sz="2000" dirty="0"/>
              <a:t>Transition table for the circuit of Fig. </a:t>
            </a:r>
            <a:r>
              <a:rPr lang="en-US" altLang="zh-TW" sz="2000" dirty="0" smtClean="0"/>
              <a:t>9.</a:t>
            </a:r>
            <a:endParaRPr lang="en-US" altLang="zh-TW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152525" y="2403475"/>
            <a:ext cx="3455988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ym typeface="Symbol" pitchFamily="18" charset="2"/>
              </a:rPr>
              <a:t>For </a:t>
            </a:r>
            <a:r>
              <a:rPr lang="en-US" altLang="zh-TW" i="1" dirty="0" smtClean="0">
                <a:sym typeface="Symbol" pitchFamily="18" charset="2"/>
              </a:rPr>
              <a:t>SR</a:t>
            </a:r>
            <a:r>
              <a:rPr lang="en-US" altLang="zh-TW" dirty="0" smtClean="0">
                <a:sym typeface="Symbol" pitchFamily="18" charset="2"/>
              </a:rPr>
              <a:t> latch: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sz="2800" dirty="0" smtClean="0">
                <a:solidFill>
                  <a:schemeClr val="folHlink"/>
                </a:solidFill>
              </a:rPr>
              <a:t>Latch Excitation Table</a:t>
            </a:r>
            <a:endParaRPr lang="en-US" altLang="zh-TW" dirty="0"/>
          </a:p>
        </p:txBody>
      </p:sp>
      <p:sp>
        <p:nvSpPr>
          <p:cNvPr id="8" name="TextBox 7"/>
          <p:cNvSpPr txBox="1"/>
          <p:nvPr/>
        </p:nvSpPr>
        <p:spPr>
          <a:xfrm>
            <a:off x="3714750" y="3962400"/>
            <a:ext cx="49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0</a:t>
            </a:r>
            <a:endParaRPr lang="en-US" sz="24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1E1E761C-0048-43C9-A1C4-7A24E41F350F}" type="slidenum">
              <a:rPr lang="zh-TW" altLang="en-US"/>
              <a:pPr/>
              <a:t>33</a:t>
            </a:fld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Procedure to implement an asynchronous sequential circuits with SR latches:</a:t>
            </a:r>
          </a:p>
          <a:p>
            <a:pPr lvl="1">
              <a:buNone/>
            </a:pPr>
            <a:r>
              <a:rPr lang="en-US" dirty="0" smtClean="0"/>
              <a:t>1. Given a transition table that specifies the excitation function </a:t>
            </a:r>
            <a:r>
              <a:rPr lang="en-US" i="1" dirty="0" smtClean="0"/>
              <a:t>Y</a:t>
            </a:r>
            <a:r>
              <a:rPr lang="en-US" dirty="0" smtClean="0"/>
              <a:t> = </a:t>
            </a:r>
            <a:r>
              <a:rPr lang="en-US" i="1" dirty="0" smtClean="0"/>
              <a:t>Y</a:t>
            </a:r>
            <a:r>
              <a:rPr lang="en-US" baseline="-25000" dirty="0" smtClean="0"/>
              <a:t>1</a:t>
            </a:r>
            <a:r>
              <a:rPr lang="en-US" i="1" dirty="0" smtClean="0"/>
              <a:t>Y</a:t>
            </a:r>
            <a:r>
              <a:rPr lang="en-US" baseline="-25000" dirty="0" smtClean="0"/>
              <a:t>2</a:t>
            </a:r>
            <a:r>
              <a:rPr lang="en-US" dirty="0" smtClean="0"/>
              <a:t>…</a:t>
            </a:r>
            <a:r>
              <a:rPr lang="en-US" i="1" dirty="0" smtClean="0"/>
              <a:t>Y</a:t>
            </a:r>
            <a:r>
              <a:rPr lang="en-US" baseline="-25000" dirty="0" smtClean="0"/>
              <a:t>k</a:t>
            </a:r>
            <a:r>
              <a:rPr lang="en-US" dirty="0" smtClean="0"/>
              <a:t>, derive a pair of maps for each </a:t>
            </a:r>
            <a:r>
              <a:rPr lang="en-US" i="1" dirty="0" smtClean="0"/>
              <a:t>S</a:t>
            </a:r>
            <a:r>
              <a:rPr lang="en-US" baseline="-25000" dirty="0" smtClean="0"/>
              <a:t>i</a:t>
            </a:r>
            <a:r>
              <a:rPr lang="en-US" dirty="0" smtClean="0"/>
              <a:t> and </a:t>
            </a:r>
            <a:r>
              <a:rPr lang="en-US" i="1" dirty="0" err="1" smtClean="0"/>
              <a:t>R</a:t>
            </a:r>
            <a:r>
              <a:rPr lang="en-US" baseline="-25000" dirty="0" err="1" smtClean="0"/>
              <a:t>i</a:t>
            </a:r>
            <a:r>
              <a:rPr lang="en-US" dirty="0" smtClean="0"/>
              <a:t> using the latch excitation table</a:t>
            </a:r>
          </a:p>
          <a:p>
            <a:pPr lvl="1">
              <a:buNone/>
            </a:pPr>
            <a:r>
              <a:rPr lang="en-US" dirty="0" smtClean="0"/>
              <a:t>2. Derive the Boolean functions for each </a:t>
            </a:r>
            <a:r>
              <a:rPr lang="en-US" i="1" dirty="0" smtClean="0"/>
              <a:t>S</a:t>
            </a:r>
            <a:r>
              <a:rPr lang="en-US" baseline="-25000" dirty="0" smtClean="0"/>
              <a:t>i</a:t>
            </a:r>
            <a:r>
              <a:rPr lang="en-US" dirty="0" smtClean="0"/>
              <a:t> and </a:t>
            </a:r>
            <a:r>
              <a:rPr lang="en-US" i="1" dirty="0" err="1" smtClean="0"/>
              <a:t>R</a:t>
            </a:r>
            <a:r>
              <a:rPr lang="en-US" baseline="-25000" dirty="0" err="1" smtClean="0"/>
              <a:t>i</a:t>
            </a:r>
            <a:r>
              <a:rPr lang="en-US" dirty="0" smtClean="0"/>
              <a:t> (do not to make </a:t>
            </a:r>
            <a:r>
              <a:rPr lang="en-US" i="1" dirty="0" smtClean="0"/>
              <a:t>S</a:t>
            </a:r>
            <a:r>
              <a:rPr lang="en-US" baseline="-25000" dirty="0" smtClean="0"/>
              <a:t>i</a:t>
            </a:r>
            <a:r>
              <a:rPr lang="en-US" dirty="0" smtClean="0"/>
              <a:t> and </a:t>
            </a:r>
            <a:r>
              <a:rPr lang="en-US" i="1" dirty="0" err="1" smtClean="0"/>
              <a:t>R</a:t>
            </a:r>
            <a:r>
              <a:rPr lang="en-US" baseline="-25000" dirty="0" err="1" smtClean="0"/>
              <a:t>i</a:t>
            </a:r>
            <a:r>
              <a:rPr lang="en-US" dirty="0" smtClean="0"/>
              <a:t> equal to 1 in the same </a:t>
            </a:r>
            <a:r>
              <a:rPr lang="en-US" dirty="0" err="1" smtClean="0"/>
              <a:t>minterm</a:t>
            </a:r>
            <a:r>
              <a:rPr lang="en-US" dirty="0" smtClean="0"/>
              <a:t> square)</a:t>
            </a:r>
          </a:p>
          <a:p>
            <a:pPr lvl="1">
              <a:buNone/>
            </a:pPr>
            <a:r>
              <a:rPr lang="en-US" dirty="0" smtClean="0"/>
              <a:t>3. Draw the logic diagram using </a:t>
            </a:r>
            <a:r>
              <a:rPr lang="en-US" i="1" dirty="0" smtClean="0"/>
              <a:t>k</a:t>
            </a:r>
            <a:r>
              <a:rPr lang="en-US" dirty="0" smtClean="0"/>
              <a:t> latches together with the gates required to generate the </a:t>
            </a:r>
            <a:r>
              <a:rPr lang="en-US" i="1" dirty="0" smtClean="0"/>
              <a:t>S</a:t>
            </a:r>
            <a:r>
              <a:rPr lang="en-US" dirty="0" smtClean="0"/>
              <a:t> and </a:t>
            </a:r>
            <a:r>
              <a:rPr lang="en-US" i="1" dirty="0" smtClean="0"/>
              <a:t>R </a:t>
            </a:r>
            <a:r>
              <a:rPr lang="en-US" dirty="0" smtClean="0"/>
              <a:t>(for NAND latch, use the complemented values in step 2)</a:t>
            </a:r>
            <a:endParaRPr lang="zh-TW" altLang="en-US" i="1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dirty="0" smtClean="0"/>
              <a:t>Implementation Procedure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1E1E761C-0048-43C9-A1C4-7A24E41F350F}" type="slidenum">
              <a:rPr lang="zh-TW" altLang="en-US"/>
              <a:pPr/>
              <a:t>34</a:t>
            </a:fld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dirty="0" smtClean="0"/>
              <a:t>Determine the Boolean functions for the S and R inputs of each latch</a:t>
            </a:r>
          </a:p>
          <a:p>
            <a:pPr>
              <a:lnSpc>
                <a:spcPct val="90000"/>
              </a:lnSpc>
            </a:pPr>
            <a:r>
              <a:rPr lang="en-US" altLang="zh-TW" dirty="0" smtClean="0"/>
              <a:t>Given a transition table</a:t>
            </a:r>
          </a:p>
          <a:p>
            <a:r>
              <a:rPr lang="en-US" altLang="zh-TW" dirty="0" smtClean="0">
                <a:sym typeface="Symbol" pitchFamily="18" charset="2"/>
              </a:rPr>
              <a:t>From maps: the simplified Boolean functions are</a:t>
            </a:r>
          </a:p>
          <a:p>
            <a:endParaRPr lang="en-US" altLang="zh-TW" dirty="0" smtClean="0">
              <a:sym typeface="Symbol" pitchFamily="18" charset="2"/>
            </a:endParaRPr>
          </a:p>
          <a:p>
            <a:endParaRPr lang="en-US" altLang="zh-TW" dirty="0" smtClean="0">
              <a:sym typeface="Symbol" pitchFamily="18" charset="2"/>
            </a:endParaRPr>
          </a:p>
          <a:p>
            <a:endParaRPr lang="zh-TW" altLang="en-US" i="1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dirty="0" smtClean="0"/>
              <a:t>Implementation Example</a:t>
            </a:r>
            <a:endParaRPr lang="zh-TW" altLang="en-US" dirty="0" smtClean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lum contrast="24000"/>
          </a:blip>
          <a:srcRect/>
          <a:stretch>
            <a:fillRect/>
          </a:stretch>
        </p:blipFill>
        <p:spPr bwMode="auto">
          <a:xfrm>
            <a:off x="858838" y="3386138"/>
            <a:ext cx="3816350" cy="390525"/>
          </a:xfrm>
          <a:prstGeom prst="rect">
            <a:avLst/>
          </a:prstGeom>
          <a:noFill/>
          <a:ln w="28575">
            <a:solidFill>
              <a:srgbClr val="009999"/>
            </a:solidFill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 cstate="print">
            <a:lum bright="-12000" contrast="36000"/>
          </a:blip>
          <a:srcRect/>
          <a:stretch>
            <a:fillRect/>
          </a:stretch>
        </p:blipFill>
        <p:spPr bwMode="auto">
          <a:xfrm>
            <a:off x="858838" y="4027488"/>
            <a:ext cx="3827462" cy="365125"/>
          </a:xfrm>
          <a:prstGeom prst="rect">
            <a:avLst/>
          </a:prstGeom>
          <a:noFill/>
          <a:ln w="28575">
            <a:solidFill>
              <a:srgbClr val="009999"/>
            </a:solidFill>
            <a:miter lim="800000"/>
            <a:headEnd/>
            <a:tailEnd/>
          </a:ln>
        </p:spPr>
      </p:pic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5024438" y="3473450"/>
            <a:ext cx="863600" cy="215900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rgbClr val="85FFD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5026025" y="4100513"/>
            <a:ext cx="863600" cy="215900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rgbClr val="85FFD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096000" y="3352800"/>
            <a:ext cx="1530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/>
              <a:t>NOR latch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092825" y="3979863"/>
            <a:ext cx="1717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dirty="0"/>
              <a:t>NAND latch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E6114D90-8C74-458F-A69A-2DA0685742D5}" type="slidenum">
              <a:rPr lang="zh-TW" altLang="en-US"/>
              <a:pPr/>
              <a:t>35</a:t>
            </a:fld>
            <a:endParaRPr lang="en-US" altLang="zh-TW"/>
          </a:p>
        </p:txBody>
      </p:sp>
      <p:pic>
        <p:nvPicPr>
          <p:cNvPr id="30723" name="Picture 6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2489200" y="96838"/>
            <a:ext cx="2722563" cy="205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4" name="Picture 7"/>
          <p:cNvPicPr>
            <a:picLocks noChangeAspect="1" noChangeArrowheads="1"/>
          </p:cNvPicPr>
          <p:nvPr/>
        </p:nvPicPr>
        <p:blipFill>
          <a:blip r:embed="rId3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2489200" y="2112963"/>
            <a:ext cx="2722563" cy="189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8"/>
          <p:cNvPicPr>
            <a:picLocks noChangeAspect="1" noChangeArrowheads="1"/>
          </p:cNvPicPr>
          <p:nvPr/>
        </p:nvPicPr>
        <p:blipFill>
          <a:blip r:embed="rId4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6089650" y="2112963"/>
            <a:ext cx="2730500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6" name="Picture 9"/>
          <p:cNvPicPr>
            <a:picLocks noChangeAspect="1" noChangeArrowheads="1"/>
          </p:cNvPicPr>
          <p:nvPr/>
        </p:nvPicPr>
        <p:blipFill>
          <a:blip r:embed="rId5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112713" y="4019550"/>
            <a:ext cx="8996362" cy="272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 Box 11"/>
          <p:cNvSpPr txBox="1">
            <a:spLocks noChangeArrowheads="1"/>
          </p:cNvSpPr>
          <p:nvPr/>
        </p:nvSpPr>
        <p:spPr bwMode="auto">
          <a:xfrm>
            <a:off x="179388" y="1412875"/>
            <a:ext cx="2232025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/>
              <a:t>Fig. 9.14</a:t>
            </a:r>
          </a:p>
          <a:p>
            <a:r>
              <a:rPr lang="en-US" altLang="zh-TW" dirty="0"/>
              <a:t>Derivation of a latch circuit from a transition table</a:t>
            </a:r>
          </a:p>
        </p:txBody>
      </p:sp>
      <p:pic>
        <p:nvPicPr>
          <p:cNvPr id="30728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67400" y="188913"/>
            <a:ext cx="258127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1E1E761C-0048-43C9-A1C4-7A24E41F350F}" type="slidenum">
              <a:rPr lang="zh-TW" altLang="en-US"/>
              <a:pPr/>
              <a:t>36</a:t>
            </a:fld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Mechanical switches are often used to generate binary signals to a digital circuit</a:t>
            </a:r>
          </a:p>
          <a:p>
            <a:pPr lvl="1"/>
            <a:r>
              <a:rPr lang="en-US" dirty="0" smtClean="0"/>
              <a:t>It may vibrate or bounce several times before going to a final rest</a:t>
            </a:r>
          </a:p>
          <a:p>
            <a:pPr lvl="1"/>
            <a:r>
              <a:rPr lang="en-US" dirty="0" smtClean="0"/>
              <a:t>Cause the signal to oscillate between 1 and 0</a:t>
            </a:r>
            <a:endParaRPr lang="zh-TW" altLang="en-US" i="1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err="1" smtClean="0"/>
              <a:t>Debounce</a:t>
            </a:r>
            <a:r>
              <a:rPr lang="en-US" altLang="zh-TW" dirty="0" smtClean="0"/>
              <a:t> Circuit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1E1E761C-0048-43C9-A1C4-7A24E41F350F}" type="slidenum">
              <a:rPr lang="zh-TW" altLang="en-US"/>
              <a:pPr/>
              <a:t>37</a:t>
            </a:fld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err="1" smtClean="0"/>
              <a:t>debounce</a:t>
            </a:r>
            <a:r>
              <a:rPr lang="en-US" dirty="0" smtClean="0"/>
              <a:t> circuit can remove the series of pulses from a contact bounce and produce a single smooth transition</a:t>
            </a:r>
          </a:p>
          <a:p>
            <a:pPr lvl="1"/>
            <a:r>
              <a:rPr lang="en-US" dirty="0" smtClean="0"/>
              <a:t>Position A (SR=01)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bouncing (SR=11)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Position B (SR=10)</a:t>
            </a:r>
          </a:p>
          <a:p>
            <a:pPr lvl="1"/>
            <a:r>
              <a:rPr lang="en-US" dirty="0" smtClean="0"/>
              <a:t>Q = 1 (set)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Q = 1 (no change)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Q = 0 (reset)</a:t>
            </a:r>
            <a:endParaRPr lang="zh-TW" altLang="en-US" i="1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err="1" smtClean="0"/>
              <a:t>Debounce</a:t>
            </a:r>
            <a:r>
              <a:rPr lang="en-US" altLang="zh-TW" dirty="0" smtClean="0"/>
              <a:t> Circuit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552451" y="4104089"/>
            <a:ext cx="7067550" cy="1887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362075" y="6211669"/>
            <a:ext cx="5743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dirty="0"/>
              <a:t>Fig. </a:t>
            </a:r>
            <a:r>
              <a:rPr lang="en-US" altLang="zh-TW" dirty="0" smtClean="0"/>
              <a:t>9.15: </a:t>
            </a:r>
            <a:r>
              <a:rPr lang="en-US" altLang="zh-TW" dirty="0" err="1" smtClean="0"/>
              <a:t>Debounce</a:t>
            </a:r>
            <a:r>
              <a:rPr lang="en-US" altLang="zh-TW" dirty="0" smtClean="0"/>
              <a:t> </a:t>
            </a:r>
            <a:r>
              <a:rPr lang="en-US" altLang="zh-TW" dirty="0"/>
              <a:t>circuit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3352800"/>
            <a:ext cx="1524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A1A58984-E8A6-4F28-B246-9764ECD20A02}" type="slidenum">
              <a:rPr lang="zh-TW" altLang="en-US"/>
              <a:pPr/>
              <a:t>38</a:t>
            </a:fld>
            <a:endParaRPr lang="en-US" altLang="zh-TW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Design Procedure</a:t>
            </a:r>
            <a:endParaRPr lang="zh-TW" altLang="en-US" dirty="0" smtClean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Design specifications</a:t>
            </a:r>
          </a:p>
          <a:p>
            <a:pPr>
              <a:buNone/>
            </a:pPr>
            <a:r>
              <a:rPr lang="en-AU" dirty="0" smtClean="0"/>
              <a:t>	(</a:t>
            </a:r>
            <a:r>
              <a:rPr lang="en-AU" dirty="0" err="1" smtClean="0"/>
              <a:t>i</a:t>
            </a:r>
            <a:r>
              <a:rPr lang="en-AU" dirty="0" smtClean="0"/>
              <a:t>) Obtain a primitive table from specifications</a:t>
            </a:r>
          </a:p>
          <a:p>
            <a:pPr>
              <a:buNone/>
            </a:pPr>
            <a:r>
              <a:rPr lang="en-AU" dirty="0" smtClean="0"/>
              <a:t>	(ii) Reduce flow table by merging rows in the primitive flow table</a:t>
            </a:r>
          </a:p>
          <a:p>
            <a:pPr>
              <a:buNone/>
            </a:pPr>
            <a:r>
              <a:rPr lang="en-AU" dirty="0" smtClean="0"/>
              <a:t>	(iii) Assign binary state variables to each row of reduced table</a:t>
            </a:r>
          </a:p>
          <a:p>
            <a:pPr>
              <a:buNone/>
            </a:pPr>
            <a:r>
              <a:rPr lang="en-AU" dirty="0" smtClean="0"/>
              <a:t>	(iv) Assign output values to dashes associated with unstable states to obtain the output map</a:t>
            </a:r>
          </a:p>
          <a:p>
            <a:pPr>
              <a:buNone/>
            </a:pPr>
            <a:r>
              <a:rPr lang="en-AU" dirty="0" smtClean="0"/>
              <a:t>	(v) Simplify Boolean functions for excitation and output variables;</a:t>
            </a:r>
          </a:p>
          <a:p>
            <a:pPr>
              <a:buNone/>
            </a:pPr>
            <a:r>
              <a:rPr lang="en-AU" dirty="0" smtClean="0"/>
              <a:t>	(vi) Draw the logic diagram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A1A58984-E8A6-4F28-B246-9764ECD20A02}" type="slidenum">
              <a:rPr lang="zh-TW" altLang="en-US"/>
              <a:pPr/>
              <a:t>39</a:t>
            </a:fld>
            <a:endParaRPr lang="en-US" altLang="zh-TW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Design Procedure: Example</a:t>
            </a:r>
            <a:endParaRPr lang="zh-TW" altLang="en-US" dirty="0" smtClean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Design specifications</a:t>
            </a:r>
          </a:p>
          <a:p>
            <a:pPr lvl="1" eaLnBrk="1" hangingPunct="1"/>
            <a:r>
              <a:rPr lang="en-US" altLang="zh-TW" dirty="0" smtClean="0"/>
              <a:t>a gated latch</a:t>
            </a:r>
          </a:p>
          <a:p>
            <a:pPr lvl="1" eaLnBrk="1" hangingPunct="1"/>
            <a:r>
              <a:rPr lang="en-US" altLang="zh-TW" dirty="0" smtClean="0"/>
              <a:t>two inputs,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 (gate) and </a:t>
            </a:r>
            <a:r>
              <a:rPr lang="en-US" altLang="zh-TW" i="1" dirty="0" smtClean="0"/>
              <a:t>D</a:t>
            </a:r>
            <a:r>
              <a:rPr lang="en-US" altLang="zh-TW" dirty="0" smtClean="0"/>
              <a:t> (data)</a:t>
            </a:r>
          </a:p>
          <a:p>
            <a:pPr lvl="1" eaLnBrk="1" hangingPunct="1"/>
            <a:r>
              <a:rPr lang="en-US" altLang="zh-TW" dirty="0" smtClean="0"/>
              <a:t>one output, </a:t>
            </a:r>
            <a:r>
              <a:rPr lang="en-US" altLang="zh-TW" i="1" dirty="0" smtClean="0"/>
              <a:t>Q</a:t>
            </a:r>
          </a:p>
          <a:p>
            <a:pPr lvl="1" eaLnBrk="1" hangingPunct="1"/>
            <a:r>
              <a:rPr lang="en-US" altLang="zh-TW" i="1" dirty="0" smtClean="0"/>
              <a:t>G</a:t>
            </a:r>
            <a:r>
              <a:rPr lang="en-US" altLang="zh-TW" dirty="0" smtClean="0"/>
              <a:t> = 1: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 follows </a:t>
            </a:r>
            <a:r>
              <a:rPr lang="en-US" altLang="zh-TW" i="1" dirty="0" smtClean="0"/>
              <a:t>D</a:t>
            </a:r>
          </a:p>
          <a:p>
            <a:pPr lvl="1" eaLnBrk="1" hangingPunct="1"/>
            <a:r>
              <a:rPr lang="en-US" altLang="zh-TW" i="1" dirty="0" smtClean="0"/>
              <a:t>G</a:t>
            </a:r>
            <a:r>
              <a:rPr lang="en-US" altLang="zh-TW" dirty="0" smtClean="0"/>
              <a:t> = 0 : </a:t>
            </a:r>
            <a:r>
              <a:rPr lang="en-US" altLang="zh-TW" i="1" dirty="0" smtClean="0"/>
              <a:t>Q</a:t>
            </a:r>
            <a:r>
              <a:rPr lang="en-US" altLang="zh-TW" dirty="0" smtClean="0"/>
              <a:t> remains unchanged</a:t>
            </a:r>
          </a:p>
          <a:p>
            <a:endParaRPr lang="en-AU" dirty="0" smtClean="0"/>
          </a:p>
          <a:p>
            <a:r>
              <a:rPr lang="en-AU" dirty="0" smtClean="0"/>
              <a:t>Assume fundamental mode operation – only one input changes at a time. </a:t>
            </a:r>
          </a:p>
          <a:p>
            <a:endParaRPr lang="en-US" altLang="zh-TW" dirty="0" smtClean="0"/>
          </a:p>
          <a:p>
            <a:pPr eaLnBrk="1" hangingPunct="1"/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7C4A0EEA-5429-46FB-8276-7149B08107FC}" type="slidenum">
              <a:rPr lang="zh-TW" altLang="en-US"/>
              <a:pPr/>
              <a:t>40</a:t>
            </a:fld>
            <a:endParaRPr lang="en-US" altLang="zh-TW"/>
          </a:p>
        </p:txBody>
      </p:sp>
      <p:pic>
        <p:nvPicPr>
          <p:cNvPr id="34820" name="Picture 5"/>
          <p:cNvPicPr>
            <a:picLocks noChangeAspect="1" noChangeArrowheads="1"/>
          </p:cNvPicPr>
          <p:nvPr/>
        </p:nvPicPr>
        <p:blipFill>
          <a:blip r:embed="rId2" cstate="print">
            <a:lum bright="-6000" contrast="24000"/>
          </a:blip>
          <a:srcRect/>
          <a:stretch>
            <a:fillRect/>
          </a:stretch>
        </p:blipFill>
        <p:spPr bwMode="auto">
          <a:xfrm>
            <a:off x="474663" y="2139950"/>
            <a:ext cx="8137525" cy="405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Form a table with all possible total states</a:t>
            </a:r>
            <a:endParaRPr lang="en-AU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Design Procedure: Example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Primitive Flow Table</a:t>
            </a:r>
            <a:endParaRPr lang="zh-TW" altLang="en-US" dirty="0" smtClean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610100" cy="4873752"/>
          </a:xfrm>
        </p:spPr>
        <p:txBody>
          <a:bodyPr/>
          <a:lstStyle/>
          <a:p>
            <a:r>
              <a:rPr lang="en-AU" dirty="0" smtClean="0"/>
              <a:t>Obtain the flow table by listing all possible states</a:t>
            </a:r>
          </a:p>
          <a:p>
            <a:pPr lvl="1"/>
            <a:r>
              <a:rPr lang="en-AU" dirty="0" smtClean="0"/>
              <a:t>Dash marks are given when both inputs change simultaneously</a:t>
            </a:r>
          </a:p>
          <a:p>
            <a:pPr lvl="1"/>
            <a:r>
              <a:rPr lang="en-AU" dirty="0" smtClean="0"/>
              <a:t>Outputs of unstable states are don’t care</a:t>
            </a:r>
            <a:endParaRPr lang="zh-TW" altLang="en-US" dirty="0" smtClean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4959350" y="1144588"/>
            <a:ext cx="3486150" cy="485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537200" y="6035675"/>
            <a:ext cx="27511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dirty="0"/>
              <a:t>Fig. 9.16</a:t>
            </a:r>
          </a:p>
          <a:p>
            <a:r>
              <a:rPr lang="en-US" altLang="zh-TW" dirty="0"/>
              <a:t>Primitive flow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F85740B-C113-4ED3-B395-9DD5866A9EF3}" type="slidenum">
              <a:rPr lang="zh-TW" altLang="en-US"/>
              <a:pPr/>
              <a:t>42</a:t>
            </a:fld>
            <a:endParaRPr lang="en-US" altLang="zh-TW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Reduction of the primitive flow table</a:t>
            </a:r>
          </a:p>
          <a:p>
            <a:pPr lvl="1" eaLnBrk="1" hangingPunct="1"/>
            <a:r>
              <a:rPr lang="en-US" altLang="zh-TW" smtClean="0"/>
              <a:t>two or more rows in the primitive flow table can be merged if there are non-conflicting states and outputs in each of the columns</a:t>
            </a:r>
            <a:endParaRPr lang="zh-TW" altLang="en-US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Reduce the Flow Table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F85740B-C113-4ED3-B395-9DD5866A9EF3}" type="slidenum">
              <a:rPr lang="zh-TW" altLang="en-US"/>
              <a:pPr/>
              <a:t>43</a:t>
            </a:fld>
            <a:endParaRPr lang="en-US" altLang="zh-TW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TW" altLang="en-US" dirty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Reduce the Flow Table</a:t>
            </a:r>
            <a:endParaRPr lang="zh-TW" altLang="en-US" dirty="0" smtClean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30000"/>
          </a:blip>
          <a:srcRect t="439" r="2454" b="7619"/>
          <a:stretch>
            <a:fillRect/>
          </a:stretch>
        </p:blipFill>
        <p:spPr bwMode="auto">
          <a:xfrm>
            <a:off x="647700" y="1565186"/>
            <a:ext cx="5586413" cy="4422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333500" y="6134784"/>
            <a:ext cx="5124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Fig. 9.17: Reduction of the primitive flow table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23DA5382-14D0-41BB-81A7-BD12AAFBA8A4}" type="slidenum">
              <a:rPr lang="zh-TW" altLang="en-US"/>
              <a:pPr/>
              <a:t>44</a:t>
            </a:fld>
            <a:endParaRPr lang="en-US" altLang="zh-TW" dirty="0"/>
          </a:p>
        </p:txBody>
      </p:sp>
      <p:sp>
        <p:nvSpPr>
          <p:cNvPr id="38917" name="Text Box 6"/>
          <p:cNvSpPr txBox="1">
            <a:spLocks noChangeArrowheads="1"/>
          </p:cNvSpPr>
          <p:nvPr/>
        </p:nvSpPr>
        <p:spPr bwMode="auto">
          <a:xfrm>
            <a:off x="746125" y="5795963"/>
            <a:ext cx="268287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dirty="0"/>
              <a:t>Fig. </a:t>
            </a:r>
            <a:r>
              <a:rPr lang="en-US" altLang="zh-TW" dirty="0" smtClean="0"/>
              <a:t>9.18: Transition </a:t>
            </a:r>
            <a:r>
              <a:rPr lang="en-US" altLang="zh-TW" dirty="0"/>
              <a:t>table and output map for gated latch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Transition Table and Output Map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019550" y="1600200"/>
            <a:ext cx="4133850" cy="4873752"/>
          </a:xfrm>
        </p:spPr>
        <p:txBody>
          <a:bodyPr/>
          <a:lstStyle/>
          <a:p>
            <a:endParaRPr lang="en-AU" dirty="0" smtClean="0"/>
          </a:p>
          <a:p>
            <a:r>
              <a:rPr lang="en-AU" dirty="0" smtClean="0"/>
              <a:t>Assign a binary value to each state to generate the transition table</a:t>
            </a:r>
          </a:p>
          <a:p>
            <a:pPr lvl="1"/>
            <a:r>
              <a:rPr lang="en-AU" i="1" dirty="0" smtClean="0"/>
              <a:t>a</a:t>
            </a:r>
            <a:r>
              <a:rPr lang="en-AU" dirty="0" smtClean="0"/>
              <a:t>=0, </a:t>
            </a:r>
            <a:r>
              <a:rPr lang="en-AU" i="1" dirty="0" smtClean="0"/>
              <a:t>b</a:t>
            </a:r>
            <a:r>
              <a:rPr lang="en-AU" dirty="0" smtClean="0"/>
              <a:t>=1 in this example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47825"/>
            <a:ext cx="274320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0" y="3729038"/>
            <a:ext cx="278130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08F8F40B-D977-4714-B4EE-F70E6711DEC7}" type="slidenum">
              <a:rPr lang="zh-TW" altLang="en-US"/>
              <a:pPr/>
              <a:t>45</a:t>
            </a:fld>
            <a:endParaRPr lang="en-US" altLang="zh-TW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Directly use the simplified Boolean function for the excitation variable </a:t>
            </a:r>
            <a:r>
              <a:rPr lang="en-AU" i="1" dirty="0" smtClean="0"/>
              <a:t>Y</a:t>
            </a:r>
          </a:p>
          <a:p>
            <a:pPr lvl="1"/>
            <a:r>
              <a:rPr lang="en-AU" dirty="0" smtClean="0"/>
              <a:t> An asynchronous circuit without latch is produced</a:t>
            </a:r>
            <a:endParaRPr lang="zh-TW" altLang="en-US" dirty="0" smtClean="0"/>
          </a:p>
        </p:txBody>
      </p:sp>
      <p:pic>
        <p:nvPicPr>
          <p:cNvPr id="39940" name="Picture 5"/>
          <p:cNvPicPr>
            <a:picLocks noChangeAspect="1" noChangeArrowheads="1"/>
          </p:cNvPicPr>
          <p:nvPr/>
        </p:nvPicPr>
        <p:blipFill>
          <a:blip r:embed="rId2" cstate="print">
            <a:lum bright="-18000" contrast="36000"/>
          </a:blip>
          <a:srcRect/>
          <a:stretch>
            <a:fillRect/>
          </a:stretch>
        </p:blipFill>
        <p:spPr bwMode="auto">
          <a:xfrm>
            <a:off x="874713" y="3451225"/>
            <a:ext cx="5626493" cy="235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41" name="Text Box 6"/>
          <p:cNvSpPr txBox="1">
            <a:spLocks noChangeArrowheads="1"/>
          </p:cNvSpPr>
          <p:nvPr/>
        </p:nvSpPr>
        <p:spPr bwMode="auto">
          <a:xfrm>
            <a:off x="900113" y="5554663"/>
            <a:ext cx="36290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dirty="0"/>
              <a:t>Fig. 9.19</a:t>
            </a:r>
          </a:p>
          <a:p>
            <a:r>
              <a:rPr lang="en-US" altLang="zh-TW" dirty="0"/>
              <a:t>Gated-latch logic diagram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Logic 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08F8F40B-D977-4714-B4EE-F70E6711DEC7}" type="slidenum">
              <a:rPr lang="zh-TW" altLang="en-US"/>
              <a:pPr/>
              <a:t>46</a:t>
            </a:fld>
            <a:endParaRPr lang="en-US" altLang="zh-TW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We can also implement asynchronous circuits using latches at the outputs. </a:t>
            </a:r>
          </a:p>
          <a:p>
            <a:r>
              <a:rPr lang="en-AU" dirty="0" smtClean="0"/>
              <a:t>Given the map for each excitation variable </a:t>
            </a:r>
            <a:r>
              <a:rPr lang="en-AU" i="1" dirty="0" smtClean="0"/>
              <a:t>Y</a:t>
            </a:r>
            <a:r>
              <a:rPr lang="en-AU" dirty="0" smtClean="0"/>
              <a:t>, derive necessary equations for </a:t>
            </a:r>
            <a:r>
              <a:rPr lang="en-AU" i="1" dirty="0" smtClean="0"/>
              <a:t>S</a:t>
            </a:r>
            <a:r>
              <a:rPr lang="en-AU" dirty="0" smtClean="0"/>
              <a:t> and </a:t>
            </a:r>
            <a:r>
              <a:rPr lang="en-AU" i="1" dirty="0" smtClean="0"/>
              <a:t>R</a:t>
            </a:r>
            <a:r>
              <a:rPr lang="en-AU" dirty="0" smtClean="0"/>
              <a:t> of a latch to produce </a:t>
            </a:r>
            <a:r>
              <a:rPr lang="en-AU" i="1" dirty="0" smtClean="0"/>
              <a:t>Y</a:t>
            </a:r>
            <a:r>
              <a:rPr lang="en-AU" dirty="0" smtClean="0"/>
              <a:t>. </a:t>
            </a:r>
          </a:p>
          <a:p>
            <a:r>
              <a:rPr lang="en-AU" dirty="0" smtClean="0"/>
              <a:t>Derive Boolean equations for </a:t>
            </a:r>
            <a:r>
              <a:rPr lang="en-AU" i="1" dirty="0" smtClean="0"/>
              <a:t>S</a:t>
            </a:r>
            <a:r>
              <a:rPr lang="en-AU" dirty="0" smtClean="0"/>
              <a:t> and </a:t>
            </a:r>
            <a:r>
              <a:rPr lang="en-AU" i="1" dirty="0" smtClean="0"/>
              <a:t>R</a:t>
            </a:r>
            <a:r>
              <a:rPr lang="en-AU" dirty="0" smtClean="0"/>
              <a:t>. 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Design with </a:t>
            </a:r>
            <a:r>
              <a:rPr lang="en-US" altLang="zh-TW" i="1" dirty="0" smtClean="0"/>
              <a:t>SR</a:t>
            </a:r>
            <a:r>
              <a:rPr lang="en-US" altLang="zh-TW" dirty="0" smtClean="0"/>
              <a:t> Latches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E446CCFA-0420-40CE-ADE0-2959B3176BF8}" type="slidenum">
              <a:rPr lang="zh-TW" altLang="en-US"/>
              <a:pPr/>
              <a:t>47</a:t>
            </a:fld>
            <a:endParaRPr lang="en-US" altLang="zh-TW"/>
          </a:p>
        </p:txBody>
      </p:sp>
      <p:pic>
        <p:nvPicPr>
          <p:cNvPr id="40964" name="Picture 5"/>
          <p:cNvPicPr>
            <a:picLocks noChangeAspect="1" noChangeArrowheads="1"/>
          </p:cNvPicPr>
          <p:nvPr/>
        </p:nvPicPr>
        <p:blipFill>
          <a:blip r:embed="rId2" cstate="print">
            <a:lum bright="-18000" contrast="36000"/>
          </a:blip>
          <a:srcRect/>
          <a:stretch>
            <a:fillRect/>
          </a:stretch>
        </p:blipFill>
        <p:spPr bwMode="auto">
          <a:xfrm>
            <a:off x="409575" y="1416051"/>
            <a:ext cx="5182271" cy="1978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5" name="Picture 6"/>
          <p:cNvPicPr>
            <a:picLocks noChangeAspect="1" noChangeArrowheads="1"/>
          </p:cNvPicPr>
          <p:nvPr/>
        </p:nvPicPr>
        <p:blipFill>
          <a:blip r:embed="rId3" cstate="print">
            <a:lum bright="-18000" contrast="36000"/>
          </a:blip>
          <a:srcRect/>
          <a:stretch>
            <a:fillRect/>
          </a:stretch>
        </p:blipFill>
        <p:spPr bwMode="auto">
          <a:xfrm>
            <a:off x="503238" y="3606800"/>
            <a:ext cx="6011862" cy="2262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6" name="Text Box 7"/>
          <p:cNvSpPr txBox="1">
            <a:spLocks noChangeArrowheads="1"/>
          </p:cNvSpPr>
          <p:nvPr/>
        </p:nvSpPr>
        <p:spPr bwMode="auto">
          <a:xfrm>
            <a:off x="498475" y="5876925"/>
            <a:ext cx="288448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dirty="0"/>
              <a:t>Fig. 9.20</a:t>
            </a:r>
          </a:p>
          <a:p>
            <a:r>
              <a:rPr lang="en-US" altLang="zh-TW" dirty="0"/>
              <a:t>Circuit with </a:t>
            </a:r>
            <a:r>
              <a:rPr lang="en-US" altLang="zh-TW" i="1" dirty="0"/>
              <a:t>SR</a:t>
            </a:r>
            <a:r>
              <a:rPr lang="en-US" altLang="zh-TW" dirty="0"/>
              <a:t> latch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Design with </a:t>
            </a:r>
            <a:r>
              <a:rPr lang="en-US" altLang="zh-TW" i="1" dirty="0" smtClean="0"/>
              <a:t>SR</a:t>
            </a:r>
            <a:r>
              <a:rPr lang="en-US" altLang="zh-TW" dirty="0" smtClean="0"/>
              <a:t> Latches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AU" dirty="0" smtClean="0"/>
              <a:t>Outputs for Unstable States</a:t>
            </a:r>
            <a:endParaRPr lang="en-US" altLang="zh-TW" dirty="0" smtClean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400550" cy="4873752"/>
          </a:xfrm>
        </p:spPr>
        <p:txBody>
          <a:bodyPr>
            <a:normAutofit fontScale="92500" lnSpcReduction="10000"/>
          </a:bodyPr>
          <a:lstStyle/>
          <a:p>
            <a:r>
              <a:rPr lang="en-AU" dirty="0" smtClean="0"/>
              <a:t>Objective: no momentary false outputs occur when the circuit switches between stable states</a:t>
            </a:r>
          </a:p>
          <a:p>
            <a:r>
              <a:rPr lang="en-AU" dirty="0" smtClean="0"/>
              <a:t>If the output value is not changed, the intermediate unstable state must have the same output value</a:t>
            </a:r>
          </a:p>
          <a:p>
            <a:pPr lvl="1"/>
            <a:r>
              <a:rPr lang="fr-FR" dirty="0" smtClean="0"/>
              <a:t> 0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 1 (</a:t>
            </a:r>
            <a:r>
              <a:rPr lang="fr-FR" dirty="0" err="1" smtClean="0"/>
              <a:t>unstable</a:t>
            </a:r>
            <a:r>
              <a:rPr lang="fr-FR" dirty="0" smtClean="0"/>
              <a:t>)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 0 (X)</a:t>
            </a:r>
          </a:p>
          <a:p>
            <a:r>
              <a:rPr lang="fr-FR" dirty="0" smtClean="0"/>
              <a:t> </a:t>
            </a:r>
            <a:r>
              <a:rPr lang="en-AU" dirty="0" smtClean="0"/>
              <a:t>If the output value changed, the intermediate outputs are don’t care</a:t>
            </a:r>
          </a:p>
          <a:p>
            <a:r>
              <a:rPr lang="en-AU" dirty="0" smtClean="0"/>
              <a:t>It makes no difference when the output change occurs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8675" y="2376488"/>
            <a:ext cx="4505325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0DF1FF2-FAD0-41E3-BD7E-DD904FB9E69D}" type="slidenum">
              <a:rPr lang="zh-TW" altLang="en-US"/>
              <a:pPr/>
              <a:t>49</a:t>
            </a:fld>
            <a:endParaRPr lang="en-US" altLang="zh-TW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Summary</a:t>
            </a:r>
          </a:p>
          <a:p>
            <a:pPr lvl="1" eaLnBrk="1" hangingPunct="1"/>
            <a:r>
              <a:rPr lang="en-US" altLang="zh-TW" smtClean="0"/>
              <a:t>a primitive flow table</a:t>
            </a:r>
          </a:p>
          <a:p>
            <a:pPr lvl="1" eaLnBrk="1" hangingPunct="1"/>
            <a:r>
              <a:rPr lang="en-US" altLang="zh-TW" smtClean="0"/>
              <a:t>state reduction</a:t>
            </a:r>
          </a:p>
          <a:p>
            <a:pPr lvl="1" eaLnBrk="1" hangingPunct="1"/>
            <a:r>
              <a:rPr lang="en-US" altLang="zh-TW" smtClean="0"/>
              <a:t>state assignment</a:t>
            </a:r>
          </a:p>
          <a:p>
            <a:pPr lvl="1" eaLnBrk="1" hangingPunct="1"/>
            <a:r>
              <a:rPr lang="en-US" altLang="zh-TW" smtClean="0"/>
              <a:t>output assignment</a:t>
            </a:r>
          </a:p>
          <a:p>
            <a:pPr lvl="1" eaLnBrk="1" hangingPunct="1"/>
            <a:r>
              <a:rPr lang="en-US" altLang="zh-TW" smtClean="0"/>
              <a:t>Simplify the Boolean functions of the excitation and output variables and draw the logic diagram</a:t>
            </a:r>
          </a:p>
          <a:p>
            <a:pPr eaLnBrk="1" hangingPunct="1"/>
            <a:endParaRPr lang="zh-TW" altLang="en-US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Design Procedure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FF82F050-4B67-40DC-A42A-D5530863302C}" type="slidenum">
              <a:rPr lang="zh-TW" altLang="en-US"/>
              <a:pPr/>
              <a:t>50</a:t>
            </a:fld>
            <a:endParaRPr lang="en-US" altLang="zh-TW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Reduction of State and Flow Table</a:t>
            </a:r>
            <a:endParaRPr lang="zh-TW" altLang="en-US" dirty="0" smtClean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State reduction procedure is similar in both sync. &amp; </a:t>
            </a:r>
            <a:r>
              <a:rPr lang="en-US" dirty="0" err="1" smtClean="0"/>
              <a:t>async</a:t>
            </a:r>
            <a:r>
              <a:rPr lang="en-US" dirty="0" smtClean="0"/>
              <a:t>. sequential circuits</a:t>
            </a:r>
          </a:p>
          <a:p>
            <a:r>
              <a:rPr lang="en-US" dirty="0" smtClean="0"/>
              <a:t>For completely specified state tables:</a:t>
            </a:r>
          </a:p>
          <a:p>
            <a:pPr lvl="1"/>
            <a:r>
              <a:rPr lang="en-US" dirty="0" smtClean="0"/>
              <a:t>use implication table</a:t>
            </a:r>
          </a:p>
          <a:p>
            <a:r>
              <a:rPr lang="en-US" dirty="0" smtClean="0"/>
              <a:t>For incompletely specified state tables:</a:t>
            </a:r>
          </a:p>
          <a:p>
            <a:pPr lvl="1"/>
            <a:r>
              <a:rPr lang="en-US" dirty="0" smtClean="0"/>
              <a:t>use compatible pairs </a:t>
            </a:r>
            <a:r>
              <a:rPr lang="en-US" altLang="zh-TW" dirty="0" smtClean="0"/>
              <a:t>states</a:t>
            </a:r>
          </a:p>
          <a:p>
            <a:pPr eaLnBrk="1" hangingPunct="1"/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FF82F050-4B67-40DC-A42A-D5530863302C}" type="slidenum">
              <a:rPr lang="zh-TW" altLang="en-US"/>
              <a:pPr/>
              <a:t>51</a:t>
            </a:fld>
            <a:endParaRPr lang="en-US" altLang="zh-TW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Reduction of State and Flow Table</a:t>
            </a:r>
            <a:endParaRPr lang="zh-TW" altLang="en-US" dirty="0" smtClean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Two states are equivalent if they have the </a:t>
            </a:r>
            <a:r>
              <a:rPr lang="en-US" b="1" dirty="0" smtClean="0"/>
              <a:t>same output </a:t>
            </a:r>
            <a:r>
              <a:rPr lang="en-US" dirty="0" smtClean="0"/>
              <a:t>and go to the </a:t>
            </a:r>
            <a:r>
              <a:rPr lang="en-US" b="1" dirty="0" smtClean="0"/>
              <a:t>same (equivalent) next states for each </a:t>
            </a:r>
            <a:r>
              <a:rPr lang="en-US" dirty="0" smtClean="0"/>
              <a:t>possible input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 err="1" smtClean="0"/>
              <a:t>a,b</a:t>
            </a:r>
            <a:r>
              <a:rPr lang="en-US" altLang="zh-TW" dirty="0" smtClean="0"/>
              <a:t>) are equivalent if (</a:t>
            </a:r>
            <a:r>
              <a:rPr lang="en-US" altLang="zh-TW" dirty="0" err="1" smtClean="0"/>
              <a:t>c,d</a:t>
            </a:r>
            <a:r>
              <a:rPr lang="en-US" altLang="zh-TW" dirty="0" smtClean="0"/>
              <a:t>) are equivalent</a:t>
            </a:r>
          </a:p>
          <a:p>
            <a:pPr lvl="1"/>
            <a:r>
              <a:rPr lang="zh-TW" altLang="en-US" dirty="0" smtClean="0"/>
              <a:t>(</a:t>
            </a:r>
            <a:r>
              <a:rPr lang="en-US" altLang="zh-TW" dirty="0" err="1" smtClean="0"/>
              <a:t>a,b</a:t>
            </a:r>
            <a:r>
              <a:rPr lang="en-US" altLang="zh-TW" dirty="0" smtClean="0"/>
              <a:t>) imply (</a:t>
            </a:r>
            <a:r>
              <a:rPr lang="en-US" altLang="zh-TW" dirty="0" err="1" smtClean="0"/>
              <a:t>c,d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 err="1" smtClean="0"/>
              <a:t>c,d</a:t>
            </a:r>
            <a:r>
              <a:rPr lang="en-US" altLang="zh-TW" dirty="0" smtClean="0"/>
              <a:t>) imply (</a:t>
            </a:r>
            <a:r>
              <a:rPr lang="en-US" altLang="zh-TW" dirty="0" err="1" smtClean="0"/>
              <a:t>a,b</a:t>
            </a:r>
            <a:r>
              <a:rPr lang="en-US" altLang="zh-TW" dirty="0" smtClean="0"/>
              <a:t>)</a:t>
            </a:r>
            <a:endParaRPr lang="en-US" dirty="0" smtClean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lum bright="-6000" contrast="30000"/>
          </a:blip>
          <a:srcRect/>
          <a:stretch>
            <a:fillRect/>
          </a:stretch>
        </p:blipFill>
        <p:spPr bwMode="auto">
          <a:xfrm>
            <a:off x="3810000" y="3780035"/>
            <a:ext cx="3821112" cy="2801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Reduction:</a:t>
            </a:r>
            <a:r>
              <a:rPr lang="tr-TR" dirty="0" smtClean="0"/>
              <a:t>Implication Table</a:t>
            </a:r>
            <a:endParaRPr lang="en-US" dirty="0" smtClean="0"/>
          </a:p>
        </p:txBody>
      </p:sp>
      <p:pic>
        <p:nvPicPr>
          <p:cNvPr id="59398" name="Picture 5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4419600" y="2343150"/>
            <a:ext cx="4306888" cy="223730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>
            <a:lum contrast="18000"/>
          </a:blip>
          <a:srcRect/>
          <a:stretch>
            <a:fillRect/>
          </a:stretch>
        </p:blipFill>
        <p:spPr bwMode="auto">
          <a:xfrm>
            <a:off x="266700" y="1670215"/>
            <a:ext cx="4062236" cy="378868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Reduction: </a:t>
            </a:r>
            <a:r>
              <a:rPr lang="tr-TR" dirty="0" smtClean="0"/>
              <a:t>Implication Table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dirty="0" smtClean="0"/>
              <a:t>Finally, all the squares that have no crosses</a:t>
            </a:r>
            <a:r>
              <a:rPr lang="tr-TR" sz="2400" dirty="0" smtClean="0"/>
              <a:t> </a:t>
            </a:r>
            <a:r>
              <a:rPr lang="en-US" sz="2400" dirty="0" smtClean="0"/>
              <a:t>are recorded with check marks. The equivalent</a:t>
            </a:r>
            <a:r>
              <a:rPr lang="tr-TR" sz="2400" dirty="0" smtClean="0"/>
              <a:t> </a:t>
            </a:r>
            <a:r>
              <a:rPr lang="en-US" sz="2400" dirty="0" smtClean="0"/>
              <a:t>states are: (</a:t>
            </a:r>
            <a:r>
              <a:rPr lang="en-US" sz="2400" i="1" dirty="0" smtClean="0"/>
              <a:t>a</a:t>
            </a:r>
            <a:r>
              <a:rPr lang="en-US" sz="2400" dirty="0" smtClean="0"/>
              <a:t>, </a:t>
            </a:r>
            <a:r>
              <a:rPr lang="en-US" sz="2400" i="1" dirty="0" smtClean="0"/>
              <a:t>b</a:t>
            </a:r>
            <a:r>
              <a:rPr lang="en-US" sz="2400" dirty="0" smtClean="0"/>
              <a:t>),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e</a:t>
            </a:r>
            <a:r>
              <a:rPr lang="en-US" sz="2400" dirty="0" smtClean="0"/>
              <a:t>),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g</a:t>
            </a:r>
            <a:r>
              <a:rPr lang="en-US" sz="2400" dirty="0" smtClean="0"/>
              <a:t>), (</a:t>
            </a:r>
            <a:r>
              <a:rPr lang="en-US" sz="2400" i="1" dirty="0" smtClean="0"/>
              <a:t>e</a:t>
            </a:r>
            <a:r>
              <a:rPr lang="en-US" sz="2400" dirty="0" smtClean="0"/>
              <a:t>, </a:t>
            </a:r>
            <a:r>
              <a:rPr lang="en-US" sz="2400" i="1" dirty="0" smtClean="0"/>
              <a:t>g</a:t>
            </a:r>
            <a:r>
              <a:rPr lang="en-US" sz="2400" dirty="0" smtClean="0"/>
              <a:t>).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dirty="0" smtClean="0"/>
              <a:t>We now combine pairs of states into larger groups</a:t>
            </a:r>
            <a:r>
              <a:rPr lang="tr-TR" sz="2400" dirty="0" smtClean="0"/>
              <a:t> </a:t>
            </a:r>
            <a:r>
              <a:rPr lang="en-US" sz="2400" dirty="0" smtClean="0"/>
              <a:t>of equivalent states. The last three pairs can be</a:t>
            </a:r>
            <a:r>
              <a:rPr lang="tr-TR" sz="2400" dirty="0" smtClean="0"/>
              <a:t> </a:t>
            </a:r>
            <a:r>
              <a:rPr lang="en-US" sz="2400" dirty="0" smtClean="0"/>
              <a:t>combined into a set of three equivalent states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e</a:t>
            </a:r>
            <a:r>
              <a:rPr lang="en-US" sz="2400" dirty="0" smtClean="0"/>
              <a:t>, </a:t>
            </a:r>
            <a:r>
              <a:rPr lang="en-US" sz="2400" i="1" dirty="0" smtClean="0"/>
              <a:t>g</a:t>
            </a:r>
            <a:r>
              <a:rPr lang="en-US" sz="2400" dirty="0" smtClean="0"/>
              <a:t>) because each one of the states in the group is</a:t>
            </a:r>
            <a:r>
              <a:rPr lang="tr-TR" sz="2400" dirty="0" smtClean="0"/>
              <a:t> </a:t>
            </a:r>
            <a:r>
              <a:rPr lang="en-US" sz="2400" dirty="0" smtClean="0"/>
              <a:t>equivalent to the other two.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State Reduction: </a:t>
            </a:r>
            <a:r>
              <a:rPr lang="tr-TR" dirty="0" smtClean="0"/>
              <a:t>Implication Table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dirty="0" smtClean="0"/>
              <a:t>The final partition of</a:t>
            </a:r>
            <a:r>
              <a:rPr lang="tr-TR" sz="2400" dirty="0" smtClean="0"/>
              <a:t> </a:t>
            </a:r>
            <a:r>
              <a:rPr lang="en-US" sz="2400" dirty="0" smtClean="0"/>
              <a:t>these states consists of the equivalent states found</a:t>
            </a:r>
            <a:r>
              <a:rPr lang="tr-TR" sz="2400" dirty="0" smtClean="0"/>
              <a:t> </a:t>
            </a:r>
            <a:r>
              <a:rPr lang="en-US" sz="2400" dirty="0" smtClean="0"/>
              <a:t>from the implication table, together with all the</a:t>
            </a:r>
            <a:r>
              <a:rPr lang="tr-TR" sz="2400" dirty="0" smtClean="0"/>
              <a:t> </a:t>
            </a:r>
            <a:r>
              <a:rPr lang="en-US" sz="2400" dirty="0" smtClean="0"/>
              <a:t>remaining states in the state table that are not</a:t>
            </a:r>
            <a:r>
              <a:rPr lang="tr-TR" sz="2400" dirty="0" smtClean="0"/>
              <a:t> </a:t>
            </a:r>
            <a:r>
              <a:rPr lang="en-US" sz="2400" dirty="0" smtClean="0"/>
              <a:t>equivalent to any other state: (</a:t>
            </a:r>
            <a:r>
              <a:rPr lang="en-US" sz="2400" i="1" dirty="0" smtClean="0"/>
              <a:t>a</a:t>
            </a:r>
            <a:r>
              <a:rPr lang="en-US" sz="2400" dirty="0" smtClean="0"/>
              <a:t>, </a:t>
            </a:r>
            <a:r>
              <a:rPr lang="en-US" sz="2400" i="1" dirty="0" smtClean="0"/>
              <a:t>b</a:t>
            </a:r>
            <a:r>
              <a:rPr lang="en-US" sz="2400" dirty="0" smtClean="0"/>
              <a:t>) (</a:t>
            </a:r>
            <a:r>
              <a:rPr lang="en-US" sz="2400" i="1" dirty="0" smtClean="0"/>
              <a:t>c</a:t>
            </a:r>
            <a:r>
              <a:rPr lang="en-US" sz="2400" dirty="0" smtClean="0"/>
              <a:t>) (</a:t>
            </a:r>
            <a:r>
              <a:rPr lang="en-US" sz="2400" i="1" dirty="0" smtClean="0"/>
              <a:t>d</a:t>
            </a:r>
            <a:r>
              <a:rPr lang="en-US" sz="2400" dirty="0" smtClean="0"/>
              <a:t>, </a:t>
            </a:r>
            <a:r>
              <a:rPr lang="en-US" sz="2400" i="1" dirty="0" smtClean="0"/>
              <a:t>e</a:t>
            </a:r>
            <a:r>
              <a:rPr lang="en-US" sz="2400" dirty="0" smtClean="0"/>
              <a:t>, </a:t>
            </a:r>
            <a:r>
              <a:rPr lang="en-US" sz="2400" i="1" dirty="0" smtClean="0"/>
              <a:t>g</a:t>
            </a:r>
            <a:r>
              <a:rPr lang="en-US" sz="2400" dirty="0" smtClean="0"/>
              <a:t>) (</a:t>
            </a:r>
            <a:r>
              <a:rPr lang="en-US" sz="2400" i="1" dirty="0" smtClean="0"/>
              <a:t>f</a:t>
            </a:r>
            <a:r>
              <a:rPr lang="en-US" sz="2400" dirty="0" smtClean="0"/>
              <a:t>)</a:t>
            </a:r>
            <a:endParaRPr lang="tr-TR" sz="2400" dirty="0" smtClean="0"/>
          </a:p>
        </p:txBody>
      </p:sp>
      <p:pic>
        <p:nvPicPr>
          <p:cNvPr id="3256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3664567"/>
            <a:ext cx="5495924" cy="2793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6C4FBB3D-925B-49E2-9D6E-EABC002F9E5E}" type="slidenum">
              <a:rPr lang="zh-TW" altLang="en-US"/>
              <a:pPr/>
              <a:t>55</a:t>
            </a:fld>
            <a:endParaRPr lang="en-US" altLang="zh-TW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state table may be incompletely specified</a:t>
            </a:r>
          </a:p>
          <a:p>
            <a:pPr lvl="1"/>
            <a:r>
              <a:rPr lang="en-US" dirty="0" smtClean="0"/>
              <a:t>Some next states and outputs are don’t care</a:t>
            </a:r>
          </a:p>
          <a:p>
            <a:r>
              <a:rPr lang="en-US" dirty="0" smtClean="0"/>
              <a:t>Primitive flow tables are always incompletely specified</a:t>
            </a:r>
          </a:p>
          <a:p>
            <a:pPr lvl="1"/>
            <a:r>
              <a:rPr lang="en-US" dirty="0" smtClean="0"/>
              <a:t>Several synchronous circuits also have this property</a:t>
            </a:r>
          </a:p>
          <a:p>
            <a:r>
              <a:rPr lang="en-US" dirty="0" smtClean="0"/>
              <a:t>Incompletely specified states are not “equivalent”</a:t>
            </a:r>
          </a:p>
          <a:p>
            <a:pPr lvl="1"/>
            <a:r>
              <a:rPr lang="en-US" dirty="0" smtClean="0"/>
              <a:t>Instead, we are going to find “</a:t>
            </a:r>
            <a:r>
              <a:rPr lang="en-US" b="1" dirty="0" smtClean="0"/>
              <a:t>compatible” states</a:t>
            </a:r>
          </a:p>
          <a:p>
            <a:pPr lvl="1"/>
            <a:r>
              <a:rPr lang="en-US" dirty="0" smtClean="0"/>
              <a:t>Two states are compatible if they have the </a:t>
            </a:r>
            <a:r>
              <a:rPr lang="en-US" b="1" dirty="0" smtClean="0"/>
              <a:t>same output </a:t>
            </a:r>
            <a:r>
              <a:rPr lang="en-US" dirty="0" smtClean="0"/>
              <a:t>and </a:t>
            </a:r>
            <a:r>
              <a:rPr lang="en-US" b="1" dirty="0" smtClean="0"/>
              <a:t>compatible next states whenever specified</a:t>
            </a:r>
          </a:p>
          <a:p>
            <a:r>
              <a:rPr lang="en-US" dirty="0" smtClean="0"/>
              <a:t>Three procedural steps:</a:t>
            </a:r>
          </a:p>
          <a:p>
            <a:pPr lvl="1"/>
            <a:r>
              <a:rPr lang="en-US" dirty="0" smtClean="0"/>
              <a:t>Determine all compatible pairs</a:t>
            </a:r>
          </a:p>
          <a:p>
            <a:pPr lvl="1"/>
            <a:r>
              <a:rPr lang="en-US" dirty="0" smtClean="0"/>
              <a:t>Find the maximal compatibles</a:t>
            </a:r>
          </a:p>
          <a:p>
            <a:pPr lvl="1"/>
            <a:r>
              <a:rPr lang="en-US" dirty="0" smtClean="0"/>
              <a:t>Find a minimal closed collection of compatibles</a:t>
            </a:r>
            <a:endParaRPr lang="zh-TW" altLang="en-US" dirty="0" smtClean="0"/>
          </a:p>
        </p:txBody>
      </p:sp>
      <p:sp>
        <p:nvSpPr>
          <p:cNvPr id="4" name="標題 3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7467600" cy="1143000"/>
          </a:xfrm>
        </p:spPr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/>
              <a:t>Merging of the Flow Table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FAF66E5A-D01F-4467-834D-2124D995F490}" type="slidenum">
              <a:rPr lang="zh-TW" altLang="en-US"/>
              <a:pPr/>
              <a:t>56</a:t>
            </a:fld>
            <a:endParaRPr lang="en-US" altLang="zh-TW"/>
          </a:p>
        </p:txBody>
      </p:sp>
      <p:pic>
        <p:nvPicPr>
          <p:cNvPr id="51204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36000"/>
          </a:blip>
          <a:srcRect/>
          <a:stretch>
            <a:fillRect/>
          </a:stretch>
        </p:blipFill>
        <p:spPr bwMode="auto">
          <a:xfrm>
            <a:off x="1162545" y="2609850"/>
            <a:ext cx="2441079" cy="3957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5" name="Picture 6"/>
          <p:cNvPicPr>
            <a:picLocks noChangeAspect="1" noChangeArrowheads="1"/>
          </p:cNvPicPr>
          <p:nvPr/>
        </p:nvPicPr>
        <p:blipFill>
          <a:blip r:embed="rId3" cstate="print">
            <a:lum bright="-12000" contrast="36000"/>
          </a:blip>
          <a:srcRect/>
          <a:stretch>
            <a:fillRect/>
          </a:stretch>
        </p:blipFill>
        <p:spPr bwMode="auto">
          <a:xfrm>
            <a:off x="4764388" y="3228241"/>
            <a:ext cx="2976262" cy="3296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標題 3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7467600" cy="1143000"/>
          </a:xfrm>
        </p:spPr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/>
              <a:t>Compatible Pairs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1600200"/>
            <a:ext cx="76962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lang="en-US" altLang="zh-TW" sz="2400" dirty="0" smtClean="0"/>
              <a:t>Compatible pairs</a:t>
            </a:r>
          </a:p>
          <a:p>
            <a:pPr lvl="2"/>
            <a:r>
              <a:rPr lang="zh-TW" altLang="en-US" sz="2400" dirty="0" smtClean="0"/>
              <a:t>(</a:t>
            </a:r>
            <a:r>
              <a:rPr lang="en-US" altLang="zh-TW" sz="2400" dirty="0" err="1" smtClean="0"/>
              <a:t>a,b</a:t>
            </a:r>
            <a:r>
              <a:rPr lang="en-US" altLang="zh-TW" sz="2400" dirty="0" smtClean="0"/>
              <a:t>) (</a:t>
            </a:r>
            <a:r>
              <a:rPr lang="en-US" altLang="zh-TW" sz="2400" dirty="0" err="1" smtClean="0"/>
              <a:t>a,c</a:t>
            </a:r>
            <a:r>
              <a:rPr lang="en-US" altLang="zh-TW" sz="2400" dirty="0" smtClean="0"/>
              <a:t>) (</a:t>
            </a:r>
            <a:r>
              <a:rPr lang="en-US" altLang="zh-TW" sz="2400" dirty="0" err="1" smtClean="0"/>
              <a:t>a,d</a:t>
            </a:r>
            <a:r>
              <a:rPr lang="en-US" altLang="zh-TW" sz="2400" dirty="0" smtClean="0"/>
              <a:t>) (</a:t>
            </a:r>
            <a:r>
              <a:rPr lang="en-US" altLang="zh-TW" sz="2400" dirty="0" err="1" smtClean="0"/>
              <a:t>b,e</a:t>
            </a:r>
            <a:r>
              <a:rPr lang="en-US" altLang="zh-TW" sz="2400" dirty="0" smtClean="0"/>
              <a:t>) (</a:t>
            </a:r>
            <a:r>
              <a:rPr lang="en-US" altLang="zh-TW" sz="2400" dirty="0" err="1" smtClean="0"/>
              <a:t>b,f</a:t>
            </a:r>
            <a:r>
              <a:rPr lang="en-US" altLang="zh-TW" sz="2400" dirty="0" smtClean="0"/>
              <a:t>) (</a:t>
            </a:r>
            <a:r>
              <a:rPr lang="en-US" altLang="zh-TW" sz="2400" dirty="0" err="1" smtClean="0"/>
              <a:t>c,d</a:t>
            </a:r>
            <a:r>
              <a:rPr lang="en-US" altLang="zh-TW" sz="2400" dirty="0" smtClean="0"/>
              <a:t>) (</a:t>
            </a:r>
            <a:r>
              <a:rPr lang="en-US" altLang="zh-TW" sz="2400" dirty="0" err="1" smtClean="0"/>
              <a:t>e,f</a:t>
            </a:r>
            <a:r>
              <a:rPr lang="en-US" altLang="zh-TW" sz="2400" dirty="0" smtClean="0"/>
              <a:t>)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zh-TW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group of compatibles that contains all the possible combinations of compatible states</a:t>
            </a:r>
          </a:p>
          <a:p>
            <a:pPr lvl="1"/>
            <a:r>
              <a:rPr lang="en-US" dirty="0" smtClean="0"/>
              <a:t>Obtained from a merger diagram</a:t>
            </a:r>
          </a:p>
          <a:p>
            <a:pPr lvl="1"/>
            <a:r>
              <a:rPr lang="en-US" dirty="0" smtClean="0"/>
              <a:t> A line in the diagram represents that two states are compatible</a:t>
            </a:r>
          </a:p>
          <a:p>
            <a:r>
              <a:rPr lang="en-US" i="1" dirty="0" smtClean="0"/>
              <a:t>n</a:t>
            </a:r>
            <a:r>
              <a:rPr lang="en-US" dirty="0" smtClean="0"/>
              <a:t>-state compatible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n-sided fully connected polygon</a:t>
            </a:r>
          </a:p>
          <a:p>
            <a:pPr lvl="1"/>
            <a:r>
              <a:rPr lang="en-US" dirty="0" smtClean="0"/>
              <a:t>All its diagonals connected</a:t>
            </a:r>
          </a:p>
          <a:p>
            <a:r>
              <a:rPr lang="en-US" dirty="0" smtClean="0"/>
              <a:t>Not all maximal compatibles are necessary</a:t>
            </a:r>
            <a:endParaRPr lang="en-US" dirty="0"/>
          </a:p>
        </p:txBody>
      </p:sp>
      <p:sp>
        <p:nvSpPr>
          <p:cNvPr id="8" name="標題 3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7467600" cy="1143000"/>
          </a:xfrm>
        </p:spPr>
        <p:txBody>
          <a:bodyPr lIns="0" tIns="0" rIns="0" bIns="0" anchor="ctr">
            <a:normAutofit fontScale="90000"/>
          </a:bodyPr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sz="3300" dirty="0" smtClean="0"/>
              <a:t>Maximal Compatibles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D378FF5B-4E9E-4C10-A899-E02A15AE0F28}" type="slidenum">
              <a:rPr lang="zh-TW" altLang="en-US"/>
              <a:pPr/>
              <a:t>58</a:t>
            </a:fld>
            <a:endParaRPr lang="en-US" altLang="zh-TW"/>
          </a:p>
        </p:txBody>
      </p:sp>
      <p:sp>
        <p:nvSpPr>
          <p:cNvPr id="53254" name="Text Box 7"/>
          <p:cNvSpPr txBox="1">
            <a:spLocks noChangeArrowheads="1"/>
          </p:cNvSpPr>
          <p:nvPr/>
        </p:nvSpPr>
        <p:spPr bwMode="auto">
          <a:xfrm>
            <a:off x="179388" y="5846763"/>
            <a:ext cx="28035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/>
              <a:t>Fig. 9.24</a:t>
            </a:r>
          </a:p>
          <a:p>
            <a:r>
              <a:rPr lang="en-US" altLang="zh-TW"/>
              <a:t>Merger diagram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2019300" y="3832499"/>
            <a:ext cx="2058988" cy="26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5544364" y="3881005"/>
            <a:ext cx="2361386" cy="2645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標題 3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7467600" cy="1143000"/>
          </a:xfrm>
        </p:spPr>
        <p:txBody>
          <a:bodyPr lIns="0" tIns="0" rIns="0" bIns="0" anchor="ctr">
            <a:normAutofit fontScale="90000"/>
          </a:bodyPr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sz="3300" dirty="0" smtClean="0"/>
              <a:t>Maximal Compatibles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an isolated dot: a state that is not compatible to any other state</a:t>
            </a:r>
          </a:p>
          <a:p>
            <a:pPr lvl="1">
              <a:spcBef>
                <a:spcPct val="0"/>
              </a:spcBef>
            </a:pPr>
            <a:r>
              <a:rPr lang="en-US" altLang="zh-TW" dirty="0" smtClean="0"/>
              <a:t>a line: a compatible pair</a:t>
            </a:r>
          </a:p>
          <a:p>
            <a:pPr lvl="1">
              <a:spcBef>
                <a:spcPct val="0"/>
              </a:spcBef>
            </a:pPr>
            <a:r>
              <a:rPr lang="en-US" altLang="zh-TW" dirty="0" smtClean="0"/>
              <a:t>a triangle: a compatible with three states</a:t>
            </a:r>
          </a:p>
          <a:p>
            <a:pPr lvl="1">
              <a:spcBef>
                <a:spcPct val="0"/>
              </a:spcBef>
            </a:pPr>
            <a:r>
              <a:rPr lang="en-US" altLang="zh-TW" dirty="0" smtClean="0"/>
              <a:t>an n-state compatible: an n-sided polygon with all its diagonals connected</a:t>
            </a:r>
            <a:endParaRPr lang="zh-TW" alt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set of chosen compatibles must cover all the states and must be closed</a:t>
            </a:r>
          </a:p>
          <a:p>
            <a:r>
              <a:rPr lang="en-US" dirty="0" smtClean="0"/>
              <a:t>The closure condition is satisfied if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no implied states or the implied states are included within the set</a:t>
            </a:r>
          </a:p>
          <a:p>
            <a:r>
              <a:rPr lang="en-US" dirty="0" smtClean="0"/>
              <a:t>Ex: if remove (</a:t>
            </a:r>
            <a:r>
              <a:rPr lang="en-US" dirty="0" err="1" smtClean="0"/>
              <a:t>a,b</a:t>
            </a:r>
            <a:r>
              <a:rPr lang="en-US" dirty="0" smtClean="0"/>
              <a:t>) in the right</a:t>
            </a:r>
          </a:p>
          <a:p>
            <a:pPr lvl="1"/>
            <a:r>
              <a:rPr lang="en-US" dirty="0" smtClean="0"/>
              <a:t>(</a:t>
            </a:r>
            <a:r>
              <a:rPr lang="en-US" dirty="0" err="1" smtClean="0"/>
              <a:t>a,c,d</a:t>
            </a:r>
            <a:r>
              <a:rPr lang="en-US" dirty="0" smtClean="0"/>
              <a:t>) (</a:t>
            </a:r>
            <a:r>
              <a:rPr lang="en-US" dirty="0" err="1" smtClean="0"/>
              <a:t>b,e,f</a:t>
            </a:r>
            <a:r>
              <a:rPr lang="en-US" dirty="0" smtClean="0"/>
              <a:t>) are left in the set</a:t>
            </a:r>
          </a:p>
          <a:p>
            <a:pPr lvl="1"/>
            <a:r>
              <a:rPr lang="en-US" dirty="0" smtClean="0"/>
              <a:t>All six states are still included</a:t>
            </a:r>
          </a:p>
          <a:p>
            <a:pPr lvl="1"/>
            <a:r>
              <a:rPr lang="en-US" dirty="0" smtClean="0"/>
              <a:t>No implied states according to </a:t>
            </a:r>
          </a:p>
          <a:p>
            <a:pPr lvl="1">
              <a:buNone/>
            </a:pPr>
            <a:r>
              <a:rPr lang="en-US" dirty="0" smtClean="0"/>
              <a:t>    its implication table</a:t>
            </a:r>
            <a:endParaRPr lang="zh-TW" altLang="en-US" dirty="0" smtClean="0"/>
          </a:p>
        </p:txBody>
      </p:sp>
      <p:sp>
        <p:nvSpPr>
          <p:cNvPr id="5" name="標題 3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7467600" cy="1143000"/>
          </a:xfrm>
        </p:spPr>
        <p:txBody>
          <a:bodyPr lIns="0" tIns="0" rIns="0" bIns="0" anchor="ctr">
            <a:normAutofit fontScale="90000"/>
          </a:bodyPr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sz="3300" dirty="0" smtClean="0"/>
              <a:t>Closed Covering Condition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6141" y="3224212"/>
            <a:ext cx="2596309" cy="336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3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7467600" cy="1143000"/>
          </a:xfrm>
        </p:spPr>
        <p:txBody>
          <a:bodyPr lIns="0" tIns="0" rIns="0" bIns="0" anchor="ctr">
            <a:normAutofit fontScale="90000"/>
          </a:bodyPr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sz="3300" dirty="0" smtClean="0"/>
              <a:t>Closed Covering Condition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9" y="1600201"/>
            <a:ext cx="5840595" cy="4924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6057900" y="3214985"/>
            <a:ext cx="28765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*(</a:t>
            </a:r>
            <a:r>
              <a:rPr lang="en-US" sz="2400" dirty="0" err="1" smtClean="0"/>
              <a:t>a,b</a:t>
            </a:r>
            <a:r>
              <a:rPr lang="en-US" sz="2400" dirty="0" smtClean="0"/>
              <a:t>) (</a:t>
            </a:r>
            <a:r>
              <a:rPr lang="en-US" sz="2400" dirty="0" err="1" smtClean="0"/>
              <a:t>c,d,e</a:t>
            </a:r>
            <a:r>
              <a:rPr lang="en-US" sz="2400" dirty="0" smtClean="0"/>
              <a:t>)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(X)</a:t>
            </a:r>
          </a:p>
          <a:p>
            <a:r>
              <a:rPr lang="en-US" sz="2400" dirty="0" smtClean="0"/>
              <a:t>implied (</a:t>
            </a:r>
            <a:r>
              <a:rPr lang="en-US" sz="2400" dirty="0" err="1" smtClean="0"/>
              <a:t>b,c</a:t>
            </a:r>
            <a:r>
              <a:rPr lang="en-US" sz="2400" dirty="0" smtClean="0"/>
              <a:t>) is not</a:t>
            </a:r>
          </a:p>
          <a:p>
            <a:r>
              <a:rPr lang="en-US" sz="2400" dirty="0" smtClean="0"/>
              <a:t>included in the set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6038850" y="4586585"/>
            <a:ext cx="28765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*better choice:</a:t>
            </a:r>
          </a:p>
          <a:p>
            <a:r>
              <a:rPr lang="en-US" sz="2400" dirty="0" smtClean="0"/>
              <a:t>(</a:t>
            </a:r>
            <a:r>
              <a:rPr lang="en-US" sz="2400" dirty="0" err="1" smtClean="0"/>
              <a:t>a,d</a:t>
            </a:r>
            <a:r>
              <a:rPr lang="en-US" sz="2400" dirty="0" smtClean="0"/>
              <a:t>) (</a:t>
            </a:r>
            <a:r>
              <a:rPr lang="en-US" sz="2400" dirty="0" err="1" smtClean="0"/>
              <a:t>b,c</a:t>
            </a:r>
            <a:r>
              <a:rPr lang="en-US" sz="2400" dirty="0" smtClean="0"/>
              <a:t>) (</a:t>
            </a:r>
            <a:r>
              <a:rPr lang="en-US" sz="2400" dirty="0" err="1" smtClean="0"/>
              <a:t>c,d,e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all implied states</a:t>
            </a:r>
          </a:p>
          <a:p>
            <a:r>
              <a:rPr lang="en-US" sz="2400" dirty="0" smtClean="0"/>
              <a:t>are included</a:t>
            </a:r>
            <a:endParaRPr 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529CC59-88D2-4556-9F9D-66A93E8F50D6}" type="slidenum">
              <a:rPr lang="zh-TW" altLang="en-US"/>
              <a:pPr/>
              <a:t>61</a:t>
            </a:fld>
            <a:endParaRPr lang="en-US" altLang="zh-TW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Race-Free State Assignment</a:t>
            </a:r>
            <a:endParaRPr lang="zh-TW" altLang="en-US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AU" dirty="0" smtClean="0"/>
              <a:t>Objective: choose a proper binary state assignment to </a:t>
            </a:r>
            <a:r>
              <a:rPr lang="en-AU" b="1" dirty="0" smtClean="0"/>
              <a:t>prevent critical races</a:t>
            </a:r>
          </a:p>
          <a:p>
            <a:r>
              <a:rPr lang="en-AU" dirty="0" smtClean="0"/>
              <a:t>Only one variable can change at any given time when a state transition occurs</a:t>
            </a:r>
          </a:p>
          <a:p>
            <a:r>
              <a:rPr lang="en-AU" dirty="0" smtClean="0"/>
              <a:t>States between which transitions occur will be given </a:t>
            </a:r>
            <a:r>
              <a:rPr lang="en-AU" b="1" dirty="0" smtClean="0"/>
              <a:t>adjacent assignments</a:t>
            </a:r>
          </a:p>
          <a:p>
            <a:pPr lvl="1"/>
            <a:r>
              <a:rPr lang="en-AU" dirty="0" smtClean="0"/>
              <a:t>Two binary values are said to be adjacent if they differ in only one variable</a:t>
            </a:r>
          </a:p>
          <a:p>
            <a:r>
              <a:rPr lang="en-AU" dirty="0" smtClean="0"/>
              <a:t>To ensure that a transition table has no critical races, every possible state transition should be checked</a:t>
            </a:r>
          </a:p>
          <a:p>
            <a:pPr lvl="1"/>
            <a:r>
              <a:rPr lang="en-AU" dirty="0" smtClean="0"/>
              <a:t>A tedious work when the flow table is large</a:t>
            </a:r>
          </a:p>
          <a:p>
            <a:pPr lvl="1"/>
            <a:r>
              <a:rPr lang="en-AU" dirty="0" smtClean="0"/>
              <a:t>Only 3-row and 4-row examples are demonstrated</a:t>
            </a:r>
            <a:endParaRPr lang="en-AU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7555" y="3752850"/>
            <a:ext cx="63943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529CC59-88D2-4556-9F9D-66A93E8F50D6}" type="slidenum">
              <a:rPr lang="zh-TW" altLang="en-US"/>
              <a:pPr/>
              <a:t>62</a:t>
            </a:fld>
            <a:endParaRPr lang="en-US" altLang="zh-TW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3-Row Flow Table Example</a:t>
            </a:r>
            <a:endParaRPr lang="zh-TW" altLang="en-US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82000" cy="4873752"/>
          </a:xfrm>
        </p:spPr>
        <p:txBody>
          <a:bodyPr>
            <a:normAutofit/>
          </a:bodyPr>
          <a:lstStyle/>
          <a:p>
            <a:r>
              <a:rPr lang="en-AU" dirty="0" smtClean="0"/>
              <a:t>Three states require two binary variables</a:t>
            </a:r>
          </a:p>
          <a:p>
            <a:r>
              <a:rPr lang="en-AU" dirty="0" smtClean="0"/>
              <a:t>Outputs are omitted for simplicity</a:t>
            </a:r>
          </a:p>
          <a:p>
            <a:r>
              <a:rPr lang="en-AU" dirty="0" smtClean="0"/>
              <a:t>Adjacent info. are represented by a transition diagram</a:t>
            </a:r>
          </a:p>
          <a:p>
            <a:r>
              <a:rPr lang="en-AU" dirty="0" smtClean="0"/>
              <a:t>a and c are still not adjacent in such an assignment!!</a:t>
            </a:r>
          </a:p>
          <a:p>
            <a:pPr lvl="1"/>
            <a:r>
              <a:rPr lang="en-AU" dirty="0" smtClean="0"/>
              <a:t>Impossible to make all states adjacent if only 3 states are used</a:t>
            </a:r>
            <a:endParaRPr lang="en-AU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529CC59-88D2-4556-9F9D-66A93E8F50D6}" type="slidenum">
              <a:rPr lang="zh-TW" altLang="en-US"/>
              <a:pPr/>
              <a:t>63</a:t>
            </a:fld>
            <a:endParaRPr lang="en-US" altLang="zh-TW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3-Row Flow Table Example</a:t>
            </a:r>
            <a:endParaRPr lang="zh-TW" altLang="en-US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82000" cy="4873752"/>
          </a:xfrm>
        </p:spPr>
        <p:txBody>
          <a:bodyPr>
            <a:normAutofit/>
          </a:bodyPr>
          <a:lstStyle/>
          <a:p>
            <a:r>
              <a:rPr lang="en-AU" dirty="0" smtClean="0"/>
              <a:t>A race-free assignment can be obtained if we add an extra row to the flow table</a:t>
            </a:r>
          </a:p>
          <a:p>
            <a:pPr lvl="1"/>
            <a:r>
              <a:rPr lang="en-AU" dirty="0" smtClean="0"/>
              <a:t>Only provide a race-free transition between the stable states</a:t>
            </a:r>
          </a:p>
          <a:p>
            <a:r>
              <a:rPr lang="en-AU" dirty="0" smtClean="0"/>
              <a:t>The transition from a to c must now go through d</a:t>
            </a:r>
          </a:p>
          <a:p>
            <a:pPr lvl="1"/>
            <a:r>
              <a:rPr lang="en-AU" dirty="0" smtClean="0"/>
              <a:t>00 </a:t>
            </a:r>
            <a:r>
              <a:rPr lang="en-AU" dirty="0" smtClean="0">
                <a:sym typeface="Wingdings" pitchFamily="2" charset="2"/>
              </a:rPr>
              <a:t></a:t>
            </a:r>
            <a:r>
              <a:rPr lang="en-AU" dirty="0" smtClean="0"/>
              <a:t> 10 </a:t>
            </a:r>
            <a:r>
              <a:rPr lang="en-AU" dirty="0" smtClean="0">
                <a:sym typeface="Wingdings" pitchFamily="2" charset="2"/>
              </a:rPr>
              <a:t></a:t>
            </a:r>
            <a:r>
              <a:rPr lang="en-AU" dirty="0" smtClean="0"/>
              <a:t> 11 (no race condition)</a:t>
            </a:r>
            <a:endParaRPr lang="en-AU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4181924"/>
            <a:ext cx="4833938" cy="239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86950" y="4181924"/>
            <a:ext cx="2466450" cy="239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529CC59-88D2-4556-9F9D-66A93E8F50D6}" type="slidenum">
              <a:rPr lang="zh-TW" altLang="en-US"/>
              <a:pPr/>
              <a:t>64</a:t>
            </a:fld>
            <a:endParaRPr lang="en-US" altLang="zh-TW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4-Row Flow Table Example</a:t>
            </a:r>
            <a:endParaRPr lang="zh-TW" altLang="en-US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82000" cy="4873752"/>
          </a:xfrm>
        </p:spPr>
        <p:txBody>
          <a:bodyPr>
            <a:normAutofit/>
          </a:bodyPr>
          <a:lstStyle/>
          <a:p>
            <a:r>
              <a:rPr lang="en-AU" dirty="0" smtClean="0"/>
              <a:t>Sometimes, just one extra row may not be sufficient to prevent critical races</a:t>
            </a:r>
          </a:p>
          <a:p>
            <a:pPr lvl="1"/>
            <a:r>
              <a:rPr lang="en-AU" dirty="0" smtClean="0"/>
              <a:t>More binary state variables may also required</a:t>
            </a:r>
          </a:p>
          <a:p>
            <a:r>
              <a:rPr lang="en-AU" dirty="0" smtClean="0"/>
              <a:t>With one or two diagonal transitions, there is no way of using two binary variables that satisfy all adjacency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2550" y="3667125"/>
            <a:ext cx="5905500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529CC59-88D2-4556-9F9D-66A93E8F50D6}" type="slidenum">
              <a:rPr lang="zh-TW" altLang="en-US"/>
              <a:pPr/>
              <a:t>65</a:t>
            </a:fld>
            <a:endParaRPr lang="en-US" altLang="zh-TW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4-Row Flow Table Example</a:t>
            </a:r>
            <a:endParaRPr lang="zh-TW" altLang="en-US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5" y="1376363"/>
            <a:ext cx="325755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363" y="3695700"/>
            <a:ext cx="288607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73021" y="1600200"/>
            <a:ext cx="3103057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87" y="4667250"/>
            <a:ext cx="2641951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34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529CC59-88D2-4556-9F9D-66A93E8F50D6}" type="slidenum">
              <a:rPr lang="zh-TW" altLang="en-US"/>
              <a:pPr/>
              <a:t>66</a:t>
            </a:fld>
            <a:endParaRPr lang="en-US" altLang="zh-TW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Multiple-Row Method</a:t>
            </a:r>
            <a:endParaRPr lang="zh-TW" altLang="en-US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5219700" cy="4873752"/>
          </a:xfrm>
        </p:spPr>
        <p:txBody>
          <a:bodyPr>
            <a:normAutofit/>
          </a:bodyPr>
          <a:lstStyle/>
          <a:p>
            <a:r>
              <a:rPr lang="en-AU" dirty="0" smtClean="0"/>
              <a:t>Multiple-row method is easier</a:t>
            </a:r>
          </a:p>
          <a:p>
            <a:pPr lvl="1"/>
            <a:r>
              <a:rPr lang="en-AU" dirty="0" smtClean="0"/>
              <a:t>May not as efficient as in above </a:t>
            </a:r>
            <a:r>
              <a:rPr lang="en-AU" b="1" dirty="0" smtClean="0"/>
              <a:t>shared-row method</a:t>
            </a:r>
          </a:p>
          <a:p>
            <a:r>
              <a:rPr lang="en-AU" dirty="0" smtClean="0"/>
              <a:t>Each stable state is duplicated with exactly the same output</a:t>
            </a:r>
          </a:p>
          <a:p>
            <a:pPr lvl="1"/>
            <a:r>
              <a:rPr lang="en-AU" dirty="0" smtClean="0"/>
              <a:t>Behaviours are still the same</a:t>
            </a:r>
          </a:p>
          <a:p>
            <a:r>
              <a:rPr lang="en-AU" dirty="0" smtClean="0"/>
              <a:t>While choosing the next states, choose the adjacent one</a:t>
            </a:r>
            <a:endParaRPr lang="en-A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0936" y="1654188"/>
            <a:ext cx="3074913" cy="5089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DE409518-CC9D-4EA0-BF1A-8AA8BDBC58AF}" type="slidenum">
              <a:rPr lang="zh-TW" altLang="en-US"/>
              <a:pPr/>
              <a:t>67</a:t>
            </a:fld>
            <a:endParaRPr lang="en-US" altLang="zh-TW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Hazards</a:t>
            </a:r>
            <a:endParaRPr lang="zh-TW" altLang="en-US" dirty="0" smtClean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Unwanted switching appears at the output of a circuit</a:t>
            </a:r>
          </a:p>
          <a:p>
            <a:pPr lvl="1"/>
            <a:r>
              <a:rPr lang="en-AU" dirty="0" smtClean="0"/>
              <a:t>Due to different propagation delay in different paths</a:t>
            </a:r>
          </a:p>
          <a:p>
            <a:r>
              <a:rPr lang="en-AU" dirty="0" smtClean="0"/>
              <a:t>May cause the circuit to mal-function</a:t>
            </a:r>
          </a:p>
          <a:p>
            <a:pPr lvl="1"/>
            <a:r>
              <a:rPr lang="en-AU" dirty="0" smtClean="0"/>
              <a:t>Cause temporary false-output values in combinational circuits</a:t>
            </a:r>
          </a:p>
          <a:p>
            <a:pPr lvl="1"/>
            <a:r>
              <a:rPr lang="en-AU" dirty="0" smtClean="0"/>
              <a:t>Cause a transition to a wrong state in asynchronous circuits</a:t>
            </a:r>
          </a:p>
          <a:p>
            <a:pPr lvl="1"/>
            <a:r>
              <a:rPr lang="en-AU" dirty="0" smtClean="0"/>
              <a:t>Not a concern to synchronous sequential circuits</a:t>
            </a:r>
            <a:endParaRPr lang="zh-TW" altLang="en-US" dirty="0" smtClean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9915323F-1AFD-420E-B133-D214B64E0830}" type="slidenum">
              <a:rPr lang="zh-TW" altLang="en-US"/>
              <a:pPr/>
              <a:t>68</a:t>
            </a:fld>
            <a:endParaRPr lang="en-US" altLang="zh-TW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TW" altLang="en-US" dirty="0" smtClean="0"/>
          </a:p>
        </p:txBody>
      </p:sp>
      <p:pic>
        <p:nvPicPr>
          <p:cNvPr id="65540" name="Picture 5"/>
          <p:cNvPicPr>
            <a:picLocks noChangeAspect="1" noChangeArrowheads="1"/>
          </p:cNvPicPr>
          <p:nvPr/>
        </p:nvPicPr>
        <p:blipFill>
          <a:blip r:embed="rId2" cstate="print">
            <a:lum bright="-18000" contrast="36000"/>
          </a:blip>
          <a:srcRect/>
          <a:stretch>
            <a:fillRect/>
          </a:stretch>
        </p:blipFill>
        <p:spPr bwMode="auto">
          <a:xfrm>
            <a:off x="558801" y="2481349"/>
            <a:ext cx="8042985" cy="2376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1" name="Text Box 6"/>
          <p:cNvSpPr txBox="1">
            <a:spLocks noChangeArrowheads="1"/>
          </p:cNvSpPr>
          <p:nvPr/>
        </p:nvSpPr>
        <p:spPr bwMode="auto">
          <a:xfrm>
            <a:off x="552450" y="4941888"/>
            <a:ext cx="48244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/>
              <a:t>Fig. 9.33</a:t>
            </a:r>
          </a:p>
          <a:p>
            <a:r>
              <a:rPr lang="en-US" altLang="zh-TW" dirty="0"/>
              <a:t>Circuits with hazards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Hazards in Combinational Circuits</a:t>
            </a:r>
            <a:endParaRPr lang="zh-TW" altLang="en-US" dirty="0" smtClean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DE409518-CC9D-4EA0-BF1A-8AA8BDBC58AF}" type="slidenum">
              <a:rPr lang="zh-TW" altLang="en-US"/>
              <a:pPr/>
              <a:t>69</a:t>
            </a:fld>
            <a:endParaRPr lang="en-US" altLang="zh-TW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Types of Hazards</a:t>
            </a:r>
            <a:endParaRPr lang="zh-TW" altLang="en-US" dirty="0" smtClean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Three types of hazards: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lum bright="-6000" contrast="18000"/>
          </a:blip>
          <a:srcRect/>
          <a:stretch>
            <a:fillRect/>
          </a:stretch>
        </p:blipFill>
        <p:spPr bwMode="auto">
          <a:xfrm>
            <a:off x="765175" y="2787650"/>
            <a:ext cx="7235825" cy="156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09638" y="4672013"/>
            <a:ext cx="401271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/>
              <a:t>Fig. 9.34</a:t>
            </a:r>
          </a:p>
          <a:p>
            <a:r>
              <a:rPr lang="en-US" altLang="zh-TW"/>
              <a:t>Types of hazards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DE409518-CC9D-4EA0-BF1A-8AA8BDBC58AF}" type="slidenum">
              <a:rPr lang="zh-TW" altLang="en-US"/>
              <a:pPr/>
              <a:t>70</a:t>
            </a:fld>
            <a:endParaRPr lang="en-US" altLang="zh-TW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Hazard Free Circuit</a:t>
            </a:r>
            <a:endParaRPr lang="zh-TW" altLang="en-US" dirty="0" smtClean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Static 1-hazard (sum of products)</a:t>
            </a:r>
          </a:p>
          <a:p>
            <a:pPr lvl="2"/>
            <a:r>
              <a:rPr lang="en-US" altLang="zh-TW" dirty="0" smtClean="0"/>
              <a:t>the removal of static 1-hazard guarantees that no static 0-hazards or dynamic hazards</a:t>
            </a:r>
          </a:p>
          <a:p>
            <a:r>
              <a:rPr lang="en-US" altLang="zh-TW" dirty="0" smtClean="0"/>
              <a:t>Static 0-hazard (product of sum)</a:t>
            </a:r>
          </a:p>
          <a:p>
            <a:pPr lvl="2"/>
            <a:r>
              <a:rPr lang="en-US" altLang="zh-TW" i="1" dirty="0" smtClean="0"/>
              <a:t>Y</a:t>
            </a:r>
            <a:r>
              <a:rPr lang="en-US" altLang="zh-TW" dirty="0" smtClean="0"/>
              <a:t> = (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+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')(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+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The remedy</a:t>
            </a:r>
          </a:p>
          <a:p>
            <a:pPr lvl="1"/>
            <a:r>
              <a:rPr lang="en-US" altLang="zh-TW" dirty="0" smtClean="0"/>
              <a:t>the circuit moves from one product term to </a:t>
            </a:r>
            <a:r>
              <a:rPr lang="en-US" altLang="zh-TW" smtClean="0"/>
              <a:t>another </a:t>
            </a:r>
          </a:p>
          <a:p>
            <a:pPr lvl="1"/>
            <a:r>
              <a:rPr lang="en-US" altLang="zh-TW" smtClean="0"/>
              <a:t>additional </a:t>
            </a:r>
            <a:r>
              <a:rPr lang="en-US" altLang="zh-TW" dirty="0" smtClean="0"/>
              <a:t>redundant gate</a:t>
            </a:r>
          </a:p>
          <a:p>
            <a:endParaRPr lang="en-US" altLang="zh-TW" dirty="0" smtClean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DE409518-CC9D-4EA0-BF1A-8AA8BDBC58AF}" type="slidenum">
              <a:rPr lang="zh-TW" altLang="en-US"/>
              <a:pPr/>
              <a:t>71</a:t>
            </a:fld>
            <a:endParaRPr lang="en-US" altLang="zh-TW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Hazard Free Circuit</a:t>
            </a:r>
            <a:endParaRPr lang="zh-TW" altLang="en-US" dirty="0" smtClean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5388" y="1619250"/>
            <a:ext cx="611187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38" y="4243388"/>
            <a:ext cx="4348162" cy="2016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1C1CF16-EE6E-4080-B900-F5926E3B6567}" type="slidenum">
              <a:rPr lang="zh-TW" altLang="en-US"/>
              <a:pPr/>
              <a:t>72</a:t>
            </a:fld>
            <a:endParaRPr lang="en-US" altLang="zh-TW"/>
          </a:p>
        </p:txBody>
      </p:sp>
      <p:pic>
        <p:nvPicPr>
          <p:cNvPr id="69636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171575" y="2024063"/>
            <a:ext cx="7412038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7" name="Picture 6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243138" y="4292600"/>
            <a:ext cx="6721475" cy="2243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638" name="Text Box 7"/>
          <p:cNvSpPr txBox="1">
            <a:spLocks noChangeArrowheads="1"/>
          </p:cNvSpPr>
          <p:nvPr/>
        </p:nvSpPr>
        <p:spPr bwMode="auto">
          <a:xfrm>
            <a:off x="419100" y="5370513"/>
            <a:ext cx="230505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dirty="0"/>
              <a:t>Fig. 9.37</a:t>
            </a:r>
          </a:p>
          <a:p>
            <a:r>
              <a:rPr lang="en-US" altLang="zh-TW" dirty="0"/>
              <a:t>Hazard in a asynchronous sequential circuit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altLang="zh-TW" dirty="0" smtClean="0"/>
              <a:t>In general, no problem for synchronous design</a:t>
            </a:r>
          </a:p>
          <a:p>
            <a:endParaRPr lang="en-AU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Hazard in a Asynchronous Circuit</a:t>
            </a:r>
            <a:endParaRPr lang="en-US" altLang="zh-TW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1C1CF16-EE6E-4080-B900-F5926E3B6567}" type="slidenum">
              <a:rPr lang="zh-TW" altLang="en-US"/>
              <a:pPr/>
              <a:t>73</a:t>
            </a:fld>
            <a:endParaRPr lang="en-US" altLang="zh-TW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AU" dirty="0" smtClean="0"/>
              <a:t>Remove Hazard with Latches</a:t>
            </a:r>
            <a:endParaRPr lang="en-US" altLang="zh-TW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Implement the asynchronous circuit with </a:t>
            </a:r>
            <a:r>
              <a:rPr lang="en-AU" i="1" dirty="0" smtClean="0"/>
              <a:t>SR</a:t>
            </a:r>
            <a:r>
              <a:rPr lang="en-AU" dirty="0" smtClean="0"/>
              <a:t> latches can also remove static hazards</a:t>
            </a:r>
          </a:p>
          <a:p>
            <a:pPr lvl="1"/>
            <a:r>
              <a:rPr lang="en-AU" dirty="0" smtClean="0"/>
              <a:t>A momentary 0 has no effects to the </a:t>
            </a:r>
            <a:r>
              <a:rPr lang="en-AU" i="1" dirty="0" smtClean="0"/>
              <a:t>S</a:t>
            </a:r>
            <a:r>
              <a:rPr lang="en-AU" dirty="0" smtClean="0"/>
              <a:t> and </a:t>
            </a:r>
            <a:r>
              <a:rPr lang="en-AU" i="1" dirty="0" smtClean="0"/>
              <a:t>R</a:t>
            </a:r>
            <a:r>
              <a:rPr lang="en-AU" dirty="0" smtClean="0"/>
              <a:t> inputs of a NOR latch</a:t>
            </a:r>
          </a:p>
          <a:p>
            <a:pPr lvl="1"/>
            <a:r>
              <a:rPr lang="en-AU" dirty="0" smtClean="0"/>
              <a:t>A momentary 1 has no effects to the </a:t>
            </a:r>
            <a:r>
              <a:rPr lang="en-AU" i="1" dirty="0" smtClean="0"/>
              <a:t>S</a:t>
            </a:r>
            <a:r>
              <a:rPr lang="en-AU" dirty="0" smtClean="0"/>
              <a:t> and </a:t>
            </a:r>
            <a:r>
              <a:rPr lang="en-AU" i="1" dirty="0" smtClean="0"/>
              <a:t>R</a:t>
            </a:r>
            <a:r>
              <a:rPr lang="en-AU" dirty="0" smtClean="0"/>
              <a:t> inputs of a NAND latch</a:t>
            </a:r>
            <a:endParaRPr lang="en-A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1647" y="4257674"/>
            <a:ext cx="6847986" cy="2466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5067300" y="3772585"/>
            <a:ext cx="1600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Replace</a:t>
            </a:r>
          </a:p>
          <a:p>
            <a:r>
              <a:rPr lang="en-AU" sz="2400" dirty="0" smtClean="0">
                <a:solidFill>
                  <a:srgbClr val="FF0000"/>
                </a:solidFill>
              </a:rPr>
              <a:t>by a latch</a:t>
            </a:r>
            <a:endParaRPr lang="en-AU" sz="24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>
            <a:stCxn id="10" idx="2"/>
          </p:cNvCxnSpPr>
          <p:nvPr/>
        </p:nvCxnSpPr>
        <p:spPr>
          <a:xfrm flipH="1">
            <a:off x="5372100" y="4603582"/>
            <a:ext cx="495300" cy="3303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1C1CF16-EE6E-4080-B900-F5926E3B6567}" type="slidenum">
              <a:rPr lang="zh-TW" altLang="en-US"/>
              <a:pPr/>
              <a:t>74</a:t>
            </a:fld>
            <a:endParaRPr lang="en-US" altLang="zh-TW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Implementation with SR latches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Given:</a:t>
            </a:r>
          </a:p>
          <a:p>
            <a:pPr lvl="1"/>
            <a:r>
              <a:rPr lang="en-AU" i="1" dirty="0" smtClean="0"/>
              <a:t>S</a:t>
            </a:r>
            <a:r>
              <a:rPr lang="en-AU" dirty="0" smtClean="0"/>
              <a:t> = </a:t>
            </a:r>
            <a:r>
              <a:rPr lang="en-AU" i="1" dirty="0" smtClean="0"/>
              <a:t>AB</a:t>
            </a:r>
            <a:r>
              <a:rPr lang="en-AU" dirty="0" smtClean="0"/>
              <a:t> + </a:t>
            </a:r>
            <a:r>
              <a:rPr lang="en-AU" i="1" dirty="0" smtClean="0"/>
              <a:t>CD</a:t>
            </a:r>
          </a:p>
          <a:p>
            <a:pPr lvl="1"/>
            <a:r>
              <a:rPr lang="en-AU" i="1" dirty="0" smtClean="0"/>
              <a:t>R</a:t>
            </a:r>
            <a:r>
              <a:rPr lang="en-AU" dirty="0" smtClean="0"/>
              <a:t> = </a:t>
            </a:r>
            <a:r>
              <a:rPr lang="en-AU" i="1" dirty="0" smtClean="0"/>
              <a:t>A’C</a:t>
            </a:r>
          </a:p>
          <a:p>
            <a:r>
              <a:rPr lang="en-AU" dirty="0" smtClean="0"/>
              <a:t>For NAND latch, use complemented inputs</a:t>
            </a:r>
          </a:p>
          <a:p>
            <a:pPr lvl="1"/>
            <a:r>
              <a:rPr lang="en-AU" i="1" dirty="0" smtClean="0"/>
              <a:t>S’ </a:t>
            </a:r>
            <a:r>
              <a:rPr lang="en-AU" dirty="0" smtClean="0"/>
              <a:t>=</a:t>
            </a:r>
            <a:r>
              <a:rPr lang="en-AU" i="1" dirty="0" smtClean="0"/>
              <a:t> </a:t>
            </a:r>
            <a:r>
              <a:rPr lang="en-AU" dirty="0" smtClean="0"/>
              <a:t>(</a:t>
            </a:r>
            <a:r>
              <a:rPr lang="en-AU" i="1" dirty="0" smtClean="0"/>
              <a:t>AB + CD</a:t>
            </a:r>
            <a:r>
              <a:rPr lang="en-AU" dirty="0" smtClean="0"/>
              <a:t>)</a:t>
            </a:r>
            <a:r>
              <a:rPr lang="en-AU" i="1" dirty="0" smtClean="0"/>
              <a:t>’= </a:t>
            </a:r>
            <a:r>
              <a:rPr lang="en-AU" dirty="0" smtClean="0"/>
              <a:t>(</a:t>
            </a:r>
            <a:r>
              <a:rPr lang="en-AU" i="1" dirty="0" smtClean="0"/>
              <a:t>AB</a:t>
            </a:r>
            <a:r>
              <a:rPr lang="en-AU" dirty="0" smtClean="0"/>
              <a:t>)</a:t>
            </a:r>
            <a:r>
              <a:rPr lang="en-AU" i="1" dirty="0" smtClean="0"/>
              <a:t>’</a:t>
            </a:r>
            <a:r>
              <a:rPr lang="en-AU" dirty="0" smtClean="0"/>
              <a:t>(</a:t>
            </a:r>
            <a:r>
              <a:rPr lang="en-AU" i="1" dirty="0" smtClean="0"/>
              <a:t>CD</a:t>
            </a:r>
            <a:r>
              <a:rPr lang="en-AU" dirty="0" smtClean="0"/>
              <a:t>)</a:t>
            </a:r>
            <a:r>
              <a:rPr lang="en-AU" i="1" dirty="0" smtClean="0"/>
              <a:t>’</a:t>
            </a:r>
          </a:p>
          <a:p>
            <a:pPr lvl="1"/>
            <a:r>
              <a:rPr lang="en-AU" i="1" dirty="0" smtClean="0"/>
              <a:t>R’ </a:t>
            </a:r>
            <a:r>
              <a:rPr lang="en-AU" dirty="0" smtClean="0"/>
              <a:t>= (</a:t>
            </a:r>
            <a:r>
              <a:rPr lang="en-AU" i="1" dirty="0" smtClean="0"/>
              <a:t>A’C</a:t>
            </a:r>
            <a:r>
              <a:rPr lang="en-AU" dirty="0" smtClean="0"/>
              <a:t>)</a:t>
            </a:r>
            <a:r>
              <a:rPr lang="en-AU" i="1" dirty="0" smtClean="0"/>
              <a:t>’</a:t>
            </a:r>
          </a:p>
          <a:p>
            <a:r>
              <a:rPr lang="en-AU" i="1" dirty="0" smtClean="0"/>
              <a:t>Q </a:t>
            </a:r>
            <a:r>
              <a:rPr lang="en-AU" dirty="0" smtClean="0"/>
              <a:t>= (</a:t>
            </a:r>
            <a:r>
              <a:rPr lang="en-AU" i="1" dirty="0" smtClean="0"/>
              <a:t>Q’S</a:t>
            </a:r>
            <a:r>
              <a:rPr lang="en-AU" dirty="0" smtClean="0"/>
              <a:t>)</a:t>
            </a:r>
            <a:r>
              <a:rPr lang="en-AU" i="1" dirty="0" smtClean="0"/>
              <a:t>’ </a:t>
            </a:r>
            <a:r>
              <a:rPr lang="en-AU" dirty="0" smtClean="0"/>
              <a:t>= [</a:t>
            </a:r>
            <a:r>
              <a:rPr lang="en-AU" i="1" dirty="0" smtClean="0"/>
              <a:t>Q’</a:t>
            </a:r>
            <a:r>
              <a:rPr lang="en-AU" dirty="0" smtClean="0"/>
              <a:t>(</a:t>
            </a:r>
            <a:r>
              <a:rPr lang="en-AU" i="1" dirty="0" smtClean="0"/>
              <a:t>AB</a:t>
            </a:r>
            <a:r>
              <a:rPr lang="en-AU" dirty="0" smtClean="0"/>
              <a:t>)</a:t>
            </a:r>
            <a:r>
              <a:rPr lang="en-AU" i="1" dirty="0" smtClean="0"/>
              <a:t>’</a:t>
            </a:r>
            <a:r>
              <a:rPr lang="en-AU" dirty="0" smtClean="0"/>
              <a:t>(</a:t>
            </a:r>
            <a:r>
              <a:rPr lang="en-AU" i="1" dirty="0" smtClean="0"/>
              <a:t>CD</a:t>
            </a:r>
            <a:r>
              <a:rPr lang="en-AU" dirty="0" smtClean="0"/>
              <a:t>)</a:t>
            </a:r>
            <a:r>
              <a:rPr lang="en-AU" i="1" dirty="0" smtClean="0"/>
              <a:t>’</a:t>
            </a:r>
            <a:r>
              <a:rPr lang="en-AU" dirty="0" smtClean="0"/>
              <a:t>]</a:t>
            </a:r>
            <a:r>
              <a:rPr lang="en-AU" i="1" dirty="0" smtClean="0"/>
              <a:t>’</a:t>
            </a:r>
          </a:p>
          <a:p>
            <a:r>
              <a:rPr lang="en-AU" dirty="0" smtClean="0"/>
              <a:t>Two-level circuits (this is the output we want)</a:t>
            </a:r>
            <a:endParaRPr lang="en-AU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C1C1CF16-EE6E-4080-B900-F5926E3B6567}" type="slidenum">
              <a:rPr lang="zh-TW" altLang="en-US"/>
              <a:pPr/>
              <a:t>75</a:t>
            </a:fld>
            <a:endParaRPr lang="en-US" altLang="zh-TW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Implementation with SR latches</a:t>
            </a:r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9991" y="1600200"/>
            <a:ext cx="4270617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3529CC59-88D2-4556-9F9D-66A93E8F50D6}" type="slidenum">
              <a:rPr lang="zh-TW" altLang="en-US"/>
              <a:pPr/>
              <a:t>76</a:t>
            </a:fld>
            <a:endParaRPr lang="en-US" altLang="zh-TW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Essential Hazards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Besides static and dynamic hazards, another type of hazard in asynchronous circuits is called </a:t>
            </a:r>
            <a:r>
              <a:rPr lang="en-AU" b="1" dirty="0" smtClean="0"/>
              <a:t>essential hazard</a:t>
            </a:r>
          </a:p>
          <a:p>
            <a:r>
              <a:rPr lang="en-AU" dirty="0" smtClean="0"/>
              <a:t>Caused by unequal delays along two or more paths that originate from the </a:t>
            </a:r>
            <a:r>
              <a:rPr lang="en-AU" b="1" dirty="0" smtClean="0"/>
              <a:t>same input</a:t>
            </a:r>
          </a:p>
          <a:p>
            <a:r>
              <a:rPr lang="en-AU" dirty="0" smtClean="0"/>
              <a:t>Cannot be corrected by adding redundant gates</a:t>
            </a:r>
          </a:p>
          <a:p>
            <a:r>
              <a:rPr lang="en-AU" dirty="0" smtClean="0"/>
              <a:t>Can only be corrected by adjusting the amount of delay in the affected path</a:t>
            </a:r>
          </a:p>
          <a:p>
            <a:pPr lvl="1"/>
            <a:r>
              <a:rPr lang="en-AU" dirty="0" smtClean="0"/>
              <a:t>Each feedback path should be examined carefully !!</a:t>
            </a:r>
            <a:endParaRPr lang="en-AU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dirty="0" smtClean="0"/>
              <a:t>Summary of Design Procedure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1. State the design specifications</a:t>
            </a:r>
          </a:p>
          <a:p>
            <a:pPr>
              <a:buNone/>
            </a:pPr>
            <a:r>
              <a:rPr lang="en-US" dirty="0" smtClean="0"/>
              <a:t>2. Derive a primitive flow table</a:t>
            </a:r>
          </a:p>
          <a:p>
            <a:pPr>
              <a:buNone/>
            </a:pPr>
            <a:r>
              <a:rPr lang="en-US" dirty="0" smtClean="0"/>
              <a:t>3. Reduce the flow table by merging the rows</a:t>
            </a:r>
          </a:p>
          <a:p>
            <a:pPr>
              <a:buNone/>
            </a:pPr>
            <a:r>
              <a:rPr lang="en-US" dirty="0" smtClean="0"/>
              <a:t>4. Make a race-free binary state assignment</a:t>
            </a:r>
          </a:p>
          <a:p>
            <a:pPr>
              <a:buNone/>
            </a:pPr>
            <a:r>
              <a:rPr lang="en-US" dirty="0" smtClean="0"/>
              <a:t>5. Obtain the transition table and output map</a:t>
            </a:r>
          </a:p>
          <a:p>
            <a:pPr>
              <a:buNone/>
            </a:pPr>
            <a:r>
              <a:rPr lang="en-US" dirty="0" smtClean="0"/>
              <a:t>6. Obtain the logic diagram using SR latches</a:t>
            </a:r>
            <a:endParaRPr lang="en-AU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Design</a:t>
            </a:r>
            <a:r>
              <a:rPr lang="en-US" altLang="zh-TW" dirty="0" smtClean="0">
                <a:solidFill>
                  <a:schemeClr val="folHlink"/>
                </a:solidFill>
              </a:rPr>
              <a:t> </a:t>
            </a:r>
            <a:r>
              <a:rPr lang="en-US" altLang="zh-TW" dirty="0" smtClean="0"/>
              <a:t>Specification</a:t>
            </a:r>
            <a:endParaRPr lang="en-US" altLang="zh-TW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/>
          <a:p>
            <a:r>
              <a:rPr lang="en-US" dirty="0" smtClean="0"/>
              <a:t>Design a negative-edge-triggered T flip-flop</a:t>
            </a:r>
          </a:p>
          <a:p>
            <a:pPr lvl="1"/>
            <a:r>
              <a:rPr lang="en-US" sz="2400" dirty="0" smtClean="0"/>
              <a:t>Two inputs: T(toggle) and C(clock)</a:t>
            </a:r>
          </a:p>
          <a:p>
            <a:pPr lvl="1"/>
            <a:r>
              <a:rPr lang="fr-FR" sz="2400" dirty="0" smtClean="0"/>
              <a:t> T=1: </a:t>
            </a:r>
            <a:r>
              <a:rPr lang="fr-FR" sz="2400" dirty="0" err="1" smtClean="0"/>
              <a:t>toggle</a:t>
            </a:r>
            <a:r>
              <a:rPr lang="fr-FR" sz="2400" dirty="0" smtClean="0"/>
              <a:t>, T=0: no change</a:t>
            </a:r>
          </a:p>
          <a:p>
            <a:pPr lvl="1"/>
            <a:r>
              <a:rPr lang="en-US" sz="2400" dirty="0" smtClean="0"/>
              <a:t> One output: Q</a:t>
            </a:r>
            <a:endParaRPr lang="en-AU" sz="2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Primitive Flow Table</a:t>
            </a:r>
            <a:endParaRPr lang="en-US" altLang="zh-TW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/>
          <a:p>
            <a:endParaRPr lang="en-AU" sz="2400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323850" y="2537189"/>
            <a:ext cx="5187048" cy="304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5772151" y="1562100"/>
            <a:ext cx="2411177" cy="4685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Merging</a:t>
            </a:r>
            <a:r>
              <a:rPr lang="en-US" altLang="zh-TW" dirty="0" smtClean="0">
                <a:solidFill>
                  <a:schemeClr val="folHlink"/>
                </a:solidFill>
              </a:rPr>
              <a:t> </a:t>
            </a:r>
            <a:r>
              <a:rPr lang="en-US" altLang="zh-TW" dirty="0" smtClean="0"/>
              <a:t>of</a:t>
            </a:r>
            <a:r>
              <a:rPr lang="en-US" altLang="zh-TW" dirty="0" smtClean="0">
                <a:solidFill>
                  <a:schemeClr val="folHlink"/>
                </a:solidFill>
              </a:rPr>
              <a:t> </a:t>
            </a:r>
            <a:r>
              <a:rPr lang="en-US" altLang="zh-TW" dirty="0" smtClean="0"/>
              <a:t>the Flow Table</a:t>
            </a:r>
            <a:endParaRPr lang="en-US" altLang="zh-TW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ym typeface="Symbol" pitchFamily="18" charset="2"/>
              </a:rPr>
              <a:t>Compatible pairs:</a:t>
            </a:r>
          </a:p>
          <a:p>
            <a:pPr lvl="1"/>
            <a:endParaRPr lang="en-US" altLang="zh-TW" dirty="0" smtClean="0">
              <a:sym typeface="Symbol" pitchFamily="18" charset="2"/>
            </a:endParaRPr>
          </a:p>
          <a:p>
            <a:endParaRPr lang="en-US" altLang="zh-TW" dirty="0" smtClean="0">
              <a:sym typeface="Symbol" pitchFamily="18" charset="2"/>
            </a:endParaRPr>
          </a:p>
          <a:p>
            <a:r>
              <a:rPr lang="en-US" altLang="zh-TW" dirty="0" smtClean="0">
                <a:sym typeface="Symbol" pitchFamily="18" charset="2"/>
              </a:rPr>
              <a:t>Maximal compatible set:</a:t>
            </a:r>
          </a:p>
          <a:p>
            <a:endParaRPr lang="en-US" altLang="zh-TW" dirty="0" smtClean="0">
              <a:sym typeface="Symbol" pitchFamily="18" charset="2"/>
            </a:endParaRPr>
          </a:p>
          <a:p>
            <a:endParaRPr lang="en-US" altLang="zh-TW" dirty="0" smtClean="0">
              <a:sym typeface="Symbol" pitchFamily="18" charset="2"/>
            </a:endParaRPr>
          </a:p>
          <a:p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38638" y="4662488"/>
            <a:ext cx="3781425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5" y="3409950"/>
            <a:ext cx="302895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62700" y="2409825"/>
            <a:ext cx="179070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5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1136650" y="2151063"/>
            <a:ext cx="5365750" cy="3937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6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1974850" y="3432175"/>
            <a:ext cx="3240088" cy="34925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/>
          </a:bodyPr>
          <a:lstStyle/>
          <a:p>
            <a:r>
              <a:rPr lang="en-US" altLang="zh-TW" sz="2800" dirty="0" smtClean="0">
                <a:solidFill>
                  <a:schemeClr val="folHlink"/>
                </a:solidFill>
              </a:rPr>
              <a:t>State Assignment and Transition Table</a:t>
            </a:r>
            <a:endParaRPr lang="en-US" altLang="zh-TW" sz="2800" dirty="0">
              <a:solidFill>
                <a:schemeClr val="folHlink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/>
          <a:p>
            <a:r>
              <a:rPr lang="en-US" dirty="0" smtClean="0"/>
              <a:t>No diagonal lines in the transition diagram</a:t>
            </a:r>
          </a:p>
          <a:p>
            <a:pPr lvl="1"/>
            <a:r>
              <a:rPr lang="en-US" dirty="0" smtClean="0"/>
              <a:t> No need to add extra states</a:t>
            </a:r>
            <a:endParaRPr lang="en-AU" sz="21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1025" y="2990850"/>
            <a:ext cx="287655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0438" y="2895600"/>
            <a:ext cx="458152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/>
          </a:bodyPr>
          <a:lstStyle/>
          <a:p>
            <a:r>
              <a:rPr lang="en-US" altLang="zh-TW" sz="2800" dirty="0" smtClean="0">
                <a:solidFill>
                  <a:schemeClr val="folHlink"/>
                </a:solidFill>
              </a:rPr>
              <a:t>Logic Diagram</a:t>
            </a:r>
            <a:endParaRPr lang="en-US" altLang="zh-TW" sz="2800" dirty="0">
              <a:solidFill>
                <a:schemeClr val="folHlink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663" y="1676400"/>
            <a:ext cx="414909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7250" y="1536700"/>
            <a:ext cx="3566160" cy="4491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Syllabus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r>
              <a:rPr lang="en-AU" smtClean="0"/>
              <a:t>Chapter 9</a:t>
            </a:r>
            <a:endParaRPr lang="en-AU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7236</TotalTime>
  <Words>3257</Words>
  <Application>Microsoft Office PowerPoint</Application>
  <PresentationFormat>On-screen Show (4:3)</PresentationFormat>
  <Paragraphs>528</Paragraphs>
  <Slides>83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4" baseType="lpstr">
      <vt:lpstr>Oriel</vt:lpstr>
      <vt:lpstr>CSE 205: Digital Logic Design</vt:lpstr>
      <vt:lpstr>Sequential Circuits</vt:lpstr>
      <vt:lpstr>Synchronous Sequential Circuit</vt:lpstr>
      <vt:lpstr>Asynchronous Sequential Circuit</vt:lpstr>
      <vt:lpstr>Asynchronous Sequential Circuit</vt:lpstr>
      <vt:lpstr>Why Asynchronous Circuits?</vt:lpstr>
      <vt:lpstr>Operational Mode</vt:lpstr>
      <vt:lpstr>Analysis Procedure Transition Table</vt:lpstr>
      <vt:lpstr>An Example of Transition Table</vt:lpstr>
      <vt:lpstr>An Example of Transition Table</vt:lpstr>
      <vt:lpstr>State Table</vt:lpstr>
      <vt:lpstr>Flow Table</vt:lpstr>
      <vt:lpstr>Flow Table to Circuits</vt:lpstr>
      <vt:lpstr>Flow Table to Circuits</vt:lpstr>
      <vt:lpstr>Race Conditions</vt:lpstr>
      <vt:lpstr>Noncritical Race: Examples</vt:lpstr>
      <vt:lpstr>Critical Race: Examples</vt:lpstr>
      <vt:lpstr>Race Conditions</vt:lpstr>
      <vt:lpstr>Cycles</vt:lpstr>
      <vt:lpstr>Stability Check</vt:lpstr>
      <vt:lpstr>Example of an Unstable Circuit</vt:lpstr>
      <vt:lpstr>Circuits with Latches</vt:lpstr>
      <vt:lpstr>SR Latch with NOR Gates</vt:lpstr>
      <vt:lpstr>SR Latch with NOR Gates</vt:lpstr>
      <vt:lpstr>SR Latch with NAND Gates</vt:lpstr>
      <vt:lpstr>SR Latch with NAND Gates</vt:lpstr>
      <vt:lpstr>Analysis Procedure</vt:lpstr>
      <vt:lpstr>Analysis Example</vt:lpstr>
      <vt:lpstr>Analysis Example</vt:lpstr>
      <vt:lpstr>Analysis Example</vt:lpstr>
      <vt:lpstr>Analysis Example</vt:lpstr>
      <vt:lpstr>Latch Excitation Table</vt:lpstr>
      <vt:lpstr>Implementation Procedure</vt:lpstr>
      <vt:lpstr>Implementation Example</vt:lpstr>
      <vt:lpstr>PowerPoint Presentation</vt:lpstr>
      <vt:lpstr>Debounce Circuit</vt:lpstr>
      <vt:lpstr>Debounce Circuit</vt:lpstr>
      <vt:lpstr>Design Procedure</vt:lpstr>
      <vt:lpstr>Design Procedure: Example</vt:lpstr>
      <vt:lpstr>Design Procedure: Example</vt:lpstr>
      <vt:lpstr>Primitive Flow Table</vt:lpstr>
      <vt:lpstr>Reduce the Flow Table</vt:lpstr>
      <vt:lpstr>Reduce the Flow Table</vt:lpstr>
      <vt:lpstr>Transition Table and Output Map </vt:lpstr>
      <vt:lpstr>Logic Diagram</vt:lpstr>
      <vt:lpstr>Design with SR Latches</vt:lpstr>
      <vt:lpstr>Design with SR Latches</vt:lpstr>
      <vt:lpstr>Outputs for Unstable States</vt:lpstr>
      <vt:lpstr>Design Procedure</vt:lpstr>
      <vt:lpstr>Reduction of State and Flow Table</vt:lpstr>
      <vt:lpstr>Reduction of State and Flow Table</vt:lpstr>
      <vt:lpstr> State Reduction:Implication Table</vt:lpstr>
      <vt:lpstr> State Reduction: Implication Table</vt:lpstr>
      <vt:lpstr> State Reduction: Implication Table</vt:lpstr>
      <vt:lpstr> Merging of the Flow Table</vt:lpstr>
      <vt:lpstr> Compatible Pairs</vt:lpstr>
      <vt:lpstr>   Maximal Compatibles </vt:lpstr>
      <vt:lpstr>   Maximal Compatibles </vt:lpstr>
      <vt:lpstr>   Closed Covering Condition </vt:lpstr>
      <vt:lpstr>   Closed Covering Condition </vt:lpstr>
      <vt:lpstr>Race-Free State Assignment</vt:lpstr>
      <vt:lpstr>3-Row Flow Table Example</vt:lpstr>
      <vt:lpstr>3-Row Flow Table Example</vt:lpstr>
      <vt:lpstr>4-Row Flow Table Example</vt:lpstr>
      <vt:lpstr>4-Row Flow Table Example</vt:lpstr>
      <vt:lpstr>Multiple-Row Method</vt:lpstr>
      <vt:lpstr>Hazards</vt:lpstr>
      <vt:lpstr>Hazards in Combinational Circuits</vt:lpstr>
      <vt:lpstr>Types of Hazards</vt:lpstr>
      <vt:lpstr>Hazard Free Circuit</vt:lpstr>
      <vt:lpstr>Hazard Free Circuit</vt:lpstr>
      <vt:lpstr> Hazard in a Asynchronous Circuit</vt:lpstr>
      <vt:lpstr> Remove Hazard with Latches</vt:lpstr>
      <vt:lpstr> Implementation with SR latches</vt:lpstr>
      <vt:lpstr> Implementation with SR latches</vt:lpstr>
      <vt:lpstr>Essential Hazards</vt:lpstr>
      <vt:lpstr>Summary of Design Procedure</vt:lpstr>
      <vt:lpstr>Design Specification</vt:lpstr>
      <vt:lpstr>Primitive Flow Table</vt:lpstr>
      <vt:lpstr>Merging of the Flow Table</vt:lpstr>
      <vt:lpstr>State Assignment and Transition Table</vt:lpstr>
      <vt:lpstr>Logic Diagram</vt:lpstr>
      <vt:lpstr> Syllabus</vt:lpstr>
    </vt:vector>
  </TitlesOfParts>
  <Company>BUET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205: Digital Logic Design</dc:title>
  <dc:creator>user</dc:creator>
  <cp:lastModifiedBy>user</cp:lastModifiedBy>
  <cp:revision>928</cp:revision>
  <dcterms:created xsi:type="dcterms:W3CDTF">2012-03-31T05:29:50Z</dcterms:created>
  <dcterms:modified xsi:type="dcterms:W3CDTF">2017-05-16T13:49:38Z</dcterms:modified>
</cp:coreProperties>
</file>