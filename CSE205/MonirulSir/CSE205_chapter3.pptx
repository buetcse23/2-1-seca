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69"/>
  </p:notesMasterIdLst>
  <p:handoutMasterIdLst>
    <p:handoutMasterId r:id="rId70"/>
  </p:handoutMasterIdLst>
  <p:sldIdLst>
    <p:sldId id="256" r:id="rId2"/>
    <p:sldId id="258" r:id="rId3"/>
    <p:sldId id="262" r:id="rId4"/>
    <p:sldId id="259" r:id="rId5"/>
    <p:sldId id="260" r:id="rId6"/>
    <p:sldId id="261" r:id="rId7"/>
    <p:sldId id="263" r:id="rId8"/>
    <p:sldId id="264" r:id="rId9"/>
    <p:sldId id="265" r:id="rId10"/>
    <p:sldId id="268" r:id="rId11"/>
    <p:sldId id="269" r:id="rId12"/>
    <p:sldId id="270" r:id="rId13"/>
    <p:sldId id="273" r:id="rId14"/>
    <p:sldId id="272" r:id="rId15"/>
    <p:sldId id="276" r:id="rId16"/>
    <p:sldId id="293" r:id="rId17"/>
    <p:sldId id="283" r:id="rId18"/>
    <p:sldId id="277" r:id="rId19"/>
    <p:sldId id="278" r:id="rId20"/>
    <p:sldId id="279" r:id="rId21"/>
    <p:sldId id="281" r:id="rId22"/>
    <p:sldId id="282" r:id="rId23"/>
    <p:sldId id="333" r:id="rId24"/>
    <p:sldId id="291" r:id="rId25"/>
    <p:sldId id="292" r:id="rId26"/>
    <p:sldId id="332" r:id="rId27"/>
    <p:sldId id="352" r:id="rId28"/>
    <p:sldId id="353" r:id="rId29"/>
    <p:sldId id="354" r:id="rId30"/>
    <p:sldId id="355" r:id="rId31"/>
    <p:sldId id="356" r:id="rId32"/>
    <p:sldId id="336" r:id="rId33"/>
    <p:sldId id="334" r:id="rId34"/>
    <p:sldId id="311" r:id="rId35"/>
    <p:sldId id="312" r:id="rId36"/>
    <p:sldId id="315" r:id="rId37"/>
    <p:sldId id="313" r:id="rId38"/>
    <p:sldId id="316" r:id="rId39"/>
    <p:sldId id="319" r:id="rId40"/>
    <p:sldId id="357" r:id="rId41"/>
    <p:sldId id="318"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44" r:id="rId55"/>
    <p:sldId id="345" r:id="rId56"/>
    <p:sldId id="346" r:id="rId57"/>
    <p:sldId id="347" r:id="rId58"/>
    <p:sldId id="349" r:id="rId59"/>
    <p:sldId id="350" r:id="rId60"/>
    <p:sldId id="337" r:id="rId61"/>
    <p:sldId id="338" r:id="rId62"/>
    <p:sldId id="339" r:id="rId63"/>
    <p:sldId id="340" r:id="rId64"/>
    <p:sldId id="341" r:id="rId65"/>
    <p:sldId id="342" r:id="rId66"/>
    <p:sldId id="343" r:id="rId67"/>
    <p:sldId id="351" r:id="rId6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A3E"/>
    <a:srgbClr val="0046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128" autoAdjust="0"/>
  </p:normalViewPr>
  <p:slideViewPr>
    <p:cSldViewPr snapToGrid="0">
      <p:cViewPr>
        <p:scale>
          <a:sx n="80" d="100"/>
          <a:sy n="80" d="100"/>
        </p:scale>
        <p:origin x="-608"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836DDAA8-2571-4EEF-8A14-844D596EE726}" type="datetimeFigureOut">
              <a:rPr lang="en-US" smtClean="0"/>
              <a:pPr/>
              <a:t>12/4/2023</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65FB613-7FED-4192-8E5B-1481EA2AEB1B}" type="slidenum">
              <a:rPr lang="en-US" smtClean="0"/>
              <a:pPr/>
              <a:t>‹#›</a:t>
            </a:fld>
            <a:endParaRPr lang="en-US"/>
          </a:p>
        </p:txBody>
      </p:sp>
    </p:spTree>
    <p:extLst>
      <p:ext uri="{BB962C8B-B14F-4D97-AF65-F5344CB8AC3E}">
        <p14:creationId xmlns:p14="http://schemas.microsoft.com/office/powerpoint/2010/main" val="10832496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233E0B-8985-4C80-9212-0E2B041D2DB7}" type="datetimeFigureOut">
              <a:rPr lang="en-US" smtClean="0"/>
              <a:pPr/>
              <a:t>12/4/2023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8E32228-077E-4C6D-9838-E60F51038F37}" type="slidenum">
              <a:rPr lang="en-US" smtClean="0"/>
              <a:pPr/>
              <a:t>‹#›</a:t>
            </a:fld>
            <a:endParaRPr lang="en-US"/>
          </a:p>
        </p:txBody>
      </p:sp>
    </p:spTree>
    <p:extLst>
      <p:ext uri="{BB962C8B-B14F-4D97-AF65-F5344CB8AC3E}">
        <p14:creationId xmlns:p14="http://schemas.microsoft.com/office/powerpoint/2010/main" val="3050643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22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23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8E32228-077E-4C6D-9838-E60F51038F37}" type="slidenum">
              <a:rPr lang="en-US" smtClean="0"/>
              <a:pPr/>
              <a:t>55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7C7ABDB8-B3F5-47A4-9711-3777097313E1}" type="datetime1">
              <a:rPr lang="en-US" smtClean="0"/>
              <a:pPr/>
              <a:t>12/4/2023</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05119B53-8FEA-4BCD-AD8C-881E4C0351D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96200" cy="1143000"/>
          </a:xfrm>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696200" cy="4873752"/>
          </a:xfrm>
        </p:spPr>
        <p:txBody>
          <a:bodyPr>
            <a:normAutofit/>
          </a:bodyPr>
          <a:lstStyle>
            <a:lvl1pPr>
              <a:defRPr sz="2400" baseline="0"/>
            </a:lvl1pPr>
            <a:lvl2pPr>
              <a:defRPr sz="2400" baseline="0"/>
            </a:lvl2pPr>
            <a:lvl3pPr>
              <a:defRPr sz="2400" baseline="0"/>
            </a:lvl3pPr>
            <a:lvl4pPr>
              <a:defRPr sz="2400" baseline="0"/>
            </a:lvl4pPr>
            <a:lvl5pPr>
              <a:defRPr sz="2400" baseline="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4"/>
          </p:nvPr>
        </p:nvSpPr>
        <p:spPr/>
        <p:txBody>
          <a:bodyPr rtlCol="0"/>
          <a:lstStyle/>
          <a:p>
            <a:fld id="{150C7453-5EB7-426C-953A-B1BEE0DC2850}" type="datetime1">
              <a:rPr lang="en-US" smtClean="0"/>
              <a:pPr/>
              <a:t>12/4/2023</a:t>
            </a:fld>
            <a:endParaRPr lang="en-US"/>
          </a:p>
        </p:txBody>
      </p:sp>
      <p:sp>
        <p:nvSpPr>
          <p:cNvPr id="9" name="Slide Number Placeholder 8"/>
          <p:cNvSpPr>
            <a:spLocks noGrp="1"/>
          </p:cNvSpPr>
          <p:nvPr>
            <p:ph type="sldNum" sz="quarter" idx="15"/>
          </p:nvPr>
        </p:nvSpPr>
        <p:spPr/>
        <p:txBody>
          <a:bodyPr rtlCol="0"/>
          <a:lstStyle/>
          <a:p>
            <a:fld id="{05119B53-8FEA-4BCD-AD8C-881E4C0351D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65C4C3B-E9F6-4B3F-BFA4-47000192CD50}" type="datetime1">
              <a:rPr lang="en-US" smtClean="0"/>
              <a:pPr/>
              <a:t>12/4/2023</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05119B53-8FEA-4BCD-AD8C-881E4C0351D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AF764E5-3D11-41A1-A8FF-4233BBCB609C}" type="datetime1">
              <a:rPr lang="en-US" smtClean="0"/>
              <a:pPr/>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119B53-8FEA-4BCD-AD8C-881E4C0351D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83EBB279-38B0-44CD-87B6-270BEE6682AE}" type="datetime1">
              <a:rPr lang="en-US" smtClean="0"/>
              <a:pPr/>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119B53-8FEA-4BCD-AD8C-881E4C0351D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3B1E256-9A78-47EF-BC62-13EC55DEEF32}" type="datetime1">
              <a:rPr lang="en-US" smtClean="0"/>
              <a:pPr/>
              <a:t>12/4/2023</a:t>
            </a:fld>
            <a:endParaRPr lang="en-US"/>
          </a:p>
        </p:txBody>
      </p:sp>
      <p:sp>
        <p:nvSpPr>
          <p:cNvPr id="7" name="Slide Number Placeholder 6"/>
          <p:cNvSpPr>
            <a:spLocks noGrp="1"/>
          </p:cNvSpPr>
          <p:nvPr>
            <p:ph type="sldNum" sz="quarter" idx="11"/>
          </p:nvPr>
        </p:nvSpPr>
        <p:spPr/>
        <p:txBody>
          <a:bodyPr rtlCol="0"/>
          <a:lstStyle/>
          <a:p>
            <a:fld id="{05119B53-8FEA-4BCD-AD8C-881E4C0351D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087023-EB44-4A49-8D1E-CA226DFA12E4}" type="datetime1">
              <a:rPr lang="en-US" smtClean="0"/>
              <a:pPr/>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5FF60033-61F6-4F32-B158-8B7BF2CCC4F4}" type="datetime1">
              <a:rPr lang="en-US" smtClean="0"/>
              <a:pPr/>
              <a:t>12/4/2023</a:t>
            </a:fld>
            <a:endParaRPr lang="en-US"/>
          </a:p>
        </p:txBody>
      </p:sp>
      <p:sp>
        <p:nvSpPr>
          <p:cNvPr id="22" name="Slide Number Placeholder 21"/>
          <p:cNvSpPr>
            <a:spLocks noGrp="1"/>
          </p:cNvSpPr>
          <p:nvPr>
            <p:ph type="sldNum" sz="quarter" idx="15"/>
          </p:nvPr>
        </p:nvSpPr>
        <p:spPr/>
        <p:txBody>
          <a:bodyPr rtlCol="0"/>
          <a:lstStyle/>
          <a:p>
            <a:fld id="{05119B53-8FEA-4BCD-AD8C-881E4C0351D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C326B57-48FE-4F89-9485-22981ED8D38D}" type="datetime1">
              <a:rPr lang="en-US" smtClean="0"/>
              <a:pPr/>
              <a:t>12/4/2023</a:t>
            </a:fld>
            <a:endParaRPr lang="en-US"/>
          </a:p>
        </p:txBody>
      </p:sp>
      <p:sp>
        <p:nvSpPr>
          <p:cNvPr id="18" name="Slide Number Placeholder 17"/>
          <p:cNvSpPr>
            <a:spLocks noGrp="1"/>
          </p:cNvSpPr>
          <p:nvPr>
            <p:ph type="sldNum" sz="quarter" idx="11"/>
          </p:nvPr>
        </p:nvSpPr>
        <p:spPr/>
        <p:txBody>
          <a:bodyPr rtlCol="0"/>
          <a:lstStyle/>
          <a:p>
            <a:fld id="{05119B53-8FEA-4BCD-AD8C-881E4C0351D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38DB20-CB48-4E1E-B9D9-60D119054EBB}" type="datetime1">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C99063-3249-449C-AA5F-8FF72848E7CE}" type="datetime1">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119B53-8FEA-4BCD-AD8C-881E4C0351D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199" y="274638"/>
            <a:ext cx="7689273"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199" y="1600200"/>
            <a:ext cx="7689274"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0A57B3C-C493-4246-9095-3DD941B09960}" type="datetime1">
              <a:rPr lang="en-US" smtClean="0"/>
              <a:pPr/>
              <a:t>12/4/2023</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5119B53-8FEA-4BCD-AD8C-881E4C035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png"/><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png"/><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png"/><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34.png"/><Relationship Id="rId4" Type="http://schemas.openxmlformats.org/officeDocument/2006/relationships/image" Target="../media/image32.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oleObject" Target="../embeddings/oleObject6.bin"/><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6.wmf"/><Relationship Id="rId5" Type="http://schemas.openxmlformats.org/officeDocument/2006/relationships/oleObject" Target="../embeddings/oleObject7.bin"/><Relationship Id="rId4" Type="http://schemas.openxmlformats.org/officeDocument/2006/relationships/image" Target="../media/image35.wmf"/><Relationship Id="rId9" Type="http://schemas.openxmlformats.org/officeDocument/2006/relationships/image" Target="../media/image37.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oleObject" Target="../embeddings/oleObject9.bin"/><Relationship Id="rId7" Type="http://schemas.openxmlformats.org/officeDocument/2006/relationships/image" Target="../media/image46.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5.wmf"/><Relationship Id="rId5" Type="http://schemas.openxmlformats.org/officeDocument/2006/relationships/oleObject" Target="../embeddings/oleObject10.bin"/><Relationship Id="rId4" Type="http://schemas.openxmlformats.org/officeDocument/2006/relationships/image" Target="../media/image44.wmf"/><Relationship Id="rId9"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58.png"/><Relationship Id="rId4" Type="http://schemas.openxmlformats.org/officeDocument/2006/relationships/image" Target="../media/image57.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667000"/>
            <a:ext cx="6553200" cy="1894362"/>
          </a:xfrm>
        </p:spPr>
        <p:txBody>
          <a:bodyPr/>
          <a:lstStyle/>
          <a:p>
            <a:r>
              <a:rPr lang="en-US" dirty="0" smtClean="0"/>
              <a:t>CSE 205: Digital Logic Design</a:t>
            </a:r>
            <a:endParaRPr lang="en-US" dirty="0"/>
          </a:p>
        </p:txBody>
      </p:sp>
      <p:sp>
        <p:nvSpPr>
          <p:cNvPr id="3" name="Subtitle 2"/>
          <p:cNvSpPr>
            <a:spLocks noGrp="1"/>
          </p:cNvSpPr>
          <p:nvPr>
            <p:ph type="subTitle" idx="1"/>
          </p:nvPr>
        </p:nvSpPr>
        <p:spPr>
          <a:xfrm>
            <a:off x="2286000" y="4648200"/>
            <a:ext cx="6172200" cy="1371600"/>
          </a:xfrm>
        </p:spPr>
        <p:txBody>
          <a:bodyPr>
            <a:normAutofit/>
          </a:bodyPr>
          <a:lstStyle/>
          <a:p>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Logic Minimization</a:t>
            </a:r>
            <a:endParaRPr lang="en-US" altLang="zh-TW" sz="2500" dirty="0">
              <a:ea typeface="新細明體" pitchFamily="18" charset="-120"/>
            </a:endParaRPr>
          </a:p>
        </p:txBody>
      </p:sp>
      <p:sp>
        <p:nvSpPr>
          <p:cNvPr id="645123" name="Rectangle 3"/>
          <p:cNvSpPr>
            <a:spLocks noGrp="1" noChangeArrowheads="1"/>
          </p:cNvSpPr>
          <p:nvPr>
            <p:ph idx="4294967295"/>
          </p:nvPr>
        </p:nvSpPr>
        <p:spPr/>
        <p:txBody>
          <a:bodyPr lIns="90488" tIns="44450" rIns="90488" bIns="44450">
            <a:noAutofit/>
          </a:bodyPr>
          <a:lstStyle/>
          <a:p>
            <a:r>
              <a:rPr lang="en-US" altLang="zh-TW" dirty="0">
                <a:ea typeface="新細明體" pitchFamily="18" charset="-120"/>
              </a:rPr>
              <a:t>The complexity of the digital logic gates </a:t>
            </a:r>
          </a:p>
          <a:p>
            <a:pPr lvl="1"/>
            <a:r>
              <a:rPr lang="en-US" altLang="zh-TW" sz="2400" dirty="0">
                <a:ea typeface="新細明體" pitchFamily="18" charset="-120"/>
              </a:rPr>
              <a:t>The complexity of the algebraic </a:t>
            </a:r>
            <a:r>
              <a:rPr lang="en-US" altLang="zh-TW" sz="2400" dirty="0" smtClean="0">
                <a:ea typeface="新細明體" pitchFamily="18" charset="-120"/>
              </a:rPr>
              <a:t>expression</a:t>
            </a:r>
          </a:p>
          <a:p>
            <a:endParaRPr lang="en-US" altLang="zh-TW" dirty="0" smtClean="0">
              <a:ea typeface="新細明體" pitchFamily="18" charset="-120"/>
            </a:endParaRPr>
          </a:p>
          <a:p>
            <a:r>
              <a:rPr lang="en-US" altLang="zh-TW" dirty="0" smtClean="0">
                <a:ea typeface="新細明體" pitchFamily="18" charset="-120"/>
              </a:rPr>
              <a:t>Algebraic </a:t>
            </a:r>
            <a:r>
              <a:rPr lang="en-US" altLang="zh-TW" dirty="0">
                <a:ea typeface="新細明體" pitchFamily="18" charset="-120"/>
              </a:rPr>
              <a:t>approaches: </a:t>
            </a:r>
            <a:endParaRPr lang="en-US" altLang="zh-TW" dirty="0" smtClean="0">
              <a:ea typeface="新細明體" pitchFamily="18" charset="-120"/>
            </a:endParaRPr>
          </a:p>
          <a:p>
            <a:pPr lvl="1"/>
            <a:r>
              <a:rPr lang="en-US" sz="2400" dirty="0" smtClean="0"/>
              <a:t>The procedure of simplifying Boolean expressions is difficult since it lacks specific rules to predict the successive steps in the simplification process.</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The </a:t>
            </a:r>
            <a:r>
              <a:rPr lang="en-US" altLang="zh-TW" dirty="0">
                <a:ea typeface="新細明體" pitchFamily="18" charset="-120"/>
              </a:rPr>
              <a:t>Map Method</a:t>
            </a:r>
            <a:endParaRPr lang="en-US" altLang="zh-TW" sz="2500" dirty="0">
              <a:ea typeface="新細明體" pitchFamily="18" charset="-120"/>
            </a:endParaRPr>
          </a:p>
        </p:txBody>
      </p:sp>
      <p:sp>
        <p:nvSpPr>
          <p:cNvPr id="645123" name="Rectangle 3"/>
          <p:cNvSpPr>
            <a:spLocks noGrp="1" noChangeArrowheads="1"/>
          </p:cNvSpPr>
          <p:nvPr>
            <p:ph idx="4294967295"/>
          </p:nvPr>
        </p:nvSpPr>
        <p:spPr/>
        <p:txBody>
          <a:bodyPr lIns="90488" tIns="44450" rIns="90488" bIns="44450">
            <a:noAutofit/>
          </a:bodyPr>
          <a:lstStyle/>
          <a:p>
            <a:r>
              <a:rPr lang="en-US" altLang="zh-TW" dirty="0" smtClean="0">
                <a:ea typeface="新細明體" pitchFamily="18" charset="-120"/>
              </a:rPr>
              <a:t>The </a:t>
            </a:r>
            <a:r>
              <a:rPr lang="en-US" altLang="zh-TW" dirty="0" err="1">
                <a:ea typeface="新細明體" pitchFamily="18" charset="-120"/>
              </a:rPr>
              <a:t>Karnaugh</a:t>
            </a:r>
            <a:r>
              <a:rPr lang="en-US" altLang="zh-TW" dirty="0">
                <a:ea typeface="新細明體" pitchFamily="18" charset="-120"/>
              </a:rPr>
              <a:t> </a:t>
            </a:r>
            <a:r>
              <a:rPr lang="en-US" altLang="zh-TW" dirty="0" smtClean="0">
                <a:ea typeface="新細明體" pitchFamily="18" charset="-120"/>
              </a:rPr>
              <a:t>map (K-Map)</a:t>
            </a:r>
            <a:endParaRPr lang="en-US" altLang="zh-TW" dirty="0">
              <a:ea typeface="新細明體" pitchFamily="18" charset="-120"/>
            </a:endParaRPr>
          </a:p>
          <a:p>
            <a:pPr lvl="2"/>
            <a:r>
              <a:rPr lang="en-US" altLang="zh-TW" sz="2400" dirty="0">
                <a:ea typeface="新細明體" pitchFamily="18" charset="-120"/>
              </a:rPr>
              <a:t>A simple straight forward procedure</a:t>
            </a:r>
          </a:p>
          <a:p>
            <a:pPr lvl="2"/>
            <a:r>
              <a:rPr lang="en-US" altLang="zh-TW" sz="2400" dirty="0">
                <a:ea typeface="新細明體" pitchFamily="18" charset="-120"/>
              </a:rPr>
              <a:t>A pictorial form of a truth table</a:t>
            </a:r>
          </a:p>
          <a:p>
            <a:pPr lvl="2">
              <a:buNone/>
            </a:pPr>
            <a:endParaRPr lang="en-US" altLang="zh-TW" sz="2400" dirty="0">
              <a:ea typeface="新細明體" pitchFamily="18" charset="-120"/>
            </a:endParaRPr>
          </a:p>
          <a:p>
            <a:r>
              <a:rPr lang="en-US" altLang="zh-TW" dirty="0">
                <a:ea typeface="新細明體" pitchFamily="18" charset="-120"/>
              </a:rPr>
              <a:t>A diagram made up of squares</a:t>
            </a:r>
          </a:p>
          <a:p>
            <a:pPr lvl="1"/>
            <a:r>
              <a:rPr lang="en-US" altLang="zh-TW" sz="2400" dirty="0">
                <a:ea typeface="新細明體" pitchFamily="18" charset="-120"/>
              </a:rPr>
              <a:t>Each square represents one </a:t>
            </a:r>
            <a:r>
              <a:rPr lang="en-US" altLang="zh-TW" sz="2400" dirty="0" err="1" smtClean="0">
                <a:ea typeface="新細明體" pitchFamily="18" charset="-120"/>
              </a:rPr>
              <a:t>minterm</a:t>
            </a:r>
            <a:endParaRPr lang="en-US" altLang="zh-TW" sz="2400" dirty="0" smtClean="0">
              <a:ea typeface="新細明體" pitchFamily="18" charset="-120"/>
            </a:endParaRPr>
          </a:p>
          <a:p>
            <a:pPr>
              <a:buNone/>
            </a:pPr>
            <a:endParaRPr lang="zh-TW" altLang="en-US" sz="2700" dirty="0">
              <a:ea typeface="新細明體" pitchFamily="18" charset="-12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pPr marL="415290" indent="-323850"/>
            <a:r>
              <a:rPr lang="en-US" altLang="zh-TW" dirty="0" smtClean="0">
                <a:ea typeface="新細明體" pitchFamily="18" charset="-120"/>
              </a:rPr>
              <a:t>Four </a:t>
            </a:r>
            <a:r>
              <a:rPr lang="en-US" altLang="zh-TW" dirty="0" err="1" smtClean="0">
                <a:ea typeface="新細明體" pitchFamily="18" charset="-120"/>
              </a:rPr>
              <a:t>minterms</a:t>
            </a:r>
            <a:endParaRPr lang="en-US" altLang="zh-TW" dirty="0" smtClean="0">
              <a:ea typeface="新細明體" pitchFamily="18" charset="-120"/>
            </a:endParaRPr>
          </a:p>
          <a:p>
            <a:pPr marL="415290" indent="-323850"/>
            <a:r>
              <a:rPr lang="en-US" altLang="zh-TW" i="1" dirty="0" smtClean="0">
                <a:ea typeface="新細明體" pitchFamily="18" charset="-120"/>
              </a:rPr>
              <a:t>A' </a:t>
            </a:r>
            <a:r>
              <a:rPr lang="en-US" altLang="zh-TW" dirty="0" smtClean="0">
                <a:ea typeface="新細明體" pitchFamily="18" charset="-120"/>
              </a:rPr>
              <a:t>= row 0; </a:t>
            </a:r>
            <a:r>
              <a:rPr lang="en-US" altLang="zh-TW" i="1" dirty="0" smtClean="0">
                <a:ea typeface="新細明體" pitchFamily="18" charset="-120"/>
              </a:rPr>
              <a:t>A</a:t>
            </a:r>
            <a:r>
              <a:rPr lang="en-US" altLang="zh-TW" dirty="0" smtClean="0">
                <a:ea typeface="新細明體" pitchFamily="18" charset="-120"/>
              </a:rPr>
              <a:t> = row 1</a:t>
            </a:r>
          </a:p>
          <a:p>
            <a:pPr marL="415290" indent="-323850"/>
            <a:r>
              <a:rPr lang="en-US" altLang="zh-TW" i="1" dirty="0" smtClean="0">
                <a:ea typeface="新細明體" pitchFamily="18" charset="-120"/>
              </a:rPr>
              <a:t>B' </a:t>
            </a:r>
            <a:r>
              <a:rPr lang="en-US" altLang="zh-TW" dirty="0" smtClean="0">
                <a:ea typeface="新細明體" pitchFamily="18" charset="-120"/>
              </a:rPr>
              <a:t>= column 0; </a:t>
            </a:r>
            <a:r>
              <a:rPr lang="en-US" altLang="zh-TW" i="1" dirty="0" smtClean="0">
                <a:ea typeface="新細明體" pitchFamily="18" charset="-120"/>
              </a:rPr>
              <a:t>B</a:t>
            </a:r>
            <a:r>
              <a:rPr lang="en-US" altLang="zh-TW" dirty="0" smtClean="0">
                <a:ea typeface="新細明體" pitchFamily="18" charset="-120"/>
              </a:rPr>
              <a:t> = column 1</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dirty="0"/>
              <a:t>Two-Variable </a:t>
            </a:r>
            <a:r>
              <a:rPr lang="en-US" dirty="0" smtClean="0"/>
              <a:t>Map</a:t>
            </a:r>
            <a:endParaRPr lang="en-US" dirty="0"/>
          </a:p>
        </p:txBody>
      </p:sp>
      <p:pic>
        <p:nvPicPr>
          <p:cNvPr id="348164" name="Picture 4"/>
          <p:cNvPicPr>
            <a:picLocks noChangeAspect="1" noChangeArrowheads="1"/>
          </p:cNvPicPr>
          <p:nvPr/>
        </p:nvPicPr>
        <p:blipFill>
          <a:blip r:embed="rId2" cstate="print"/>
          <a:srcRect/>
          <a:stretch>
            <a:fillRect/>
          </a:stretch>
        </p:blipFill>
        <p:spPr bwMode="auto">
          <a:xfrm>
            <a:off x="1207325" y="3299325"/>
            <a:ext cx="3200400" cy="2571750"/>
          </a:xfrm>
          <a:prstGeom prst="rect">
            <a:avLst/>
          </a:prstGeom>
          <a:noFill/>
          <a:ln w="9525">
            <a:noFill/>
            <a:miter lim="800000"/>
            <a:headEnd/>
            <a:tailEnd/>
          </a:ln>
          <a:effectLst/>
        </p:spPr>
      </p:pic>
      <p:pic>
        <p:nvPicPr>
          <p:cNvPr id="348165" name="Picture 5"/>
          <p:cNvPicPr>
            <a:picLocks noChangeAspect="1" noChangeArrowheads="1"/>
          </p:cNvPicPr>
          <p:nvPr/>
        </p:nvPicPr>
        <p:blipFill>
          <a:blip r:embed="rId3" cstate="print"/>
          <a:srcRect/>
          <a:stretch>
            <a:fillRect/>
          </a:stretch>
        </p:blipFill>
        <p:spPr bwMode="auto">
          <a:xfrm>
            <a:off x="4864925" y="3299325"/>
            <a:ext cx="2971800" cy="255428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a:lstStyle/>
          <a:p>
            <a:r>
              <a:rPr lang="en-US" dirty="0"/>
              <a:t>Example</a:t>
            </a:r>
          </a:p>
        </p:txBody>
      </p:sp>
      <p:graphicFrame>
        <p:nvGraphicFramePr>
          <p:cNvPr id="349188" name="Object 4"/>
          <p:cNvGraphicFramePr>
            <a:graphicFrameLocks noGrp="1" noChangeAspect="1"/>
          </p:cNvGraphicFramePr>
          <p:nvPr>
            <p:ph idx="1"/>
          </p:nvPr>
        </p:nvGraphicFramePr>
        <p:xfrm>
          <a:off x="1929750" y="1927563"/>
          <a:ext cx="4038600" cy="576262"/>
        </p:xfrm>
        <a:graphic>
          <a:graphicData uri="http://schemas.openxmlformats.org/presentationml/2006/ole">
            <mc:AlternateContent xmlns:mc="http://schemas.openxmlformats.org/markup-compatibility/2006">
              <mc:Choice xmlns:v="urn:schemas-microsoft-com:vml" Requires="v">
                <p:oleObj spid="_x0000_s227331" name="Equation" r:id="rId3" imgW="1155600" imgH="164880" progId="Equation.3">
                  <p:embed/>
                </p:oleObj>
              </mc:Choice>
              <mc:Fallback>
                <p:oleObj name="Equation" r:id="rId3" imgW="1155600" imgH="1648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9750" y="1927563"/>
                        <a:ext cx="4038600" cy="576262"/>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pic>
        <p:nvPicPr>
          <p:cNvPr id="349190" name="Picture 6"/>
          <p:cNvPicPr>
            <a:picLocks noChangeAspect="1" noChangeArrowheads="1"/>
          </p:cNvPicPr>
          <p:nvPr/>
        </p:nvPicPr>
        <p:blipFill>
          <a:blip r:embed="rId5" cstate="print"/>
          <a:srcRect/>
          <a:stretch>
            <a:fillRect/>
          </a:stretch>
        </p:blipFill>
        <p:spPr bwMode="auto">
          <a:xfrm>
            <a:off x="1524000" y="2743200"/>
            <a:ext cx="5667375" cy="34004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en-US" dirty="0"/>
              <a:t>Example</a:t>
            </a:r>
          </a:p>
        </p:txBody>
      </p:sp>
      <p:graphicFrame>
        <p:nvGraphicFramePr>
          <p:cNvPr id="351237" name="Object 5"/>
          <p:cNvGraphicFramePr>
            <a:graphicFrameLocks noChangeAspect="1"/>
          </p:cNvGraphicFramePr>
          <p:nvPr/>
        </p:nvGraphicFramePr>
        <p:xfrm>
          <a:off x="1364875" y="1844438"/>
          <a:ext cx="6167438" cy="576262"/>
        </p:xfrm>
        <a:graphic>
          <a:graphicData uri="http://schemas.openxmlformats.org/presentationml/2006/ole">
            <mc:AlternateContent xmlns:mc="http://schemas.openxmlformats.org/markup-compatibility/2006">
              <mc:Choice xmlns:v="urn:schemas-microsoft-com:vml" Requires="v">
                <p:oleObj spid="_x0000_s228355" name="Equation" r:id="rId3" imgW="1765080" imgH="164880" progId="Equation.3">
                  <p:embed/>
                </p:oleObj>
              </mc:Choice>
              <mc:Fallback>
                <p:oleObj name="Equation" r:id="rId3" imgW="1765080" imgH="1648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875" y="1844438"/>
                        <a:ext cx="6167438" cy="576262"/>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pic>
        <p:nvPicPr>
          <p:cNvPr id="351239" name="Picture 7"/>
          <p:cNvPicPr>
            <a:picLocks noChangeAspect="1" noChangeArrowheads="1"/>
          </p:cNvPicPr>
          <p:nvPr/>
        </p:nvPicPr>
        <p:blipFill>
          <a:blip r:embed="rId5" cstate="print"/>
          <a:srcRect/>
          <a:stretch>
            <a:fillRect/>
          </a:stretch>
        </p:blipFill>
        <p:spPr bwMode="auto">
          <a:xfrm>
            <a:off x="1385888" y="2762250"/>
            <a:ext cx="6372225" cy="34861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r>
              <a:rPr lang="en-US" altLang="zh-TW" dirty="0" smtClean="0">
                <a:ea typeface="新細明體" pitchFamily="18" charset="-120"/>
              </a:rPr>
              <a:t>Eight </a:t>
            </a:r>
            <a:r>
              <a:rPr lang="en-US" altLang="zh-TW" dirty="0" err="1" smtClean="0">
                <a:ea typeface="新細明體" pitchFamily="18" charset="-120"/>
              </a:rPr>
              <a:t>minterms</a:t>
            </a:r>
            <a:endParaRPr lang="en-US" altLang="zh-TW" dirty="0" smtClean="0">
              <a:ea typeface="新細明體" pitchFamily="18" charset="-120"/>
            </a:endParaRPr>
          </a:p>
          <a:p>
            <a:r>
              <a:rPr lang="en-US" altLang="zh-TW" dirty="0" smtClean="0">
                <a:ea typeface="新細明體" pitchFamily="18" charset="-120"/>
              </a:rPr>
              <a:t>The Gray code sequence</a:t>
            </a:r>
          </a:p>
          <a:p>
            <a:r>
              <a:rPr lang="en-US" altLang="zh-TW" dirty="0" smtClean="0">
                <a:ea typeface="新細明體" pitchFamily="18" charset="-120"/>
              </a:rPr>
              <a:t>Any two adjacent squares in the map differ by only on variable</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smtClean="0"/>
              <a:t>Three-Variable </a:t>
            </a:r>
            <a:r>
              <a:rPr lang="en-US" dirty="0" smtClean="0"/>
              <a:t>Map</a:t>
            </a:r>
            <a:endParaRPr lang="en-US" dirty="0"/>
          </a:p>
        </p:txBody>
      </p:sp>
      <p:pic>
        <p:nvPicPr>
          <p:cNvPr id="6" name="Picture 7"/>
          <p:cNvPicPr>
            <a:picLocks noChangeAspect="1" noChangeArrowheads="1"/>
          </p:cNvPicPr>
          <p:nvPr/>
        </p:nvPicPr>
        <p:blipFill>
          <a:blip r:embed="rId2" cstate="print"/>
          <a:srcRect/>
          <a:stretch>
            <a:fillRect/>
          </a:stretch>
        </p:blipFill>
        <p:spPr bwMode="auto">
          <a:xfrm>
            <a:off x="1745719" y="3309519"/>
            <a:ext cx="4557094" cy="235184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r>
              <a:rPr lang="en-US" altLang="zh-TW" i="1" dirty="0" smtClean="0">
                <a:ea typeface="新細明體" pitchFamily="18" charset="-120"/>
              </a:rPr>
              <a:t>m</a:t>
            </a:r>
            <a:r>
              <a:rPr lang="en-US" altLang="zh-TW" baseline="-25000" dirty="0" smtClean="0">
                <a:ea typeface="新細明體" pitchFamily="18" charset="-120"/>
              </a:rPr>
              <a:t>0</a:t>
            </a:r>
            <a:r>
              <a:rPr lang="en-US" altLang="zh-TW" i="1" baseline="-25000" dirty="0" smtClean="0">
                <a:ea typeface="新細明體" pitchFamily="18" charset="-120"/>
              </a:rPr>
              <a:t> </a:t>
            </a:r>
            <a:r>
              <a:rPr lang="en-US" altLang="zh-TW" dirty="0" smtClean="0">
                <a:ea typeface="新細明體" pitchFamily="18" charset="-120"/>
              </a:rPr>
              <a:t>and </a:t>
            </a:r>
            <a:r>
              <a:rPr lang="en-US" altLang="zh-TW" i="1" dirty="0" smtClean="0">
                <a:ea typeface="新細明體" pitchFamily="18" charset="-120"/>
              </a:rPr>
              <a:t>m</a:t>
            </a:r>
            <a:r>
              <a:rPr lang="en-US" altLang="zh-TW" baseline="-25000" dirty="0" smtClean="0">
                <a:ea typeface="新細明體" pitchFamily="18" charset="-120"/>
              </a:rPr>
              <a:t>2</a:t>
            </a:r>
            <a:r>
              <a:rPr lang="en-US" altLang="zh-TW" i="1" dirty="0" smtClean="0">
                <a:ea typeface="新細明體" pitchFamily="18" charset="-120"/>
              </a:rPr>
              <a:t> </a:t>
            </a:r>
            <a:r>
              <a:rPr lang="en-US" altLang="zh-TW" dirty="0" smtClean="0">
                <a:ea typeface="新細明體" pitchFamily="18" charset="-120"/>
              </a:rPr>
              <a:t>(</a:t>
            </a:r>
            <a:r>
              <a:rPr lang="en-US" altLang="zh-TW" i="1" dirty="0" smtClean="0">
                <a:ea typeface="新細明體" pitchFamily="18" charset="-120"/>
              </a:rPr>
              <a:t>m</a:t>
            </a:r>
            <a:r>
              <a:rPr lang="en-US" altLang="zh-TW" baseline="-25000" dirty="0" smtClean="0">
                <a:ea typeface="新細明體" pitchFamily="18" charset="-120"/>
              </a:rPr>
              <a:t>4 </a:t>
            </a:r>
            <a:r>
              <a:rPr lang="en-US" altLang="zh-TW" dirty="0" smtClean="0">
                <a:ea typeface="新細明體" pitchFamily="18" charset="-120"/>
              </a:rPr>
              <a:t>and </a:t>
            </a:r>
            <a:r>
              <a:rPr lang="en-US" altLang="zh-TW" i="1" dirty="0" smtClean="0">
                <a:ea typeface="新細明體" pitchFamily="18" charset="-120"/>
              </a:rPr>
              <a:t>m</a:t>
            </a:r>
            <a:r>
              <a:rPr lang="en-US" altLang="zh-TW" baseline="-25000" dirty="0" smtClean="0">
                <a:ea typeface="新細明體" pitchFamily="18" charset="-120"/>
              </a:rPr>
              <a:t>6</a:t>
            </a:r>
            <a:r>
              <a:rPr lang="en-US" altLang="zh-TW" dirty="0" smtClean="0">
                <a:ea typeface="新細明體" pitchFamily="18" charset="-120"/>
              </a:rPr>
              <a:t>) are adjacent</a:t>
            </a:r>
          </a:p>
          <a:p>
            <a:r>
              <a:rPr lang="en-US" altLang="zh-TW" i="1" dirty="0" smtClean="0">
                <a:ea typeface="新細明體" pitchFamily="18" charset="-120"/>
              </a:rPr>
              <a:t>m</a:t>
            </a:r>
            <a:r>
              <a:rPr lang="en-US" altLang="zh-TW" baseline="-25000" dirty="0" smtClean="0">
                <a:ea typeface="新細明體" pitchFamily="18" charset="-120"/>
              </a:rPr>
              <a:t>0</a:t>
            </a:r>
            <a:r>
              <a:rPr lang="en-US" altLang="zh-TW" i="1" dirty="0" smtClean="0">
                <a:ea typeface="新細明體" pitchFamily="18" charset="-120"/>
              </a:rPr>
              <a:t>+ m</a:t>
            </a:r>
            <a:r>
              <a:rPr lang="en-US" altLang="zh-TW" baseline="-25000" dirty="0" smtClean="0">
                <a:ea typeface="新細明體" pitchFamily="18" charset="-120"/>
              </a:rPr>
              <a:t>2</a:t>
            </a:r>
            <a:r>
              <a:rPr lang="en-US" altLang="zh-TW" i="1" baseline="-25000" dirty="0" smtClean="0">
                <a:ea typeface="新細明體" pitchFamily="18" charset="-120"/>
              </a:rPr>
              <a:t> </a:t>
            </a:r>
            <a:r>
              <a:rPr lang="en-US" altLang="zh-TW" i="1" dirty="0" smtClean="0">
                <a:ea typeface="新細明體" pitchFamily="18" charset="-120"/>
              </a:rPr>
              <a:t>= A'B'C' + A'BC' = A'C' </a:t>
            </a:r>
            <a:r>
              <a:rPr lang="en-US" altLang="zh-TW" dirty="0" smtClean="0">
                <a:ea typeface="新細明體" pitchFamily="18" charset="-120"/>
              </a:rPr>
              <a:t>(</a:t>
            </a:r>
            <a:r>
              <a:rPr lang="en-US" altLang="zh-TW" i="1" dirty="0" smtClean="0">
                <a:ea typeface="新細明體" pitchFamily="18" charset="-120"/>
              </a:rPr>
              <a:t>B'+ B</a:t>
            </a:r>
            <a:r>
              <a:rPr lang="en-US" altLang="zh-TW" dirty="0" smtClean="0">
                <a:ea typeface="新細明體" pitchFamily="18" charset="-120"/>
              </a:rPr>
              <a:t>) = </a:t>
            </a:r>
            <a:r>
              <a:rPr lang="en-US" altLang="zh-TW" i="1" dirty="0" smtClean="0">
                <a:ea typeface="新細明體" pitchFamily="18" charset="-120"/>
              </a:rPr>
              <a:t>A'C' 	  </a:t>
            </a:r>
          </a:p>
          <a:p>
            <a:r>
              <a:rPr lang="en-US" altLang="zh-TW" i="1" dirty="0" smtClean="0">
                <a:ea typeface="新細明體" pitchFamily="18" charset="-120"/>
              </a:rPr>
              <a:t>m</a:t>
            </a:r>
            <a:r>
              <a:rPr lang="en-US" altLang="zh-TW" baseline="-25000" dirty="0" smtClean="0">
                <a:ea typeface="新細明體" pitchFamily="18" charset="-120"/>
              </a:rPr>
              <a:t>4</a:t>
            </a:r>
            <a:r>
              <a:rPr lang="en-US" altLang="zh-TW" i="1" dirty="0" smtClean="0">
                <a:ea typeface="新細明體" pitchFamily="18" charset="-120"/>
              </a:rPr>
              <a:t>+ m</a:t>
            </a:r>
            <a:r>
              <a:rPr lang="en-US" altLang="zh-TW" baseline="-25000" dirty="0" smtClean="0">
                <a:ea typeface="新細明體" pitchFamily="18" charset="-120"/>
              </a:rPr>
              <a:t>6</a:t>
            </a:r>
            <a:r>
              <a:rPr lang="en-US" altLang="zh-TW" i="1" baseline="-25000" dirty="0" smtClean="0">
                <a:ea typeface="新細明體" pitchFamily="18" charset="-120"/>
              </a:rPr>
              <a:t> </a:t>
            </a:r>
            <a:r>
              <a:rPr lang="en-US" altLang="zh-TW" i="1" dirty="0" smtClean="0">
                <a:ea typeface="新細明體" pitchFamily="18" charset="-120"/>
              </a:rPr>
              <a:t>= AB'C' + A'BC' = AC' </a:t>
            </a:r>
            <a:r>
              <a:rPr lang="en-US" altLang="zh-TW" dirty="0" smtClean="0">
                <a:ea typeface="新細明體" pitchFamily="18" charset="-120"/>
              </a:rPr>
              <a:t>(</a:t>
            </a:r>
            <a:r>
              <a:rPr lang="en-US" altLang="zh-TW" i="1" dirty="0" smtClean="0">
                <a:ea typeface="新細明體" pitchFamily="18" charset="-120"/>
              </a:rPr>
              <a:t>B'+ B</a:t>
            </a:r>
            <a:r>
              <a:rPr lang="en-US" altLang="zh-TW" dirty="0" smtClean="0">
                <a:ea typeface="新細明體" pitchFamily="18" charset="-120"/>
              </a:rPr>
              <a:t>) = </a:t>
            </a:r>
            <a:r>
              <a:rPr lang="en-US" altLang="zh-TW" i="1" dirty="0" smtClean="0">
                <a:ea typeface="新細明體" pitchFamily="18" charset="-120"/>
              </a:rPr>
              <a:t>AC'</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smtClean="0"/>
              <a:t>Three-Variable </a:t>
            </a:r>
            <a:r>
              <a:rPr lang="en-US" dirty="0" smtClean="0"/>
              <a:t>Map</a:t>
            </a:r>
            <a:endParaRPr lang="en-US" dirty="0"/>
          </a:p>
        </p:txBody>
      </p:sp>
      <p:pic>
        <p:nvPicPr>
          <p:cNvPr id="8" name="Picture 7"/>
          <p:cNvPicPr>
            <a:picLocks noChangeAspect="1" noChangeArrowheads="1"/>
          </p:cNvPicPr>
          <p:nvPr/>
        </p:nvPicPr>
        <p:blipFill>
          <a:blip r:embed="rId2" cstate="print"/>
          <a:srcRect/>
          <a:stretch>
            <a:fillRect/>
          </a:stretch>
        </p:blipFill>
        <p:spPr bwMode="auto">
          <a:xfrm>
            <a:off x="1746000" y="3308400"/>
            <a:ext cx="4557600" cy="312665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dirty="0"/>
              <a:t>Example</a:t>
            </a:r>
          </a:p>
        </p:txBody>
      </p:sp>
      <p:graphicFrame>
        <p:nvGraphicFramePr>
          <p:cNvPr id="354308" name="Object 4"/>
          <p:cNvGraphicFramePr>
            <a:graphicFrameLocks noGrp="1" noChangeAspect="1"/>
          </p:cNvGraphicFramePr>
          <p:nvPr>
            <p:ph idx="1"/>
          </p:nvPr>
        </p:nvGraphicFramePr>
        <p:xfrm>
          <a:off x="1828800" y="1482425"/>
          <a:ext cx="5334000" cy="1054100"/>
        </p:xfrm>
        <a:graphic>
          <a:graphicData uri="http://schemas.openxmlformats.org/presentationml/2006/ole">
            <mc:AlternateContent xmlns:mc="http://schemas.openxmlformats.org/markup-compatibility/2006">
              <mc:Choice xmlns:v="urn:schemas-microsoft-com:vml" Requires="v">
                <p:oleObj spid="_x0000_s246787" name="Equation" r:id="rId3" imgW="2057400" imgH="406080" progId="Equation.3">
                  <p:embed/>
                </p:oleObj>
              </mc:Choice>
              <mc:Fallback>
                <p:oleObj name="Equation" r:id="rId3" imgW="2057400" imgH="4060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482425"/>
                        <a:ext cx="5334000" cy="105410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pic>
        <p:nvPicPr>
          <p:cNvPr id="354310" name="Picture 6"/>
          <p:cNvPicPr>
            <a:picLocks noChangeAspect="1" noChangeArrowheads="1"/>
          </p:cNvPicPr>
          <p:nvPr/>
        </p:nvPicPr>
        <p:blipFill>
          <a:blip r:embed="rId5" cstate="print"/>
          <a:srcRect/>
          <a:stretch>
            <a:fillRect/>
          </a:stretch>
        </p:blipFill>
        <p:spPr bwMode="auto">
          <a:xfrm>
            <a:off x="1371600" y="2680850"/>
            <a:ext cx="6481763" cy="406876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50243"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dirty="0">
                <a:ea typeface="新細明體" pitchFamily="18" charset="-120"/>
              </a:rPr>
              <a:t>the Boolean function F(</a:t>
            </a:r>
            <a:r>
              <a:rPr lang="en-US" altLang="zh-TW" i="1" dirty="0">
                <a:ea typeface="新細明體" pitchFamily="18" charset="-120"/>
              </a:rPr>
              <a:t>x</a:t>
            </a:r>
            <a:r>
              <a:rPr lang="en-US" altLang="zh-TW" dirty="0">
                <a:ea typeface="新細明體" pitchFamily="18" charset="-120"/>
              </a:rPr>
              <a:t>, </a:t>
            </a:r>
            <a:r>
              <a:rPr lang="en-US" altLang="zh-TW" i="1" dirty="0">
                <a:ea typeface="新細明體" pitchFamily="18" charset="-120"/>
              </a:rPr>
              <a:t>y</a:t>
            </a:r>
            <a:r>
              <a:rPr lang="en-US" altLang="zh-TW" dirty="0">
                <a:ea typeface="新細明體" pitchFamily="18" charset="-120"/>
              </a:rPr>
              <a:t>, </a:t>
            </a:r>
            <a:r>
              <a:rPr lang="en-US" altLang="zh-TW" i="1" dirty="0">
                <a:ea typeface="新細明體" pitchFamily="18" charset="-120"/>
              </a:rPr>
              <a:t>z</a:t>
            </a:r>
            <a:r>
              <a:rPr lang="en-US" altLang="zh-TW" dirty="0" smtClean="0">
                <a:ea typeface="新細明體" pitchFamily="18" charset="-120"/>
              </a:rPr>
              <a:t>)= </a:t>
            </a:r>
            <a:r>
              <a:rPr lang="en-US" altLang="zh-TW" dirty="0">
                <a:latin typeface="Symbol" pitchFamily="18" charset="2"/>
                <a:ea typeface="新細明體" pitchFamily="18" charset="-120"/>
              </a:rPr>
              <a:t>S</a:t>
            </a:r>
            <a:r>
              <a:rPr lang="en-US" altLang="zh-TW" dirty="0">
                <a:ea typeface="新細明體" pitchFamily="18" charset="-120"/>
              </a:rPr>
              <a:t>(2, 3, 4, 5)</a:t>
            </a:r>
          </a:p>
          <a:p>
            <a:pPr lvl="1"/>
            <a:r>
              <a:rPr lang="en-US" altLang="zh-TW" sz="2400" i="1" dirty="0">
                <a:ea typeface="新細明體" pitchFamily="18" charset="-120"/>
              </a:rPr>
              <a:t>F</a:t>
            </a:r>
            <a:r>
              <a:rPr lang="en-US" altLang="zh-TW" sz="2400" dirty="0">
                <a:ea typeface="新細明體" pitchFamily="18" charset="-120"/>
              </a:rPr>
              <a:t>(</a:t>
            </a:r>
            <a:r>
              <a:rPr lang="en-US" altLang="zh-TW" sz="2400" i="1" dirty="0">
                <a:ea typeface="新細明體" pitchFamily="18" charset="-120"/>
              </a:rPr>
              <a:t>x</a:t>
            </a:r>
            <a:r>
              <a:rPr lang="en-US" altLang="zh-TW" sz="2400" dirty="0">
                <a:ea typeface="新細明體" pitchFamily="18" charset="-120"/>
              </a:rPr>
              <a:t>, </a:t>
            </a:r>
            <a:r>
              <a:rPr lang="en-US" altLang="zh-TW" sz="2400" i="1" dirty="0">
                <a:ea typeface="新細明體" pitchFamily="18" charset="-120"/>
              </a:rPr>
              <a:t>y</a:t>
            </a:r>
            <a:r>
              <a:rPr lang="en-US" altLang="zh-TW" sz="2400" dirty="0">
                <a:ea typeface="新細明體" pitchFamily="18" charset="-120"/>
              </a:rPr>
              <a:t>, </a:t>
            </a:r>
            <a:r>
              <a:rPr lang="en-US" altLang="zh-TW" sz="2400" i="1" dirty="0">
                <a:ea typeface="新細明體" pitchFamily="18" charset="-120"/>
              </a:rPr>
              <a:t>z</a:t>
            </a:r>
            <a:r>
              <a:rPr lang="en-US" altLang="zh-TW" sz="2400" dirty="0">
                <a:ea typeface="新細明體" pitchFamily="18" charset="-120"/>
              </a:rPr>
              <a:t>) = </a:t>
            </a:r>
            <a:r>
              <a:rPr lang="en-US" altLang="zh-TW" sz="2400" dirty="0">
                <a:latin typeface="Symbol" pitchFamily="18" charset="2"/>
                <a:ea typeface="新細明體" pitchFamily="18" charset="-120"/>
              </a:rPr>
              <a:t>S</a:t>
            </a:r>
            <a:r>
              <a:rPr lang="en-US" altLang="zh-TW" sz="2400" dirty="0">
                <a:ea typeface="新細明體" pitchFamily="18" charset="-120"/>
              </a:rPr>
              <a:t>(2, 3, 4, 5) = </a:t>
            </a:r>
            <a:r>
              <a:rPr lang="en-US" altLang="zh-TW" sz="2400" i="1" dirty="0" err="1">
                <a:ea typeface="新細明體" pitchFamily="18" charset="-120"/>
              </a:rPr>
              <a:t>x'y</a:t>
            </a:r>
            <a:r>
              <a:rPr lang="en-US" altLang="zh-TW" sz="2400" dirty="0">
                <a:ea typeface="新細明體" pitchFamily="18" charset="-120"/>
              </a:rPr>
              <a:t> + </a:t>
            </a:r>
            <a:r>
              <a:rPr lang="en-US" altLang="zh-TW" sz="2400" i="1" dirty="0" err="1">
                <a:ea typeface="新細明體" pitchFamily="18" charset="-120"/>
              </a:rPr>
              <a:t>xy</a:t>
            </a:r>
            <a:r>
              <a:rPr lang="en-US" altLang="zh-TW" sz="2400" i="1" dirty="0">
                <a:ea typeface="新細明體" pitchFamily="18" charset="-120"/>
              </a:rPr>
              <a:t>'</a:t>
            </a:r>
            <a:endParaRPr lang="zh-TW" altLang="en-US" sz="2400" i="1" dirty="0">
              <a:ea typeface="新細明體" pitchFamily="18" charset="-120"/>
            </a:endParaRPr>
          </a:p>
          <a:p>
            <a:endParaRPr lang="zh-TW" altLang="en-US" dirty="0">
              <a:ea typeface="新細明體" pitchFamily="18" charset="-120"/>
            </a:endParaRPr>
          </a:p>
        </p:txBody>
      </p:sp>
      <p:grpSp>
        <p:nvGrpSpPr>
          <p:cNvPr id="40" name="Group 39"/>
          <p:cNvGrpSpPr/>
          <p:nvPr/>
        </p:nvGrpSpPr>
        <p:grpSpPr>
          <a:xfrm>
            <a:off x="2193925" y="2879613"/>
            <a:ext cx="4829175" cy="3059112"/>
            <a:chOff x="2193925" y="2879613"/>
            <a:chExt cx="4829175" cy="3059112"/>
          </a:xfrm>
        </p:grpSpPr>
        <p:sp>
          <p:nvSpPr>
            <p:cNvPr id="9" name="Rectangle 8"/>
            <p:cNvSpPr/>
            <p:nvPr/>
          </p:nvSpPr>
          <p:spPr>
            <a:xfrm>
              <a:off x="4702630" y="3716978"/>
              <a:ext cx="1341911" cy="534390"/>
            </a:xfrm>
            <a:prstGeom prst="rect">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50244" name="Picture 7"/>
            <p:cNvPicPr>
              <a:picLocks noChangeAspect="1" noChangeArrowheads="1"/>
            </p:cNvPicPr>
            <p:nvPr/>
          </p:nvPicPr>
          <p:blipFill>
            <a:blip r:embed="rId2" cstate="print"/>
            <a:srcRect t="3764"/>
            <a:stretch>
              <a:fillRect/>
            </a:stretch>
          </p:blipFill>
          <p:spPr bwMode="auto">
            <a:xfrm>
              <a:off x="2193925" y="2879613"/>
              <a:ext cx="4829175" cy="3059112"/>
            </a:xfrm>
            <a:prstGeom prst="rect">
              <a:avLst/>
            </a:prstGeom>
            <a:noFill/>
            <a:ln w="9525">
              <a:noFill/>
              <a:miter lim="800000"/>
              <a:headEnd/>
              <a:tailEnd/>
            </a:ln>
          </p:spPr>
        </p:pic>
        <p:grpSp>
          <p:nvGrpSpPr>
            <p:cNvPr id="32" name="Group 31"/>
            <p:cNvGrpSpPr/>
            <p:nvPr/>
          </p:nvGrpSpPr>
          <p:grpSpPr>
            <a:xfrm>
              <a:off x="3099460" y="4524499"/>
              <a:ext cx="1365662" cy="534389"/>
              <a:chOff x="3099460" y="4524499"/>
              <a:chExt cx="1365662" cy="534389"/>
            </a:xfrm>
          </p:grpSpPr>
          <p:cxnSp>
            <p:nvCxnSpPr>
              <p:cNvPr id="19" name="Straight Connector 18"/>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099460" y="4524499"/>
                <a:ext cx="0" cy="4987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4676860" y="3715024"/>
              <a:ext cx="1365662" cy="534389"/>
              <a:chOff x="3099460" y="4524499"/>
              <a:chExt cx="1365662" cy="534389"/>
            </a:xfrm>
          </p:grpSpPr>
          <p:cxnSp>
            <p:nvCxnSpPr>
              <p:cNvPr id="34" name="Straight Connector 33"/>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3099460" y="4524499"/>
                <a:ext cx="0" cy="4987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02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標題 1"/>
          <p:cNvSpPr>
            <a:spLocks noGrp="1"/>
          </p:cNvSpPr>
          <p:nvPr>
            <p:ph type="title" idx="4294967295"/>
          </p:nvPr>
        </p:nvSpPr>
        <p:spPr/>
        <p:txBody>
          <a:bodyPr lIns="0" tIns="0" rIns="0" bIns="0"/>
          <a:lstStyle/>
          <a:p>
            <a:r>
              <a:rPr lang="en-US" altLang="zh-TW" dirty="0">
                <a:ea typeface="新細明體" pitchFamily="18" charset="-120"/>
              </a:rPr>
              <a:t>Example </a:t>
            </a:r>
            <a:endParaRPr lang="zh-TW" altLang="en-US" dirty="0">
              <a:ea typeface="新細明體" pitchFamily="18" charset="-120"/>
            </a:endParaRPr>
          </a:p>
        </p:txBody>
      </p:sp>
      <p:sp>
        <p:nvSpPr>
          <p:cNvPr id="651267"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a:t>
            </a:r>
            <a:r>
              <a:rPr lang="en-US" altLang="zh-TW" dirty="0">
                <a:ea typeface="新細明體" pitchFamily="18" charset="-120"/>
              </a:rPr>
              <a:t>(</a:t>
            </a:r>
            <a:r>
              <a:rPr lang="en-US" altLang="zh-TW" i="1" dirty="0">
                <a:ea typeface="新細明體" pitchFamily="18" charset="-120"/>
              </a:rPr>
              <a:t>x</a:t>
            </a:r>
            <a:r>
              <a:rPr lang="en-US" altLang="zh-TW" dirty="0">
                <a:ea typeface="新細明體" pitchFamily="18" charset="-120"/>
              </a:rPr>
              <a:t>, </a:t>
            </a:r>
            <a:r>
              <a:rPr lang="en-US" altLang="zh-TW" i="1" dirty="0">
                <a:ea typeface="新細明體" pitchFamily="18" charset="-120"/>
              </a:rPr>
              <a:t>y</a:t>
            </a:r>
            <a:r>
              <a:rPr lang="en-US" altLang="zh-TW" dirty="0">
                <a:ea typeface="新細明體" pitchFamily="18" charset="-120"/>
              </a:rPr>
              <a:t>, </a:t>
            </a:r>
            <a:r>
              <a:rPr lang="en-US" altLang="zh-TW" i="1" dirty="0">
                <a:ea typeface="新細明體" pitchFamily="18" charset="-120"/>
              </a:rPr>
              <a:t>z</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(3, 4, 6, 7) </a:t>
            </a:r>
          </a:p>
          <a:p>
            <a:pPr lvl="1"/>
            <a:r>
              <a:rPr lang="en-US" altLang="zh-TW" sz="2400" i="1" dirty="0">
                <a:ea typeface="新細明體" pitchFamily="18" charset="-120"/>
              </a:rPr>
              <a:t>F</a:t>
            </a:r>
            <a:r>
              <a:rPr lang="en-US" altLang="zh-TW" sz="2400" dirty="0">
                <a:ea typeface="新細明體" pitchFamily="18" charset="-120"/>
              </a:rPr>
              <a:t>(</a:t>
            </a:r>
            <a:r>
              <a:rPr lang="en-US" altLang="zh-TW" sz="2400" i="1" dirty="0">
                <a:ea typeface="新細明體" pitchFamily="18" charset="-120"/>
              </a:rPr>
              <a:t>x</a:t>
            </a:r>
            <a:r>
              <a:rPr lang="en-US" altLang="zh-TW" sz="2400" dirty="0">
                <a:ea typeface="新細明體" pitchFamily="18" charset="-120"/>
              </a:rPr>
              <a:t>, </a:t>
            </a:r>
            <a:r>
              <a:rPr lang="en-US" altLang="zh-TW" sz="2400" i="1" dirty="0">
                <a:ea typeface="新細明體" pitchFamily="18" charset="-120"/>
              </a:rPr>
              <a:t>y</a:t>
            </a:r>
            <a:r>
              <a:rPr lang="en-US" altLang="zh-TW" sz="2400" dirty="0">
                <a:ea typeface="新細明體" pitchFamily="18" charset="-120"/>
              </a:rPr>
              <a:t>, </a:t>
            </a:r>
            <a:r>
              <a:rPr lang="en-US" altLang="zh-TW" sz="2400" i="1" dirty="0">
                <a:ea typeface="新細明體" pitchFamily="18" charset="-120"/>
              </a:rPr>
              <a:t>z</a:t>
            </a:r>
            <a:r>
              <a:rPr lang="en-US" altLang="zh-TW" sz="2400" dirty="0">
                <a:ea typeface="新細明體" pitchFamily="18" charset="-120"/>
              </a:rPr>
              <a:t>) = </a:t>
            </a:r>
            <a:r>
              <a:rPr lang="en-US" altLang="zh-TW" sz="2400" dirty="0">
                <a:latin typeface="Symbol" pitchFamily="18" charset="2"/>
                <a:ea typeface="新細明體" pitchFamily="18" charset="-120"/>
              </a:rPr>
              <a:t>S</a:t>
            </a:r>
            <a:r>
              <a:rPr lang="en-US" altLang="zh-TW" sz="2400" dirty="0">
                <a:ea typeface="新細明體" pitchFamily="18" charset="-120"/>
              </a:rPr>
              <a:t>(3, 4, 6, 7) = </a:t>
            </a:r>
            <a:r>
              <a:rPr lang="en-US" altLang="zh-TW" sz="2400" i="1" dirty="0" err="1">
                <a:ea typeface="新細明體" pitchFamily="18" charset="-120"/>
              </a:rPr>
              <a:t>yz</a:t>
            </a:r>
            <a:r>
              <a:rPr lang="en-US" altLang="zh-TW" sz="2400" dirty="0">
                <a:ea typeface="新細明體" pitchFamily="18" charset="-120"/>
              </a:rPr>
              <a:t>+ </a:t>
            </a:r>
            <a:r>
              <a:rPr lang="en-US" altLang="zh-TW" sz="2400" i="1" dirty="0" err="1">
                <a:ea typeface="新細明體" pitchFamily="18" charset="-120"/>
              </a:rPr>
              <a:t>xz</a:t>
            </a:r>
            <a:r>
              <a:rPr lang="en-US" altLang="zh-TW" sz="2400" dirty="0">
                <a:ea typeface="新細明體" pitchFamily="18" charset="-120"/>
              </a:rPr>
              <a:t>'</a:t>
            </a:r>
          </a:p>
          <a:p>
            <a:endParaRPr lang="zh-TW" altLang="en-US" dirty="0">
              <a:ea typeface="新細明體" pitchFamily="18" charset="-120"/>
            </a:endParaRPr>
          </a:p>
        </p:txBody>
      </p:sp>
      <p:grpSp>
        <p:nvGrpSpPr>
          <p:cNvPr id="29" name="Group 28"/>
          <p:cNvGrpSpPr/>
          <p:nvPr/>
        </p:nvGrpSpPr>
        <p:grpSpPr>
          <a:xfrm>
            <a:off x="1857375" y="2666563"/>
            <a:ext cx="5243513" cy="3589337"/>
            <a:chOff x="1857375" y="2666563"/>
            <a:chExt cx="5243513" cy="3589337"/>
          </a:xfrm>
        </p:grpSpPr>
        <p:grpSp>
          <p:nvGrpSpPr>
            <p:cNvPr id="9" name="Group 8"/>
            <p:cNvGrpSpPr/>
            <p:nvPr/>
          </p:nvGrpSpPr>
          <p:grpSpPr>
            <a:xfrm>
              <a:off x="4536374" y="3467595"/>
              <a:ext cx="724395" cy="1686297"/>
              <a:chOff x="3099460" y="4524499"/>
              <a:chExt cx="1365662" cy="534389"/>
            </a:xfrm>
          </p:grpSpPr>
          <p:cxnSp>
            <p:nvCxnSpPr>
              <p:cNvPr id="10" name="Straight Connector 9"/>
              <p:cNvCxnSpPr/>
              <p:nvPr/>
            </p:nvCxnSpPr>
            <p:spPr>
              <a:xfrm>
                <a:off x="3099460" y="4524499"/>
                <a:ext cx="135378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441371" y="4524499"/>
                <a:ext cx="23751" cy="53438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3099460" y="5035138"/>
                <a:ext cx="1365662" cy="1187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99460" y="4524499"/>
                <a:ext cx="0" cy="498764"/>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1857375" y="2666563"/>
              <a:ext cx="5243513" cy="3589337"/>
              <a:chOff x="1857375" y="2666563"/>
              <a:chExt cx="5243513" cy="3589337"/>
            </a:xfrm>
          </p:grpSpPr>
          <p:pic>
            <p:nvPicPr>
              <p:cNvPr id="651268" name="Picture 6"/>
              <p:cNvPicPr>
                <a:picLocks noChangeAspect="1" noChangeArrowheads="1"/>
              </p:cNvPicPr>
              <p:nvPr/>
            </p:nvPicPr>
            <p:blipFill>
              <a:blip r:embed="rId2" cstate="print">
                <a:lum bright="-4000" contrast="12000"/>
              </a:blip>
              <a:srcRect/>
              <a:stretch>
                <a:fillRect/>
              </a:stretch>
            </p:blipFill>
            <p:spPr bwMode="auto">
              <a:xfrm>
                <a:off x="1857375" y="2666563"/>
                <a:ext cx="5243513" cy="3589337"/>
              </a:xfrm>
              <a:prstGeom prst="rect">
                <a:avLst/>
              </a:prstGeom>
              <a:noFill/>
              <a:ln w="9525">
                <a:noFill/>
                <a:miter lim="800000"/>
                <a:headEnd/>
                <a:tailEnd/>
              </a:ln>
            </p:spPr>
          </p:pic>
          <p:cxnSp>
            <p:nvCxnSpPr>
              <p:cNvPr id="15" name="Straight Connector 14"/>
              <p:cNvCxnSpPr/>
              <p:nvPr/>
            </p:nvCxnSpPr>
            <p:spPr>
              <a:xfrm>
                <a:off x="2683823" y="4393870"/>
                <a:ext cx="88290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3558984" y="4393870"/>
                <a:ext cx="15490" cy="71252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2683823" y="5074723"/>
                <a:ext cx="890651" cy="1583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4548249" y="3503211"/>
              <a:ext cx="748146" cy="1662555"/>
              <a:chOff x="3099460" y="4524499"/>
              <a:chExt cx="1365662" cy="534389"/>
            </a:xfrm>
          </p:grpSpPr>
          <p:cxnSp>
            <p:nvCxnSpPr>
              <p:cNvPr id="21" name="Straight Connector 20"/>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3099460" y="5031321"/>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3099460" y="4524499"/>
                <a:ext cx="21678" cy="50385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5" name="Straight Connector 24"/>
            <p:cNvCxnSpPr/>
            <p:nvPr/>
          </p:nvCxnSpPr>
          <p:spPr>
            <a:xfrm>
              <a:off x="5425044" y="4380015"/>
              <a:ext cx="88290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5425044" y="5072743"/>
              <a:ext cx="890651" cy="1583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421431" y="4368141"/>
              <a:ext cx="15490" cy="71252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標題 1"/>
          <p:cNvSpPr>
            <a:spLocks noGrp="1"/>
          </p:cNvSpPr>
          <p:nvPr>
            <p:ph type="title" idx="4294967295"/>
          </p:nvPr>
        </p:nvSpPr>
        <p:spPr/>
        <p:txBody>
          <a:bodyPr lIns="0" tIns="0" rIns="0" bIns="0"/>
          <a:lstStyle/>
          <a:p>
            <a:r>
              <a:rPr lang="en-US" altLang="zh-TW">
                <a:ea typeface="新細明體" pitchFamily="18" charset="-120"/>
              </a:rPr>
              <a:t>Four adjacent Squares</a:t>
            </a:r>
            <a:endParaRPr lang="zh-TW" altLang="en-US">
              <a:ea typeface="新細明體" pitchFamily="18" charset="-120"/>
            </a:endParaRPr>
          </a:p>
        </p:txBody>
      </p:sp>
      <p:sp>
        <p:nvSpPr>
          <p:cNvPr id="652291" name="內容版面配置區 2"/>
          <p:cNvSpPr>
            <a:spLocks noGrp="1"/>
          </p:cNvSpPr>
          <p:nvPr>
            <p:ph idx="4294967295"/>
          </p:nvPr>
        </p:nvSpPr>
        <p:spPr/>
        <p:txBody>
          <a:bodyPr lIns="90488" tIns="44450" rIns="90488" bIns="44450"/>
          <a:lstStyle/>
          <a:p>
            <a:r>
              <a:rPr lang="en-US" altLang="zh-TW" dirty="0">
                <a:ea typeface="新細明體" pitchFamily="18" charset="-120"/>
              </a:rPr>
              <a:t>Consider four adjacent squares</a:t>
            </a:r>
          </a:p>
          <a:p>
            <a:pPr lvl="1"/>
            <a:r>
              <a:rPr lang="en-US" altLang="zh-TW" sz="2400" i="1" dirty="0" smtClean="0">
                <a:ea typeface="新細明體" pitchFamily="18" charset="-120"/>
              </a:rPr>
              <a:t>m</a:t>
            </a:r>
            <a:r>
              <a:rPr lang="en-US" altLang="zh-TW" sz="2400" baseline="-25000" dirty="0" smtClean="0">
                <a:ea typeface="新細明體" pitchFamily="18" charset="-120"/>
              </a:rPr>
              <a:t>0</a:t>
            </a:r>
            <a:r>
              <a:rPr lang="en-US" altLang="zh-TW" sz="2400" i="1" dirty="0" smtClean="0">
                <a:ea typeface="新細明體" pitchFamily="18" charset="-120"/>
              </a:rPr>
              <a:t>+m</a:t>
            </a:r>
            <a:r>
              <a:rPr lang="en-US" altLang="zh-TW" sz="2400" baseline="-25000" dirty="0" smtClean="0">
                <a:ea typeface="新細明體" pitchFamily="18" charset="-120"/>
              </a:rPr>
              <a:t>2</a:t>
            </a:r>
            <a:r>
              <a:rPr lang="en-US" altLang="zh-TW" sz="2400" i="1" dirty="0" smtClean="0">
                <a:ea typeface="新細明體" pitchFamily="18" charset="-120"/>
              </a:rPr>
              <a:t>+m</a:t>
            </a:r>
            <a:r>
              <a:rPr lang="en-US" altLang="zh-TW" sz="2400" baseline="-25000" dirty="0" smtClean="0">
                <a:ea typeface="新細明體" pitchFamily="18" charset="-120"/>
              </a:rPr>
              <a:t>4</a:t>
            </a:r>
            <a:r>
              <a:rPr lang="en-US" altLang="zh-TW" sz="2400" i="1" dirty="0" smtClean="0">
                <a:ea typeface="新細明體" pitchFamily="18" charset="-120"/>
              </a:rPr>
              <a:t>+m</a:t>
            </a:r>
            <a:r>
              <a:rPr lang="en-US" altLang="zh-TW" sz="2400" baseline="-25000" dirty="0" smtClean="0">
                <a:ea typeface="新細明體" pitchFamily="18" charset="-120"/>
              </a:rPr>
              <a:t>6</a:t>
            </a:r>
            <a:r>
              <a:rPr lang="en-US" altLang="zh-TW" sz="2400" i="1" dirty="0" smtClean="0">
                <a:ea typeface="新細明體" pitchFamily="18" charset="-120"/>
              </a:rPr>
              <a:t> </a:t>
            </a:r>
            <a:r>
              <a:rPr lang="en-US" altLang="zh-TW" sz="2400" i="1" dirty="0">
                <a:ea typeface="新細明體" pitchFamily="18" charset="-120"/>
              </a:rPr>
              <a:t>= </a:t>
            </a:r>
            <a:r>
              <a:rPr lang="en-US" altLang="zh-TW" sz="2400" i="1" dirty="0" err="1">
                <a:ea typeface="新細明體" pitchFamily="18" charset="-120"/>
              </a:rPr>
              <a:t>x'y'z'+x'yz'+xy'z'+xyz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z'</a:t>
            </a:r>
          </a:p>
          <a:p>
            <a:pPr lvl="1"/>
            <a:r>
              <a:rPr lang="en-US" altLang="zh-TW" sz="2400" i="1" dirty="0">
                <a:ea typeface="新細明體" pitchFamily="18" charset="-120"/>
              </a:rPr>
              <a:t>m</a:t>
            </a:r>
            <a:r>
              <a:rPr lang="en-US" altLang="zh-TW" sz="2400" baseline="-25000" dirty="0">
                <a:ea typeface="新細明體" pitchFamily="18" charset="-120"/>
              </a:rPr>
              <a:t>1</a:t>
            </a:r>
            <a:r>
              <a:rPr lang="en-US" altLang="zh-TW" sz="2400" i="1" dirty="0">
                <a:ea typeface="新細明體" pitchFamily="18" charset="-120"/>
              </a:rPr>
              <a:t>+m</a:t>
            </a:r>
            <a:r>
              <a:rPr lang="en-US" altLang="zh-TW" sz="2400" baseline="-25000" dirty="0">
                <a:ea typeface="新細明體" pitchFamily="18" charset="-120"/>
              </a:rPr>
              <a:t>3</a:t>
            </a:r>
            <a:r>
              <a:rPr lang="en-US" altLang="zh-TW" sz="2400" i="1" dirty="0">
                <a:ea typeface="新細明體" pitchFamily="18" charset="-120"/>
              </a:rPr>
              <a:t>+m</a:t>
            </a:r>
            <a:r>
              <a:rPr lang="en-US" altLang="zh-TW" sz="2400" baseline="-25000" dirty="0">
                <a:ea typeface="新細明體" pitchFamily="18" charset="-120"/>
              </a:rPr>
              <a:t>5</a:t>
            </a:r>
            <a:r>
              <a:rPr lang="en-US" altLang="zh-TW" sz="2400" i="1" dirty="0">
                <a:ea typeface="新細明體" pitchFamily="18" charset="-120"/>
              </a:rPr>
              <a:t>+m</a:t>
            </a:r>
            <a:r>
              <a:rPr lang="en-US" altLang="zh-TW" sz="2400" baseline="-25000" dirty="0">
                <a:ea typeface="新細明體" pitchFamily="18" charset="-120"/>
              </a:rPr>
              <a:t>7</a:t>
            </a:r>
            <a:r>
              <a:rPr lang="en-US" altLang="zh-TW" sz="2400" i="1" dirty="0">
                <a:ea typeface="新細明體" pitchFamily="18" charset="-120"/>
              </a:rPr>
              <a:t> = </a:t>
            </a:r>
            <a:r>
              <a:rPr lang="en-US" altLang="zh-TW" sz="2400" i="1" dirty="0" err="1">
                <a:ea typeface="新細明體" pitchFamily="18" charset="-120"/>
              </a:rPr>
              <a:t>x'y'z+x'yz+xy'z+xyz</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a:t>
            </a:r>
            <a:r>
              <a:rPr lang="en-US" altLang="zh-TW" sz="2400" i="1" dirty="0" err="1">
                <a:ea typeface="新細明體" pitchFamily="18" charset="-120"/>
              </a:rPr>
              <a:t>y'+y</a:t>
            </a:r>
            <a:r>
              <a:rPr lang="en-US" altLang="zh-TW" sz="2400" i="1" dirty="0">
                <a:ea typeface="新細明體" pitchFamily="18" charset="-120"/>
              </a:rPr>
              <a:t>) =</a:t>
            </a:r>
            <a:r>
              <a:rPr lang="en-US" altLang="zh-TW" sz="2400" i="1" dirty="0" err="1">
                <a:ea typeface="新細明體" pitchFamily="18" charset="-120"/>
              </a:rPr>
              <a:t>x'z</a:t>
            </a:r>
            <a:r>
              <a:rPr lang="en-US" altLang="zh-TW" sz="2400" i="1" dirty="0">
                <a:ea typeface="新細明體" pitchFamily="18" charset="-120"/>
              </a:rPr>
              <a:t> + </a:t>
            </a:r>
            <a:r>
              <a:rPr lang="en-US" altLang="zh-TW" sz="2400" i="1" dirty="0" err="1">
                <a:ea typeface="新細明體" pitchFamily="18" charset="-120"/>
              </a:rPr>
              <a:t>xz</a:t>
            </a:r>
            <a:r>
              <a:rPr lang="en-US" altLang="zh-TW" sz="2400" i="1" dirty="0">
                <a:ea typeface="新細明體" pitchFamily="18" charset="-120"/>
              </a:rPr>
              <a:t> = z</a:t>
            </a:r>
          </a:p>
          <a:p>
            <a:endParaRPr lang="zh-TW" altLang="en-US" dirty="0">
              <a:ea typeface="新細明體" pitchFamily="18" charset="-120"/>
            </a:endParaRPr>
          </a:p>
        </p:txBody>
      </p:sp>
      <p:pic>
        <p:nvPicPr>
          <p:cNvPr id="652292" name="Picture 6" descr="AACFLNA0"/>
          <p:cNvPicPr>
            <a:picLocks noChangeAspect="1" noChangeArrowheads="1"/>
          </p:cNvPicPr>
          <p:nvPr/>
        </p:nvPicPr>
        <p:blipFill>
          <a:blip r:embed="rId2" cstate="print">
            <a:lum bright="-18000" contrast="30000"/>
          </a:blip>
          <a:srcRect t="1363" b="15045"/>
          <a:stretch>
            <a:fillRect/>
          </a:stretch>
        </p:blipFill>
        <p:spPr bwMode="auto">
          <a:xfrm>
            <a:off x="1095875" y="3628150"/>
            <a:ext cx="6519863" cy="28162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5229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smtClean="0">
                <a:ea typeface="新細明體" pitchFamily="18" charset="-120"/>
              </a:rPr>
              <a:t>F(x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a:t>
            </a:r>
            <a:r>
              <a:rPr lang="en-US" altLang="zh-TW" i="1" dirty="0" smtClean="0">
                <a:ea typeface="新細明體" pitchFamily="18" charset="-120"/>
              </a:rPr>
              <a:t> z) </a:t>
            </a:r>
            <a:r>
              <a:rPr lang="en-US" altLang="zh-TW" dirty="0" smtClean="0">
                <a:ea typeface="新細明體" pitchFamily="18" charset="-120"/>
              </a:rPr>
              <a:t>= </a:t>
            </a:r>
            <a:r>
              <a:rPr lang="en-US" altLang="zh-TW" dirty="0" smtClean="0">
                <a:latin typeface="Symbol" pitchFamily="18" charset="2"/>
                <a:ea typeface="新細明體" pitchFamily="18" charset="-120"/>
              </a:rPr>
              <a:t>S</a:t>
            </a:r>
            <a:r>
              <a:rPr lang="en-US" altLang="zh-TW" dirty="0" smtClean="0">
                <a:ea typeface="新細明體" pitchFamily="18" charset="-120"/>
              </a:rPr>
              <a:t>(0, 2, 4, 5, 6)</a:t>
            </a:r>
          </a:p>
          <a:p>
            <a:pPr lvl="1"/>
            <a:r>
              <a:rPr lang="en-US" altLang="zh-TW" sz="2400" i="1" dirty="0" smtClean="0">
                <a:ea typeface="新細明體" pitchFamily="18" charset="-120"/>
              </a:rPr>
              <a:t>F</a:t>
            </a:r>
            <a:r>
              <a:rPr lang="en-US" altLang="zh-TW" sz="2400" dirty="0" smtClean="0">
                <a:ea typeface="新細明體" pitchFamily="18" charset="-120"/>
              </a:rPr>
              <a:t>(</a:t>
            </a:r>
            <a:r>
              <a:rPr lang="en-US" altLang="zh-TW" sz="2400" i="1" dirty="0" smtClean="0">
                <a:ea typeface="新細明體" pitchFamily="18" charset="-120"/>
              </a:rPr>
              <a:t>x</a:t>
            </a:r>
            <a:r>
              <a:rPr lang="en-US" altLang="zh-TW" sz="2400" dirty="0" smtClean="0">
                <a:ea typeface="新細明體" pitchFamily="18" charset="-120"/>
              </a:rPr>
              <a:t>,</a:t>
            </a:r>
            <a:r>
              <a:rPr lang="en-US" altLang="zh-TW" sz="2400" i="1" dirty="0" smtClean="0">
                <a:ea typeface="新細明體" pitchFamily="18" charset="-120"/>
              </a:rPr>
              <a:t> y</a:t>
            </a:r>
            <a:r>
              <a:rPr lang="en-US" altLang="zh-TW" sz="2400" dirty="0" smtClean="0">
                <a:ea typeface="新細明體" pitchFamily="18" charset="-120"/>
              </a:rPr>
              <a:t>, </a:t>
            </a:r>
            <a:r>
              <a:rPr lang="en-US" altLang="zh-TW" sz="2400" i="1" dirty="0" smtClean="0">
                <a:ea typeface="新細明體" pitchFamily="18" charset="-120"/>
              </a:rPr>
              <a:t>z</a:t>
            </a:r>
            <a:r>
              <a:rPr lang="en-US" altLang="zh-TW" sz="2400" dirty="0" smtClean="0">
                <a:ea typeface="新細明體" pitchFamily="18" charset="-120"/>
              </a:rPr>
              <a:t>)</a:t>
            </a:r>
            <a:r>
              <a:rPr lang="en-US" altLang="zh-TW" sz="2400" i="1" dirty="0" smtClean="0">
                <a:ea typeface="新細明體" pitchFamily="18" charset="-120"/>
              </a:rPr>
              <a:t> </a:t>
            </a:r>
            <a:r>
              <a:rPr lang="en-US" altLang="zh-TW" sz="2400" dirty="0" smtClean="0">
                <a:ea typeface="新細明體" pitchFamily="18" charset="-120"/>
              </a:rPr>
              <a:t>= </a:t>
            </a:r>
            <a:r>
              <a:rPr lang="en-US" altLang="zh-TW" sz="2400" dirty="0" smtClean="0">
                <a:latin typeface="Symbol" pitchFamily="18" charset="2"/>
                <a:ea typeface="新細明體" pitchFamily="18" charset="-120"/>
              </a:rPr>
              <a:t>S</a:t>
            </a:r>
            <a:r>
              <a:rPr lang="en-US" altLang="zh-TW" sz="2400" dirty="0" smtClean="0">
                <a:ea typeface="新細明體" pitchFamily="18" charset="-120"/>
              </a:rPr>
              <a:t>(0, 2, 4, 5, 6)</a:t>
            </a:r>
            <a:r>
              <a:rPr lang="en-US" altLang="zh-TW" sz="2400" i="1" dirty="0" smtClean="0">
                <a:ea typeface="新細明體" pitchFamily="18" charset="-120"/>
              </a:rPr>
              <a:t> = z'+ </a:t>
            </a:r>
            <a:r>
              <a:rPr lang="en-US" altLang="zh-TW" sz="2400" i="1" dirty="0" err="1" smtClean="0">
                <a:ea typeface="新細明體" pitchFamily="18" charset="-120"/>
              </a:rPr>
              <a:t>xy</a:t>
            </a:r>
            <a:r>
              <a:rPr lang="en-US" altLang="zh-TW" sz="2400" i="1" dirty="0" smtClean="0">
                <a:ea typeface="新細明體" pitchFamily="18" charset="-120"/>
              </a:rPr>
              <a:t>'</a:t>
            </a:r>
          </a:p>
          <a:p>
            <a:pPr lvl="1">
              <a:buNone/>
            </a:pPr>
            <a:endParaRPr lang="en-US" altLang="zh-TW" dirty="0" smtClean="0">
              <a:ea typeface="新細明體" pitchFamily="18" charset="-120"/>
            </a:endParaRPr>
          </a:p>
        </p:txBody>
      </p:sp>
      <p:grpSp>
        <p:nvGrpSpPr>
          <p:cNvPr id="20" name="Group 19"/>
          <p:cNvGrpSpPr/>
          <p:nvPr/>
        </p:nvGrpSpPr>
        <p:grpSpPr>
          <a:xfrm>
            <a:off x="1100300" y="2687013"/>
            <a:ext cx="5580063" cy="3533775"/>
            <a:chOff x="1100300" y="2687013"/>
            <a:chExt cx="5580063" cy="3533775"/>
          </a:xfrm>
        </p:grpSpPr>
        <p:pic>
          <p:nvPicPr>
            <p:cNvPr id="5" name="Picture 6"/>
            <p:cNvPicPr>
              <a:picLocks noChangeAspect="1" noChangeArrowheads="1"/>
            </p:cNvPicPr>
            <p:nvPr/>
          </p:nvPicPr>
          <p:blipFill>
            <a:blip r:embed="rId2" cstate="print">
              <a:lum bright="-20000" contrast="46000"/>
            </a:blip>
            <a:srcRect/>
            <a:stretch>
              <a:fillRect/>
            </a:stretch>
          </p:blipFill>
          <p:spPr bwMode="auto">
            <a:xfrm>
              <a:off x="1100300" y="2687013"/>
              <a:ext cx="5580063" cy="3533775"/>
            </a:xfrm>
            <a:prstGeom prst="rect">
              <a:avLst/>
            </a:prstGeom>
            <a:noFill/>
            <a:ln w="9525">
              <a:noFill/>
              <a:miter lim="800000"/>
              <a:headEnd/>
              <a:tailEnd/>
            </a:ln>
          </p:spPr>
        </p:pic>
        <p:grpSp>
          <p:nvGrpSpPr>
            <p:cNvPr id="6" name="Group 5"/>
            <p:cNvGrpSpPr/>
            <p:nvPr/>
          </p:nvGrpSpPr>
          <p:grpSpPr>
            <a:xfrm>
              <a:off x="2468109" y="4380024"/>
              <a:ext cx="1510124" cy="655114"/>
              <a:chOff x="3088636" y="4524499"/>
              <a:chExt cx="1376486" cy="534389"/>
            </a:xfrm>
          </p:grpSpPr>
          <p:cxnSp>
            <p:nvCxnSpPr>
              <p:cNvPr id="7" name="Straight Connector 6"/>
              <p:cNvCxnSpPr/>
              <p:nvPr/>
            </p:nvCxnSpPr>
            <p:spPr>
              <a:xfrm>
                <a:off x="3099460" y="4524499"/>
                <a:ext cx="1353787"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3088636"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099460" y="4524499"/>
                <a:ext cx="0" cy="49876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11" name="Straight Connector 10"/>
            <p:cNvCxnSpPr/>
            <p:nvPr/>
          </p:nvCxnSpPr>
          <p:spPr>
            <a:xfrm flipH="1">
              <a:off x="4952010" y="3562598"/>
              <a:ext cx="23753" cy="144879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038105" y="3536867"/>
              <a:ext cx="1978" cy="152202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268190" y="355073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266215" y="505688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21215" y="3560634"/>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61909" y="5009420"/>
              <a:ext cx="776039" cy="1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22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54339" name="內容版面配置區 2"/>
          <p:cNvSpPr>
            <a:spLocks noGrp="1"/>
          </p:cNvSpPr>
          <p:nvPr>
            <p:ph idx="4294967295"/>
          </p:nvPr>
        </p:nvSpPr>
        <p:spPr/>
        <p:txBody>
          <a:bodyPr lIns="90488" tIns="44450" rIns="90488" bIns="44450"/>
          <a:lstStyle/>
          <a:p>
            <a:r>
              <a:rPr lang="en-US" altLang="zh-TW" dirty="0" smtClean="0">
                <a:ea typeface="新細明體" pitchFamily="18" charset="-120"/>
              </a:rPr>
              <a:t>Let </a:t>
            </a:r>
            <a:r>
              <a:rPr lang="en-US" altLang="zh-TW" i="1" dirty="0">
                <a:ea typeface="新細明體" pitchFamily="18" charset="-120"/>
              </a:rPr>
              <a:t>F = A'C + A'B + AB'C + BC</a:t>
            </a:r>
          </a:p>
          <a:p>
            <a:pPr marL="914400" lvl="1" indent="-457200">
              <a:buClrTx/>
              <a:buSzPct val="100000"/>
              <a:buFont typeface="Book Antiqua" pitchFamily="18" charset="0"/>
              <a:buAutoNum type="alphaLcParenR"/>
            </a:pPr>
            <a:r>
              <a:rPr lang="en-US" altLang="zh-TW" sz="2400" dirty="0">
                <a:ea typeface="新細明體" pitchFamily="18" charset="-120"/>
              </a:rPr>
              <a:t>Express it in sum of </a:t>
            </a:r>
            <a:r>
              <a:rPr lang="en-US" altLang="zh-TW" sz="2400" dirty="0" err="1">
                <a:ea typeface="新細明體" pitchFamily="18" charset="-120"/>
              </a:rPr>
              <a:t>minterms</a:t>
            </a:r>
            <a:r>
              <a:rPr lang="en-US" altLang="zh-TW" sz="2400" dirty="0">
                <a:ea typeface="新細明體" pitchFamily="18" charset="-120"/>
              </a:rPr>
              <a:t>.</a:t>
            </a:r>
          </a:p>
          <a:p>
            <a:pPr marL="914400" lvl="1" indent="-457200">
              <a:buClrTx/>
              <a:buSzPct val="100000"/>
              <a:buFont typeface="Book Antiqua" pitchFamily="18" charset="0"/>
              <a:buAutoNum type="alphaLcParenR"/>
            </a:pPr>
            <a:r>
              <a:rPr lang="en-US" altLang="zh-TW" sz="2400" dirty="0">
                <a:ea typeface="新細明體" pitchFamily="18" charset="-120"/>
              </a:rPr>
              <a:t>Find the minimal sum of products expression.</a:t>
            </a:r>
          </a:p>
          <a:p>
            <a:pPr marL="914400" lvl="1" indent="-457200">
              <a:buClrTx/>
              <a:buSzPct val="100000"/>
              <a:buFont typeface="Wingdings" pitchFamily="2" charset="2"/>
              <a:buNone/>
            </a:pPr>
            <a:r>
              <a:rPr lang="en-US" altLang="zh-TW" sz="2400" i="1" dirty="0">
                <a:ea typeface="新細明體" pitchFamily="18" charset="-120"/>
              </a:rPr>
              <a:t>	F</a:t>
            </a:r>
            <a:r>
              <a:rPr lang="en-US" altLang="zh-TW" sz="2400" dirty="0">
                <a:ea typeface="新細明體" pitchFamily="18" charset="-120"/>
              </a:rPr>
              <a:t>(</a:t>
            </a:r>
            <a:r>
              <a:rPr lang="en-US" altLang="zh-TW" sz="2400" i="1" dirty="0">
                <a:ea typeface="新細明體" pitchFamily="18" charset="-120"/>
              </a:rPr>
              <a:t>A</a:t>
            </a:r>
            <a:r>
              <a:rPr lang="en-US" altLang="zh-TW" sz="2400" dirty="0">
                <a:ea typeface="新細明體" pitchFamily="18" charset="-120"/>
              </a:rPr>
              <a:t>, </a:t>
            </a:r>
            <a:r>
              <a:rPr lang="en-US" altLang="zh-TW" sz="2400" i="1" dirty="0">
                <a:ea typeface="新細明體" pitchFamily="18" charset="-120"/>
              </a:rPr>
              <a:t>B</a:t>
            </a:r>
            <a:r>
              <a:rPr lang="en-US" altLang="zh-TW" sz="2400" dirty="0">
                <a:ea typeface="新細明體" pitchFamily="18" charset="-120"/>
              </a:rPr>
              <a:t>, </a:t>
            </a:r>
            <a:r>
              <a:rPr lang="en-US" altLang="zh-TW" sz="2400" i="1" dirty="0">
                <a:ea typeface="新細明體" pitchFamily="18" charset="-120"/>
              </a:rPr>
              <a:t>C</a:t>
            </a:r>
            <a:r>
              <a:rPr lang="en-US" altLang="zh-TW" sz="2400" dirty="0">
                <a:ea typeface="新細明體" pitchFamily="18" charset="-120"/>
              </a:rPr>
              <a:t>)</a:t>
            </a:r>
            <a:r>
              <a:rPr lang="en-US" altLang="zh-TW" sz="2400" dirty="0">
                <a:latin typeface="Symbol" pitchFamily="18" charset="2"/>
                <a:ea typeface="新細明體" pitchFamily="18" charset="-120"/>
              </a:rPr>
              <a:t> = S</a:t>
            </a:r>
            <a:r>
              <a:rPr lang="en-US" altLang="zh-TW" sz="2400" dirty="0">
                <a:ea typeface="新細明體" pitchFamily="18" charset="-120"/>
              </a:rPr>
              <a:t>(1, 2, 3, 5, 7) = </a:t>
            </a:r>
            <a:r>
              <a:rPr lang="en-US" altLang="zh-TW" sz="2400" i="1" dirty="0">
                <a:ea typeface="新細明體" pitchFamily="18" charset="-120"/>
              </a:rPr>
              <a:t>C</a:t>
            </a:r>
            <a:r>
              <a:rPr lang="en-US" altLang="zh-TW" sz="2400" dirty="0">
                <a:ea typeface="新細明體" pitchFamily="18" charset="-120"/>
              </a:rPr>
              <a:t> + </a:t>
            </a:r>
            <a:r>
              <a:rPr lang="en-US" altLang="zh-TW" sz="2400" i="1" dirty="0">
                <a:ea typeface="新細明體" pitchFamily="18" charset="-120"/>
              </a:rPr>
              <a:t>A'B</a:t>
            </a:r>
          </a:p>
          <a:p>
            <a:pPr marL="914400" lvl="1" indent="-457200">
              <a:buClrTx/>
              <a:buSzPct val="100000"/>
              <a:buFont typeface="Wingdings" pitchFamily="2" charset="2"/>
              <a:buNone/>
            </a:pPr>
            <a:endParaRPr lang="en-US" altLang="zh-TW" dirty="0">
              <a:ea typeface="新細明體" pitchFamily="18" charset="-120"/>
            </a:endParaRPr>
          </a:p>
          <a:p>
            <a:endParaRPr lang="zh-TW" altLang="en-US" dirty="0">
              <a:ea typeface="新細明體" pitchFamily="18" charset="-120"/>
            </a:endParaRPr>
          </a:p>
        </p:txBody>
      </p:sp>
      <p:grpSp>
        <p:nvGrpSpPr>
          <p:cNvPr id="18" name="Group 17"/>
          <p:cNvGrpSpPr/>
          <p:nvPr/>
        </p:nvGrpSpPr>
        <p:grpSpPr>
          <a:xfrm>
            <a:off x="2200894" y="3516085"/>
            <a:ext cx="4467225" cy="2986088"/>
            <a:chOff x="2200894" y="3516085"/>
            <a:chExt cx="4467225" cy="2986088"/>
          </a:xfrm>
        </p:grpSpPr>
        <p:pic>
          <p:nvPicPr>
            <p:cNvPr id="654340" name="Picture 6"/>
            <p:cNvPicPr>
              <a:picLocks noChangeAspect="1" noChangeArrowheads="1"/>
            </p:cNvPicPr>
            <p:nvPr/>
          </p:nvPicPr>
          <p:blipFill>
            <a:blip r:embed="rId2" cstate="print">
              <a:lum bright="-10000" contrast="26000"/>
            </a:blip>
            <a:srcRect/>
            <a:stretch>
              <a:fillRect/>
            </a:stretch>
          </p:blipFill>
          <p:spPr bwMode="auto">
            <a:xfrm>
              <a:off x="2200894" y="3516085"/>
              <a:ext cx="4467225" cy="2986088"/>
            </a:xfrm>
            <a:prstGeom prst="rect">
              <a:avLst/>
            </a:prstGeom>
            <a:noFill/>
            <a:ln w="9525">
              <a:noFill/>
              <a:miter lim="800000"/>
              <a:headEnd/>
              <a:tailEnd/>
            </a:ln>
          </p:spPr>
        </p:pic>
        <p:grpSp>
          <p:nvGrpSpPr>
            <p:cNvPr id="21" name="Group 20"/>
            <p:cNvGrpSpPr/>
            <p:nvPr/>
          </p:nvGrpSpPr>
          <p:grpSpPr>
            <a:xfrm>
              <a:off x="4524500" y="4405745"/>
              <a:ext cx="1365662" cy="534389"/>
              <a:chOff x="3099460" y="4524499"/>
              <a:chExt cx="1365662" cy="534389"/>
            </a:xfrm>
          </p:grpSpPr>
          <p:cxnSp>
            <p:nvCxnSpPr>
              <p:cNvPr id="22" name="Straight Connector 21"/>
              <p:cNvCxnSpPr/>
              <p:nvPr/>
            </p:nvCxnSpPr>
            <p:spPr>
              <a:xfrm>
                <a:off x="3099460" y="4524499"/>
                <a:ext cx="1353787"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099460" y="4524499"/>
                <a:ext cx="0" cy="49876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728852" y="4334494"/>
              <a:ext cx="1365663" cy="1401288"/>
              <a:chOff x="3099459" y="4524499"/>
              <a:chExt cx="1365663" cy="534389"/>
            </a:xfrm>
          </p:grpSpPr>
          <p:cxnSp>
            <p:nvCxnSpPr>
              <p:cNvPr id="27" name="Straight Connector 26"/>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ph idx="4294967295"/>
          </p:nvPr>
        </p:nvSpPr>
        <p:spPr>
          <a:xfrm>
            <a:off x="457199" y="1600200"/>
            <a:ext cx="7689274" cy="4873752"/>
          </a:xfrm>
        </p:spPr>
        <p:txBody>
          <a:bodyPr lIns="90488" tIns="44450" rIns="90488" bIns="44450">
            <a:noAutofit/>
          </a:bodyPr>
          <a:lstStyle/>
          <a:p>
            <a:pPr>
              <a:spcBef>
                <a:spcPct val="10000"/>
              </a:spcBef>
            </a:pPr>
            <a:r>
              <a:rPr lang="zh-TW" altLang="en-US" sz="2700" dirty="0" smtClean="0">
                <a:ea typeface="新細明體" pitchFamily="18" charset="-120"/>
              </a:rPr>
              <a:t>16 </a:t>
            </a:r>
            <a:r>
              <a:rPr lang="en-US" altLang="zh-TW" sz="2700" dirty="0" err="1" smtClean="0">
                <a:ea typeface="新細明體" pitchFamily="18" charset="-120"/>
              </a:rPr>
              <a:t>minterms</a:t>
            </a:r>
            <a:endParaRPr lang="en-US" altLang="zh-TW" sz="2700" dirty="0" smtClean="0">
              <a:ea typeface="新細明體" pitchFamily="18" charset="-120"/>
            </a:endParaRPr>
          </a:p>
          <a:p>
            <a:pPr>
              <a:spcBef>
                <a:spcPct val="10000"/>
              </a:spcBef>
            </a:pPr>
            <a:r>
              <a:rPr lang="en-US" altLang="zh-TW" sz="2700" dirty="0" smtClean="0">
                <a:ea typeface="新細明體" pitchFamily="18" charset="-120"/>
              </a:rPr>
              <a:t>Combinations of 2, 4, 8, and 16 adjacent squares</a:t>
            </a:r>
          </a:p>
          <a:p>
            <a:pPr>
              <a:buNone/>
            </a:pPr>
            <a:endParaRPr lang="zh-TW" altLang="en-US" sz="2700" dirty="0">
              <a:ea typeface="新細明體" pitchFamily="18" charset="-120"/>
            </a:endParaRPr>
          </a:p>
        </p:txBody>
      </p:sp>
      <p:sp>
        <p:nvSpPr>
          <p:cNvPr id="348162" name="Rectangle 2"/>
          <p:cNvSpPr>
            <a:spLocks noGrp="1" noChangeArrowheads="1"/>
          </p:cNvSpPr>
          <p:nvPr>
            <p:ph type="title"/>
          </p:nvPr>
        </p:nvSpPr>
        <p:spPr/>
        <p:txBody>
          <a:bodyPr/>
          <a:lstStyle/>
          <a:p>
            <a:r>
              <a:rPr lang="en-US" dirty="0" smtClean="0"/>
              <a:t>Four-Variable Map</a:t>
            </a:r>
            <a:endParaRPr lang="en-US" dirty="0"/>
          </a:p>
        </p:txBody>
      </p:sp>
      <p:pic>
        <p:nvPicPr>
          <p:cNvPr id="5" name="Picture 8"/>
          <p:cNvPicPr>
            <a:picLocks noChangeAspect="1" noChangeArrowheads="1"/>
          </p:cNvPicPr>
          <p:nvPr/>
        </p:nvPicPr>
        <p:blipFill>
          <a:blip r:embed="rId2" cstate="print"/>
          <a:srcRect/>
          <a:stretch>
            <a:fillRect/>
          </a:stretch>
        </p:blipFill>
        <p:spPr bwMode="auto">
          <a:xfrm>
            <a:off x="368135" y="2844741"/>
            <a:ext cx="4146467" cy="3289339"/>
          </a:xfrm>
          <a:prstGeom prst="rect">
            <a:avLst/>
          </a:prstGeom>
          <a:noFill/>
          <a:ln w="9525">
            <a:noFill/>
            <a:miter lim="800000"/>
            <a:headEnd/>
            <a:tailEnd/>
          </a:ln>
          <a:effectLst/>
        </p:spPr>
      </p:pic>
      <p:pic>
        <p:nvPicPr>
          <p:cNvPr id="8" name="Picture 6"/>
          <p:cNvPicPr>
            <a:picLocks noChangeAspect="1" noChangeArrowheads="1"/>
          </p:cNvPicPr>
          <p:nvPr/>
        </p:nvPicPr>
        <p:blipFill>
          <a:blip r:embed="rId3" cstate="print"/>
          <a:srcRect/>
          <a:stretch>
            <a:fillRect/>
          </a:stretch>
        </p:blipFill>
        <p:spPr bwMode="auto">
          <a:xfrm>
            <a:off x="4143131" y="2909455"/>
            <a:ext cx="3812065" cy="3106748"/>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標題 1"/>
          <p:cNvSpPr>
            <a:spLocks noGrp="1"/>
          </p:cNvSpPr>
          <p:nvPr>
            <p:ph type="title" idx="4294967295"/>
          </p:nvPr>
        </p:nvSpPr>
        <p:spPr/>
        <p:txBody>
          <a:bodyPr lIns="0" tIns="0" rIns="0" bIns="0"/>
          <a:lstStyle/>
          <a:p>
            <a:r>
              <a:rPr lang="en-US" altLang="zh-TW">
                <a:ea typeface="新細明體" pitchFamily="18" charset="-120"/>
              </a:rPr>
              <a:t>Example 3.5</a:t>
            </a:r>
            <a:endParaRPr lang="zh-TW" altLang="en-US" sz="2500">
              <a:ea typeface="新細明體" pitchFamily="18" charset="-120"/>
            </a:endParaRPr>
          </a:p>
        </p:txBody>
      </p:sp>
      <p:sp>
        <p:nvSpPr>
          <p:cNvPr id="656387" name="內容版面配置區 2"/>
          <p:cNvSpPr>
            <a:spLocks noGrp="1"/>
          </p:cNvSpPr>
          <p:nvPr>
            <p:ph idx="4294967295"/>
          </p:nvPr>
        </p:nvSpPr>
        <p:spPr/>
        <p:txBody>
          <a:bodyPr lIns="90488" tIns="44450" rIns="90488" bIns="44450"/>
          <a:lstStyle/>
          <a:p>
            <a:r>
              <a:rPr lang="en-US" altLang="zh-TW">
                <a:ea typeface="新細明體" pitchFamily="18" charset="-120"/>
              </a:rPr>
              <a:t>Example 3.5: simplify </a:t>
            </a:r>
            <a:r>
              <a:rPr lang="en-US" altLang="zh-TW" i="1">
                <a:ea typeface="新細明體" pitchFamily="18" charset="-120"/>
              </a:rPr>
              <a:t>F</a:t>
            </a:r>
            <a:r>
              <a:rPr lang="en-US" altLang="zh-TW">
                <a:ea typeface="新細明體" pitchFamily="18" charset="-120"/>
              </a:rPr>
              <a:t>(</a:t>
            </a:r>
            <a:r>
              <a:rPr lang="en-US" altLang="zh-TW" i="1">
                <a:ea typeface="新細明體" pitchFamily="18" charset="-120"/>
              </a:rPr>
              <a:t>w</a:t>
            </a:r>
            <a:r>
              <a:rPr lang="en-US" altLang="zh-TW">
                <a:ea typeface="新細明體" pitchFamily="18" charset="-120"/>
              </a:rPr>
              <a:t>, </a:t>
            </a:r>
            <a:r>
              <a:rPr lang="en-US" altLang="zh-TW" i="1">
                <a:ea typeface="新細明體" pitchFamily="18" charset="-120"/>
              </a:rPr>
              <a:t>x</a:t>
            </a:r>
            <a:r>
              <a:rPr lang="en-US" altLang="zh-TW">
                <a:ea typeface="新細明體" pitchFamily="18" charset="-120"/>
              </a:rPr>
              <a:t>, </a:t>
            </a:r>
            <a:r>
              <a:rPr lang="en-US" altLang="zh-TW" i="1">
                <a:ea typeface="新細明體" pitchFamily="18" charset="-120"/>
              </a:rPr>
              <a:t>y</a:t>
            </a:r>
            <a:r>
              <a:rPr lang="en-US" altLang="zh-TW">
                <a:ea typeface="新細明體" pitchFamily="18" charset="-120"/>
              </a:rPr>
              <a:t>, </a:t>
            </a:r>
            <a:r>
              <a:rPr lang="en-US" altLang="zh-TW" i="1">
                <a:ea typeface="新細明體" pitchFamily="18" charset="-120"/>
              </a:rPr>
              <a:t>z</a:t>
            </a:r>
            <a:r>
              <a:rPr lang="en-US" altLang="zh-TW">
                <a:ea typeface="新細明體" pitchFamily="18" charset="-120"/>
              </a:rPr>
              <a:t>) = </a:t>
            </a:r>
            <a:r>
              <a:rPr lang="en-US" altLang="zh-TW">
                <a:latin typeface="Symbol" pitchFamily="18" charset="2"/>
                <a:ea typeface="新細明體" pitchFamily="18" charset="-120"/>
              </a:rPr>
              <a:t>S</a:t>
            </a:r>
            <a:r>
              <a:rPr lang="en-US" altLang="zh-TW">
                <a:ea typeface="新細明體" pitchFamily="18" charset="-120"/>
              </a:rPr>
              <a:t>(0, 1, 2, 4, 5, 6, 8, 9, 12, 13, 14)</a:t>
            </a:r>
          </a:p>
          <a:p>
            <a:endParaRPr lang="zh-TW" altLang="en-US">
              <a:ea typeface="新細明體" pitchFamily="18" charset="-120"/>
            </a:endParaRPr>
          </a:p>
        </p:txBody>
      </p:sp>
      <p:grpSp>
        <p:nvGrpSpPr>
          <p:cNvPr id="39" name="Group 38"/>
          <p:cNvGrpSpPr/>
          <p:nvPr/>
        </p:nvGrpSpPr>
        <p:grpSpPr>
          <a:xfrm>
            <a:off x="866775" y="2585800"/>
            <a:ext cx="7513638" cy="3892550"/>
            <a:chOff x="866775" y="2585800"/>
            <a:chExt cx="7513638" cy="3892550"/>
          </a:xfrm>
        </p:grpSpPr>
        <p:pic>
          <p:nvPicPr>
            <p:cNvPr id="656388" name="Picture 7"/>
            <p:cNvPicPr>
              <a:picLocks noChangeAspect="1" noChangeArrowheads="1"/>
            </p:cNvPicPr>
            <p:nvPr/>
          </p:nvPicPr>
          <p:blipFill>
            <a:blip r:embed="rId2" cstate="print">
              <a:lum bright="-14000" contrast="32000"/>
            </a:blip>
            <a:srcRect/>
            <a:stretch>
              <a:fillRect/>
            </a:stretch>
          </p:blipFill>
          <p:spPr bwMode="auto">
            <a:xfrm>
              <a:off x="866775" y="2585800"/>
              <a:ext cx="4749800" cy="3892550"/>
            </a:xfrm>
            <a:prstGeom prst="rect">
              <a:avLst/>
            </a:prstGeom>
            <a:noFill/>
            <a:ln w="9525">
              <a:noFill/>
              <a:miter lim="800000"/>
              <a:headEnd/>
              <a:tailEnd/>
            </a:ln>
          </p:spPr>
        </p:pic>
        <p:sp>
          <p:nvSpPr>
            <p:cNvPr id="656389" name="Rectangle 6"/>
            <p:cNvSpPr>
              <a:spLocks noChangeArrowheads="1"/>
            </p:cNvSpPr>
            <p:nvPr/>
          </p:nvSpPr>
          <p:spPr bwMode="auto">
            <a:xfrm>
              <a:off x="6472238" y="5268675"/>
              <a:ext cx="1908175" cy="400050"/>
            </a:xfrm>
            <a:prstGeom prst="rect">
              <a:avLst/>
            </a:prstGeom>
            <a:noFill/>
            <a:ln w="9525">
              <a:noFill/>
              <a:miter lim="800000"/>
              <a:headEnd/>
              <a:tailEnd/>
            </a:ln>
          </p:spPr>
          <p:txBody>
            <a:bodyPr>
              <a:spAutoFit/>
            </a:bodyPr>
            <a:lstStyle/>
            <a:p>
              <a:pPr marL="0" lvl="1">
                <a:spcBef>
                  <a:spcPct val="20000"/>
                </a:spcBef>
                <a:buClr>
                  <a:schemeClr val="hlink"/>
                </a:buClr>
                <a:buSzPct val="55000"/>
              </a:pPr>
              <a:r>
                <a:rPr lang="en-US" altLang="zh-TW" sz="2000" i="1">
                  <a:latin typeface="Times New Roman" pitchFamily="18" charset="0"/>
                  <a:ea typeface="新細明體" pitchFamily="18" charset="-120"/>
                  <a:cs typeface="Times New Roman" pitchFamily="18" charset="0"/>
                </a:rPr>
                <a:t>F = y'+w'z'+xz'</a:t>
              </a:r>
              <a:endParaRPr lang="zh-TW" altLang="en-US" sz="2000" i="1">
                <a:latin typeface="Times New Roman" pitchFamily="18" charset="0"/>
                <a:ea typeface="新細明體" pitchFamily="18" charset="-120"/>
                <a:cs typeface="Times New Roman" pitchFamily="18" charset="0"/>
              </a:endParaRPr>
            </a:p>
          </p:txBody>
        </p:sp>
        <p:sp>
          <p:nvSpPr>
            <p:cNvPr id="656391" name="AutoShape 42"/>
            <p:cNvSpPr>
              <a:spLocks noChangeArrowheads="1"/>
            </p:cNvSpPr>
            <p:nvPr/>
          </p:nvSpPr>
          <p:spPr bwMode="auto">
            <a:xfrm>
              <a:off x="5495925" y="5357575"/>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grpSp>
          <p:nvGrpSpPr>
            <p:cNvPr id="17" name="Group 16"/>
            <p:cNvGrpSpPr/>
            <p:nvPr/>
          </p:nvGrpSpPr>
          <p:grpSpPr>
            <a:xfrm>
              <a:off x="2149477" y="3158838"/>
              <a:ext cx="1104405" cy="2410689"/>
              <a:chOff x="3099459" y="4524499"/>
              <a:chExt cx="1365663" cy="534389"/>
            </a:xfrm>
          </p:grpSpPr>
          <p:cxnSp>
            <p:nvCxnSpPr>
              <p:cNvPr id="18" name="Straight Connector 17"/>
              <p:cNvCxnSpPr/>
              <p:nvPr/>
            </p:nvCxnSpPr>
            <p:spPr>
              <a:xfrm>
                <a:off x="3099460" y="4524499"/>
                <a:ext cx="1353787"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3099460" y="5035138"/>
                <a:ext cx="1365662" cy="118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p:cNvCxnSpPr/>
            <p:nvPr/>
          </p:nvCxnSpPr>
          <p:spPr>
            <a:xfrm>
              <a:off x="2101933" y="3241964"/>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099954" y="4273138"/>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2046506" y="3780315"/>
              <a:ext cx="1070758" cy="1385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047458" y="3216239"/>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057354" y="4259288"/>
              <a:ext cx="475013" cy="2375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flipH="1">
              <a:off x="3505156" y="3718965"/>
              <a:ext cx="1070758" cy="1385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076208" y="3750614"/>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062358" y="4781764"/>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986140" y="3772385"/>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998031" y="4829289"/>
              <a:ext cx="619491" cy="3761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2127656" y="4288965"/>
              <a:ext cx="1070758" cy="138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3467556" y="4310740"/>
              <a:ext cx="1070758" cy="1385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5741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 = A</a:t>
            </a:r>
            <a:r>
              <a:rPr lang="en-US" altLang="zh-TW" i="1" dirty="0">
                <a:ea typeface="新細明體" pitchFamily="18" charset="-120"/>
                <a:sym typeface="Symbol" pitchFamily="18" charset="2"/>
              </a:rPr>
              <a:t></a:t>
            </a:r>
            <a:r>
              <a:rPr lang="en-US" altLang="zh-TW" i="1" dirty="0">
                <a:ea typeface="新細明體" pitchFamily="18" charset="-120"/>
              </a:rPr>
              <a:t>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r>
              <a:rPr lang="en-US" altLang="zh-TW" i="1" dirty="0">
                <a:ea typeface="新細明體" pitchFamily="18" charset="-120"/>
              </a:rPr>
              <a:t> + B</a:t>
            </a:r>
            <a:r>
              <a:rPr lang="en-US" altLang="zh-TW" i="1" dirty="0">
                <a:ea typeface="新細明體" pitchFamily="18" charset="-120"/>
                <a:sym typeface="Symbol" pitchFamily="18" charset="2"/>
              </a:rPr>
              <a:t></a:t>
            </a:r>
            <a:r>
              <a:rPr lang="en-US" altLang="zh-TW" i="1" dirty="0">
                <a:ea typeface="新細明體" pitchFamily="18" charset="-120"/>
              </a:rPr>
              <a:t>CD</a:t>
            </a:r>
            <a:r>
              <a:rPr lang="en-US" altLang="zh-TW" i="1" dirty="0">
                <a:ea typeface="新細明體" pitchFamily="18" charset="-120"/>
                <a:sym typeface="Symbol" pitchFamily="18" charset="2"/>
              </a:rPr>
              <a:t></a:t>
            </a:r>
            <a:r>
              <a:rPr lang="en-US" altLang="zh-TW" i="1" dirty="0">
                <a:ea typeface="新細明體" pitchFamily="18" charset="-120"/>
              </a:rPr>
              <a:t> + A</a:t>
            </a:r>
            <a:r>
              <a:rPr lang="en-US" altLang="zh-TW" i="1" dirty="0">
                <a:ea typeface="新細明體" pitchFamily="18" charset="-120"/>
                <a:sym typeface="Symbol" pitchFamily="18" charset="2"/>
              </a:rPr>
              <a:t></a:t>
            </a:r>
            <a:r>
              <a:rPr lang="en-US" altLang="zh-TW" i="1" dirty="0">
                <a:ea typeface="新細明體" pitchFamily="18" charset="-120"/>
              </a:rPr>
              <a:t>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r>
              <a:rPr lang="en-US" altLang="zh-TW" i="1" dirty="0">
                <a:ea typeface="新細明體" pitchFamily="18" charset="-120"/>
              </a:rPr>
              <a:t>D</a:t>
            </a:r>
            <a:r>
              <a:rPr lang="en-US" altLang="zh-TW" i="1" dirty="0">
                <a:ea typeface="新細明體" pitchFamily="18" charset="-120"/>
                <a:sym typeface="Symbol" pitchFamily="18" charset="2"/>
              </a:rPr>
              <a:t></a:t>
            </a:r>
            <a:r>
              <a:rPr lang="en-US" altLang="zh-TW" i="1" dirty="0">
                <a:ea typeface="新細明體" pitchFamily="18" charset="-120"/>
              </a:rPr>
              <a:t> + AB</a:t>
            </a:r>
            <a:r>
              <a:rPr lang="en-US" altLang="zh-TW" i="1" dirty="0">
                <a:ea typeface="新細明體" pitchFamily="18" charset="-120"/>
                <a:sym typeface="Symbol" pitchFamily="18" charset="2"/>
              </a:rPr>
              <a:t></a:t>
            </a:r>
            <a:r>
              <a:rPr lang="en-US" altLang="zh-TW" i="1" dirty="0">
                <a:ea typeface="新細明體" pitchFamily="18" charset="-120"/>
              </a:rPr>
              <a:t>C</a:t>
            </a:r>
            <a:r>
              <a:rPr lang="en-US" altLang="zh-TW" i="1" dirty="0">
                <a:ea typeface="新細明體" pitchFamily="18" charset="-120"/>
                <a:sym typeface="Symbol" pitchFamily="18" charset="2"/>
              </a:rPr>
              <a:t></a:t>
            </a:r>
          </a:p>
          <a:p>
            <a:endParaRPr lang="en-US" altLang="zh-TW" dirty="0">
              <a:ea typeface="新細明體" pitchFamily="18" charset="-120"/>
            </a:endParaRPr>
          </a:p>
          <a:p>
            <a:endParaRPr lang="zh-TW" altLang="en-US" dirty="0">
              <a:ea typeface="新細明體" pitchFamily="18" charset="-120"/>
            </a:endParaRPr>
          </a:p>
        </p:txBody>
      </p:sp>
      <p:grpSp>
        <p:nvGrpSpPr>
          <p:cNvPr id="26" name="Group 25"/>
          <p:cNvGrpSpPr/>
          <p:nvPr/>
        </p:nvGrpSpPr>
        <p:grpSpPr>
          <a:xfrm>
            <a:off x="152400" y="2283004"/>
            <a:ext cx="8789719" cy="3725128"/>
            <a:chOff x="152400" y="2283004"/>
            <a:chExt cx="8789719" cy="3725128"/>
          </a:xfrm>
        </p:grpSpPr>
        <p:pic>
          <p:nvPicPr>
            <p:cNvPr id="657412" name="Picture 7"/>
            <p:cNvPicPr>
              <a:picLocks noChangeAspect="1" noChangeArrowheads="1"/>
            </p:cNvPicPr>
            <p:nvPr/>
          </p:nvPicPr>
          <p:blipFill>
            <a:blip r:embed="rId2" cstate="print">
              <a:lum bright="-14000" contrast="34000"/>
            </a:blip>
            <a:srcRect/>
            <a:stretch>
              <a:fillRect/>
            </a:stretch>
          </p:blipFill>
          <p:spPr bwMode="auto">
            <a:xfrm>
              <a:off x="819398" y="2283004"/>
              <a:ext cx="4510830" cy="3203643"/>
            </a:xfrm>
            <a:prstGeom prst="rect">
              <a:avLst/>
            </a:prstGeom>
            <a:noFill/>
            <a:ln w="9525">
              <a:noFill/>
              <a:miter lim="800000"/>
              <a:headEnd/>
              <a:tailEnd/>
            </a:ln>
          </p:spPr>
        </p:pic>
        <p:pic>
          <p:nvPicPr>
            <p:cNvPr id="657413" name="Picture 8"/>
            <p:cNvPicPr>
              <a:picLocks noChangeAspect="1" noChangeArrowheads="1"/>
            </p:cNvPicPr>
            <p:nvPr/>
          </p:nvPicPr>
          <p:blipFill>
            <a:blip r:embed="rId3" cstate="print"/>
            <a:srcRect/>
            <a:stretch>
              <a:fillRect/>
            </a:stretch>
          </p:blipFill>
          <p:spPr bwMode="auto">
            <a:xfrm>
              <a:off x="5446444" y="4009901"/>
              <a:ext cx="3495675" cy="915988"/>
            </a:xfrm>
            <a:prstGeom prst="rect">
              <a:avLst/>
            </a:prstGeom>
            <a:noFill/>
            <a:ln w="28575">
              <a:solidFill>
                <a:srgbClr val="33CC33"/>
              </a:solidFill>
              <a:miter lim="800000"/>
              <a:headEnd/>
              <a:tailEnd/>
            </a:ln>
          </p:spPr>
        </p:pic>
        <p:sp>
          <p:nvSpPr>
            <p:cNvPr id="657414" name="Text Box 8"/>
            <p:cNvSpPr txBox="1">
              <a:spLocks noChangeArrowheads="1"/>
            </p:cNvSpPr>
            <p:nvPr/>
          </p:nvSpPr>
          <p:spPr bwMode="auto">
            <a:xfrm>
              <a:off x="152400" y="5638800"/>
              <a:ext cx="5864225" cy="369332"/>
            </a:xfrm>
            <a:prstGeom prst="rect">
              <a:avLst/>
            </a:prstGeom>
            <a:noFill/>
            <a:ln w="9525">
              <a:noFill/>
              <a:miter lim="800000"/>
              <a:headEnd/>
              <a:tailEnd/>
            </a:ln>
          </p:spPr>
          <p:txBody>
            <a:bodyPr>
              <a:spAutoFit/>
            </a:bodyPr>
            <a:lstStyle/>
            <a:p>
              <a:r>
                <a:rPr lang="en-US" altLang="zh-TW" i="1" dirty="0" smtClean="0">
                  <a:latin typeface="Times New Roman" pitchFamily="18" charset="0"/>
                  <a:ea typeface="新細明體" pitchFamily="18" charset="-120"/>
                  <a:cs typeface="Times New Roman" pitchFamily="18" charset="0"/>
                </a:rPr>
                <a:t>A</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CD</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A</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D</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 + AB</a:t>
              </a:r>
              <a:r>
                <a:rPr lang="en-US" altLang="zh-TW" i="1" dirty="0">
                  <a:latin typeface="Times New Roman" pitchFamily="18" charset="0"/>
                  <a:ea typeface="新細明體" pitchFamily="18" charset="-120"/>
                  <a:cs typeface="Times New Roman" pitchFamily="18" charset="0"/>
                  <a:sym typeface="Symbol" pitchFamily="18" charset="2"/>
                </a:rPr>
                <a:t></a:t>
              </a:r>
              <a:r>
                <a:rPr lang="en-US" altLang="zh-TW" i="1" dirty="0">
                  <a:latin typeface="Times New Roman" pitchFamily="18" charset="0"/>
                  <a:ea typeface="新細明體" pitchFamily="18" charset="-120"/>
                  <a:cs typeface="Times New Roman" pitchFamily="18" charset="0"/>
                </a:rPr>
                <a:t>C</a:t>
              </a:r>
              <a:r>
                <a:rPr lang="en-US" altLang="zh-TW" i="1" dirty="0">
                  <a:latin typeface="Times New Roman" pitchFamily="18" charset="0"/>
                  <a:ea typeface="新細明體" pitchFamily="18" charset="-120"/>
                  <a:cs typeface="Times New Roman" pitchFamily="18" charset="0"/>
                  <a:sym typeface="Symbol" pitchFamily="18" charset="2"/>
                </a:rPr>
                <a:t>= BD + BC +ACD</a:t>
              </a:r>
              <a:endParaRPr lang="en-US" altLang="zh-TW" i="1" dirty="0">
                <a:latin typeface="Times New Roman" pitchFamily="18" charset="0"/>
                <a:ea typeface="新細明體" pitchFamily="18" charset="-120"/>
                <a:cs typeface="Times New Roman" pitchFamily="18" charset="0"/>
              </a:endParaRPr>
            </a:p>
          </p:txBody>
        </p:sp>
        <p:cxnSp>
          <p:nvCxnSpPr>
            <p:cNvPr id="11" name="Straight Connector 10"/>
            <p:cNvCxnSpPr/>
            <p:nvPr/>
          </p:nvCxnSpPr>
          <p:spPr>
            <a:xfrm>
              <a:off x="2766951" y="3075709"/>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2303813" y="3443844"/>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2301838" y="474811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764976" y="4736234"/>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881213" y="341811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893101" y="3061859"/>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3879238" y="4734269"/>
              <a:ext cx="486888" cy="1187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904976" y="4736234"/>
              <a:ext cx="11875" cy="3562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42" name="Group 41"/>
            <p:cNvGrpSpPr/>
            <p:nvPr/>
          </p:nvGrpSpPr>
          <p:grpSpPr>
            <a:xfrm>
              <a:off x="3954483" y="3028208"/>
              <a:ext cx="380011" cy="997527"/>
              <a:chOff x="5652655" y="2755076"/>
              <a:chExt cx="724395" cy="1686297"/>
            </a:xfrm>
          </p:grpSpPr>
          <p:cxnSp>
            <p:nvCxnSpPr>
              <p:cNvPr id="22" name="Straight Connector 21"/>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a:off x="3265714" y="2968831"/>
              <a:ext cx="11876" cy="5700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2315688" y="3526971"/>
              <a:ext cx="96190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2313713" y="4712496"/>
              <a:ext cx="96190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275614" y="4700606"/>
              <a:ext cx="11876" cy="57001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標題 1"/>
          <p:cNvSpPr>
            <a:spLocks noGrp="1"/>
          </p:cNvSpPr>
          <p:nvPr>
            <p:ph type="title" idx="4294967295"/>
          </p:nvPr>
        </p:nvSpPr>
        <p:spPr/>
        <p:txBody>
          <a:bodyPr lIns="0" tIns="0" rIns="0" bIns="0"/>
          <a:lstStyle/>
          <a:p>
            <a:r>
              <a:rPr lang="en-US" altLang="zh-TW">
                <a:ea typeface="新細明體" pitchFamily="18" charset="-120"/>
              </a:rPr>
              <a:t>Prime Implicants</a:t>
            </a:r>
            <a:endParaRPr lang="zh-TW" altLang="en-US" sz="2500">
              <a:ea typeface="新細明體" pitchFamily="18" charset="-120"/>
            </a:endParaRPr>
          </a:p>
        </p:txBody>
      </p:sp>
      <p:sp>
        <p:nvSpPr>
          <p:cNvPr id="658435" name="內容版面配置區 2"/>
          <p:cNvSpPr>
            <a:spLocks noGrp="1"/>
          </p:cNvSpPr>
          <p:nvPr>
            <p:ph idx="4294967295"/>
          </p:nvPr>
        </p:nvSpPr>
        <p:spPr/>
        <p:txBody>
          <a:bodyPr lIns="90488" tIns="44450" rIns="90488" bIns="44450"/>
          <a:lstStyle/>
          <a:p>
            <a:r>
              <a:rPr lang="en-US" altLang="zh-TW" dirty="0" smtClean="0">
                <a:ea typeface="新細明體" pitchFamily="18" charset="-120"/>
              </a:rPr>
              <a:t>All </a:t>
            </a:r>
            <a:r>
              <a:rPr lang="en-US" altLang="zh-TW" dirty="0">
                <a:ea typeface="新細明體" pitchFamily="18" charset="-120"/>
              </a:rPr>
              <a:t>the </a:t>
            </a:r>
            <a:r>
              <a:rPr lang="en-US" altLang="zh-TW" dirty="0" err="1">
                <a:ea typeface="新細明體" pitchFamily="18" charset="-120"/>
              </a:rPr>
              <a:t>minterms</a:t>
            </a:r>
            <a:r>
              <a:rPr lang="en-US" altLang="zh-TW" dirty="0">
                <a:ea typeface="新細明體" pitchFamily="18" charset="-120"/>
              </a:rPr>
              <a:t> are covered.</a:t>
            </a:r>
          </a:p>
          <a:p>
            <a:r>
              <a:rPr lang="en-US" altLang="zh-TW" dirty="0">
                <a:ea typeface="新細明體" pitchFamily="18" charset="-120"/>
              </a:rPr>
              <a:t>Minimize the number of terms</a:t>
            </a:r>
            <a:r>
              <a:rPr lang="en-US" altLang="zh-TW" dirty="0" smtClean="0">
                <a:ea typeface="新細明體" pitchFamily="18" charset="-120"/>
              </a:rPr>
              <a:t>.</a:t>
            </a:r>
          </a:p>
          <a:p>
            <a:r>
              <a:rPr lang="en-US" altLang="zh-TW" dirty="0" smtClean="0">
                <a:ea typeface="新細明體" pitchFamily="18" charset="-120"/>
              </a:rPr>
              <a:t>There are no redundant terms.</a:t>
            </a:r>
          </a:p>
          <a:p>
            <a:endParaRPr lang="en-US" altLang="zh-TW" dirty="0">
              <a:ea typeface="新細明體" pitchFamily="18" charset="-120"/>
            </a:endParaRPr>
          </a:p>
          <a:p>
            <a:r>
              <a:rPr lang="en-AU" altLang="zh-TW" dirty="0" err="1" smtClean="0">
                <a:ea typeface="新細明體" pitchFamily="18" charset="-120"/>
              </a:rPr>
              <a:t>Implicant</a:t>
            </a:r>
            <a:r>
              <a:rPr lang="en-AU" altLang="zh-TW" dirty="0" smtClean="0">
                <a:ea typeface="新細明體" pitchFamily="18" charset="-120"/>
              </a:rPr>
              <a:t>: A group of one or more </a:t>
            </a:r>
            <a:r>
              <a:rPr lang="en-AU" altLang="zh-TW" i="1" dirty="0" smtClean="0">
                <a:ea typeface="新細明體" pitchFamily="18" charset="-120"/>
              </a:rPr>
              <a:t>k</a:t>
            </a:r>
            <a:r>
              <a:rPr lang="en-AU" altLang="zh-TW" dirty="0" smtClean="0">
                <a:ea typeface="新細明體" pitchFamily="18" charset="-120"/>
              </a:rPr>
              <a:t> map cell</a:t>
            </a:r>
          </a:p>
          <a:p>
            <a:r>
              <a:rPr lang="en-AU" altLang="zh-TW" dirty="0" smtClean="0">
                <a:ea typeface="新細明體" pitchFamily="18" charset="-120"/>
              </a:rPr>
              <a:t>Prime </a:t>
            </a:r>
            <a:r>
              <a:rPr lang="en-AU" altLang="zh-TW" dirty="0" err="1" smtClean="0">
                <a:ea typeface="新細明體" pitchFamily="18" charset="-120"/>
              </a:rPr>
              <a:t>implicant</a:t>
            </a:r>
            <a:r>
              <a:rPr lang="en-AU" altLang="zh-TW" dirty="0" smtClean="0">
                <a:ea typeface="新細明體" pitchFamily="18" charset="-120"/>
              </a:rPr>
              <a:t>: an </a:t>
            </a:r>
            <a:r>
              <a:rPr lang="en-AU" altLang="zh-TW" dirty="0" err="1" smtClean="0">
                <a:ea typeface="新細明體" pitchFamily="18" charset="-120"/>
              </a:rPr>
              <a:t>implicant</a:t>
            </a:r>
            <a:r>
              <a:rPr lang="en-AU" altLang="zh-TW" dirty="0" smtClean="0">
                <a:ea typeface="新細明體" pitchFamily="18" charset="-120"/>
              </a:rPr>
              <a:t> that is not a subset of another </a:t>
            </a:r>
            <a:r>
              <a:rPr lang="en-AU" altLang="zh-TW" dirty="0" err="1" smtClean="0">
                <a:ea typeface="新細明體" pitchFamily="18" charset="-120"/>
              </a:rPr>
              <a:t>implicant</a:t>
            </a:r>
            <a:endParaRPr lang="en-AU" altLang="zh-TW" dirty="0" smtClean="0">
              <a:ea typeface="新細明體" pitchFamily="18" charset="-120"/>
            </a:endParaRPr>
          </a:p>
          <a:p>
            <a:r>
              <a:rPr lang="en-AU" altLang="zh-TW" dirty="0" smtClean="0">
                <a:ea typeface="新細明體" pitchFamily="18" charset="-120"/>
              </a:rPr>
              <a:t>Essential Prime </a:t>
            </a:r>
            <a:r>
              <a:rPr lang="en-AU" altLang="zh-TW" dirty="0" err="1" smtClean="0">
                <a:ea typeface="新細明體" pitchFamily="18" charset="-120"/>
              </a:rPr>
              <a:t>Implicant</a:t>
            </a:r>
            <a:r>
              <a:rPr lang="en-AU" altLang="zh-TW" dirty="0" smtClean="0">
                <a:ea typeface="新細明體" pitchFamily="18" charset="-120"/>
              </a:rPr>
              <a:t>: a prime </a:t>
            </a:r>
            <a:r>
              <a:rPr lang="en-AU" altLang="zh-TW" dirty="0" err="1" smtClean="0">
                <a:ea typeface="新細明體" pitchFamily="18" charset="-120"/>
              </a:rPr>
              <a:t>implicant</a:t>
            </a:r>
            <a:r>
              <a:rPr lang="en-AU" altLang="zh-TW" dirty="0" smtClean="0">
                <a:ea typeface="新細明體" pitchFamily="18" charset="-120"/>
              </a:rPr>
              <a:t> that covers at least one cell not covered by another prime </a:t>
            </a:r>
            <a:r>
              <a:rPr lang="en-AU" altLang="zh-TW" dirty="0" err="1" smtClean="0">
                <a:ea typeface="新細明體" pitchFamily="18" charset="-120"/>
              </a:rPr>
              <a:t>implicant</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標題 1"/>
          <p:cNvSpPr>
            <a:spLocks noGrp="1"/>
          </p:cNvSpPr>
          <p:nvPr>
            <p:ph type="title" idx="4294967295"/>
          </p:nvPr>
        </p:nvSpPr>
        <p:spPr/>
        <p:txBody>
          <a:bodyPr lIns="0" tIns="0" rIns="0" bIns="0"/>
          <a:lstStyle/>
          <a:p>
            <a:r>
              <a:rPr lang="en-US" altLang="zh-TW">
                <a:ea typeface="新細明體" pitchFamily="18" charset="-120"/>
              </a:rPr>
              <a:t>Prime Implicants</a:t>
            </a:r>
            <a:endParaRPr lang="zh-TW" altLang="en-US">
              <a:ea typeface="新細明體" pitchFamily="18" charset="-120"/>
            </a:endParaRPr>
          </a:p>
        </p:txBody>
      </p:sp>
      <p:sp>
        <p:nvSpPr>
          <p:cNvPr id="659459" name="內容版面配置區 2"/>
          <p:cNvSpPr>
            <a:spLocks noGrp="1"/>
          </p:cNvSpPr>
          <p:nvPr>
            <p:ph idx="4294967295"/>
          </p:nvPr>
        </p:nvSpPr>
        <p:spPr/>
        <p:txBody>
          <a:bodyPr lIns="90488" tIns="44450" rIns="90488" bIns="44450"/>
          <a:lstStyle/>
          <a:p>
            <a:r>
              <a:rPr lang="en-US" altLang="zh-TW" sz="2200" i="1" dirty="0" smtClean="0">
                <a:ea typeface="新細明體" pitchFamily="18" charset="-120"/>
              </a:rPr>
              <a:t>F</a:t>
            </a:r>
            <a:r>
              <a:rPr lang="en-US" altLang="zh-TW" sz="2200" dirty="0" smtClean="0">
                <a:ea typeface="新細明體" pitchFamily="18" charset="-120"/>
              </a:rPr>
              <a:t>(</a:t>
            </a:r>
            <a:r>
              <a:rPr lang="en-US" altLang="zh-TW" sz="2200" i="1" dirty="0" smtClean="0">
                <a:ea typeface="新細明體" pitchFamily="18" charset="-120"/>
              </a:rPr>
              <a:t>A</a:t>
            </a:r>
            <a:r>
              <a:rPr lang="en-US" altLang="zh-TW" sz="2200" dirty="0">
                <a:ea typeface="新細明體" pitchFamily="18" charset="-120"/>
              </a:rPr>
              <a:t>, </a:t>
            </a:r>
            <a:r>
              <a:rPr lang="en-US" altLang="zh-TW" sz="2200" i="1" dirty="0">
                <a:ea typeface="新細明體" pitchFamily="18" charset="-120"/>
              </a:rPr>
              <a:t>B</a:t>
            </a:r>
            <a:r>
              <a:rPr lang="en-US" altLang="zh-TW" sz="2200" dirty="0">
                <a:ea typeface="新細明體" pitchFamily="18" charset="-120"/>
              </a:rPr>
              <a:t>, </a:t>
            </a:r>
            <a:r>
              <a:rPr lang="en-US" altLang="zh-TW" sz="2200" i="1" dirty="0">
                <a:ea typeface="新細明體" pitchFamily="18" charset="-120"/>
              </a:rPr>
              <a:t>C</a:t>
            </a:r>
            <a:r>
              <a:rPr lang="en-US" altLang="zh-TW" sz="2200" dirty="0">
                <a:ea typeface="新細明體" pitchFamily="18" charset="-120"/>
              </a:rPr>
              <a:t>, </a:t>
            </a:r>
            <a:r>
              <a:rPr lang="en-US" altLang="zh-TW" sz="2200" i="1" dirty="0">
                <a:ea typeface="新細明體" pitchFamily="18" charset="-120"/>
              </a:rPr>
              <a:t>D</a:t>
            </a:r>
            <a:r>
              <a:rPr lang="en-US" altLang="zh-TW" sz="2200" dirty="0">
                <a:ea typeface="新細明體" pitchFamily="18" charset="-120"/>
              </a:rPr>
              <a:t>) = </a:t>
            </a:r>
            <a:r>
              <a:rPr lang="el-GR" altLang="zh-TW" sz="2200" dirty="0"/>
              <a:t>Σ</a:t>
            </a:r>
            <a:r>
              <a:rPr lang="en-US" altLang="zh-TW" sz="2200" dirty="0">
                <a:ea typeface="新細明體" pitchFamily="18" charset="-120"/>
              </a:rPr>
              <a:t>(0, 2, 3, 5, 7, 8, 9, 10, 11, 13, 15)</a:t>
            </a:r>
          </a:p>
          <a:p>
            <a:pPr lvl="1">
              <a:lnSpc>
                <a:spcPct val="90000"/>
              </a:lnSpc>
            </a:pPr>
            <a:r>
              <a:rPr lang="en-US" altLang="zh-TW" sz="2200" dirty="0">
                <a:ea typeface="新細明體" pitchFamily="18" charset="-120"/>
              </a:rPr>
              <a:t>The simplified expression may not be unique </a:t>
            </a:r>
          </a:p>
          <a:p>
            <a:pPr lvl="1">
              <a:lnSpc>
                <a:spcPct val="90000"/>
              </a:lnSpc>
            </a:pPr>
            <a:r>
              <a:rPr lang="en-US" altLang="zh-TW" sz="2200" i="1" dirty="0">
                <a:ea typeface="新細明體" pitchFamily="18" charset="-120"/>
              </a:rPr>
              <a:t>F	= BD+B'D'+CD+AD = BD+B'D'+CD+AB' </a:t>
            </a:r>
          </a:p>
          <a:p>
            <a:pPr lvl="1">
              <a:lnSpc>
                <a:spcPct val="90000"/>
              </a:lnSpc>
              <a:buFont typeface="Wingdings" pitchFamily="2" charset="2"/>
              <a:buNone/>
            </a:pPr>
            <a:r>
              <a:rPr lang="en-US" altLang="zh-TW" sz="2200" i="1" dirty="0">
                <a:ea typeface="新細明體" pitchFamily="18" charset="-120"/>
              </a:rPr>
              <a:t>       	= BD+B'D'+B'C+AD = BD+B'D'+B'C+AB'</a:t>
            </a:r>
          </a:p>
          <a:p>
            <a:endParaRPr lang="en-US" altLang="zh-TW" sz="2200" dirty="0">
              <a:ea typeface="新細明體" pitchFamily="18" charset="-120"/>
            </a:endParaRPr>
          </a:p>
          <a:p>
            <a:endParaRPr lang="zh-TW" altLang="en-US" dirty="0">
              <a:ea typeface="新細明體" pitchFamily="18" charset="-120"/>
            </a:endParaRPr>
          </a:p>
        </p:txBody>
      </p:sp>
      <p:grpSp>
        <p:nvGrpSpPr>
          <p:cNvPr id="49" name="Group 48"/>
          <p:cNvGrpSpPr/>
          <p:nvPr/>
        </p:nvGrpSpPr>
        <p:grpSpPr>
          <a:xfrm>
            <a:off x="498782" y="3146962"/>
            <a:ext cx="3800086" cy="3499220"/>
            <a:chOff x="498782" y="3146962"/>
            <a:chExt cx="3800086" cy="3499220"/>
          </a:xfrm>
        </p:grpSpPr>
        <p:pic>
          <p:nvPicPr>
            <p:cNvPr id="659460" name="Picture 10"/>
            <p:cNvPicPr>
              <a:picLocks noChangeAspect="1" noChangeArrowheads="1"/>
            </p:cNvPicPr>
            <p:nvPr/>
          </p:nvPicPr>
          <p:blipFill>
            <a:blip r:embed="rId2" cstate="print">
              <a:lum bright="-14000" contrast="40000"/>
            </a:blip>
            <a:srcRect/>
            <a:stretch>
              <a:fillRect/>
            </a:stretch>
          </p:blipFill>
          <p:spPr bwMode="auto">
            <a:xfrm>
              <a:off x="498782" y="3146962"/>
              <a:ext cx="3800086" cy="3499220"/>
            </a:xfrm>
            <a:prstGeom prst="rect">
              <a:avLst/>
            </a:prstGeom>
            <a:noFill/>
            <a:ln w="9525">
              <a:noFill/>
              <a:miter lim="800000"/>
              <a:headEnd/>
              <a:tailEnd/>
            </a:ln>
          </p:spPr>
        </p:pic>
        <p:grpSp>
          <p:nvGrpSpPr>
            <p:cNvPr id="10" name="Group 9"/>
            <p:cNvGrpSpPr/>
            <p:nvPr/>
          </p:nvGrpSpPr>
          <p:grpSpPr>
            <a:xfrm>
              <a:off x="2268187" y="4144488"/>
              <a:ext cx="760021" cy="819398"/>
              <a:chOff x="5652655" y="2755076"/>
              <a:chExt cx="724395" cy="1686297"/>
            </a:xfrm>
          </p:grpSpPr>
          <p:cxnSp>
            <p:nvCxnSpPr>
              <p:cNvPr id="11" name="Straight Connector 10"/>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flipV="1">
              <a:off x="2066306" y="3586348"/>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1638795" y="3918857"/>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133081" y="3584373"/>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2040581" y="5128123"/>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636820" y="510438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121195" y="389313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3156820" y="5080632"/>
              <a:ext cx="427511" cy="237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154856" y="5102398"/>
              <a:ext cx="11876" cy="332509"/>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a:off x="4144488" y="3169670"/>
            <a:ext cx="3684524" cy="3476819"/>
            <a:chOff x="4144488" y="3169670"/>
            <a:chExt cx="3684524" cy="3476819"/>
          </a:xfrm>
        </p:grpSpPr>
        <p:pic>
          <p:nvPicPr>
            <p:cNvPr id="659461" name="Picture 11"/>
            <p:cNvPicPr>
              <a:picLocks noChangeAspect="1" noChangeArrowheads="1"/>
            </p:cNvPicPr>
            <p:nvPr/>
          </p:nvPicPr>
          <p:blipFill>
            <a:blip r:embed="rId3" cstate="print">
              <a:lum bright="-14000" contrast="36000"/>
            </a:blip>
            <a:srcRect/>
            <a:stretch>
              <a:fillRect/>
            </a:stretch>
          </p:blipFill>
          <p:spPr bwMode="auto">
            <a:xfrm>
              <a:off x="4144488" y="3169670"/>
              <a:ext cx="3684524" cy="3476819"/>
            </a:xfrm>
            <a:prstGeom prst="rect">
              <a:avLst/>
            </a:prstGeom>
            <a:noFill/>
            <a:ln w="9525">
              <a:noFill/>
              <a:miter lim="800000"/>
              <a:headEnd/>
              <a:tailEnd/>
            </a:ln>
          </p:spPr>
        </p:pic>
        <p:grpSp>
          <p:nvGrpSpPr>
            <p:cNvPr id="25" name="Group 24"/>
            <p:cNvGrpSpPr/>
            <p:nvPr/>
          </p:nvGrpSpPr>
          <p:grpSpPr>
            <a:xfrm>
              <a:off x="5638712" y="4534388"/>
              <a:ext cx="760021" cy="819398"/>
              <a:chOff x="5652655" y="2755076"/>
              <a:chExt cx="724395" cy="1686297"/>
            </a:xfrm>
          </p:grpSpPr>
          <p:cxnSp>
            <p:nvCxnSpPr>
              <p:cNvPr id="26" name="Straight Connector 25"/>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a:off x="6103917" y="3598215"/>
              <a:ext cx="354191" cy="1838696"/>
              <a:chOff x="5652655" y="2755076"/>
              <a:chExt cx="724395" cy="1686297"/>
            </a:xfrm>
          </p:grpSpPr>
          <p:cxnSp>
            <p:nvCxnSpPr>
              <p:cNvPr id="31" name="Straight Connector 30"/>
              <p:cNvCxnSpPr/>
              <p:nvPr/>
            </p:nvCxnSpPr>
            <p:spPr>
              <a:xfrm>
                <a:off x="5652655" y="2755076"/>
                <a:ext cx="71809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6364452" y="2755076"/>
                <a:ext cx="12598" cy="1686297"/>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652656" y="4366429"/>
                <a:ext cx="724394" cy="3747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652655" y="2755076"/>
                <a:ext cx="0" cy="157388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6" name="Group 35"/>
            <p:cNvGrpSpPr/>
            <p:nvPr/>
          </p:nvGrpSpPr>
          <p:grpSpPr>
            <a:xfrm>
              <a:off x="5177642" y="5023262"/>
              <a:ext cx="1864426" cy="344385"/>
              <a:chOff x="5652655" y="2755076"/>
              <a:chExt cx="724395" cy="1686297"/>
            </a:xfrm>
          </p:grpSpPr>
          <p:cxnSp>
            <p:nvCxnSpPr>
              <p:cNvPr id="37" name="Straight Connector 36"/>
              <p:cNvCxnSpPr/>
              <p:nvPr/>
            </p:nvCxnSpPr>
            <p:spPr>
              <a:xfrm>
                <a:off x="5652655" y="2755076"/>
                <a:ext cx="71809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6364452" y="2755076"/>
                <a:ext cx="12598" cy="1686297"/>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5652656" y="4366429"/>
                <a:ext cx="724394" cy="3747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652655" y="2755076"/>
                <a:ext cx="0" cy="157388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p:cNvCxnSpPr/>
            <p:nvPr/>
          </p:nvCxnSpPr>
          <p:spPr>
            <a:xfrm>
              <a:off x="6151418" y="5082639"/>
              <a:ext cx="7481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175169" y="5070764"/>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6885694" y="5068789"/>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125693" y="3893164"/>
              <a:ext cx="74814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125694" y="3441914"/>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838194" y="3453789"/>
              <a:ext cx="11875" cy="439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Five-Variable </a:t>
            </a:r>
            <a:r>
              <a:rPr lang="en-US" altLang="zh-TW" dirty="0">
                <a:ea typeface="新細明體" pitchFamily="18" charset="-120"/>
              </a:rPr>
              <a:t>Map</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lstStyle/>
          <a:p>
            <a:pPr>
              <a:spcBef>
                <a:spcPct val="0"/>
              </a:spcBef>
            </a:pPr>
            <a:r>
              <a:rPr lang="en-US" altLang="zh-TW" dirty="0">
                <a:ea typeface="新細明體" pitchFamily="18" charset="-120"/>
              </a:rPr>
              <a:t>Map for more than four variables becomes complicated</a:t>
            </a:r>
          </a:p>
          <a:p>
            <a:pPr lvl="1">
              <a:spcBef>
                <a:spcPct val="0"/>
              </a:spcBef>
            </a:pPr>
            <a:r>
              <a:rPr lang="en-US" altLang="zh-TW" dirty="0">
                <a:ea typeface="新細明體" pitchFamily="18" charset="-120"/>
              </a:rPr>
              <a:t>Five-variable map: two four-variable map (one on the top of the other).</a:t>
            </a:r>
            <a:endParaRPr lang="zh-TW" altLang="en-US" dirty="0">
              <a:ea typeface="新細明體" pitchFamily="18" charset="-120"/>
            </a:endParaRPr>
          </a:p>
        </p:txBody>
      </p:sp>
      <p:pic>
        <p:nvPicPr>
          <p:cNvPr id="660484" name="Picture 5" descr="AACFLNJ0"/>
          <p:cNvPicPr>
            <a:picLocks noChangeAspect="1" noChangeArrowheads="1"/>
          </p:cNvPicPr>
          <p:nvPr/>
        </p:nvPicPr>
        <p:blipFill>
          <a:blip r:embed="rId2" cstate="print"/>
          <a:srcRect b="10432"/>
          <a:stretch>
            <a:fillRect/>
          </a:stretch>
        </p:blipFill>
        <p:spPr bwMode="auto">
          <a:xfrm>
            <a:off x="973780" y="3224492"/>
            <a:ext cx="6862143" cy="343655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62531" name="內容版面配置區 2"/>
          <p:cNvSpPr>
            <a:spLocks noGrp="1"/>
          </p:cNvSpPr>
          <p:nvPr>
            <p:ph idx="4294967295"/>
          </p:nvPr>
        </p:nvSpPr>
        <p:spPr/>
        <p:txBody>
          <a:bodyPr lIns="90488" tIns="44450" rIns="90488" bIns="44450"/>
          <a:lstStyle/>
          <a:p>
            <a:r>
              <a:rPr lang="en-US" altLang="zh-TW" dirty="0" smtClean="0">
                <a:ea typeface="新細明體" pitchFamily="18" charset="-120"/>
              </a:rPr>
              <a:t>Simplify </a:t>
            </a: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(0, 2, 4, 6, 9, 13, 21, 23, 25, 29, 31)</a:t>
            </a:r>
          </a:p>
          <a:p>
            <a:endParaRPr lang="zh-TW" altLang="en-US" dirty="0">
              <a:ea typeface="新細明體" pitchFamily="18" charset="-120"/>
            </a:endParaRPr>
          </a:p>
        </p:txBody>
      </p:sp>
      <p:pic>
        <p:nvPicPr>
          <p:cNvPr id="662532" name="Picture 5" descr="AACFLNK0"/>
          <p:cNvPicPr>
            <a:picLocks noChangeAspect="1" noChangeArrowheads="1"/>
          </p:cNvPicPr>
          <p:nvPr/>
        </p:nvPicPr>
        <p:blipFill>
          <a:blip r:embed="rId2" cstate="print">
            <a:lum bright="-12000" contrast="24000"/>
          </a:blip>
          <a:srcRect/>
          <a:stretch>
            <a:fillRect/>
          </a:stretch>
        </p:blipFill>
        <p:spPr bwMode="auto">
          <a:xfrm>
            <a:off x="1143000" y="2130425"/>
            <a:ext cx="6572250" cy="3678238"/>
          </a:xfrm>
          <a:prstGeom prst="rect">
            <a:avLst/>
          </a:prstGeom>
          <a:noFill/>
          <a:ln w="9525">
            <a:noFill/>
            <a:miter lim="800000"/>
            <a:headEnd/>
            <a:tailEnd/>
          </a:ln>
        </p:spPr>
      </p:pic>
      <p:sp>
        <p:nvSpPr>
          <p:cNvPr id="662533" name="Rectangle 6"/>
          <p:cNvSpPr>
            <a:spLocks noChangeArrowheads="1"/>
          </p:cNvSpPr>
          <p:nvPr/>
        </p:nvSpPr>
        <p:spPr bwMode="auto">
          <a:xfrm>
            <a:off x="2278063" y="6083300"/>
            <a:ext cx="2660650" cy="400050"/>
          </a:xfrm>
          <a:prstGeom prst="rect">
            <a:avLst/>
          </a:prstGeom>
          <a:noFill/>
          <a:ln w="9525">
            <a:noFill/>
            <a:miter lim="800000"/>
            <a:headEnd/>
            <a:tailEnd/>
          </a:ln>
        </p:spPr>
        <p:txBody>
          <a:bodyPr wrap="none">
            <a:spAutoFit/>
          </a:bodyPr>
          <a:lstStyle/>
          <a:p>
            <a:r>
              <a:rPr lang="en-US" altLang="zh-TW" sz="2000" i="1">
                <a:latin typeface="Times New Roman" pitchFamily="18" charset="0"/>
                <a:ea typeface="新細明體" pitchFamily="18" charset="-120"/>
                <a:cs typeface="Times New Roman" pitchFamily="18" charset="0"/>
              </a:rPr>
              <a:t>F = A'B'E'+BD'E+ACE</a:t>
            </a:r>
            <a:endParaRPr lang="zh-TW" altLang="en-US" sz="2000" i="1">
              <a:latin typeface="Times New Roman" pitchFamily="18" charset="0"/>
              <a:ea typeface="新細明體" pitchFamily="18" charset="-120"/>
              <a:cs typeface="Times New Roman" pitchFamily="18" charset="0"/>
            </a:endParaRPr>
          </a:p>
        </p:txBody>
      </p:sp>
      <p:sp>
        <p:nvSpPr>
          <p:cNvPr id="662534" name="AutoShape 42"/>
          <p:cNvSpPr>
            <a:spLocks noChangeArrowheads="1"/>
          </p:cNvSpPr>
          <p:nvPr/>
        </p:nvSpPr>
        <p:spPr bwMode="auto">
          <a:xfrm>
            <a:off x="1300163" y="6173788"/>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grpSp>
        <p:nvGrpSpPr>
          <p:cNvPr id="10" name="Group 9"/>
          <p:cNvGrpSpPr/>
          <p:nvPr/>
        </p:nvGrpSpPr>
        <p:grpSpPr>
          <a:xfrm>
            <a:off x="2208810" y="4049486"/>
            <a:ext cx="380011" cy="997527"/>
            <a:chOff x="5652655" y="2755076"/>
            <a:chExt cx="724395" cy="1686297"/>
          </a:xfrm>
        </p:grpSpPr>
        <p:cxnSp>
          <p:nvCxnSpPr>
            <p:cNvPr id="11" name="Straight Connector 10"/>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5911932" y="4083132"/>
            <a:ext cx="380011" cy="997527"/>
            <a:chOff x="5652655" y="2755076"/>
            <a:chExt cx="724395" cy="1686297"/>
          </a:xfrm>
        </p:grpSpPr>
        <p:cxnSp>
          <p:nvCxnSpPr>
            <p:cNvPr id="16" name="Straight Connector 15"/>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5852460" y="3525011"/>
            <a:ext cx="952101" cy="997527"/>
            <a:chOff x="5652655" y="2755076"/>
            <a:chExt cx="724395" cy="1686297"/>
          </a:xfrm>
        </p:grpSpPr>
        <p:cxnSp>
          <p:nvCxnSpPr>
            <p:cNvPr id="21" name="Straight Connector 20"/>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p:cNvCxnSpPr/>
          <p:nvPr/>
        </p:nvCxnSpPr>
        <p:spPr>
          <a:xfrm>
            <a:off x="3325091" y="3063834"/>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313215" y="3051959"/>
            <a:ext cx="47502" cy="80752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58741" y="3845609"/>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541866" y="3073734"/>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551766" y="3831759"/>
            <a:ext cx="42751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947553" y="3051958"/>
            <a:ext cx="21814" cy="80554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25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25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25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25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3" grpId="0"/>
      <p:bldP spid="6625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dirty="0">
              <a:ea typeface="新細明體" pitchFamily="18" charset="-120"/>
            </a:endParaRPr>
          </a:p>
        </p:txBody>
      </p:sp>
      <p:sp>
        <p:nvSpPr>
          <p:cNvPr id="663555" name="內容版面配置區 2"/>
          <p:cNvSpPr>
            <a:spLocks noGrp="1"/>
          </p:cNvSpPr>
          <p:nvPr>
            <p:ph idx="4294967295"/>
          </p:nvPr>
        </p:nvSpPr>
        <p:spPr/>
        <p:txBody>
          <a:bodyPr lIns="90488" tIns="44450" rIns="90488" bIns="44450"/>
          <a:lstStyle/>
          <a:p>
            <a:r>
              <a:rPr lang="en-US" altLang="zh-TW" dirty="0">
                <a:ea typeface="新細明體" pitchFamily="18" charset="-120"/>
              </a:rPr>
              <a:t>Another </a:t>
            </a:r>
            <a:r>
              <a:rPr lang="en-US" altLang="zh-TW" dirty="0" smtClean="0">
                <a:ea typeface="新細明體" pitchFamily="18" charset="-120"/>
              </a:rPr>
              <a:t>Map for </a:t>
            </a:r>
            <a:r>
              <a:rPr lang="en-US" altLang="zh-TW" i="1" dirty="0" smtClean="0">
                <a:latin typeface="Times New Roman" pitchFamily="18" charset="0"/>
                <a:ea typeface="新細明體" pitchFamily="18" charset="-120"/>
                <a:cs typeface="Times New Roman" pitchFamily="18" charset="0"/>
              </a:rPr>
              <a:t>F = A</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+BD</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E+ACE</a:t>
            </a:r>
          </a:p>
          <a:p>
            <a:endParaRPr lang="zh-TW" altLang="en-US" dirty="0">
              <a:ea typeface="新細明體" pitchFamily="18" charset="-120"/>
            </a:endParaRPr>
          </a:p>
          <a:p>
            <a:endParaRPr lang="zh-TW" altLang="en-US" dirty="0">
              <a:ea typeface="新細明體" pitchFamily="18" charset="-120"/>
            </a:endParaRPr>
          </a:p>
        </p:txBody>
      </p:sp>
      <p:grpSp>
        <p:nvGrpSpPr>
          <p:cNvPr id="33" name="Group 32"/>
          <p:cNvGrpSpPr/>
          <p:nvPr/>
        </p:nvGrpSpPr>
        <p:grpSpPr>
          <a:xfrm>
            <a:off x="1805051" y="2223758"/>
            <a:ext cx="4704876" cy="4349231"/>
            <a:chOff x="1805051" y="2223758"/>
            <a:chExt cx="4704876" cy="4349231"/>
          </a:xfrm>
        </p:grpSpPr>
        <p:pic>
          <p:nvPicPr>
            <p:cNvPr id="663556" name="Picture 6"/>
            <p:cNvPicPr>
              <a:picLocks noChangeAspect="1" noChangeArrowheads="1"/>
            </p:cNvPicPr>
            <p:nvPr/>
          </p:nvPicPr>
          <p:blipFill>
            <a:blip r:embed="rId3" cstate="print">
              <a:lum bright="-18000" contrast="42000"/>
            </a:blip>
            <a:srcRect/>
            <a:stretch>
              <a:fillRect/>
            </a:stretch>
          </p:blipFill>
          <p:spPr bwMode="auto">
            <a:xfrm>
              <a:off x="1805051" y="2223758"/>
              <a:ext cx="4704876" cy="4349231"/>
            </a:xfrm>
            <a:prstGeom prst="rect">
              <a:avLst/>
            </a:prstGeom>
            <a:noFill/>
            <a:ln w="9525">
              <a:noFill/>
              <a:miter lim="800000"/>
              <a:headEnd/>
              <a:tailEnd/>
            </a:ln>
          </p:spPr>
        </p:pic>
        <p:cxnSp>
          <p:nvCxnSpPr>
            <p:cNvPr id="15" name="Straight Connector 14"/>
            <p:cNvCxnSpPr/>
            <p:nvPr/>
          </p:nvCxnSpPr>
          <p:spPr>
            <a:xfrm>
              <a:off x="2850078" y="6258296"/>
              <a:ext cx="427512"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752603" y="5783283"/>
              <a:ext cx="463137"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230088" y="5795158"/>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2800613" y="5769433"/>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3251860" y="3477491"/>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705594" y="3477490"/>
              <a:ext cx="973777" cy="4750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681351" y="3455719"/>
              <a:ext cx="546265" cy="237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707574" y="3966358"/>
              <a:ext cx="57001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標題 1"/>
          <p:cNvSpPr>
            <a:spLocks noGrp="1"/>
          </p:cNvSpPr>
          <p:nvPr>
            <p:ph type="title" idx="4294967295"/>
          </p:nvPr>
        </p:nvSpPr>
        <p:spPr/>
        <p:txBody>
          <a:bodyPr lIns="0" tIns="0" rIns="0" bIns="0"/>
          <a:lstStyle/>
          <a:p>
            <a:r>
              <a:rPr lang="en-US" altLang="zh-TW" dirty="0" smtClean="0">
                <a:ea typeface="新細明體" pitchFamily="18" charset="-120"/>
              </a:rPr>
              <a:t>Six-Variable Map</a:t>
            </a:r>
            <a:endParaRPr lang="zh-TW" altLang="en-US" dirty="0">
              <a:ea typeface="新細明體" pitchFamily="18" charset="-120"/>
            </a:endParaRPr>
          </a:p>
        </p:txBody>
      </p:sp>
      <p:sp>
        <p:nvSpPr>
          <p:cNvPr id="663555" name="內容版面配置區 2"/>
          <p:cNvSpPr>
            <a:spLocks noGrp="1"/>
          </p:cNvSpPr>
          <p:nvPr>
            <p:ph idx="4294967295"/>
          </p:nvPr>
        </p:nvSpPr>
        <p:spPr/>
        <p:txBody>
          <a:bodyPr lIns="90488" tIns="44450" rIns="90488" bIns="44450"/>
          <a:lstStyle/>
          <a:p>
            <a:r>
              <a:rPr lang="en-US" altLang="zh-TW" dirty="0">
                <a:ea typeface="新細明體" pitchFamily="18" charset="-120"/>
              </a:rPr>
              <a:t>Another </a:t>
            </a:r>
            <a:r>
              <a:rPr lang="en-US" altLang="zh-TW" dirty="0" smtClean="0">
                <a:ea typeface="新細明體" pitchFamily="18" charset="-120"/>
              </a:rPr>
              <a:t>Map for </a:t>
            </a:r>
            <a:r>
              <a:rPr lang="en-US" altLang="zh-TW" i="1" dirty="0" smtClean="0">
                <a:latin typeface="Times New Roman" pitchFamily="18" charset="0"/>
                <a:ea typeface="新細明體" pitchFamily="18" charset="-120"/>
                <a:cs typeface="Times New Roman" pitchFamily="18" charset="0"/>
              </a:rPr>
              <a:t>F = A</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+BD</a:t>
            </a:r>
            <a:r>
              <a:rPr lang="en-US" altLang="zh-TW" i="1" dirty="0" smtClean="0">
                <a:solidFill>
                  <a:srgbClr val="003366"/>
                </a:solidFill>
                <a:latin typeface="Times New Roman" pitchFamily="18" charset="0"/>
                <a:ea typeface="新細明體" pitchFamily="18" charset="-120"/>
                <a:cs typeface="Times New Roman" pitchFamily="18" charset="0"/>
              </a:rPr>
              <a:t>'</a:t>
            </a:r>
            <a:r>
              <a:rPr lang="en-US" altLang="zh-TW" i="1" dirty="0" smtClean="0">
                <a:latin typeface="Times New Roman" pitchFamily="18" charset="0"/>
                <a:ea typeface="新細明體" pitchFamily="18" charset="-120"/>
                <a:cs typeface="Times New Roman" pitchFamily="18" charset="0"/>
              </a:rPr>
              <a:t>E+ACE</a:t>
            </a:r>
          </a:p>
          <a:p>
            <a:endParaRPr lang="zh-TW" altLang="en-US" dirty="0">
              <a:ea typeface="新細明體" pitchFamily="18" charset="-120"/>
            </a:endParaRPr>
          </a:p>
          <a:p>
            <a:endParaRPr lang="zh-TW" altLang="en-US" dirty="0">
              <a:ea typeface="新細明體" pitchFamily="18" charset="-120"/>
            </a:endParaRPr>
          </a:p>
        </p:txBody>
      </p:sp>
      <p:pic>
        <p:nvPicPr>
          <p:cNvPr id="285699" name="Picture 3"/>
          <p:cNvPicPr>
            <a:picLocks noChangeAspect="1" noChangeArrowheads="1"/>
          </p:cNvPicPr>
          <p:nvPr/>
        </p:nvPicPr>
        <p:blipFill>
          <a:blip r:embed="rId3" cstate="print"/>
          <a:srcRect/>
          <a:stretch>
            <a:fillRect/>
          </a:stretch>
        </p:blipFill>
        <p:spPr bwMode="auto">
          <a:xfrm>
            <a:off x="1820883" y="1977303"/>
            <a:ext cx="4853050" cy="46255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Don't-Care </a:t>
            </a:r>
            <a:r>
              <a:rPr lang="en-US" altLang="zh-TW" dirty="0">
                <a:ea typeface="新細明體" pitchFamily="18" charset="-120"/>
              </a:rPr>
              <a:t>Conditions</a:t>
            </a:r>
            <a:endParaRPr lang="en-US" altLang="zh-TW" sz="2500" dirty="0">
              <a:ea typeface="新細明體" pitchFamily="18" charset="-120"/>
            </a:endParaRPr>
          </a:p>
        </p:txBody>
      </p:sp>
      <p:sp>
        <p:nvSpPr>
          <p:cNvPr id="669699" name="Rectangle 3"/>
          <p:cNvSpPr>
            <a:spLocks noGrp="1" noChangeArrowheads="1"/>
          </p:cNvSpPr>
          <p:nvPr>
            <p:ph idx="4294967295"/>
          </p:nvPr>
        </p:nvSpPr>
        <p:spPr/>
        <p:txBody>
          <a:bodyPr lIns="90488" tIns="44450" rIns="90488" bIns="44450">
            <a:normAutofit lnSpcReduction="10000"/>
          </a:bodyPr>
          <a:lstStyle/>
          <a:p>
            <a:r>
              <a:rPr lang="en-US" altLang="zh-TW" dirty="0">
                <a:ea typeface="新細明體" pitchFamily="18" charset="-120"/>
              </a:rPr>
              <a:t>The value of a function is not specified for certain combinations of variables</a:t>
            </a:r>
          </a:p>
          <a:p>
            <a:pPr lvl="1"/>
            <a:r>
              <a:rPr lang="en-US" altLang="zh-TW" sz="2400" dirty="0">
                <a:ea typeface="新細明體" pitchFamily="18" charset="-120"/>
              </a:rPr>
              <a:t>BCD; </a:t>
            </a:r>
            <a:r>
              <a:rPr lang="en-US" altLang="zh-TW" sz="2400" dirty="0" smtClean="0">
                <a:ea typeface="新細明體" pitchFamily="18" charset="-120"/>
              </a:rPr>
              <a:t>1010-1111</a:t>
            </a:r>
          </a:p>
          <a:p>
            <a:pPr lvl="1"/>
            <a:endParaRPr lang="en-US" altLang="zh-TW" sz="2400" dirty="0" smtClean="0">
              <a:ea typeface="新細明體" pitchFamily="18" charset="-120"/>
            </a:endParaRPr>
          </a:p>
          <a:p>
            <a:r>
              <a:rPr lang="en-AU" altLang="zh-TW" dirty="0" smtClean="0">
                <a:ea typeface="新細明體" pitchFamily="18" charset="-120"/>
              </a:rPr>
              <a:t>The unspecified </a:t>
            </a:r>
            <a:r>
              <a:rPr lang="en-AU" altLang="zh-TW" dirty="0" err="1" smtClean="0">
                <a:ea typeface="新細明體" pitchFamily="18" charset="-120"/>
              </a:rPr>
              <a:t>minterms</a:t>
            </a:r>
            <a:r>
              <a:rPr lang="en-AU" altLang="zh-TW" dirty="0" smtClean="0">
                <a:ea typeface="新細明體" pitchFamily="18" charset="-120"/>
              </a:rPr>
              <a:t> of a function are called the don’t-care conditions, or simply the don’t-cares, and are denoted as Xs.</a:t>
            </a:r>
          </a:p>
          <a:p>
            <a:endParaRPr lang="en-US" altLang="zh-TW" dirty="0">
              <a:ea typeface="新細明體" pitchFamily="18" charset="-120"/>
            </a:endParaRPr>
          </a:p>
          <a:p>
            <a:r>
              <a:rPr lang="en-AU" altLang="zh-TW" dirty="0" smtClean="0">
                <a:ea typeface="新細明體" pitchFamily="18" charset="-120"/>
              </a:rPr>
              <a:t>These don’t-care conditions can be used on a map to provide further simplification of the Boolean expression.</a:t>
            </a:r>
          </a:p>
          <a:p>
            <a:pPr lvl="1"/>
            <a:r>
              <a:rPr lang="en-US" altLang="zh-TW" sz="2400" dirty="0" smtClean="0">
                <a:ea typeface="新細明體" pitchFamily="18" charset="-120"/>
              </a:rPr>
              <a:t>Can </a:t>
            </a:r>
            <a:r>
              <a:rPr lang="en-US" altLang="zh-TW" sz="2400" dirty="0">
                <a:ea typeface="新細明體" pitchFamily="18" charset="-120"/>
              </a:rPr>
              <a:t>be implemented as 0 or </a:t>
            </a:r>
            <a:r>
              <a:rPr lang="en-US" altLang="zh-TW" sz="2400" dirty="0" smtClean="0">
                <a:ea typeface="新細明體" pitchFamily="18" charset="-120"/>
              </a:rPr>
              <a:t>1</a:t>
            </a:r>
            <a:endParaRPr lang="en-US" altLang="zh-TW" sz="2400" dirty="0">
              <a:ea typeface="新細明體" pitchFamily="18" charset="-120"/>
            </a:endParaRPr>
          </a:p>
          <a:p>
            <a:endParaRPr lang="en-US" altLang="zh-TW" dirty="0">
              <a:ea typeface="新細明體" pitchFamily="18" charset="-120"/>
            </a:endParaRP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70723" name="內容版面配置區 2"/>
          <p:cNvSpPr>
            <a:spLocks noGrp="1"/>
          </p:cNvSpPr>
          <p:nvPr>
            <p:ph idx="4294967295"/>
          </p:nvPr>
        </p:nvSpPr>
        <p:spPr/>
        <p:txBody>
          <a:bodyPr lIns="90488" tIns="44450" rIns="90488" bIns="44450"/>
          <a:lstStyle/>
          <a:p>
            <a:pPr>
              <a:spcBef>
                <a:spcPct val="0"/>
              </a:spcBef>
            </a:pPr>
            <a:r>
              <a:rPr lang="en-US" altLang="zh-TW" dirty="0" smtClean="0">
                <a:ea typeface="新細明體" pitchFamily="18" charset="-120"/>
              </a:rPr>
              <a:t>Simplify </a:t>
            </a:r>
            <a:r>
              <a:rPr lang="en-US" altLang="zh-TW" i="1" dirty="0" smtClean="0">
                <a:ea typeface="新細明體" pitchFamily="18" charset="-120"/>
              </a:rPr>
              <a:t>F</a:t>
            </a:r>
            <a:r>
              <a:rPr lang="en-US" altLang="zh-TW" dirty="0" smtClean="0">
                <a:ea typeface="新細明體" pitchFamily="18" charset="-120"/>
              </a:rPr>
              <a:t>(</a:t>
            </a:r>
            <a:r>
              <a:rPr lang="en-US" altLang="zh-TW" i="1" dirty="0" smtClean="0">
                <a:ea typeface="新細明體" pitchFamily="18" charset="-120"/>
              </a:rPr>
              <a:t>w</a:t>
            </a:r>
            <a:r>
              <a:rPr lang="en-US" altLang="zh-TW" dirty="0" smtClean="0">
                <a:ea typeface="新細明體" pitchFamily="18" charset="-120"/>
              </a:rPr>
              <a:t>,</a:t>
            </a:r>
            <a:r>
              <a:rPr lang="en-US" altLang="zh-TW" i="1" dirty="0" smtClean="0">
                <a:ea typeface="新細明體" pitchFamily="18" charset="-120"/>
              </a:rPr>
              <a:t> 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 </a:t>
            </a:r>
            <a:r>
              <a:rPr lang="en-US" altLang="zh-TW" i="1" dirty="0" smtClean="0">
                <a:ea typeface="新細明體" pitchFamily="18" charset="-120"/>
              </a:rPr>
              <a:t>z</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(1, 3, 7, 11, 15) which has the don't-care conditions </a:t>
            </a:r>
            <a:r>
              <a:rPr lang="en-US" altLang="zh-TW" i="1" dirty="0" smtClean="0">
                <a:ea typeface="新細明體" pitchFamily="18" charset="-120"/>
              </a:rPr>
              <a:t>d</a:t>
            </a:r>
            <a:r>
              <a:rPr lang="en-US" altLang="zh-TW" dirty="0" smtClean="0">
                <a:ea typeface="新細明體" pitchFamily="18" charset="-120"/>
              </a:rPr>
              <a:t>(</a:t>
            </a:r>
            <a:r>
              <a:rPr lang="en-US" altLang="zh-TW" i="1" dirty="0" smtClean="0">
                <a:ea typeface="新細明體" pitchFamily="18" charset="-120"/>
              </a:rPr>
              <a:t>w</a:t>
            </a:r>
            <a:r>
              <a:rPr lang="en-US" altLang="zh-TW" dirty="0" smtClean="0">
                <a:ea typeface="新細明體" pitchFamily="18" charset="-120"/>
              </a:rPr>
              <a:t>,</a:t>
            </a:r>
            <a:r>
              <a:rPr lang="en-US" altLang="zh-TW" i="1" dirty="0" smtClean="0">
                <a:ea typeface="新細明體" pitchFamily="18" charset="-120"/>
              </a:rPr>
              <a:t> x</a:t>
            </a:r>
            <a:r>
              <a:rPr lang="en-US" altLang="zh-TW" dirty="0" smtClean="0">
                <a:ea typeface="新細明體" pitchFamily="18" charset="-120"/>
              </a:rPr>
              <a:t>,</a:t>
            </a:r>
            <a:r>
              <a:rPr lang="en-US" altLang="zh-TW" i="1" dirty="0" smtClean="0">
                <a:ea typeface="新細明體" pitchFamily="18" charset="-120"/>
              </a:rPr>
              <a:t> y</a:t>
            </a:r>
            <a:r>
              <a:rPr lang="en-US" altLang="zh-TW" dirty="0" smtClean="0">
                <a:ea typeface="新細明體" pitchFamily="18" charset="-120"/>
              </a:rPr>
              <a:t>,</a:t>
            </a:r>
            <a:r>
              <a:rPr lang="en-US" altLang="zh-TW" i="1" dirty="0" smtClean="0">
                <a:ea typeface="新細明體" pitchFamily="18" charset="-120"/>
              </a:rPr>
              <a:t> z</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2, 5).</a:t>
            </a:r>
          </a:p>
          <a:p>
            <a:pPr>
              <a:spcBef>
                <a:spcPct val="0"/>
              </a:spcBef>
            </a:pPr>
            <a:r>
              <a:rPr lang="en-US" altLang="zh-TW" i="1" dirty="0" smtClean="0">
                <a:ea typeface="新細明體" pitchFamily="18" charset="-120"/>
              </a:rPr>
              <a:t>F </a:t>
            </a:r>
            <a:r>
              <a:rPr lang="en-US" altLang="zh-TW" i="1" dirty="0">
                <a:ea typeface="新細明體" pitchFamily="18" charset="-120"/>
              </a:rPr>
              <a:t>= </a:t>
            </a:r>
            <a:r>
              <a:rPr lang="en-US" altLang="zh-TW" i="1" dirty="0" err="1">
                <a:ea typeface="新細明體" pitchFamily="18" charset="-120"/>
              </a:rPr>
              <a:t>yz</a:t>
            </a:r>
            <a:r>
              <a:rPr lang="en-US" altLang="zh-TW" i="1" dirty="0">
                <a:ea typeface="新細明體" pitchFamily="18" charset="-120"/>
              </a:rPr>
              <a:t> + </a:t>
            </a:r>
            <a:r>
              <a:rPr lang="en-US" altLang="zh-TW" i="1" dirty="0" err="1">
                <a:ea typeface="新細明體" pitchFamily="18" charset="-120"/>
              </a:rPr>
              <a:t>w'x</a:t>
            </a:r>
            <a:r>
              <a:rPr lang="en-US" altLang="zh-TW" i="1" dirty="0">
                <a:ea typeface="新細明體" pitchFamily="18" charset="-120"/>
              </a:rPr>
              <a:t>'; F = </a:t>
            </a:r>
            <a:r>
              <a:rPr lang="en-US" altLang="zh-TW" i="1" dirty="0" err="1">
                <a:ea typeface="新細明體" pitchFamily="18" charset="-120"/>
              </a:rPr>
              <a:t>yz</a:t>
            </a:r>
            <a:r>
              <a:rPr lang="en-US" altLang="zh-TW" i="1" dirty="0">
                <a:ea typeface="新細明體" pitchFamily="18" charset="-120"/>
              </a:rPr>
              <a:t> + </a:t>
            </a:r>
            <a:r>
              <a:rPr lang="en-US" altLang="zh-TW" i="1" dirty="0" err="1">
                <a:ea typeface="新細明體" pitchFamily="18" charset="-120"/>
              </a:rPr>
              <a:t>w'z</a:t>
            </a:r>
            <a:endParaRPr lang="en-US" altLang="zh-TW" i="1" dirty="0">
              <a:ea typeface="新細明體" pitchFamily="18" charset="-120"/>
            </a:endParaRPr>
          </a:p>
          <a:p>
            <a:pPr>
              <a:spcBef>
                <a:spcPct val="0"/>
              </a:spcBef>
            </a:pP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(0, 1, 2, 3, 7, 11, 15) ; </a:t>
            </a:r>
            <a:r>
              <a:rPr lang="en-US" altLang="zh-TW" i="1" dirty="0">
                <a:ea typeface="新細明體" pitchFamily="18" charset="-120"/>
              </a:rPr>
              <a:t>F</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(1, 3, 5, 7, 11, 15)</a:t>
            </a:r>
          </a:p>
          <a:p>
            <a:pPr>
              <a:buNone/>
            </a:pPr>
            <a:endParaRPr lang="zh-TW" altLang="en-US" dirty="0">
              <a:ea typeface="新細明體" pitchFamily="18" charset="-120"/>
            </a:endParaRPr>
          </a:p>
        </p:txBody>
      </p:sp>
      <p:grpSp>
        <p:nvGrpSpPr>
          <p:cNvPr id="29" name="Group 28"/>
          <p:cNvGrpSpPr/>
          <p:nvPr/>
        </p:nvGrpSpPr>
        <p:grpSpPr>
          <a:xfrm>
            <a:off x="570016" y="3175152"/>
            <a:ext cx="7135277" cy="3380100"/>
            <a:chOff x="570016" y="3175152"/>
            <a:chExt cx="7135277" cy="3380100"/>
          </a:xfrm>
        </p:grpSpPr>
        <p:pic>
          <p:nvPicPr>
            <p:cNvPr id="670724" name="Picture 6"/>
            <p:cNvPicPr>
              <a:picLocks noChangeAspect="1" noChangeArrowheads="1"/>
            </p:cNvPicPr>
            <p:nvPr/>
          </p:nvPicPr>
          <p:blipFill>
            <a:blip r:embed="rId2" cstate="print">
              <a:lum bright="-12000" contrast="24000"/>
            </a:blip>
            <a:srcRect/>
            <a:stretch>
              <a:fillRect/>
            </a:stretch>
          </p:blipFill>
          <p:spPr bwMode="auto">
            <a:xfrm>
              <a:off x="570016" y="3175152"/>
              <a:ext cx="7135277" cy="3380100"/>
            </a:xfrm>
            <a:prstGeom prst="rect">
              <a:avLst/>
            </a:prstGeom>
            <a:noFill/>
            <a:ln w="9525">
              <a:noFill/>
              <a:miter lim="800000"/>
              <a:headEnd/>
              <a:tailEnd/>
            </a:ln>
          </p:spPr>
        </p:pic>
        <p:grpSp>
          <p:nvGrpSpPr>
            <p:cNvPr id="9" name="Group 8"/>
            <p:cNvGrpSpPr/>
            <p:nvPr/>
          </p:nvGrpSpPr>
          <p:grpSpPr>
            <a:xfrm>
              <a:off x="2505706" y="3752600"/>
              <a:ext cx="415636" cy="2066310"/>
              <a:chOff x="3099459" y="4506566"/>
              <a:chExt cx="1365663" cy="552322"/>
            </a:xfrm>
          </p:grpSpPr>
          <p:cxnSp>
            <p:nvCxnSpPr>
              <p:cNvPr id="10" name="Straight Connector 9"/>
              <p:cNvCxnSpPr/>
              <p:nvPr/>
            </p:nvCxnSpPr>
            <p:spPr>
              <a:xfrm>
                <a:off x="3099459" y="4506566"/>
                <a:ext cx="1353786"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441371" y="4524499"/>
                <a:ext cx="23751"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3099462" y="5035138"/>
                <a:ext cx="1287584" cy="2057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3099459" y="4524500"/>
                <a:ext cx="1"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6422585" y="3847607"/>
              <a:ext cx="381977" cy="2004952"/>
              <a:chOff x="3099460" y="4522967"/>
              <a:chExt cx="1255068" cy="535921"/>
            </a:xfrm>
          </p:grpSpPr>
          <p:cxnSp>
            <p:nvCxnSpPr>
              <p:cNvPr id="15" name="Straight Connector 14"/>
              <p:cNvCxnSpPr/>
              <p:nvPr/>
            </p:nvCxnSpPr>
            <p:spPr>
              <a:xfrm>
                <a:off x="3183958" y="4522967"/>
                <a:ext cx="1131552" cy="317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4285298" y="4524499"/>
                <a:ext cx="23752" cy="534389"/>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3099460" y="5035137"/>
                <a:ext cx="1255068" cy="21105"/>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3177495" y="4524500"/>
                <a:ext cx="0" cy="51174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1460665" y="3750620"/>
              <a:ext cx="1995055" cy="453245"/>
              <a:chOff x="3099459" y="4506566"/>
              <a:chExt cx="1365663" cy="552322"/>
            </a:xfrm>
          </p:grpSpPr>
          <p:cxnSp>
            <p:nvCxnSpPr>
              <p:cNvPr id="20" name="Straight Connector 19"/>
              <p:cNvCxnSpPr/>
              <p:nvPr/>
            </p:nvCxnSpPr>
            <p:spPr>
              <a:xfrm>
                <a:off x="3099459" y="4506566"/>
                <a:ext cx="135378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3099459" y="4524500"/>
                <a:ext cx="1" cy="51174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5854536" y="3724890"/>
              <a:ext cx="997527" cy="1060866"/>
              <a:chOff x="3099459" y="4506566"/>
              <a:chExt cx="1365663" cy="552322"/>
            </a:xfrm>
          </p:grpSpPr>
          <p:cxnSp>
            <p:nvCxnSpPr>
              <p:cNvPr id="25" name="Straight Connector 24"/>
              <p:cNvCxnSpPr/>
              <p:nvPr/>
            </p:nvCxnSpPr>
            <p:spPr>
              <a:xfrm>
                <a:off x="3099459" y="4506566"/>
                <a:ext cx="1353786" cy="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441371" y="4524499"/>
                <a:ext cx="23751" cy="534389"/>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3099460" y="5035138"/>
                <a:ext cx="1365662" cy="11876"/>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3099459" y="4524500"/>
                <a:ext cx="1" cy="51174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grpSp>
      </p:grpSp>
      <p:cxnSp>
        <p:nvCxnSpPr>
          <p:cNvPr id="30" name="Straight Connector 29"/>
          <p:cNvCxnSpPr/>
          <p:nvPr/>
        </p:nvCxnSpPr>
        <p:spPr>
          <a:xfrm rot="10800000" flipV="1">
            <a:off x="2527481" y="3811979"/>
            <a:ext cx="370098" cy="1610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Don't-Care Conditions</a:t>
            </a:r>
            <a:endParaRPr lang="en-US" altLang="zh-TW" sz="2500" dirty="0">
              <a:ea typeface="新細明體" pitchFamily="18" charset="-120"/>
            </a:endParaRPr>
          </a:p>
        </p:txBody>
      </p:sp>
      <p:sp>
        <p:nvSpPr>
          <p:cNvPr id="669699" name="Rectangle 3"/>
          <p:cNvSpPr>
            <a:spLocks noGrp="1" noChangeArrowheads="1"/>
          </p:cNvSpPr>
          <p:nvPr>
            <p:ph idx="4294967295"/>
          </p:nvPr>
        </p:nvSpPr>
        <p:spPr/>
        <p:txBody>
          <a:bodyPr lIns="90488" tIns="44450" rIns="90488" bIns="44450">
            <a:normAutofit/>
          </a:bodyPr>
          <a:lstStyle/>
          <a:p>
            <a:r>
              <a:rPr lang="en-AU" altLang="zh-TW" dirty="0" smtClean="0">
                <a:ea typeface="新細明體" pitchFamily="18" charset="-120"/>
              </a:rPr>
              <a:t>Either one of the above expressions satisfies the conditions stated.</a:t>
            </a:r>
          </a:p>
          <a:p>
            <a:r>
              <a:rPr lang="en-AU" altLang="zh-TW" dirty="0" smtClean="0">
                <a:ea typeface="新細明體" pitchFamily="18" charset="-120"/>
              </a:rPr>
              <a:t>Note that the above 2 expressions represent 2 functions that are algebraically unequal: each covers different don’t-care terms.</a:t>
            </a:r>
          </a:p>
          <a:p>
            <a:r>
              <a:rPr lang="en-AU" altLang="zh-TW" dirty="0" smtClean="0">
                <a:ea typeface="新細明體" pitchFamily="18" charset="-120"/>
              </a:rPr>
              <a:t>We may or may not include any of the Xs, while all the 1s must be included.</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Product of Sums Simplification</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normAutofit/>
          </a:bodyPr>
          <a:lstStyle/>
          <a:p>
            <a:r>
              <a:rPr lang="en-US" altLang="zh-TW" dirty="0" smtClean="0">
                <a:ea typeface="新細明體" pitchFamily="18" charset="-120"/>
              </a:rPr>
              <a:t>Simplify </a:t>
            </a:r>
            <a:r>
              <a:rPr lang="en-US" altLang="zh-TW" i="1" dirty="0" smtClean="0">
                <a:ea typeface="新細明體" pitchFamily="18" charset="-120"/>
              </a:rPr>
              <a:t>F' </a:t>
            </a:r>
            <a:r>
              <a:rPr lang="en-US" altLang="zh-TW" dirty="0" smtClean="0">
                <a:ea typeface="新細明體" pitchFamily="18" charset="-120"/>
              </a:rPr>
              <a:t> in the form of sum of products </a:t>
            </a:r>
            <a:endParaRPr lang="tr-TR" altLang="zh-TW" dirty="0" smtClean="0"/>
          </a:p>
          <a:p>
            <a:r>
              <a:rPr lang="en-US" altLang="zh-TW" dirty="0" smtClean="0">
                <a:ea typeface="新細明體" pitchFamily="18" charset="-120"/>
              </a:rPr>
              <a:t>Apply </a:t>
            </a:r>
            <a:r>
              <a:rPr lang="en-US" altLang="zh-TW" dirty="0" err="1" smtClean="0">
                <a:ea typeface="新細明體" pitchFamily="18" charset="-120"/>
              </a:rPr>
              <a:t>DeMorgan's</a:t>
            </a:r>
            <a:r>
              <a:rPr lang="en-US" altLang="zh-TW" dirty="0" smtClean="0">
                <a:ea typeface="新細明體" pitchFamily="18" charset="-120"/>
              </a:rPr>
              <a:t> theorem </a:t>
            </a:r>
            <a:r>
              <a:rPr lang="en-US" altLang="zh-TW" i="1" dirty="0" smtClean="0">
                <a:ea typeface="新細明體" pitchFamily="18" charset="-120"/>
              </a:rPr>
              <a:t>F = </a:t>
            </a:r>
            <a:r>
              <a:rPr lang="en-US" altLang="zh-TW" dirty="0" smtClean="0">
                <a:ea typeface="新細明體" pitchFamily="18" charset="-120"/>
              </a:rPr>
              <a:t>(</a:t>
            </a:r>
            <a:r>
              <a:rPr lang="en-US" altLang="zh-TW" i="1" dirty="0" smtClean="0">
                <a:ea typeface="新細明體" pitchFamily="18" charset="-120"/>
              </a:rPr>
              <a:t>F'</a:t>
            </a:r>
            <a:r>
              <a:rPr lang="en-US" altLang="zh-TW" dirty="0" smtClean="0">
                <a:ea typeface="新細明體" pitchFamily="18" charset="-120"/>
              </a:rPr>
              <a:t>)</a:t>
            </a:r>
            <a:r>
              <a:rPr lang="en-US" altLang="zh-TW" i="1" dirty="0" smtClean="0">
                <a:ea typeface="新細明體" pitchFamily="18" charset="-120"/>
              </a:rPr>
              <a:t>' </a:t>
            </a:r>
          </a:p>
          <a:p>
            <a:r>
              <a:rPr lang="en-US" altLang="zh-TW" i="1" dirty="0" smtClean="0">
                <a:ea typeface="新細明體" pitchFamily="18" charset="-120"/>
              </a:rPr>
              <a:t>F'</a:t>
            </a:r>
            <a:r>
              <a:rPr lang="en-US" altLang="zh-TW" dirty="0" smtClean="0">
                <a:ea typeface="新細明體" pitchFamily="18" charset="-120"/>
              </a:rPr>
              <a:t>: sum of products → </a:t>
            </a:r>
            <a:r>
              <a:rPr lang="en-US" altLang="zh-TW" i="1" dirty="0" smtClean="0">
                <a:ea typeface="新細明體" pitchFamily="18" charset="-120"/>
              </a:rPr>
              <a:t>F</a:t>
            </a:r>
            <a:r>
              <a:rPr lang="en-US" altLang="zh-TW" dirty="0" smtClean="0">
                <a:ea typeface="新細明體" pitchFamily="18" charset="-120"/>
              </a:rPr>
              <a:t>: product of sums</a:t>
            </a:r>
            <a:endParaRPr lang="en-US" altLang="zh-TW" dirty="0">
              <a:ea typeface="新細明體" pitchFamily="18" charset="-120"/>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sp>
        <p:nvSpPr>
          <p:cNvPr id="660483" name="內容版面配置區 2"/>
          <p:cNvSpPr>
            <a:spLocks noGrp="1"/>
          </p:cNvSpPr>
          <p:nvPr>
            <p:ph idx="4294967295"/>
          </p:nvPr>
        </p:nvSpPr>
        <p:spPr/>
        <p:txBody>
          <a:bodyPr lIns="90488" tIns="44450" rIns="90488" bIns="44450">
            <a:normAutofit/>
          </a:bodyPr>
          <a:lstStyle/>
          <a:p>
            <a:r>
              <a:rPr lang="en-US" altLang="zh-TW" dirty="0" smtClean="0">
                <a:ea typeface="新細明體" pitchFamily="18" charset="-120"/>
              </a:rPr>
              <a:t>Simplify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into (a) sum-of-products form, and (b) product-of-sums form:</a:t>
            </a:r>
            <a:endParaRPr lang="en-US" altLang="zh-TW" dirty="0">
              <a:ea typeface="新細明體" pitchFamily="18" charset="-120"/>
            </a:endParaRPr>
          </a:p>
        </p:txBody>
      </p:sp>
      <p:pic>
        <p:nvPicPr>
          <p:cNvPr id="4" name="Picture 5"/>
          <p:cNvPicPr>
            <a:picLocks noChangeAspect="1" noChangeArrowheads="1"/>
          </p:cNvPicPr>
          <p:nvPr/>
        </p:nvPicPr>
        <p:blipFill>
          <a:blip r:embed="rId2" cstate="print">
            <a:lum bright="-18000" contrast="36000"/>
          </a:blip>
          <a:srcRect l="5811" t="21106" r="5791" b="12027"/>
          <a:stretch>
            <a:fillRect/>
          </a:stretch>
        </p:blipFill>
        <p:spPr bwMode="auto">
          <a:xfrm>
            <a:off x="344389" y="2498744"/>
            <a:ext cx="4960938" cy="3790950"/>
          </a:xfrm>
          <a:prstGeom prst="rect">
            <a:avLst/>
          </a:prstGeom>
          <a:noFill/>
          <a:ln w="9525">
            <a:noFill/>
            <a:miter lim="800000"/>
            <a:headEnd/>
            <a:tailEnd/>
          </a:ln>
        </p:spPr>
      </p:pic>
      <p:sp>
        <p:nvSpPr>
          <p:cNvPr id="5" name="內容版面配置區 2"/>
          <p:cNvSpPr txBox="1">
            <a:spLocks/>
          </p:cNvSpPr>
          <p:nvPr/>
        </p:nvSpPr>
        <p:spPr bwMode="auto">
          <a:xfrm>
            <a:off x="4932465" y="3429372"/>
            <a:ext cx="3705225" cy="2108200"/>
          </a:xfrm>
          <a:prstGeom prst="rect">
            <a:avLst/>
          </a:prstGeom>
          <a:noFill/>
          <a:ln w="12700">
            <a:noFill/>
            <a:miter lim="800000"/>
            <a:headEnd/>
            <a:tailEnd/>
          </a:ln>
        </p:spPr>
        <p:txBody>
          <a:bodyPr lIns="90488" tIns="44450" rIns="90488" bIns="44450"/>
          <a:lstStyle/>
          <a:p>
            <a:pPr lvl="1" indent="-457200" eaLnBrk="0" hangingPunct="0">
              <a:spcBef>
                <a:spcPct val="20000"/>
              </a:spcBef>
              <a:buSzPct val="100000"/>
              <a:buFont typeface="Book Antiqua" pitchFamily="18" charset="0"/>
              <a:buAutoNum type="alphaLcParenR"/>
            </a:pPr>
            <a:r>
              <a:rPr kumimoji="1" lang="en-US" altLang="zh-TW" sz="2000" i="1" dirty="0">
                <a:latin typeface="Times New Roman" pitchFamily="18" charset="0"/>
                <a:ea typeface="新細明體" pitchFamily="18" charset="-120"/>
                <a:cs typeface="Times New Roman" pitchFamily="18" charset="0"/>
              </a:rPr>
              <a:t>F</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A, B, C, D</a:t>
            </a:r>
            <a:r>
              <a:rPr kumimoji="1" lang="en-US" altLang="zh-TW" sz="2000" dirty="0">
                <a:latin typeface="Times New Roman" pitchFamily="18" charset="0"/>
                <a:ea typeface="新細明體" pitchFamily="18" charset="-120"/>
                <a:cs typeface="Times New Roman" pitchFamily="18" charset="0"/>
              </a:rPr>
              <a:t>)=</a:t>
            </a:r>
            <a:r>
              <a:rPr kumimoji="1" lang="en-US" altLang="zh-TW" sz="2000" dirty="0">
                <a:latin typeface="Symbol" pitchFamily="18" charset="2"/>
                <a:ea typeface="新細明體" pitchFamily="18" charset="-120"/>
                <a:cs typeface="Times New Roman" pitchFamily="18" charset="0"/>
              </a:rPr>
              <a:t> S</a:t>
            </a:r>
            <a:r>
              <a:rPr kumimoji="1" lang="en-US" altLang="zh-TW" sz="2000" dirty="0">
                <a:latin typeface="Times New Roman" pitchFamily="18" charset="0"/>
                <a:ea typeface="新細明體" pitchFamily="18" charset="-120"/>
                <a:cs typeface="Times New Roman" pitchFamily="18" charset="0"/>
              </a:rPr>
              <a:t>(0, 1, 2, 5, 8,   9, 10) = </a:t>
            </a:r>
            <a:r>
              <a:rPr kumimoji="1" lang="en-US" altLang="zh-TW" sz="2000" i="1" dirty="0">
                <a:latin typeface="Times New Roman" pitchFamily="18" charset="0"/>
                <a:ea typeface="新細明體" pitchFamily="18" charset="-120"/>
                <a:cs typeface="Times New Roman" pitchFamily="18" charset="0"/>
              </a:rPr>
              <a:t>B'D'+B'C'+A'C'D</a:t>
            </a:r>
          </a:p>
          <a:p>
            <a:pPr lvl="1" indent="-457200" eaLnBrk="0" hangingPunct="0">
              <a:spcBef>
                <a:spcPct val="20000"/>
              </a:spcBef>
              <a:buSzPct val="100000"/>
              <a:buFont typeface="Book Antiqua" pitchFamily="18" charset="0"/>
              <a:buAutoNum type="alphaLcParenR"/>
            </a:pPr>
            <a:r>
              <a:rPr kumimoji="1" lang="en-US" altLang="zh-TW" sz="2000" i="1" dirty="0">
                <a:latin typeface="Times New Roman" pitchFamily="18" charset="0"/>
                <a:ea typeface="新細明體" pitchFamily="18" charset="-120"/>
                <a:cs typeface="Times New Roman" pitchFamily="18" charset="0"/>
              </a:rPr>
              <a:t>F' = AB+CD+BD'</a:t>
            </a:r>
          </a:p>
          <a:p>
            <a:pPr marL="685800" lvl="2" indent="-228600">
              <a:lnSpc>
                <a:spcPct val="90000"/>
              </a:lnSpc>
              <a:spcBef>
                <a:spcPct val="20000"/>
              </a:spcBef>
              <a:buClr>
                <a:srgbClr val="1B1BFF"/>
              </a:buClr>
              <a:buSzPct val="80000"/>
              <a:buFont typeface="Times New Roman" pitchFamily="18" charset="0"/>
              <a:buChar char="»"/>
            </a:pPr>
            <a:r>
              <a:rPr kumimoji="1" lang="en-US" altLang="zh-TW" sz="2000" dirty="0">
                <a:latin typeface="Times New Roman" pitchFamily="18" charset="0"/>
                <a:ea typeface="新細明體" pitchFamily="18" charset="-120"/>
                <a:cs typeface="Times New Roman" pitchFamily="18" charset="0"/>
              </a:rPr>
              <a:t>Apply </a:t>
            </a:r>
            <a:r>
              <a:rPr kumimoji="1" lang="en-US" altLang="zh-TW" sz="2000" dirty="0" err="1">
                <a:latin typeface="Times New Roman" pitchFamily="18" charset="0"/>
                <a:ea typeface="新細明體" pitchFamily="18" charset="-120"/>
                <a:cs typeface="Times New Roman" pitchFamily="18" charset="0"/>
              </a:rPr>
              <a:t>DeMorgan's</a:t>
            </a:r>
            <a:r>
              <a:rPr kumimoji="1" lang="en-US" altLang="zh-TW" sz="2000" dirty="0">
                <a:latin typeface="Times New Roman" pitchFamily="18" charset="0"/>
                <a:ea typeface="新細明體" pitchFamily="18" charset="-120"/>
                <a:cs typeface="Times New Roman" pitchFamily="18" charset="0"/>
              </a:rPr>
              <a:t> theorem; </a:t>
            </a:r>
            <a:r>
              <a:rPr kumimoji="1" lang="en-US" altLang="zh-TW" sz="2000" i="1" dirty="0">
                <a:latin typeface="Times New Roman" pitchFamily="18" charset="0"/>
                <a:ea typeface="新細明體" pitchFamily="18" charset="-120"/>
                <a:cs typeface="Times New Roman" pitchFamily="18" charset="0"/>
              </a:rPr>
              <a:t>F=</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A'+B'</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C'+D'</a:t>
            </a:r>
            <a:r>
              <a:rPr kumimoji="1" lang="en-US" altLang="zh-TW" sz="2000" dirty="0">
                <a:latin typeface="Times New Roman" pitchFamily="18" charset="0"/>
                <a:ea typeface="新細明體" pitchFamily="18" charset="-120"/>
                <a:cs typeface="Times New Roman" pitchFamily="18" charset="0"/>
              </a:rPr>
              <a:t>)(</a:t>
            </a:r>
            <a:r>
              <a:rPr kumimoji="1" lang="en-US" altLang="zh-TW" sz="2000" i="1" dirty="0">
                <a:latin typeface="Times New Roman" pitchFamily="18" charset="0"/>
                <a:ea typeface="新細明體" pitchFamily="18" charset="-120"/>
                <a:cs typeface="Times New Roman" pitchFamily="18" charset="0"/>
              </a:rPr>
              <a:t>B'+D</a:t>
            </a:r>
            <a:r>
              <a:rPr kumimoji="1" lang="en-US" altLang="zh-TW" sz="2000" dirty="0" smtClean="0">
                <a:latin typeface="Times New Roman" pitchFamily="18" charset="0"/>
                <a:ea typeface="新細明體" pitchFamily="18" charset="-120"/>
                <a:cs typeface="Times New Roman" pitchFamily="18" charset="0"/>
              </a:rPr>
              <a:t>)</a:t>
            </a:r>
            <a:endParaRPr kumimoji="1" lang="zh-TW" altLang="en-US" sz="2000" dirty="0">
              <a:latin typeface="Times New Roman" pitchFamily="18" charset="0"/>
              <a:ea typeface="新細明體" pitchFamily="18" charset="-120"/>
              <a:cs typeface="Times New Roman" pitchFamily="18" charset="0"/>
            </a:endParaRPr>
          </a:p>
          <a:p>
            <a:pPr lvl="1" indent="-457200" eaLnBrk="0" hangingPunct="0">
              <a:spcBef>
                <a:spcPct val="20000"/>
              </a:spcBef>
              <a:buClr>
                <a:srgbClr val="0000FF"/>
              </a:buClr>
              <a:buSzPct val="90000"/>
              <a:buFont typeface="Book Antiqua" pitchFamily="18" charset="0"/>
              <a:buAutoNum type="alphaLcParenR"/>
            </a:pPr>
            <a:endParaRPr kumimoji="1" lang="en-US" altLang="zh-TW" sz="2000" dirty="0">
              <a:latin typeface="Times New Roman" pitchFamily="18" charset="0"/>
              <a:ea typeface="新細明體" pitchFamily="18" charset="-120"/>
              <a:cs typeface="Times New Roman" pitchFamily="18" charset="0"/>
            </a:endParaRPr>
          </a:p>
          <a:p>
            <a:pPr marL="342900" indent="-342900" eaLnBrk="0" hangingPunct="0">
              <a:spcBef>
                <a:spcPct val="20000"/>
              </a:spcBef>
              <a:buClr>
                <a:srgbClr val="0000FF"/>
              </a:buClr>
              <a:buSzPct val="90000"/>
              <a:buFont typeface="Wingdings 2" pitchFamily="18" charset="2"/>
              <a:buChar char="©"/>
            </a:pPr>
            <a:endParaRPr kumimoji="1" lang="zh-TW" altLang="en-US" sz="2400" dirty="0">
              <a:latin typeface="Times New Roman" pitchFamily="18" charset="0"/>
              <a:ea typeface="新細明體" pitchFamily="18" charset="-120"/>
              <a:cs typeface="Times New Roman" pitchFamily="18" charset="0"/>
            </a:endParaRPr>
          </a:p>
        </p:txBody>
      </p:sp>
      <p:grpSp>
        <p:nvGrpSpPr>
          <p:cNvPr id="2" name="Group 5"/>
          <p:cNvGrpSpPr/>
          <p:nvPr/>
        </p:nvGrpSpPr>
        <p:grpSpPr>
          <a:xfrm>
            <a:off x="1971268" y="4381995"/>
            <a:ext cx="2315706" cy="534389"/>
            <a:chOff x="5652655" y="2755076"/>
            <a:chExt cx="724395" cy="1686297"/>
          </a:xfrm>
        </p:grpSpPr>
        <p:cxnSp>
          <p:nvCxnSpPr>
            <p:cNvPr id="7" name="Straight Connector 6"/>
            <p:cNvCxnSpPr/>
            <p:nvPr/>
          </p:nvCxnSpPr>
          <p:spPr>
            <a:xfrm>
              <a:off x="5652655" y="2755076"/>
              <a:ext cx="718096"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364452" y="2755076"/>
              <a:ext cx="12598" cy="1686297"/>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5652656" y="4366429"/>
              <a:ext cx="724394" cy="3747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5652655" y="2755076"/>
              <a:ext cx="0" cy="157388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3" name="Group 10"/>
          <p:cNvGrpSpPr/>
          <p:nvPr/>
        </p:nvGrpSpPr>
        <p:grpSpPr>
          <a:xfrm>
            <a:off x="3251840" y="3239984"/>
            <a:ext cx="510659" cy="2519547"/>
            <a:chOff x="5652655" y="2755076"/>
            <a:chExt cx="724395" cy="1686297"/>
          </a:xfrm>
        </p:grpSpPr>
        <p:cxnSp>
          <p:nvCxnSpPr>
            <p:cNvPr id="12" name="Straight Connector 11"/>
            <p:cNvCxnSpPr/>
            <p:nvPr/>
          </p:nvCxnSpPr>
          <p:spPr>
            <a:xfrm>
              <a:off x="5652655" y="2755076"/>
              <a:ext cx="71809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6364452" y="2755076"/>
              <a:ext cx="12598" cy="168629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5652656" y="4366429"/>
              <a:ext cx="724394" cy="3747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5652655" y="2755076"/>
              <a:ext cx="0" cy="15738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p:cNvCxnSpPr/>
          <p:nvPr/>
        </p:nvCxnSpPr>
        <p:spPr>
          <a:xfrm flipV="1">
            <a:off x="1781299" y="3821859"/>
            <a:ext cx="603704" cy="1387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1805049" y="4817384"/>
            <a:ext cx="589854" cy="1586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870348" y="4292913"/>
            <a:ext cx="1009423" cy="2376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6200000" flipH="1">
            <a:off x="3364623" y="4302813"/>
            <a:ext cx="1009423" cy="23762"/>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3881199" y="3831759"/>
            <a:ext cx="603704" cy="13871"/>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904949" y="4815409"/>
            <a:ext cx="589854" cy="15867"/>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標題 1"/>
          <p:cNvSpPr>
            <a:spLocks noGrp="1"/>
          </p:cNvSpPr>
          <p:nvPr>
            <p:ph type="title" idx="4294967295"/>
          </p:nvPr>
        </p:nvSpPr>
        <p:spPr/>
        <p:txBody>
          <a:bodyPr lIns="0" tIns="0" rIns="0" bIns="0"/>
          <a:lstStyle/>
          <a:p>
            <a:r>
              <a:rPr lang="en-US" altLang="zh-TW" dirty="0">
                <a:ea typeface="新細明體" pitchFamily="18" charset="-120"/>
              </a:rPr>
              <a:t>Example </a:t>
            </a:r>
            <a:r>
              <a:rPr lang="en-US" altLang="zh-TW" dirty="0" smtClean="0">
                <a:ea typeface="新細明體" pitchFamily="18" charset="-120"/>
              </a:rPr>
              <a:t>(</a:t>
            </a:r>
            <a:r>
              <a:rPr lang="en-US" altLang="zh-TW" dirty="0">
                <a:ea typeface="新細明體" pitchFamily="18" charset="-120"/>
              </a:rPr>
              <a:t>cont.)</a:t>
            </a:r>
            <a:endParaRPr lang="zh-TW" altLang="en-US" dirty="0">
              <a:ea typeface="新細明體" pitchFamily="18" charset="-120"/>
            </a:endParaRPr>
          </a:p>
        </p:txBody>
      </p:sp>
      <p:sp>
        <p:nvSpPr>
          <p:cNvPr id="666627" name="內容版面配置區 2"/>
          <p:cNvSpPr>
            <a:spLocks noGrp="1"/>
          </p:cNvSpPr>
          <p:nvPr>
            <p:ph idx="4294967295"/>
          </p:nvPr>
        </p:nvSpPr>
        <p:spPr/>
        <p:txBody>
          <a:bodyPr lIns="90488" tIns="44450" rIns="90488" bIns="44450"/>
          <a:lstStyle/>
          <a:p>
            <a:r>
              <a:rPr lang="en-US" altLang="zh-TW" dirty="0">
                <a:ea typeface="新細明體" pitchFamily="18" charset="-120"/>
              </a:rPr>
              <a:t>Gate implementation of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a:t>
            </a:r>
            <a:endParaRPr lang="en-US" altLang="zh-TW" dirty="0">
              <a:ea typeface="新細明體" pitchFamily="18" charset="-120"/>
            </a:endParaRPr>
          </a:p>
          <a:p>
            <a:endParaRPr lang="zh-TW" altLang="en-US" dirty="0">
              <a:ea typeface="新細明體" pitchFamily="18" charset="-120"/>
            </a:endParaRPr>
          </a:p>
        </p:txBody>
      </p:sp>
      <p:pic>
        <p:nvPicPr>
          <p:cNvPr id="666628" name="Picture 6"/>
          <p:cNvPicPr>
            <a:picLocks noChangeAspect="1" noChangeArrowheads="1"/>
          </p:cNvPicPr>
          <p:nvPr/>
        </p:nvPicPr>
        <p:blipFill>
          <a:blip r:embed="rId2" cstate="print">
            <a:lum bright="-12000" contrast="24000"/>
          </a:blip>
          <a:srcRect/>
          <a:stretch>
            <a:fillRect/>
          </a:stretch>
        </p:blipFill>
        <p:spPr bwMode="auto">
          <a:xfrm>
            <a:off x="482600" y="2489200"/>
            <a:ext cx="4098925" cy="2667000"/>
          </a:xfrm>
          <a:prstGeom prst="rect">
            <a:avLst/>
          </a:prstGeom>
          <a:noFill/>
          <a:ln w="9525">
            <a:noFill/>
            <a:miter lim="800000"/>
            <a:headEnd/>
            <a:tailEnd/>
          </a:ln>
        </p:spPr>
      </p:pic>
      <p:pic>
        <p:nvPicPr>
          <p:cNvPr id="666629" name="Picture 7"/>
          <p:cNvPicPr>
            <a:picLocks noChangeAspect="1" noChangeArrowheads="1"/>
          </p:cNvPicPr>
          <p:nvPr/>
        </p:nvPicPr>
        <p:blipFill>
          <a:blip r:embed="rId3" cstate="print">
            <a:lum bright="-12000" contrast="24000"/>
          </a:blip>
          <a:srcRect/>
          <a:stretch>
            <a:fillRect/>
          </a:stretch>
        </p:blipFill>
        <p:spPr bwMode="auto">
          <a:xfrm>
            <a:off x="4692650" y="2509838"/>
            <a:ext cx="4071938" cy="2646362"/>
          </a:xfrm>
          <a:prstGeom prst="rect">
            <a:avLst/>
          </a:prstGeom>
          <a:noFill/>
          <a:ln w="9525">
            <a:noFill/>
            <a:miter lim="800000"/>
            <a:headEnd/>
            <a:tailEnd/>
          </a:ln>
        </p:spPr>
      </p:pic>
      <p:sp>
        <p:nvSpPr>
          <p:cNvPr id="666630" name="文字方塊 6"/>
          <p:cNvSpPr txBox="1">
            <a:spLocks noChangeArrowheads="1"/>
          </p:cNvSpPr>
          <p:nvPr/>
        </p:nvSpPr>
        <p:spPr bwMode="auto">
          <a:xfrm>
            <a:off x="1616075" y="5818188"/>
            <a:ext cx="6224588" cy="369887"/>
          </a:xfrm>
          <a:prstGeom prst="rect">
            <a:avLst/>
          </a:prstGeom>
          <a:noFill/>
          <a:ln w="9525">
            <a:noFill/>
            <a:miter lim="800000"/>
            <a:headEnd/>
            <a:tailEnd/>
          </a:ln>
        </p:spPr>
        <p:txBody>
          <a:bodyPr wrap="none">
            <a:spAutoFit/>
          </a:bodyPr>
          <a:lstStyle/>
          <a:p>
            <a:r>
              <a:rPr lang="en-US" altLang="zh-TW" dirty="0">
                <a:latin typeface="Times New Roman" pitchFamily="18" charset="0"/>
                <a:ea typeface="新細明體" pitchFamily="18" charset="-120"/>
                <a:cs typeface="Angsana New" pitchFamily="18" charset="-34"/>
              </a:rPr>
              <a:t>Figure 3.15 Gate Implementation of </a:t>
            </a:r>
            <a:r>
              <a:rPr lang="en-US" altLang="zh-TW" i="1" dirty="0" smtClean="0">
                <a:ea typeface="新細明體" pitchFamily="18" charset="-120"/>
              </a:rPr>
              <a:t>F</a:t>
            </a:r>
            <a:r>
              <a:rPr lang="en-US" altLang="zh-TW" dirty="0" smtClean="0">
                <a:ea typeface="新細明體" pitchFamily="18" charset="-120"/>
              </a:rPr>
              <a:t> = </a:t>
            </a:r>
            <a:r>
              <a:rPr lang="en-US" altLang="zh-TW" dirty="0" smtClean="0">
                <a:latin typeface="Symbol" pitchFamily="18" charset="2"/>
                <a:ea typeface="新細明體" pitchFamily="18" charset="-120"/>
              </a:rPr>
              <a:t>S</a:t>
            </a:r>
            <a:r>
              <a:rPr lang="en-US" altLang="zh-TW" dirty="0" smtClean="0">
                <a:ea typeface="新細明體" pitchFamily="18" charset="-120"/>
              </a:rPr>
              <a:t>(0, 1, 2, 5, 8, 9, 10) </a:t>
            </a:r>
            <a:endParaRPr lang="zh-TW" altLang="en-US" dirty="0">
              <a:latin typeface="Times New Roman" pitchFamily="18" charset="0"/>
              <a:ea typeface="新細明體" pitchFamily="18" charset="-120"/>
              <a:cs typeface="Angsana New" pitchFamily="18" charset="-34"/>
            </a:endParaRPr>
          </a:p>
        </p:txBody>
      </p:sp>
      <p:sp>
        <p:nvSpPr>
          <p:cNvPr id="7" name="文字方塊 6"/>
          <p:cNvSpPr txBox="1"/>
          <p:nvPr/>
        </p:nvSpPr>
        <p:spPr>
          <a:xfrm>
            <a:off x="5559425" y="5257800"/>
            <a:ext cx="2322513" cy="339725"/>
          </a:xfrm>
          <a:prstGeom prst="rect">
            <a:avLst/>
          </a:prstGeom>
          <a:solidFill>
            <a:schemeClr val="accent2">
              <a:lumMod val="60000"/>
              <a:lumOff val="40000"/>
            </a:schemeClr>
          </a:solidFill>
          <a:ln w="25400">
            <a:noFill/>
          </a:ln>
        </p:spPr>
        <p:txBody>
          <a:bodyPr>
            <a:spAutoFit/>
          </a:bodyPr>
          <a:lstStyle/>
          <a:p>
            <a:pPr algn="ctr"/>
            <a:r>
              <a:rPr lang="en-US" altLang="zh-TW" sz="1600">
                <a:solidFill>
                  <a:schemeClr val="bg1"/>
                </a:solidFill>
                <a:latin typeface="Book Antiqua" pitchFamily="18" charset="0"/>
                <a:ea typeface="標楷體" pitchFamily="65" charset="-120"/>
                <a:cs typeface="Angsana New" pitchFamily="18" charset="-34"/>
              </a:rPr>
              <a:t>Product-of sums form</a:t>
            </a:r>
            <a:endParaRPr lang="zh-TW" altLang="en-US" sz="1600">
              <a:solidFill>
                <a:schemeClr val="bg1"/>
              </a:solidFill>
              <a:latin typeface="Book Antiqua" pitchFamily="18" charset="0"/>
              <a:ea typeface="標楷體" pitchFamily="65" charset="-120"/>
              <a:cs typeface="Angsana New" pitchFamily="18" charset="-34"/>
            </a:endParaRPr>
          </a:p>
        </p:txBody>
      </p:sp>
      <p:sp>
        <p:nvSpPr>
          <p:cNvPr id="8" name="文字方塊 7"/>
          <p:cNvSpPr txBox="1"/>
          <p:nvPr/>
        </p:nvSpPr>
        <p:spPr>
          <a:xfrm>
            <a:off x="1020763" y="5275263"/>
            <a:ext cx="2324100" cy="338137"/>
          </a:xfrm>
          <a:prstGeom prst="rect">
            <a:avLst/>
          </a:prstGeom>
          <a:solidFill>
            <a:schemeClr val="accent2">
              <a:lumMod val="60000"/>
              <a:lumOff val="40000"/>
            </a:schemeClr>
          </a:solidFill>
          <a:ln w="25400">
            <a:noFill/>
          </a:ln>
        </p:spPr>
        <p:txBody>
          <a:bodyPr>
            <a:spAutoFit/>
          </a:bodyPr>
          <a:lstStyle/>
          <a:p>
            <a:pPr algn="ctr"/>
            <a:r>
              <a:rPr lang="en-US" altLang="zh-TW" sz="1600">
                <a:solidFill>
                  <a:schemeClr val="bg1"/>
                </a:solidFill>
                <a:latin typeface="Book Antiqua" pitchFamily="18" charset="0"/>
                <a:ea typeface="標楷體" pitchFamily="65" charset="-120"/>
                <a:cs typeface="Angsana New" pitchFamily="18" charset="-34"/>
              </a:rPr>
              <a:t>Sum-of products form</a:t>
            </a:r>
            <a:endParaRPr lang="zh-TW" altLang="en-US" sz="1600">
              <a:solidFill>
                <a:schemeClr val="bg1"/>
              </a:solidFill>
              <a:latin typeface="Book Antiqua" pitchFamily="18" charset="0"/>
              <a:ea typeface="標楷體" pitchFamily="65" charset="-120"/>
              <a:cs typeface="Angsana New" pitchFamily="18" charset="-34"/>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1" name="內容版面配置區 2"/>
          <p:cNvSpPr>
            <a:spLocks noGrp="1"/>
          </p:cNvSpPr>
          <p:nvPr>
            <p:ph idx="4294967295"/>
          </p:nvPr>
        </p:nvSpPr>
        <p:spPr/>
        <p:txBody>
          <a:bodyPr lIns="90488" tIns="44450" rIns="90488" bIns="44450"/>
          <a:lstStyle/>
          <a:p>
            <a:r>
              <a:rPr lang="en-US" altLang="zh-TW" dirty="0">
                <a:ea typeface="新細明體" pitchFamily="18" charset="-120"/>
              </a:rPr>
              <a:t>Consider the function defined in Table 3.2.</a:t>
            </a:r>
          </a:p>
          <a:p>
            <a:pPr lvl="1"/>
            <a:r>
              <a:rPr lang="en-US" altLang="zh-TW" dirty="0">
                <a:ea typeface="新細明體" pitchFamily="18" charset="-120"/>
              </a:rPr>
              <a:t>In sum-of-</a:t>
            </a:r>
            <a:r>
              <a:rPr lang="en-US" altLang="zh-TW" dirty="0" err="1">
                <a:ea typeface="新細明體" pitchFamily="18" charset="-120"/>
              </a:rPr>
              <a:t>minterm</a:t>
            </a:r>
            <a:r>
              <a:rPr lang="en-US" altLang="zh-TW" dirty="0">
                <a:ea typeface="新細明體" pitchFamily="18" charset="-120"/>
              </a:rPr>
              <a:t>:</a:t>
            </a:r>
          </a:p>
          <a:p>
            <a:pPr lvl="1"/>
            <a:endParaRPr lang="en-US" altLang="zh-TW" dirty="0">
              <a:ea typeface="新細明體" pitchFamily="18" charset="-120"/>
            </a:endParaRPr>
          </a:p>
          <a:p>
            <a:pPr lvl="1"/>
            <a:endParaRPr lang="en-US" altLang="zh-TW" dirty="0">
              <a:ea typeface="新細明體" pitchFamily="18" charset="-120"/>
            </a:endParaRPr>
          </a:p>
          <a:p>
            <a:pPr lvl="1">
              <a:buFont typeface="Wingdings" pitchFamily="2" charset="2"/>
              <a:buNone/>
            </a:pPr>
            <a:endParaRPr lang="en-US" altLang="zh-TW" dirty="0">
              <a:ea typeface="新細明體" pitchFamily="18" charset="-120"/>
            </a:endParaRPr>
          </a:p>
          <a:p>
            <a:pPr lvl="1"/>
            <a:r>
              <a:rPr lang="en-US" altLang="zh-TW" dirty="0">
                <a:ea typeface="新細明體" pitchFamily="18" charset="-120"/>
              </a:rPr>
              <a:t>In sum-of-</a:t>
            </a:r>
            <a:r>
              <a:rPr lang="en-US" altLang="zh-TW" dirty="0" err="1">
                <a:ea typeface="新細明體" pitchFamily="18" charset="-120"/>
              </a:rPr>
              <a:t>maxterm</a:t>
            </a:r>
            <a:r>
              <a:rPr lang="en-US" altLang="zh-TW" dirty="0">
                <a:ea typeface="新細明體" pitchFamily="18" charset="-120"/>
              </a:rPr>
              <a:t>:</a:t>
            </a:r>
          </a:p>
          <a:p>
            <a:pPr lvl="1"/>
            <a:endParaRPr lang="en-US" altLang="zh-TW" dirty="0">
              <a:ea typeface="新細明體" pitchFamily="18" charset="-120"/>
            </a:endParaRPr>
          </a:p>
          <a:p>
            <a:pPr lvl="1">
              <a:buFont typeface="Wingdings" pitchFamily="2" charset="2"/>
              <a:buNone/>
            </a:pPr>
            <a:endParaRPr lang="en-US" altLang="zh-TW" dirty="0">
              <a:ea typeface="新細明體" pitchFamily="18" charset="-120"/>
            </a:endParaRPr>
          </a:p>
          <a:p>
            <a:pPr lvl="1"/>
            <a:endParaRPr lang="en-US" altLang="zh-TW" dirty="0">
              <a:ea typeface="新細明體" pitchFamily="18" charset="-120"/>
            </a:endParaRPr>
          </a:p>
        </p:txBody>
      </p:sp>
      <p:sp>
        <p:nvSpPr>
          <p:cNvPr id="667650" name="標題 1"/>
          <p:cNvSpPr>
            <a:spLocks noGrp="1"/>
          </p:cNvSpPr>
          <p:nvPr>
            <p:ph type="title" idx="4294967295"/>
          </p:nvPr>
        </p:nvSpPr>
        <p:spPr/>
        <p:txBody>
          <a:bodyPr lIns="0" tIns="0" rIns="0" bIns="0"/>
          <a:lstStyle/>
          <a:p>
            <a:r>
              <a:rPr lang="en-US" altLang="zh-TW" dirty="0" smtClean="0">
                <a:ea typeface="新細明體" pitchFamily="18" charset="-120"/>
              </a:rPr>
              <a:t>Product of </a:t>
            </a:r>
            <a:r>
              <a:rPr lang="en-US" altLang="zh-TW" dirty="0" err="1" smtClean="0">
                <a:ea typeface="新細明體" pitchFamily="18" charset="-120"/>
              </a:rPr>
              <a:t>Maxterms</a:t>
            </a:r>
            <a:endParaRPr lang="zh-TW" altLang="en-US" sz="2500" dirty="0">
              <a:ea typeface="新細明體" pitchFamily="18" charset="-120"/>
            </a:endParaRPr>
          </a:p>
        </p:txBody>
      </p:sp>
      <p:graphicFrame>
        <p:nvGraphicFramePr>
          <p:cNvPr id="667652" name="Object 10"/>
          <p:cNvGraphicFramePr>
            <a:graphicFrameLocks noChangeAspect="1"/>
          </p:cNvGraphicFramePr>
          <p:nvPr/>
        </p:nvGraphicFramePr>
        <p:xfrm>
          <a:off x="1165225" y="2395538"/>
          <a:ext cx="2894013" cy="490537"/>
        </p:xfrm>
        <a:graphic>
          <a:graphicData uri="http://schemas.openxmlformats.org/presentationml/2006/ole">
            <mc:AlternateContent xmlns:mc="http://schemas.openxmlformats.org/markup-compatibility/2006">
              <mc:Choice xmlns:v="urn:schemas-microsoft-com:vml" Requires="v">
                <p:oleObj spid="_x0000_s311300" name="Equation" r:id="rId3" imgW="1498320" imgH="253800" progId="">
                  <p:embed/>
                </p:oleObj>
              </mc:Choice>
              <mc:Fallback>
                <p:oleObj name="Equation" r:id="rId3" imgW="1498320" imgH="253800"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225" y="2395538"/>
                        <a:ext cx="2894013" cy="490537"/>
                      </a:xfrm>
                      <a:prstGeom prst="rect">
                        <a:avLst/>
                      </a:prstGeom>
                      <a:noFill/>
                      <a:ln w="19050">
                        <a:solidFill>
                          <a:srgbClr val="00FF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67653" name="Picture 6"/>
          <p:cNvPicPr>
            <a:picLocks noChangeAspect="1" noChangeArrowheads="1"/>
          </p:cNvPicPr>
          <p:nvPr/>
        </p:nvPicPr>
        <p:blipFill>
          <a:blip r:embed="rId5" cstate="print">
            <a:lum bright="-6000" contrast="18000"/>
          </a:blip>
          <a:srcRect/>
          <a:stretch>
            <a:fillRect/>
          </a:stretch>
        </p:blipFill>
        <p:spPr bwMode="auto">
          <a:xfrm>
            <a:off x="4278849" y="2097973"/>
            <a:ext cx="3808412" cy="4011613"/>
          </a:xfrm>
          <a:prstGeom prst="rect">
            <a:avLst/>
          </a:prstGeom>
          <a:noFill/>
          <a:ln w="9525">
            <a:noFill/>
            <a:miter lim="800000"/>
            <a:headEnd/>
            <a:tailEnd/>
          </a:ln>
        </p:spPr>
      </p:pic>
      <p:graphicFrame>
        <p:nvGraphicFramePr>
          <p:cNvPr id="11" name="Object 10"/>
          <p:cNvGraphicFramePr>
            <a:graphicFrameLocks noChangeAspect="1"/>
          </p:cNvGraphicFramePr>
          <p:nvPr/>
        </p:nvGraphicFramePr>
        <p:xfrm>
          <a:off x="1175657" y="3989862"/>
          <a:ext cx="2880509" cy="492395"/>
        </p:xfrm>
        <a:graphic>
          <a:graphicData uri="http://schemas.openxmlformats.org/presentationml/2006/ole">
            <mc:AlternateContent xmlns:mc="http://schemas.openxmlformats.org/markup-compatibility/2006">
              <mc:Choice xmlns:v="urn:schemas-microsoft-com:vml" Requires="v">
                <p:oleObj spid="_x0000_s311301" name="Equation" r:id="rId6" imgW="1485720" imgH="253800" progId="Equation.3">
                  <p:embed/>
                </p:oleObj>
              </mc:Choice>
              <mc:Fallback>
                <p:oleObj name="Equation" r:id="rId6" imgW="1485720" imgH="25380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5657" y="3989862"/>
                        <a:ext cx="2880509" cy="492395"/>
                      </a:xfrm>
                      <a:prstGeom prst="rect">
                        <a:avLst/>
                      </a:prstGeom>
                      <a:noFill/>
                      <a:ln w="25400">
                        <a:solidFill>
                          <a:srgbClr val="00FF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標題 1"/>
          <p:cNvSpPr>
            <a:spLocks noGrp="1"/>
          </p:cNvSpPr>
          <p:nvPr>
            <p:ph type="title" idx="4294967295"/>
          </p:nvPr>
        </p:nvSpPr>
        <p:spPr/>
        <p:txBody>
          <a:bodyPr lIns="0" tIns="0" rIns="0" bIns="0"/>
          <a:lstStyle/>
          <a:p>
            <a:r>
              <a:rPr lang="en-US" altLang="zh-TW" dirty="0" smtClean="0">
                <a:ea typeface="新細明體" pitchFamily="18" charset="-120"/>
              </a:rPr>
              <a:t>Product of </a:t>
            </a:r>
            <a:r>
              <a:rPr lang="en-US" altLang="zh-TW" dirty="0" err="1" smtClean="0">
                <a:ea typeface="新細明體" pitchFamily="18" charset="-120"/>
              </a:rPr>
              <a:t>Maxterms</a:t>
            </a:r>
            <a:endParaRPr lang="zh-TW" altLang="en-US" dirty="0">
              <a:ea typeface="新細明體" pitchFamily="18" charset="-120"/>
            </a:endParaRPr>
          </a:p>
        </p:txBody>
      </p:sp>
      <p:sp>
        <p:nvSpPr>
          <p:cNvPr id="668675" name="內容版面配置區 2"/>
          <p:cNvSpPr>
            <a:spLocks noGrp="1"/>
          </p:cNvSpPr>
          <p:nvPr>
            <p:ph idx="4294967295"/>
          </p:nvPr>
        </p:nvSpPr>
        <p:spPr/>
        <p:txBody>
          <a:bodyPr lIns="90488" tIns="44450" rIns="90488" bIns="44450"/>
          <a:lstStyle/>
          <a:p>
            <a:r>
              <a:rPr lang="en-US" altLang="zh-TW" dirty="0">
                <a:ea typeface="新細明體" pitchFamily="18" charset="-120"/>
              </a:rPr>
              <a:t>Consider the function defined in Table 3.2.</a:t>
            </a:r>
          </a:p>
          <a:p>
            <a:pPr lvl="1"/>
            <a:r>
              <a:rPr lang="en-US" altLang="zh-TW" dirty="0">
                <a:ea typeface="新細明體" pitchFamily="18" charset="-120"/>
              </a:rPr>
              <a:t>Combine the 1’s:</a:t>
            </a:r>
          </a:p>
          <a:p>
            <a:pPr lvl="1"/>
            <a:endParaRPr lang="en-US" altLang="zh-TW" dirty="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pPr lvl="1"/>
            <a:r>
              <a:rPr lang="en-US" altLang="zh-TW" dirty="0">
                <a:ea typeface="新細明體" pitchFamily="18" charset="-120"/>
              </a:rPr>
              <a:t>Combine the 0’s </a:t>
            </a:r>
            <a:r>
              <a:rPr lang="en-US" altLang="zh-TW" dirty="0" smtClean="0">
                <a:ea typeface="新細明體" pitchFamily="18" charset="-120"/>
              </a:rPr>
              <a:t>:</a:t>
            </a:r>
          </a:p>
          <a:p>
            <a:pPr lvl="1"/>
            <a:endParaRPr lang="en-US" altLang="zh-TW" dirty="0" smtClean="0">
              <a:ea typeface="新細明體" pitchFamily="18" charset="-120"/>
            </a:endParaRPr>
          </a:p>
          <a:p>
            <a:pPr lvl="1">
              <a:buNone/>
            </a:pPr>
            <a:endParaRPr lang="en-AU" altLang="zh-TW" dirty="0" smtClean="0">
              <a:ea typeface="新細明體" pitchFamily="18" charset="-120"/>
            </a:endParaRPr>
          </a:p>
          <a:p>
            <a:pPr lvl="1"/>
            <a:r>
              <a:rPr lang="en-AU" altLang="zh-TW" dirty="0" smtClean="0">
                <a:ea typeface="新細明體" pitchFamily="18" charset="-120"/>
              </a:rPr>
              <a:t>Taking the complement of </a:t>
            </a:r>
            <a:r>
              <a:rPr lang="en-AU" altLang="zh-TW" i="1" dirty="0" smtClean="0">
                <a:ea typeface="新細明體" pitchFamily="18" charset="-120"/>
              </a:rPr>
              <a:t>F'</a:t>
            </a:r>
          </a:p>
          <a:p>
            <a:pPr lvl="1"/>
            <a:endParaRPr lang="en-US" altLang="zh-TW" dirty="0" smtClean="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pPr lvl="1"/>
            <a:endParaRPr lang="en-US" altLang="zh-TW" dirty="0">
              <a:ea typeface="新細明體" pitchFamily="18" charset="-120"/>
            </a:endParaRPr>
          </a:p>
          <a:p>
            <a:endParaRPr lang="zh-TW" altLang="en-US" dirty="0">
              <a:ea typeface="新細明體" pitchFamily="18" charset="-120"/>
            </a:endParaRPr>
          </a:p>
        </p:txBody>
      </p:sp>
      <p:graphicFrame>
        <p:nvGraphicFramePr>
          <p:cNvPr id="668676" name="Object 4"/>
          <p:cNvGraphicFramePr>
            <a:graphicFrameLocks noChangeAspect="1"/>
          </p:cNvGraphicFramePr>
          <p:nvPr/>
        </p:nvGraphicFramePr>
        <p:xfrm>
          <a:off x="1158875" y="2484888"/>
          <a:ext cx="2593975" cy="415925"/>
        </p:xfrm>
        <a:graphic>
          <a:graphicData uri="http://schemas.openxmlformats.org/presentationml/2006/ole">
            <mc:AlternateContent xmlns:mc="http://schemas.openxmlformats.org/markup-compatibility/2006">
              <mc:Choice xmlns:v="urn:schemas-microsoft-com:vml" Requires="v">
                <p:oleObj spid="_x0000_s312325" name="Equation" r:id="rId3" imgW="1269720" imgH="203040" progId="">
                  <p:embed/>
                </p:oleObj>
              </mc:Choice>
              <mc:Fallback>
                <p:oleObj name="Equation" r:id="rId3" imgW="1269720" imgH="20304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875" y="2484888"/>
                        <a:ext cx="2593975" cy="415925"/>
                      </a:xfrm>
                      <a:prstGeom prst="rect">
                        <a:avLst/>
                      </a:prstGeom>
                      <a:noFill/>
                      <a:ln w="19050">
                        <a:solidFill>
                          <a:srgbClr val="33CC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8677" name="Object 6"/>
          <p:cNvGraphicFramePr>
            <a:graphicFrameLocks noChangeAspect="1"/>
          </p:cNvGraphicFramePr>
          <p:nvPr/>
        </p:nvGraphicFramePr>
        <p:xfrm>
          <a:off x="1122424" y="4049220"/>
          <a:ext cx="2581275" cy="412750"/>
        </p:xfrm>
        <a:graphic>
          <a:graphicData uri="http://schemas.openxmlformats.org/presentationml/2006/ole">
            <mc:AlternateContent xmlns:mc="http://schemas.openxmlformats.org/markup-compatibility/2006">
              <mc:Choice xmlns:v="urn:schemas-microsoft-com:vml" Requires="v">
                <p:oleObj spid="_x0000_s312326" name="Equation" r:id="rId5" imgW="1269720" imgH="203040" progId="">
                  <p:embed/>
                </p:oleObj>
              </mc:Choice>
              <mc:Fallback>
                <p:oleObj name="Equation" r:id="rId5" imgW="1269720" imgH="203040"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424" y="4049220"/>
                        <a:ext cx="2581275" cy="412750"/>
                      </a:xfrm>
                      <a:prstGeom prst="rect">
                        <a:avLst/>
                      </a:prstGeom>
                      <a:noFill/>
                      <a:ln w="19050">
                        <a:solidFill>
                          <a:srgbClr val="33CC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68678" name="Picture 8"/>
          <p:cNvPicPr>
            <a:picLocks noChangeAspect="1" noChangeArrowheads="1"/>
          </p:cNvPicPr>
          <p:nvPr/>
        </p:nvPicPr>
        <p:blipFill>
          <a:blip r:embed="rId7" cstate="print">
            <a:lum bright="-6000" contrast="12000"/>
          </a:blip>
          <a:srcRect r="2437"/>
          <a:stretch>
            <a:fillRect/>
          </a:stretch>
        </p:blipFill>
        <p:spPr bwMode="auto">
          <a:xfrm>
            <a:off x="4802500" y="2101936"/>
            <a:ext cx="3810741" cy="2980706"/>
          </a:xfrm>
          <a:prstGeom prst="rect">
            <a:avLst/>
          </a:prstGeom>
          <a:noFill/>
          <a:ln w="9525">
            <a:noFill/>
            <a:miter lim="800000"/>
            <a:headEnd/>
            <a:tailEnd/>
          </a:ln>
        </p:spPr>
      </p:pic>
      <p:sp>
        <p:nvSpPr>
          <p:cNvPr id="668679" name="文字方塊 6"/>
          <p:cNvSpPr txBox="1">
            <a:spLocks noChangeArrowheads="1"/>
          </p:cNvSpPr>
          <p:nvPr/>
        </p:nvSpPr>
        <p:spPr bwMode="auto">
          <a:xfrm>
            <a:off x="4601029" y="5338618"/>
            <a:ext cx="4384675" cy="368300"/>
          </a:xfrm>
          <a:prstGeom prst="rect">
            <a:avLst/>
          </a:prstGeom>
          <a:noFill/>
          <a:ln w="9525">
            <a:noFill/>
            <a:miter lim="800000"/>
            <a:headEnd/>
            <a:tailEnd/>
          </a:ln>
        </p:spPr>
        <p:txBody>
          <a:bodyPr wrap="none">
            <a:spAutoFit/>
          </a:bodyPr>
          <a:lstStyle/>
          <a:p>
            <a:r>
              <a:rPr lang="en-US" altLang="zh-TW" dirty="0">
                <a:latin typeface="Times New Roman" pitchFamily="18" charset="0"/>
                <a:ea typeface="新細明體" pitchFamily="18" charset="-120"/>
                <a:cs typeface="Angsana New" pitchFamily="18" charset="-34"/>
              </a:rPr>
              <a:t>Figure 3.16 Map for the function of Table 3.2</a:t>
            </a:r>
            <a:endParaRPr lang="zh-TW" altLang="en-US" dirty="0">
              <a:latin typeface="Times New Roman" pitchFamily="18" charset="0"/>
              <a:ea typeface="新細明體" pitchFamily="18" charset="-120"/>
              <a:cs typeface="Angsana New" pitchFamily="18" charset="-34"/>
            </a:endParaRPr>
          </a:p>
        </p:txBody>
      </p:sp>
      <p:sp>
        <p:nvSpPr>
          <p:cNvPr id="9" name="矩形 8"/>
          <p:cNvSpPr/>
          <p:nvPr/>
        </p:nvSpPr>
        <p:spPr>
          <a:xfrm>
            <a:off x="1278000" y="3973013"/>
            <a:ext cx="255588" cy="400050"/>
          </a:xfrm>
          <a:prstGeom prst="rect">
            <a:avLst/>
          </a:prstGeom>
        </p:spPr>
        <p:txBody>
          <a:bodyPr wrap="none">
            <a:spAutoFit/>
          </a:bodyPr>
          <a:lstStyle/>
          <a:p>
            <a:r>
              <a:rPr kumimoji="1" lang="en-US" altLang="zh-TW" sz="2000" b="1" i="1" dirty="0">
                <a:latin typeface="Times New Roman" pitchFamily="18" charset="0"/>
                <a:ea typeface="新細明體" pitchFamily="18" charset="-120"/>
                <a:cs typeface="Times New Roman" pitchFamily="18" charset="0"/>
              </a:rPr>
              <a:t>'</a:t>
            </a:r>
            <a:endParaRPr lang="zh-TW" altLang="en-US" sz="2000" b="1" i="1" u="sng" dirty="0">
              <a:solidFill>
                <a:srgbClr val="003366"/>
              </a:solidFill>
              <a:latin typeface="Times New Roman" pitchFamily="18" charset="0"/>
              <a:ea typeface="新細明體" pitchFamily="18" charset="-120"/>
              <a:cs typeface="Times New Roman" pitchFamily="18" charset="0"/>
            </a:endParaRPr>
          </a:p>
        </p:txBody>
      </p:sp>
      <p:graphicFrame>
        <p:nvGraphicFramePr>
          <p:cNvPr id="258052" name="Object 26"/>
          <p:cNvGraphicFramePr>
            <a:graphicFrameLocks noChangeAspect="1"/>
          </p:cNvGraphicFramePr>
          <p:nvPr/>
        </p:nvGraphicFramePr>
        <p:xfrm>
          <a:off x="1102613" y="5275428"/>
          <a:ext cx="3187700" cy="392112"/>
        </p:xfrm>
        <a:graphic>
          <a:graphicData uri="http://schemas.openxmlformats.org/presentationml/2006/ole">
            <mc:AlternateContent xmlns:mc="http://schemas.openxmlformats.org/markup-compatibility/2006">
              <mc:Choice xmlns:v="urn:schemas-microsoft-com:vml" Requires="v">
                <p:oleObj spid="_x0000_s312327" name="Equation" r:id="rId8" imgW="1650960" imgH="203040" progId="">
                  <p:embed/>
                </p:oleObj>
              </mc:Choice>
              <mc:Fallback>
                <p:oleObj name="Equation" r:id="rId8" imgW="1650960" imgH="203040" progId="">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2613" y="5275428"/>
                        <a:ext cx="3187700" cy="392112"/>
                      </a:xfrm>
                      <a:prstGeom prst="rect">
                        <a:avLst/>
                      </a:prstGeom>
                      <a:noFill/>
                      <a:ln w="19050">
                        <a:solidFill>
                          <a:srgbClr val="33CC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Map Method: Summary</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altLang="zh-TW" dirty="0" smtClean="0">
                <a:ea typeface="新細明體" pitchFamily="18" charset="-120"/>
              </a:rPr>
              <a:t>Simplification procedure:</a:t>
            </a:r>
          </a:p>
          <a:p>
            <a:pPr lvl="1"/>
            <a:r>
              <a:rPr lang="en-AU" altLang="zh-TW" sz="2400" dirty="0" smtClean="0">
                <a:ea typeface="新細明體" pitchFamily="18" charset="-120"/>
              </a:rPr>
              <a:t>Generate K-map.</a:t>
            </a:r>
          </a:p>
          <a:p>
            <a:pPr lvl="1"/>
            <a:r>
              <a:rPr lang="en-AU" altLang="zh-TW" sz="2400" dirty="0" smtClean="0">
                <a:ea typeface="新細明體" pitchFamily="18" charset="-120"/>
              </a:rPr>
              <a:t>Determine PIs.</a:t>
            </a:r>
          </a:p>
          <a:p>
            <a:pPr lvl="1"/>
            <a:r>
              <a:rPr lang="en-AU" altLang="zh-TW" sz="2400" dirty="0" smtClean="0">
                <a:ea typeface="新細明體" pitchFamily="18" charset="-120"/>
              </a:rPr>
              <a:t>Select </a:t>
            </a:r>
            <a:r>
              <a:rPr lang="en-AU" altLang="zh-TW" sz="2400" dirty="0" err="1" smtClean="0">
                <a:ea typeface="新細明體" pitchFamily="18" charset="-120"/>
              </a:rPr>
              <a:t>EPIs.</a:t>
            </a:r>
            <a:endParaRPr lang="en-AU" altLang="zh-TW" sz="2400" dirty="0" smtClean="0">
              <a:ea typeface="新細明體" pitchFamily="18" charset="-120"/>
            </a:endParaRPr>
          </a:p>
          <a:p>
            <a:pPr lvl="1"/>
            <a:r>
              <a:rPr lang="en-AU" altLang="zh-TW" sz="2400" dirty="0" smtClean="0">
                <a:ea typeface="新細明體" pitchFamily="18" charset="-120"/>
              </a:rPr>
              <a:t>Find minimal cover (set) of PIs.</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Simplification of Boolean functions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lnSpcReduction="10000"/>
          </a:bodyPr>
          <a:lstStyle/>
          <a:p>
            <a:r>
              <a:rPr lang="en-AU" altLang="zh-TW" dirty="0" smtClean="0">
                <a:ea typeface="新細明體" pitchFamily="18" charset="-120"/>
              </a:rPr>
              <a:t>3 common methods:</a:t>
            </a:r>
          </a:p>
          <a:p>
            <a:r>
              <a:rPr lang="en-AU" altLang="zh-TW" dirty="0" smtClean="0">
                <a:solidFill>
                  <a:srgbClr val="002060"/>
                </a:solidFill>
                <a:ea typeface="新細明體" pitchFamily="18" charset="-120"/>
              </a:rPr>
              <a:t>Boolean algebra</a:t>
            </a:r>
            <a:r>
              <a:rPr lang="en-AU" altLang="zh-TW" dirty="0" smtClean="0">
                <a:ea typeface="新細明體" pitchFamily="18" charset="-120"/>
              </a:rPr>
              <a:t>     </a:t>
            </a:r>
          </a:p>
          <a:p>
            <a:pPr lvl="1"/>
            <a:r>
              <a:rPr lang="en-AU" altLang="zh-TW" dirty="0" smtClean="0">
                <a:ea typeface="新細明體" pitchFamily="18" charset="-120"/>
              </a:rPr>
              <a:t>The basis for all methods</a:t>
            </a:r>
          </a:p>
          <a:p>
            <a:pPr lvl="1"/>
            <a:r>
              <a:rPr lang="en-AU" altLang="zh-TW" dirty="0" smtClean="0">
                <a:ea typeface="新細明體" pitchFamily="18" charset="-120"/>
              </a:rPr>
              <a:t>Difficult to see the best path to take and to know when you are finished</a:t>
            </a:r>
          </a:p>
          <a:p>
            <a:r>
              <a:rPr lang="en-AU" altLang="zh-TW" dirty="0" err="1" smtClean="0">
                <a:solidFill>
                  <a:srgbClr val="002060"/>
                </a:solidFill>
                <a:ea typeface="新細明體" pitchFamily="18" charset="-120"/>
              </a:rPr>
              <a:t>Karnaugh</a:t>
            </a:r>
            <a:r>
              <a:rPr lang="en-AU" altLang="zh-TW" dirty="0" smtClean="0">
                <a:solidFill>
                  <a:srgbClr val="002060"/>
                </a:solidFill>
                <a:ea typeface="新細明體" pitchFamily="18" charset="-120"/>
              </a:rPr>
              <a:t> maps</a:t>
            </a:r>
            <a:r>
              <a:rPr lang="en-AU" altLang="zh-TW" dirty="0" smtClean="0">
                <a:ea typeface="新細明體" pitchFamily="18" charset="-120"/>
              </a:rPr>
              <a:t>       </a:t>
            </a:r>
          </a:p>
          <a:p>
            <a:pPr lvl="1"/>
            <a:r>
              <a:rPr lang="en-AU" altLang="zh-TW" dirty="0" smtClean="0">
                <a:ea typeface="新細明體" pitchFamily="18" charset="-120"/>
              </a:rPr>
              <a:t>Fast and easy for 2 – 6 variables</a:t>
            </a:r>
          </a:p>
          <a:p>
            <a:pPr lvl="1"/>
            <a:r>
              <a:rPr lang="en-AU" altLang="zh-TW" dirty="0" smtClean="0">
                <a:ea typeface="新細明體" pitchFamily="18" charset="-120"/>
              </a:rPr>
              <a:t>Pictorial approach based on recognition of patterns</a:t>
            </a:r>
          </a:p>
          <a:p>
            <a:pPr lvl="1"/>
            <a:r>
              <a:rPr lang="en-AU" altLang="zh-TW" dirty="0" smtClean="0">
                <a:ea typeface="新細明體" pitchFamily="18" charset="-120"/>
              </a:rPr>
              <a:t>Difficult for large numbers of variables</a:t>
            </a:r>
          </a:p>
          <a:p>
            <a:r>
              <a:rPr lang="en-AU" altLang="zh-TW" dirty="0" smtClean="0">
                <a:solidFill>
                  <a:srgbClr val="002060"/>
                </a:solidFill>
                <a:ea typeface="新細明體" pitchFamily="18" charset="-120"/>
              </a:rPr>
              <a:t>Tabulation methods</a:t>
            </a:r>
          </a:p>
          <a:p>
            <a:pPr lvl="1"/>
            <a:r>
              <a:rPr lang="en-AU" altLang="zh-TW" dirty="0" smtClean="0">
                <a:ea typeface="新細明體" pitchFamily="18" charset="-120"/>
              </a:rPr>
              <a:t>Tedious to perform by hand, but well suited to computer implementation</a:t>
            </a:r>
          </a:p>
          <a:p>
            <a:pPr lvl="1"/>
            <a:r>
              <a:rPr lang="en-AU" altLang="zh-TW" dirty="0" smtClean="0">
                <a:ea typeface="新細明體" pitchFamily="18" charset="-120"/>
              </a:rPr>
              <a:t>No limit on the number of variables</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Tabulation Methods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altLang="zh-TW" dirty="0" smtClean="0">
                <a:ea typeface="新細明體" pitchFamily="18" charset="-120"/>
              </a:rPr>
              <a:t>The tabulation method was first formulated by </a:t>
            </a:r>
            <a:r>
              <a:rPr lang="en-AU" altLang="zh-TW" dirty="0" err="1" smtClean="0">
                <a:ea typeface="新細明體" pitchFamily="18" charset="-120"/>
              </a:rPr>
              <a:t>Quine</a:t>
            </a:r>
            <a:r>
              <a:rPr lang="en-AU" altLang="zh-TW" dirty="0" smtClean="0">
                <a:ea typeface="新細明體" pitchFamily="18" charset="-120"/>
              </a:rPr>
              <a:t> and later improved by </a:t>
            </a:r>
            <a:r>
              <a:rPr lang="en-AU" altLang="zh-TW" dirty="0" err="1" smtClean="0">
                <a:ea typeface="新細明體" pitchFamily="18" charset="-120"/>
              </a:rPr>
              <a:t>McCluskey</a:t>
            </a:r>
            <a:r>
              <a:rPr lang="en-AU" altLang="zh-TW" dirty="0" smtClean="0">
                <a:ea typeface="新細明體" pitchFamily="18" charset="-120"/>
              </a:rPr>
              <a:t>. It is also known as the </a:t>
            </a:r>
            <a:r>
              <a:rPr lang="en-AU" altLang="zh-TW" dirty="0" err="1" smtClean="0">
                <a:solidFill>
                  <a:srgbClr val="002060"/>
                </a:solidFill>
                <a:ea typeface="新細明體" pitchFamily="18" charset="-120"/>
              </a:rPr>
              <a:t>Quine-McCluskey</a:t>
            </a:r>
            <a:r>
              <a:rPr lang="en-AU" altLang="zh-TW" dirty="0" smtClean="0">
                <a:ea typeface="新細明體" pitchFamily="18" charset="-120"/>
              </a:rPr>
              <a:t> method.</a:t>
            </a:r>
          </a:p>
          <a:p>
            <a:endParaRPr lang="en-AU" altLang="zh-TW" dirty="0" smtClean="0">
              <a:ea typeface="新細明體" pitchFamily="18" charset="-120"/>
            </a:endParaRPr>
          </a:p>
          <a:p>
            <a:r>
              <a:rPr lang="en-AU" dirty="0" smtClean="0"/>
              <a:t>Simplification consists of two parts:</a:t>
            </a:r>
          </a:p>
          <a:p>
            <a:pPr lvl="1"/>
            <a:r>
              <a:rPr lang="en-AU" altLang="zh-TW" sz="2400" dirty="0" smtClean="0">
                <a:ea typeface="新細明體" pitchFamily="18" charset="-120"/>
              </a:rPr>
              <a:t>To find candidate prime </a:t>
            </a:r>
            <a:r>
              <a:rPr lang="en-AU" altLang="zh-TW" sz="2400" dirty="0" err="1" smtClean="0">
                <a:ea typeface="新細明體" pitchFamily="18" charset="-120"/>
              </a:rPr>
              <a:t>implicants</a:t>
            </a:r>
            <a:r>
              <a:rPr lang="en-AU" altLang="zh-TW" sz="2400" dirty="0" smtClean="0">
                <a:ea typeface="新細明體" pitchFamily="18" charset="-120"/>
              </a:rPr>
              <a:t>.</a:t>
            </a:r>
          </a:p>
          <a:p>
            <a:pPr lvl="1"/>
            <a:r>
              <a:rPr lang="en-AU" sz="2400" dirty="0" smtClean="0"/>
              <a:t>To choose the prime </a:t>
            </a:r>
            <a:r>
              <a:rPr lang="en-AU" sz="2400" dirty="0" err="1" smtClean="0"/>
              <a:t>implicants</a:t>
            </a:r>
            <a:r>
              <a:rPr lang="en-AU" sz="2400" dirty="0" smtClean="0"/>
              <a:t> that give an expression with the least number of literals (i.e., minimal cover generation).</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rmAutofit/>
          </a:bodyPr>
          <a:lstStyle/>
          <a:p>
            <a:r>
              <a:rPr lang="en-AU" dirty="0" smtClean="0"/>
              <a:t>Group </a:t>
            </a:r>
            <a:r>
              <a:rPr lang="en-AU" dirty="0" err="1" smtClean="0"/>
              <a:t>minterms</a:t>
            </a:r>
            <a:r>
              <a:rPr lang="en-AU" dirty="0" smtClean="0"/>
              <a:t> by number of 1s.</a:t>
            </a:r>
          </a:p>
          <a:p>
            <a:r>
              <a:rPr lang="en-AU" dirty="0" smtClean="0"/>
              <a:t>Compare </a:t>
            </a:r>
            <a:r>
              <a:rPr lang="en-AU" dirty="0" err="1" smtClean="0"/>
              <a:t>minterms</a:t>
            </a:r>
            <a:r>
              <a:rPr lang="en-AU" dirty="0" smtClean="0"/>
              <a:t> and find pairs with distance 1.</a:t>
            </a:r>
          </a:p>
          <a:p>
            <a:r>
              <a:rPr lang="en-AU" dirty="0" smtClean="0"/>
              <a:t>Generate </a:t>
            </a:r>
            <a:r>
              <a:rPr lang="en-AU" dirty="0" err="1" smtClean="0"/>
              <a:t>subcubes</a:t>
            </a:r>
            <a:r>
              <a:rPr lang="en-AU" dirty="0" smtClean="0"/>
              <a:t>.</a:t>
            </a:r>
          </a:p>
          <a:p>
            <a:r>
              <a:rPr lang="en-AU" dirty="0" smtClean="0"/>
              <a:t>Repeat the above procedure on generated </a:t>
            </a:r>
            <a:r>
              <a:rPr lang="en-AU" dirty="0" err="1" smtClean="0"/>
              <a:t>subcubes</a:t>
            </a:r>
            <a:r>
              <a:rPr lang="en-AU" dirty="0" smtClean="0"/>
              <a:t> until no more </a:t>
            </a:r>
            <a:r>
              <a:rPr lang="en-AU" dirty="0" err="1" smtClean="0"/>
              <a:t>subcubes</a:t>
            </a:r>
            <a:r>
              <a:rPr lang="en-AU" dirty="0" smtClean="0"/>
              <a:t> can be generated.</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pic>
        <p:nvPicPr>
          <p:cNvPr id="282627" name="Picture 3"/>
          <p:cNvPicPr>
            <a:picLocks noGrp="1" noChangeAspect="1" noChangeArrowheads="1"/>
          </p:cNvPicPr>
          <p:nvPr>
            <p:ph idx="4294967295"/>
          </p:nvPr>
        </p:nvPicPr>
        <p:blipFill>
          <a:blip r:embed="rId2" cstate="print"/>
          <a:srcRect/>
          <a:stretch>
            <a:fillRect/>
          </a:stretch>
        </p:blipFill>
        <p:spPr bwMode="auto">
          <a:xfrm>
            <a:off x="1805061" y="2536643"/>
            <a:ext cx="5237018" cy="4115311"/>
          </a:xfrm>
          <a:prstGeom prst="rect">
            <a:avLst/>
          </a:prstGeom>
          <a:noFill/>
          <a:ln w="9525">
            <a:noFill/>
            <a:miter lim="800000"/>
            <a:headEnd/>
            <a:tailEnd/>
          </a:ln>
        </p:spPr>
      </p:pic>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∑(0, 1, 2, 8, 10, 11, 14, 15) </a:t>
            </a:r>
          </a:p>
          <a:p>
            <a:pPr marL="274320" lvl="0" indent="-274320">
              <a:spcBef>
                <a:spcPts val="600"/>
              </a:spcBef>
              <a:buClr>
                <a:schemeClr val="accent1"/>
              </a:buClr>
              <a:buSzPct val="70000"/>
            </a:pPr>
            <a:r>
              <a:rPr lang="en-AU" altLang="zh-TW" sz="2400" dirty="0" smtClean="0"/>
              <a:t>		         = </a:t>
            </a:r>
            <a:r>
              <a:rPr lang="en-AU" altLang="zh-TW" sz="2400" i="1" dirty="0" err="1" smtClean="0"/>
              <a:t>w'x'y</a:t>
            </a:r>
            <a:r>
              <a:rPr lang="en-AU" altLang="zh-TW" sz="2400" i="1" dirty="0" smtClean="0"/>
              <a:t>'</a:t>
            </a:r>
            <a:r>
              <a:rPr lang="en-AU" altLang="zh-TW" sz="2400" dirty="0" smtClean="0"/>
              <a:t> + </a:t>
            </a:r>
            <a:r>
              <a:rPr lang="en-AU" altLang="zh-TW" sz="2400" i="1" dirty="0" err="1" smtClean="0"/>
              <a:t>x'z</a:t>
            </a:r>
            <a:r>
              <a:rPr lang="en-AU" altLang="zh-TW" sz="2400" i="1" dirty="0" smtClean="0"/>
              <a:t>' </a:t>
            </a:r>
            <a:r>
              <a:rPr lang="en-AU" altLang="zh-TW" sz="2400" dirty="0" smtClean="0"/>
              <a:t>+ </a:t>
            </a:r>
            <a:r>
              <a:rPr lang="en-AU" altLang="zh-TW" sz="2400" i="1" dirty="0" err="1" smtClean="0"/>
              <a:t>wy</a:t>
            </a:r>
            <a:r>
              <a:rPr lang="en-AU" altLang="zh-TW" sz="2400" dirty="0" smtClean="0"/>
              <a:t> </a:t>
            </a:r>
            <a:endParaRPr kumimoji="0" lang="zh-TW" altLang="en-US" sz="2400" b="0" u="none" strike="noStrike" kern="1200" cap="none" spc="0" normalizeH="0" baseline="0" noProof="0" dirty="0">
              <a:ln>
                <a:noFill/>
              </a:ln>
              <a:solidFill>
                <a:schemeClr val="tx1"/>
              </a:solidFill>
              <a:effectLst/>
              <a:uLnTx/>
              <a:uFillTx/>
              <a:latin typeface="+mn-lt"/>
              <a:ea typeface="新細明體" pitchFamily="18" charset="-120"/>
              <a:cs typeface="+mn-cs"/>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t>Step 1: Group the </a:t>
            </a:r>
            <a:r>
              <a:rPr lang="en-AU" dirty="0" err="1" smtClean="0"/>
              <a:t>minterms</a:t>
            </a:r>
            <a:r>
              <a:rPr lang="en-AU" dirty="0" smtClean="0"/>
              <a:t> according to the number of 1s (see Column (a)).</a:t>
            </a:r>
          </a:p>
          <a:p>
            <a:pPr>
              <a:buNone/>
            </a:pPr>
            <a:endParaRPr lang="en-AU" dirty="0" smtClean="0"/>
          </a:p>
          <a:p>
            <a:r>
              <a:rPr lang="en-AU" smtClean="0"/>
              <a:t>Step 2: Combine </a:t>
            </a:r>
            <a:r>
              <a:rPr lang="en-AU" dirty="0" smtClean="0"/>
              <a:t>any 2 </a:t>
            </a:r>
            <a:r>
              <a:rPr lang="en-AU" dirty="0" err="1" smtClean="0"/>
              <a:t>minterms</a:t>
            </a:r>
            <a:r>
              <a:rPr lang="en-AU" dirty="0" smtClean="0"/>
              <a:t> that differ from each other by exactly one variable (i.e., dist-1), the unmatched variable removed (see Column (b)). Try this for all possible pairs of </a:t>
            </a:r>
            <a:r>
              <a:rPr lang="en-AU" dirty="0" err="1" smtClean="0"/>
              <a:t>minterms</a:t>
            </a:r>
            <a:r>
              <a:rPr lang="en-AU" dirty="0" smtClean="0"/>
              <a:t>. A check (3) is placed to the right of both </a:t>
            </a:r>
            <a:r>
              <a:rPr lang="en-AU" dirty="0" err="1" smtClean="0"/>
              <a:t>minterms</a:t>
            </a:r>
            <a:r>
              <a:rPr lang="en-AU" dirty="0" smtClean="0"/>
              <a:t> if they have been used in a match.</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Determination of prime </a:t>
            </a:r>
            <a:r>
              <a:rPr lang="en-US" altLang="zh-TW" dirty="0" err="1" smtClean="0">
                <a:ea typeface="新細明體" pitchFamily="18" charset="-120"/>
              </a:rPr>
              <a:t>implicants</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solidFill>
                  <a:srgbClr val="002060"/>
                </a:solidFill>
              </a:rPr>
              <a:t>Step 3:</a:t>
            </a:r>
            <a:r>
              <a:rPr lang="en-AU" dirty="0" smtClean="0"/>
              <a:t> Repeat the process. Combine any 2 product terms from Step ­ that differ from each other by exactly one variable, the unmatched variable removed (see Column (c)).</a:t>
            </a:r>
          </a:p>
          <a:p>
            <a:pPr>
              <a:buNone/>
            </a:pPr>
            <a:endParaRPr lang="en-AU" dirty="0" smtClean="0"/>
          </a:p>
          <a:p>
            <a:r>
              <a:rPr lang="en-AU" dirty="0" smtClean="0">
                <a:solidFill>
                  <a:srgbClr val="002060"/>
                </a:solidFill>
              </a:rPr>
              <a:t>Step 4:</a:t>
            </a:r>
            <a:r>
              <a:rPr lang="en-AU" dirty="0" smtClean="0"/>
              <a:t> The unchecked terms in the table form the PIs. Some of the product terms may appear twice in the table. It of course is unnecessary to use the same term twice.</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dirty="0" smtClean="0"/>
              <a:t>The selection of PIs that form the minimized function is made from a PI table</a:t>
            </a:r>
          </a:p>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∑(1, 4, 6, 7, 8, 9, 10, 11,15) </a:t>
            </a:r>
          </a:p>
        </p:txBody>
      </p:sp>
      <p:pic>
        <p:nvPicPr>
          <p:cNvPr id="283650" name="Picture 2"/>
          <p:cNvPicPr>
            <a:picLocks noChangeAspect="1" noChangeArrowheads="1"/>
          </p:cNvPicPr>
          <p:nvPr/>
        </p:nvPicPr>
        <p:blipFill>
          <a:blip r:embed="rId2" cstate="print"/>
          <a:srcRect/>
          <a:stretch>
            <a:fillRect/>
          </a:stretch>
        </p:blipFill>
        <p:spPr bwMode="auto">
          <a:xfrm>
            <a:off x="633845" y="2978047"/>
            <a:ext cx="7543800" cy="34194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 name="內容版面配置區 2"/>
          <p:cNvSpPr txBox="1">
            <a:spLocks/>
          </p:cNvSpPr>
          <p:nvPr/>
        </p:nvSpPr>
        <p:spPr>
          <a:xfrm>
            <a:off x="457199" y="1600200"/>
            <a:ext cx="7689274" cy="4873752"/>
          </a:xfrm>
          <a:prstGeom prst="rect">
            <a:avLst/>
          </a:prstGeom>
        </p:spPr>
        <p:txBody>
          <a:bodyPr vert="horz" lIns="90488" tIns="44450" rIns="90488" bIns="44450">
            <a:noAutofit/>
          </a:bodyPr>
          <a:lstStyle/>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∑(1, 4, 6, 7, 8, 9, 10, 11,15)</a:t>
            </a:r>
          </a:p>
          <a:p>
            <a:pPr marL="274320" lvl="0" indent="-274320">
              <a:spcBef>
                <a:spcPts val="600"/>
              </a:spcBef>
              <a:buClr>
                <a:schemeClr val="accent1"/>
              </a:buClr>
              <a:buSzPct val="70000"/>
              <a:buFont typeface="Wingdings"/>
              <a:buChar char=""/>
            </a:pPr>
            <a:r>
              <a:rPr lang="en-AU" altLang="zh-TW" sz="2400" dirty="0" smtClean="0"/>
              <a:t>Essential Prime </a:t>
            </a:r>
            <a:r>
              <a:rPr lang="en-AU" altLang="zh-TW" sz="2400" dirty="0" err="1" smtClean="0"/>
              <a:t>implicants</a:t>
            </a:r>
            <a:r>
              <a:rPr lang="en-AU" altLang="zh-TW" sz="2400" dirty="0" smtClean="0"/>
              <a:t> are  </a:t>
            </a:r>
            <a:r>
              <a:rPr lang="en-AU" altLang="zh-TW" sz="2400" i="1" dirty="0" err="1" smtClean="0"/>
              <a:t>x’y’z</a:t>
            </a:r>
            <a:r>
              <a:rPr lang="en-AU" altLang="zh-TW" sz="2400" i="1" dirty="0" smtClean="0"/>
              <a:t>, </a:t>
            </a:r>
            <a:r>
              <a:rPr lang="en-AU" altLang="zh-TW" sz="2400" i="1" dirty="0" err="1" smtClean="0"/>
              <a:t>w’xz</a:t>
            </a:r>
            <a:r>
              <a:rPr lang="en-AU" altLang="zh-TW" sz="2400" i="1" dirty="0" smtClean="0"/>
              <a:t>’, </a:t>
            </a:r>
            <a:r>
              <a:rPr lang="en-AU" altLang="zh-TW" sz="2400" i="1" dirty="0" err="1" smtClean="0"/>
              <a:t>wx</a:t>
            </a:r>
            <a:r>
              <a:rPr lang="en-AU" altLang="zh-TW" sz="2400" i="1" dirty="0" smtClean="0"/>
              <a:t>’ </a:t>
            </a:r>
          </a:p>
          <a:p>
            <a:pPr marL="274320" lvl="0" indent="-274320">
              <a:spcBef>
                <a:spcPts val="600"/>
              </a:spcBef>
              <a:buClr>
                <a:schemeClr val="accent1"/>
              </a:buClr>
              <a:buSzPct val="70000"/>
              <a:buFont typeface="Wingdings"/>
              <a:buChar char=""/>
            </a:pPr>
            <a:r>
              <a:rPr lang="en-AU" altLang="zh-TW" sz="2400" i="1" dirty="0" smtClean="0"/>
              <a:t>F</a:t>
            </a:r>
            <a:r>
              <a:rPr lang="en-AU" altLang="zh-TW" sz="2400" dirty="0" smtClean="0"/>
              <a:t>(</a:t>
            </a:r>
            <a:r>
              <a:rPr lang="en-AU" altLang="zh-TW" sz="2400" i="1" dirty="0" err="1" smtClean="0"/>
              <a:t>w</a:t>
            </a:r>
            <a:r>
              <a:rPr lang="en-AU" altLang="zh-TW" sz="2400" dirty="0" err="1" smtClean="0"/>
              <a:t>,</a:t>
            </a:r>
            <a:r>
              <a:rPr lang="en-AU" altLang="zh-TW" sz="2400" i="1" dirty="0" err="1" smtClean="0"/>
              <a:t>x</a:t>
            </a:r>
            <a:r>
              <a:rPr lang="en-AU" altLang="zh-TW" sz="2400" dirty="0" err="1" smtClean="0"/>
              <a:t>,</a:t>
            </a:r>
            <a:r>
              <a:rPr lang="en-AU" altLang="zh-TW" sz="2400" i="1" dirty="0" err="1" smtClean="0"/>
              <a:t>y</a:t>
            </a:r>
            <a:r>
              <a:rPr lang="en-AU" altLang="zh-TW" sz="2400" dirty="0" err="1" smtClean="0"/>
              <a:t>,</a:t>
            </a:r>
            <a:r>
              <a:rPr lang="en-AU" altLang="zh-TW" sz="2400" i="1" dirty="0" err="1" smtClean="0"/>
              <a:t>z</a:t>
            </a:r>
            <a:r>
              <a:rPr lang="en-AU" altLang="zh-TW" sz="2400" dirty="0" smtClean="0"/>
              <a:t>) = </a:t>
            </a:r>
            <a:r>
              <a:rPr lang="en-AU" altLang="zh-TW" sz="2400" i="1" dirty="0" err="1" smtClean="0"/>
              <a:t>x’y’z</a:t>
            </a:r>
            <a:r>
              <a:rPr lang="en-AU" altLang="zh-TW" sz="2400" i="1" dirty="0" smtClean="0"/>
              <a:t> + </a:t>
            </a:r>
            <a:r>
              <a:rPr lang="en-AU" altLang="zh-TW" sz="2400" i="1" dirty="0" err="1" smtClean="0"/>
              <a:t>w’xz</a:t>
            </a:r>
            <a:r>
              <a:rPr lang="en-AU" altLang="zh-TW" sz="2400" i="1" dirty="0" smtClean="0"/>
              <a:t>’ + </a:t>
            </a:r>
            <a:r>
              <a:rPr lang="en-AU" altLang="zh-TW" sz="2400" i="1" dirty="0" err="1" smtClean="0"/>
              <a:t>wx</a:t>
            </a:r>
            <a:r>
              <a:rPr lang="en-AU" altLang="zh-TW" sz="2400" i="1" dirty="0" smtClean="0"/>
              <a:t>’  + xyz</a:t>
            </a:r>
          </a:p>
        </p:txBody>
      </p:sp>
      <p:graphicFrame>
        <p:nvGraphicFramePr>
          <p:cNvPr id="5" name="Table 4"/>
          <p:cNvGraphicFramePr>
            <a:graphicFrameLocks noGrp="1"/>
          </p:cNvGraphicFramePr>
          <p:nvPr/>
        </p:nvGraphicFramePr>
        <p:xfrm>
          <a:off x="1001485" y="3736439"/>
          <a:ext cx="6096000" cy="1483360"/>
        </p:xfrm>
        <a:graphic>
          <a:graphicData uri="http://schemas.openxmlformats.org/drawingml/2006/table">
            <a:tbl>
              <a:tblPr firstRow="1" bandRow="1">
                <a:tableStyleId>{93296810-A885-4BE3-A3E7-6D5BEEA58F35}</a:tableStyleId>
              </a:tblPr>
              <a:tblGrid>
                <a:gridCol w="1524000"/>
                <a:gridCol w="1524000"/>
                <a:gridCol w="1524000"/>
                <a:gridCol w="1524000"/>
              </a:tblGrid>
              <a:tr h="370840">
                <a:tc>
                  <a:txBody>
                    <a:bodyPr/>
                    <a:lstStyle/>
                    <a:p>
                      <a:pPr algn="ctr"/>
                      <a:r>
                        <a:rPr lang="en-AU" dirty="0" smtClean="0"/>
                        <a:t>PI</a:t>
                      </a:r>
                      <a:endParaRPr lang="en-AU" dirty="0"/>
                    </a:p>
                  </a:txBody>
                  <a:tcPr/>
                </a:tc>
                <a:tc>
                  <a:txBody>
                    <a:bodyPr/>
                    <a:lstStyle/>
                    <a:p>
                      <a:pPr algn="ctr"/>
                      <a:r>
                        <a:rPr lang="en-AU" dirty="0" err="1" smtClean="0"/>
                        <a:t>Minterms</a:t>
                      </a:r>
                      <a:endParaRPr lang="en-AU" dirty="0"/>
                    </a:p>
                  </a:txBody>
                  <a:tcPr/>
                </a:tc>
                <a:tc>
                  <a:txBody>
                    <a:bodyPr/>
                    <a:lstStyle/>
                    <a:p>
                      <a:pPr algn="ctr"/>
                      <a:r>
                        <a:rPr lang="en-AU" dirty="0" smtClean="0"/>
                        <a:t>7</a:t>
                      </a:r>
                      <a:endParaRPr lang="en-AU" dirty="0"/>
                    </a:p>
                  </a:txBody>
                  <a:tcPr/>
                </a:tc>
                <a:tc>
                  <a:txBody>
                    <a:bodyPr/>
                    <a:lstStyle/>
                    <a:p>
                      <a:pPr algn="ctr"/>
                      <a:r>
                        <a:rPr lang="en-AU" dirty="0" smtClean="0"/>
                        <a:t>15</a:t>
                      </a:r>
                      <a:endParaRPr lang="en-AU" dirty="0"/>
                    </a:p>
                  </a:txBody>
                  <a:tcPr/>
                </a:tc>
              </a:tr>
              <a:tr h="370840">
                <a:tc>
                  <a:txBody>
                    <a:bodyPr/>
                    <a:lstStyle/>
                    <a:p>
                      <a:pPr algn="ctr"/>
                      <a:r>
                        <a:rPr lang="en-AU" i="1" dirty="0" err="1" smtClean="0"/>
                        <a:t>w’xy</a:t>
                      </a:r>
                      <a:endParaRPr lang="en-AU" i="1" dirty="0"/>
                    </a:p>
                  </a:txBody>
                  <a:tcPr/>
                </a:tc>
                <a:tc>
                  <a:txBody>
                    <a:bodyPr/>
                    <a:lstStyle/>
                    <a:p>
                      <a:pPr algn="ctr"/>
                      <a:r>
                        <a:rPr lang="en-AU" dirty="0" smtClean="0"/>
                        <a:t>6,</a:t>
                      </a:r>
                      <a:r>
                        <a:rPr lang="en-AU" baseline="0" dirty="0" smtClean="0"/>
                        <a:t> </a:t>
                      </a:r>
                      <a:r>
                        <a:rPr lang="en-AU" dirty="0" smtClean="0"/>
                        <a:t>7</a:t>
                      </a:r>
                      <a:endParaRPr lang="en-AU" dirty="0"/>
                    </a:p>
                  </a:txBody>
                  <a:tcPr/>
                </a:tc>
                <a:tc>
                  <a:txBody>
                    <a:bodyPr/>
                    <a:lstStyle/>
                    <a:p>
                      <a:pPr algn="ctr"/>
                      <a:r>
                        <a:rPr lang="en-AU" dirty="0" smtClean="0"/>
                        <a:t>X</a:t>
                      </a:r>
                      <a:endParaRPr lang="en-AU" dirty="0"/>
                    </a:p>
                  </a:txBody>
                  <a:tcPr/>
                </a:tc>
                <a:tc>
                  <a:txBody>
                    <a:bodyPr/>
                    <a:lstStyle/>
                    <a:p>
                      <a:pPr algn="ctr"/>
                      <a:endParaRPr lang="en-AU"/>
                    </a:p>
                  </a:txBody>
                  <a:tcPr/>
                </a:tc>
              </a:tr>
              <a:tr h="370840">
                <a:tc>
                  <a:txBody>
                    <a:bodyPr/>
                    <a:lstStyle/>
                    <a:p>
                      <a:pPr algn="ctr"/>
                      <a:r>
                        <a:rPr lang="en-AU" i="1" dirty="0" smtClean="0"/>
                        <a:t>xyz</a:t>
                      </a:r>
                      <a:endParaRPr lang="en-AU" i="1" dirty="0"/>
                    </a:p>
                  </a:txBody>
                  <a:tcPr/>
                </a:tc>
                <a:tc>
                  <a:txBody>
                    <a:bodyPr/>
                    <a:lstStyle/>
                    <a:p>
                      <a:pPr algn="ctr"/>
                      <a:r>
                        <a:rPr lang="en-AU" dirty="0" smtClean="0"/>
                        <a:t>7, 15</a:t>
                      </a:r>
                      <a:endParaRPr lang="en-AU" dirty="0"/>
                    </a:p>
                  </a:txBody>
                  <a:tcPr/>
                </a:tc>
                <a:tc>
                  <a:txBody>
                    <a:bodyPr/>
                    <a:lstStyle/>
                    <a:p>
                      <a:pPr algn="ctr"/>
                      <a:r>
                        <a:rPr lang="en-AU" dirty="0" smtClean="0"/>
                        <a:t>X</a:t>
                      </a:r>
                      <a:endParaRPr lang="en-AU" dirty="0"/>
                    </a:p>
                  </a:txBody>
                  <a:tcPr/>
                </a:tc>
                <a:tc>
                  <a:txBody>
                    <a:bodyPr/>
                    <a:lstStyle/>
                    <a:p>
                      <a:pPr algn="ctr"/>
                      <a:r>
                        <a:rPr lang="en-AU" dirty="0" smtClean="0"/>
                        <a:t>X</a:t>
                      </a:r>
                      <a:endParaRPr lang="en-AU" dirty="0"/>
                    </a:p>
                  </a:txBody>
                  <a:tcPr/>
                </a:tc>
              </a:tr>
              <a:tr h="370840">
                <a:tc>
                  <a:txBody>
                    <a:bodyPr/>
                    <a:lstStyle/>
                    <a:p>
                      <a:pPr algn="ctr"/>
                      <a:r>
                        <a:rPr lang="en-AU" i="1" dirty="0" err="1" smtClean="0"/>
                        <a:t>wyz</a:t>
                      </a:r>
                      <a:endParaRPr lang="en-AU" i="1" dirty="0"/>
                    </a:p>
                  </a:txBody>
                  <a:tcPr/>
                </a:tc>
                <a:tc>
                  <a:txBody>
                    <a:bodyPr/>
                    <a:lstStyle/>
                    <a:p>
                      <a:pPr algn="ctr"/>
                      <a:r>
                        <a:rPr lang="en-AU" dirty="0" smtClean="0"/>
                        <a:t>11, 15</a:t>
                      </a:r>
                      <a:endParaRPr lang="en-AU" dirty="0"/>
                    </a:p>
                  </a:txBody>
                  <a:tcPr/>
                </a:tc>
                <a:tc>
                  <a:txBody>
                    <a:bodyPr/>
                    <a:lstStyle/>
                    <a:p>
                      <a:pPr algn="ctr"/>
                      <a:endParaRPr lang="en-AU"/>
                    </a:p>
                  </a:txBody>
                  <a:tcPr/>
                </a:tc>
                <a:tc>
                  <a:txBody>
                    <a:bodyPr/>
                    <a:lstStyle/>
                    <a:p>
                      <a:pPr algn="ctr"/>
                      <a:r>
                        <a:rPr lang="en-AU" dirty="0" smtClean="0"/>
                        <a:t>X</a:t>
                      </a:r>
                      <a:endParaRPr lang="en-AU" dirty="0"/>
                    </a:p>
                  </a:txBody>
                  <a:tcPr/>
                </a:tc>
              </a:tr>
            </a:tbl>
          </a:graphicData>
        </a:graphic>
      </p:graphicFrame>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dirty="0" smtClean="0">
                <a:ea typeface="新細明體" pitchFamily="18" charset="-120"/>
              </a:rPr>
              <a:t>Minimal cover generation</a:t>
            </a:r>
            <a:endParaRPr lang="en-US" altLang="zh-TW" dirty="0">
              <a:ea typeface="新細明體" pitchFamily="18" charset="-120"/>
            </a:endParaRPr>
          </a:p>
        </p:txBody>
      </p:sp>
      <p:sp>
        <p:nvSpPr>
          <p:cNvPr id="678915" name="內容版面配置區 2"/>
          <p:cNvSpPr>
            <a:spLocks noGrp="1"/>
          </p:cNvSpPr>
          <p:nvPr>
            <p:ph idx="4294967295"/>
          </p:nvPr>
        </p:nvSpPr>
        <p:spPr/>
        <p:txBody>
          <a:bodyPr lIns="90488" tIns="44450" rIns="90488" bIns="44450">
            <a:noAutofit/>
          </a:bodyPr>
          <a:lstStyle/>
          <a:p>
            <a:r>
              <a:rPr lang="en-AU" dirty="0" smtClean="0"/>
              <a:t>Step 1: Check the PIs that cover </a:t>
            </a:r>
            <a:r>
              <a:rPr lang="en-AU" dirty="0" err="1" smtClean="0"/>
              <a:t>minterms</a:t>
            </a:r>
            <a:r>
              <a:rPr lang="en-AU" dirty="0" smtClean="0"/>
              <a:t> with a single X in their columns. These PIs are the </a:t>
            </a:r>
            <a:r>
              <a:rPr lang="en-AU" dirty="0" err="1" smtClean="0"/>
              <a:t>EPIs.</a:t>
            </a:r>
            <a:endParaRPr lang="en-AU" dirty="0" smtClean="0"/>
          </a:p>
          <a:p>
            <a:pPr>
              <a:buNone/>
            </a:pPr>
            <a:endParaRPr lang="en-AU" dirty="0" smtClean="0"/>
          </a:p>
          <a:p>
            <a:r>
              <a:rPr lang="en-AU" dirty="0" smtClean="0"/>
              <a:t>Step 2: Check each column whose </a:t>
            </a:r>
            <a:r>
              <a:rPr lang="en-AU" dirty="0" err="1" smtClean="0"/>
              <a:t>minterm</a:t>
            </a:r>
            <a:r>
              <a:rPr lang="en-AU" dirty="0" smtClean="0"/>
              <a:t> is covered by the selected </a:t>
            </a:r>
            <a:r>
              <a:rPr lang="en-AU" dirty="0" err="1" smtClean="0"/>
              <a:t>EPIs.</a:t>
            </a:r>
            <a:endParaRPr lang="en-AU" dirty="0" smtClean="0"/>
          </a:p>
          <a:p>
            <a:pPr>
              <a:buNone/>
            </a:pPr>
            <a:endParaRPr lang="en-AU" dirty="0" smtClean="0"/>
          </a:p>
          <a:p>
            <a:r>
              <a:rPr lang="en-AU" dirty="0" smtClean="0"/>
              <a:t>Step 3: If there are </a:t>
            </a:r>
            <a:r>
              <a:rPr lang="en-AU" dirty="0" err="1" smtClean="0"/>
              <a:t>minterms</a:t>
            </a:r>
            <a:r>
              <a:rPr lang="en-AU" dirty="0" smtClean="0"/>
              <a:t> left uncovered (7 &amp; 15 in this example), some nonessential PIs have to be selected to cover them. We of course will select the PIs with a smallest total number of literals (xyz in this example).</a:t>
            </a:r>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idx="4294967295"/>
          </p:nvPr>
        </p:nvSpPr>
        <p:spPr/>
        <p:txBody>
          <a:bodyPr lIns="0" tIns="0" rIns="0" bIns="0">
            <a:normAutofit fontScale="90000"/>
          </a:bodyPr>
          <a:lstStyle/>
          <a:p>
            <a:r>
              <a:rPr lang="en-US" altLang="zh-TW" sz="3800" dirty="0" smtClean="0">
                <a:ea typeface="新細明體" pitchFamily="18" charset="-120"/>
              </a:rPr>
              <a:t>NAND </a:t>
            </a:r>
            <a:r>
              <a:rPr lang="en-US" altLang="zh-TW" sz="3800" dirty="0">
                <a:ea typeface="新細明體" pitchFamily="18" charset="-120"/>
              </a:rPr>
              <a:t>and NOR Implementation</a:t>
            </a:r>
            <a:endParaRPr lang="en-US" altLang="zh-TW" sz="2500" dirty="0">
              <a:ea typeface="新細明體" pitchFamily="18" charset="-120"/>
            </a:endParaRPr>
          </a:p>
        </p:txBody>
      </p:sp>
      <p:sp>
        <p:nvSpPr>
          <p:cNvPr id="671747" name="Rectangle 3"/>
          <p:cNvSpPr>
            <a:spLocks noGrp="1" noChangeArrowheads="1"/>
          </p:cNvSpPr>
          <p:nvPr>
            <p:ph idx="4294967295"/>
          </p:nvPr>
        </p:nvSpPr>
        <p:spPr/>
        <p:txBody>
          <a:bodyPr lIns="90488" tIns="44450" rIns="90488" bIns="44450">
            <a:normAutofit/>
          </a:bodyPr>
          <a:lstStyle/>
          <a:p>
            <a:r>
              <a:rPr lang="en-US" altLang="zh-TW" dirty="0">
                <a:ea typeface="新細明體" pitchFamily="18" charset="-120"/>
              </a:rPr>
              <a:t>NAND gate is a universal gate</a:t>
            </a:r>
          </a:p>
          <a:p>
            <a:pPr lvl="1"/>
            <a:r>
              <a:rPr lang="en-US" altLang="zh-TW" sz="2400" dirty="0">
                <a:ea typeface="新細明體" pitchFamily="18" charset="-120"/>
              </a:rPr>
              <a:t>Can implement any digital system</a:t>
            </a:r>
            <a:endParaRPr lang="zh-TW" altLang="en-US" sz="2400" dirty="0">
              <a:ea typeface="新細明體" pitchFamily="18" charset="-120"/>
            </a:endParaRPr>
          </a:p>
        </p:txBody>
      </p:sp>
      <p:pic>
        <p:nvPicPr>
          <p:cNvPr id="671748" name="Picture 6"/>
          <p:cNvPicPr>
            <a:picLocks noChangeAspect="1" noChangeArrowheads="1"/>
          </p:cNvPicPr>
          <p:nvPr/>
        </p:nvPicPr>
        <p:blipFill>
          <a:blip r:embed="rId2" cstate="print">
            <a:lum bright="-6000" contrast="12000"/>
          </a:blip>
          <a:srcRect/>
          <a:stretch>
            <a:fillRect/>
          </a:stretch>
        </p:blipFill>
        <p:spPr bwMode="auto">
          <a:xfrm>
            <a:off x="1198563" y="2517775"/>
            <a:ext cx="6280150" cy="3460750"/>
          </a:xfrm>
          <a:prstGeom prst="rect">
            <a:avLst/>
          </a:prstGeom>
          <a:noFill/>
          <a:ln w="9525">
            <a:noFill/>
            <a:miter lim="800000"/>
            <a:headEnd/>
            <a:tailEnd/>
          </a:ln>
        </p:spPr>
      </p:pic>
      <p:sp>
        <p:nvSpPr>
          <p:cNvPr id="671749" name="文字方塊 5"/>
          <p:cNvSpPr txBox="1">
            <a:spLocks noChangeArrowheads="1"/>
          </p:cNvSpPr>
          <p:nvPr/>
        </p:nvSpPr>
        <p:spPr bwMode="auto">
          <a:xfrm>
            <a:off x="2366963" y="6132513"/>
            <a:ext cx="3570208" cy="369332"/>
          </a:xfrm>
          <a:prstGeom prst="rect">
            <a:avLst/>
          </a:prstGeom>
          <a:noFill/>
          <a:ln w="9525">
            <a:noFill/>
            <a:miter lim="800000"/>
            <a:headEnd/>
            <a:tailEnd/>
          </a:ln>
        </p:spPr>
        <p:txBody>
          <a:bodyPr wrap="none">
            <a:spAutoFit/>
          </a:bodyPr>
          <a:lstStyle/>
          <a:p>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Operations with NAND Gates</a:t>
            </a:r>
            <a:endParaRPr lang="zh-TW" altLang="en-US"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標題 1"/>
          <p:cNvSpPr>
            <a:spLocks noGrp="1"/>
          </p:cNvSpPr>
          <p:nvPr>
            <p:ph type="title" idx="4294967295"/>
          </p:nvPr>
        </p:nvSpPr>
        <p:spPr/>
        <p:txBody>
          <a:bodyPr lIns="0" tIns="0" rIns="0" bIns="0"/>
          <a:lstStyle/>
          <a:p>
            <a:r>
              <a:rPr lang="en-US" altLang="zh-TW" dirty="0">
                <a:ea typeface="新細明體" pitchFamily="18" charset="-120"/>
              </a:rPr>
              <a:t>NAND Gate</a:t>
            </a:r>
            <a:endParaRPr lang="zh-TW" altLang="en-US" sz="2500" dirty="0">
              <a:ea typeface="新細明體" pitchFamily="18" charset="-120"/>
            </a:endParaRPr>
          </a:p>
        </p:txBody>
      </p:sp>
      <p:sp>
        <p:nvSpPr>
          <p:cNvPr id="672771" name="內容版面配置區 2"/>
          <p:cNvSpPr>
            <a:spLocks noGrp="1"/>
          </p:cNvSpPr>
          <p:nvPr>
            <p:ph idx="4294967295"/>
          </p:nvPr>
        </p:nvSpPr>
        <p:spPr/>
        <p:txBody>
          <a:bodyPr lIns="90488" tIns="44450" rIns="90488" bIns="44450"/>
          <a:lstStyle/>
          <a:p>
            <a:r>
              <a:rPr lang="en-US" altLang="zh-TW" dirty="0">
                <a:ea typeface="新細明體" pitchFamily="18" charset="-120"/>
              </a:rPr>
              <a:t>Two graphic symbols for a NAND gate</a:t>
            </a:r>
          </a:p>
          <a:p>
            <a:endParaRPr lang="zh-TW" altLang="en-US" dirty="0">
              <a:ea typeface="新細明體" pitchFamily="18" charset="-120"/>
            </a:endParaRPr>
          </a:p>
        </p:txBody>
      </p:sp>
      <p:pic>
        <p:nvPicPr>
          <p:cNvPr id="672772" name="Picture 6"/>
          <p:cNvPicPr>
            <a:picLocks noChangeAspect="1" noChangeArrowheads="1"/>
          </p:cNvPicPr>
          <p:nvPr/>
        </p:nvPicPr>
        <p:blipFill>
          <a:blip r:embed="rId2" cstate="print">
            <a:lum bright="-6000" contrast="12000"/>
          </a:blip>
          <a:srcRect/>
          <a:stretch>
            <a:fillRect/>
          </a:stretch>
        </p:blipFill>
        <p:spPr bwMode="auto">
          <a:xfrm>
            <a:off x="630238" y="2946400"/>
            <a:ext cx="7883525" cy="1076325"/>
          </a:xfrm>
          <a:prstGeom prst="rect">
            <a:avLst/>
          </a:prstGeom>
          <a:noFill/>
          <a:ln w="9525">
            <a:noFill/>
            <a:miter lim="800000"/>
            <a:headEnd/>
            <a:tailEnd/>
          </a:ln>
        </p:spPr>
      </p:pic>
      <p:sp>
        <p:nvSpPr>
          <p:cNvPr id="672773" name="文字方塊 4"/>
          <p:cNvSpPr txBox="1">
            <a:spLocks noChangeArrowheads="1"/>
          </p:cNvSpPr>
          <p:nvPr/>
        </p:nvSpPr>
        <p:spPr bwMode="auto">
          <a:xfrm>
            <a:off x="2263775" y="4510088"/>
            <a:ext cx="3804183" cy="369332"/>
          </a:xfrm>
          <a:prstGeom prst="rect">
            <a:avLst/>
          </a:prstGeom>
          <a:noFill/>
          <a:ln w="9525">
            <a:noFill/>
            <a:miter lim="800000"/>
            <a:headEnd/>
            <a:tailEnd/>
          </a:ln>
        </p:spPr>
        <p:txBody>
          <a:bodyPr wrap="none">
            <a:spAutoFit/>
          </a:bodyPr>
          <a:lstStyle/>
          <a:p>
            <a:r>
              <a:rPr lang="en-US" altLang="zh-TW" dirty="0" smtClean="0">
                <a:latin typeface="Times New Roman" pitchFamily="18" charset="0"/>
                <a:ea typeface="新細明體" pitchFamily="18" charset="-120"/>
                <a:cs typeface="Angsana New" pitchFamily="18" charset="-34"/>
              </a:rPr>
              <a:t>Two </a:t>
            </a:r>
            <a:r>
              <a:rPr lang="en-US" altLang="zh-TW" dirty="0">
                <a:latin typeface="Times New Roman" pitchFamily="18" charset="0"/>
                <a:ea typeface="新細明體" pitchFamily="18" charset="-120"/>
                <a:cs typeface="Angsana New" pitchFamily="18" charset="-34"/>
              </a:rPr>
              <a:t>Graphic Symbols for NAND Gate</a:t>
            </a:r>
            <a:endParaRPr lang="zh-TW" altLang="en-US"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標題 1"/>
          <p:cNvSpPr>
            <a:spLocks noGrp="1"/>
          </p:cNvSpPr>
          <p:nvPr>
            <p:ph type="title" idx="4294967295"/>
          </p:nvPr>
        </p:nvSpPr>
        <p:spPr/>
        <p:txBody>
          <a:bodyPr lIns="0" tIns="0" rIns="0" bIns="0"/>
          <a:lstStyle/>
          <a:p>
            <a:r>
              <a:rPr lang="en-US" altLang="zh-TW">
                <a:ea typeface="新細明體" pitchFamily="18" charset="-120"/>
              </a:rPr>
              <a:t>Two-level Implementation</a:t>
            </a:r>
            <a:endParaRPr lang="zh-TW" altLang="en-US" sz="2500">
              <a:ea typeface="新細明體" pitchFamily="18" charset="-120"/>
            </a:endParaRPr>
          </a:p>
        </p:txBody>
      </p:sp>
      <p:sp>
        <p:nvSpPr>
          <p:cNvPr id="673795" name="內容版面配置區 2"/>
          <p:cNvSpPr>
            <a:spLocks noGrp="1"/>
          </p:cNvSpPr>
          <p:nvPr>
            <p:ph idx="4294967295"/>
          </p:nvPr>
        </p:nvSpPr>
        <p:spPr/>
        <p:txBody>
          <a:bodyPr lIns="90488" tIns="44450" rIns="90488" bIns="44450"/>
          <a:lstStyle/>
          <a:p>
            <a:r>
              <a:rPr lang="en-US" altLang="zh-TW" dirty="0">
                <a:ea typeface="新細明體" pitchFamily="18" charset="-120"/>
              </a:rPr>
              <a:t>Two-level logic</a:t>
            </a:r>
          </a:p>
          <a:p>
            <a:pPr lvl="1"/>
            <a:r>
              <a:rPr lang="en-US" altLang="zh-TW" sz="2400" dirty="0">
                <a:ea typeface="新細明體" pitchFamily="18" charset="-120"/>
              </a:rPr>
              <a:t>NAND-NAND = sum of products</a:t>
            </a:r>
          </a:p>
          <a:p>
            <a:pPr lvl="1"/>
            <a:r>
              <a:rPr lang="en-US" altLang="zh-TW" sz="2400" dirty="0">
                <a:ea typeface="新細明體" pitchFamily="18" charset="-120"/>
              </a:rPr>
              <a:t>Example: </a:t>
            </a:r>
            <a:r>
              <a:rPr lang="en-US" altLang="zh-TW" sz="2400" i="1" dirty="0">
                <a:ea typeface="新細明體" pitchFamily="18" charset="-120"/>
              </a:rPr>
              <a:t>F = AB+CD</a:t>
            </a:r>
            <a:endParaRPr lang="zh-TW" altLang="en-US" sz="2400" i="1" dirty="0">
              <a:ea typeface="新細明體" pitchFamily="18" charset="-120"/>
            </a:endParaRPr>
          </a:p>
          <a:p>
            <a:pPr lvl="1"/>
            <a:r>
              <a:rPr lang="en-US" altLang="zh-TW" sz="2400" i="1" dirty="0">
                <a:ea typeface="新細明體" pitchFamily="18" charset="-120"/>
              </a:rPr>
              <a:t>F = </a:t>
            </a:r>
            <a:r>
              <a:rPr lang="en-US" altLang="zh-TW" sz="2400" dirty="0">
                <a:ea typeface="新細明體" pitchFamily="18" charset="-120"/>
              </a:rPr>
              <a:t>((</a:t>
            </a:r>
            <a:r>
              <a:rPr lang="en-US" altLang="zh-TW" sz="2400" i="1" dirty="0">
                <a:ea typeface="新細明體" pitchFamily="18" charset="-120"/>
              </a:rPr>
              <a:t>AB)' </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 </a:t>
            </a:r>
            <a:r>
              <a:rPr lang="en-US" altLang="zh-TW" sz="2400" dirty="0">
                <a:ea typeface="新細明體" pitchFamily="18" charset="-120"/>
              </a:rPr>
              <a:t>)</a:t>
            </a:r>
            <a:r>
              <a:rPr lang="en-US" altLang="zh-TW" sz="2400" i="1" dirty="0">
                <a:ea typeface="新細明體" pitchFamily="18" charset="-120"/>
              </a:rPr>
              <a:t>' =AB+CD</a:t>
            </a:r>
            <a:endParaRPr lang="zh-TW" altLang="en-US" sz="2400" i="1" dirty="0">
              <a:ea typeface="新細明體" pitchFamily="18" charset="-120"/>
            </a:endParaRPr>
          </a:p>
          <a:p>
            <a:endParaRPr lang="zh-TW" altLang="en-US" dirty="0">
              <a:ea typeface="新細明體" pitchFamily="18" charset="-120"/>
            </a:endParaRPr>
          </a:p>
        </p:txBody>
      </p:sp>
      <p:sp>
        <p:nvSpPr>
          <p:cNvPr id="673796" name="Picture 5"/>
          <p:cNvSpPr>
            <a:spLocks noChangeAspect="1" noChangeArrowheads="1"/>
          </p:cNvSpPr>
          <p:nvPr/>
        </p:nvSpPr>
        <p:spPr bwMode="auto">
          <a:xfrm>
            <a:off x="1065213" y="2987675"/>
            <a:ext cx="6875462" cy="3300413"/>
          </a:xfrm>
          <a:prstGeom prst="rect">
            <a:avLst/>
          </a:prstGeom>
          <a:noFill/>
          <a:ln w="9525">
            <a:noFill/>
            <a:miter lim="800000"/>
            <a:headEnd/>
            <a:tailEnd/>
          </a:ln>
        </p:spPr>
        <p:txBody>
          <a:bodyP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pic>
        <p:nvPicPr>
          <p:cNvPr id="9" name="Picture 4" descr="C:\jobs\Marries\ch03\tiff\AACFLNR0.tif"/>
          <p:cNvPicPr>
            <a:picLocks noChangeAspect="1" noChangeArrowheads="1"/>
          </p:cNvPicPr>
          <p:nvPr/>
        </p:nvPicPr>
        <p:blipFill>
          <a:blip r:embed="rId2" cstate="print"/>
          <a:srcRect/>
          <a:stretch>
            <a:fillRect/>
          </a:stretch>
        </p:blipFill>
        <p:spPr bwMode="auto">
          <a:xfrm>
            <a:off x="1603169" y="3373873"/>
            <a:ext cx="5700549" cy="3201068"/>
          </a:xfrm>
          <a:prstGeom prst="rect">
            <a:avLst/>
          </a:prstGeom>
          <a:noFill/>
        </p:spPr>
      </p:pic>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標題 1"/>
          <p:cNvSpPr>
            <a:spLocks noGrp="1"/>
          </p:cNvSpPr>
          <p:nvPr>
            <p:ph type="title" idx="4294967295"/>
          </p:nvPr>
        </p:nvSpPr>
        <p:spPr/>
        <p:txBody>
          <a:bodyPr lIns="0" tIns="0" rIns="0" bIns="0"/>
          <a:lstStyle/>
          <a:p>
            <a:r>
              <a:rPr lang="en-US" altLang="zh-TW" dirty="0" smtClean="0">
                <a:ea typeface="新細明體" pitchFamily="18" charset="-120"/>
              </a:rPr>
              <a:t>Example</a:t>
            </a:r>
            <a:endParaRPr lang="zh-TW" altLang="en-US" sz="2500" dirty="0">
              <a:ea typeface="新細明體" pitchFamily="18" charset="-120"/>
            </a:endParaRPr>
          </a:p>
        </p:txBody>
      </p:sp>
      <p:graphicFrame>
        <p:nvGraphicFramePr>
          <p:cNvPr id="674820" name="Object 8"/>
          <p:cNvGraphicFramePr>
            <a:graphicFrameLocks noChangeAspect="1"/>
          </p:cNvGraphicFramePr>
          <p:nvPr/>
        </p:nvGraphicFramePr>
        <p:xfrm>
          <a:off x="690563" y="1820863"/>
          <a:ext cx="3032125" cy="442912"/>
        </p:xfrm>
        <a:graphic>
          <a:graphicData uri="http://schemas.openxmlformats.org/presentationml/2006/ole">
            <mc:AlternateContent xmlns:mc="http://schemas.openxmlformats.org/markup-compatibility/2006">
              <mc:Choice xmlns:v="urn:schemas-microsoft-com:vml" Requires="v">
                <p:oleObj spid="_x0000_s284676" name="Equation" r:id="rId3" imgW="1739880" imgH="253800" progId="">
                  <p:embed/>
                </p:oleObj>
              </mc:Choice>
              <mc:Fallback>
                <p:oleObj name="Equation" r:id="rId3" imgW="1739880" imgH="253800"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63" y="1820863"/>
                        <a:ext cx="3032125"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4821" name="Object 11"/>
          <p:cNvGraphicFramePr>
            <a:graphicFrameLocks noChangeAspect="1"/>
          </p:cNvGraphicFramePr>
          <p:nvPr/>
        </p:nvGraphicFramePr>
        <p:xfrm>
          <a:off x="5070475" y="1844675"/>
          <a:ext cx="2684463" cy="365125"/>
        </p:xfrm>
        <a:graphic>
          <a:graphicData uri="http://schemas.openxmlformats.org/presentationml/2006/ole">
            <mc:AlternateContent xmlns:mc="http://schemas.openxmlformats.org/markup-compatibility/2006">
              <mc:Choice xmlns:v="urn:schemas-microsoft-com:vml" Requires="v">
                <p:oleObj spid="_x0000_s284677" name="Equation" r:id="rId5" imgW="1498320" imgH="203040" progId="">
                  <p:embed/>
                </p:oleObj>
              </mc:Choice>
              <mc:Fallback>
                <p:oleObj name="Equation" r:id="rId5" imgW="1498320" imgH="203040"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0475" y="1844675"/>
                        <a:ext cx="2684463"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74822" name="Picture 15"/>
          <p:cNvPicPr>
            <a:picLocks noChangeAspect="1" noChangeArrowheads="1"/>
          </p:cNvPicPr>
          <p:nvPr/>
        </p:nvPicPr>
        <p:blipFill>
          <a:blip r:embed="rId7" cstate="print">
            <a:lum bright="-18000" contrast="30000"/>
          </a:blip>
          <a:srcRect/>
          <a:stretch>
            <a:fillRect/>
          </a:stretch>
        </p:blipFill>
        <p:spPr bwMode="auto">
          <a:xfrm>
            <a:off x="2803525" y="2525713"/>
            <a:ext cx="4146550" cy="2151062"/>
          </a:xfrm>
          <a:prstGeom prst="rect">
            <a:avLst/>
          </a:prstGeom>
          <a:noFill/>
          <a:ln w="9525">
            <a:noFill/>
            <a:miter lim="800000"/>
            <a:headEnd/>
            <a:tailEnd/>
          </a:ln>
        </p:spPr>
      </p:pic>
      <p:pic>
        <p:nvPicPr>
          <p:cNvPr id="674823" name="Picture 16"/>
          <p:cNvPicPr>
            <a:picLocks noChangeAspect="1" noChangeArrowheads="1"/>
          </p:cNvPicPr>
          <p:nvPr/>
        </p:nvPicPr>
        <p:blipFill>
          <a:blip r:embed="rId8" cstate="print">
            <a:lum bright="-18000" contrast="30000"/>
          </a:blip>
          <a:srcRect/>
          <a:stretch>
            <a:fillRect/>
          </a:stretch>
        </p:blipFill>
        <p:spPr bwMode="auto">
          <a:xfrm>
            <a:off x="628438" y="4583113"/>
            <a:ext cx="2865437" cy="1738312"/>
          </a:xfrm>
          <a:prstGeom prst="rect">
            <a:avLst/>
          </a:prstGeom>
          <a:noFill/>
          <a:ln w="9525">
            <a:noFill/>
            <a:miter lim="800000"/>
            <a:headEnd/>
            <a:tailEnd/>
          </a:ln>
        </p:spPr>
      </p:pic>
      <p:sp>
        <p:nvSpPr>
          <p:cNvPr id="674826" name="AutoShape 42"/>
          <p:cNvSpPr>
            <a:spLocks noChangeArrowheads="1"/>
          </p:cNvSpPr>
          <p:nvPr/>
        </p:nvSpPr>
        <p:spPr bwMode="auto">
          <a:xfrm>
            <a:off x="3971925" y="1908175"/>
            <a:ext cx="831850" cy="215900"/>
          </a:xfrm>
          <a:prstGeom prst="notchedRightArrow">
            <a:avLst>
              <a:gd name="adj1" fmla="val 50000"/>
              <a:gd name="adj2" fmla="val 104350"/>
            </a:avLst>
          </a:prstGeom>
          <a:solidFill>
            <a:srgbClr val="FFC000"/>
          </a:solidFill>
          <a:ln w="12700">
            <a:noFill/>
            <a:miter lim="800000"/>
            <a:headEnd/>
            <a:tailEnd/>
          </a:ln>
        </p:spPr>
        <p:txBody>
          <a:bodyPr wrap="none" anchor="ctr"/>
          <a:lstStyle/>
          <a:p>
            <a:endParaRPr lang="zh-TW" altLang="en-US" sz="1400" i="1" u="sng">
              <a:solidFill>
                <a:srgbClr val="003366"/>
              </a:solidFill>
              <a:latin typeface="Times New Roman" pitchFamily="18" charset="0"/>
              <a:ea typeface="新細明體" pitchFamily="18" charset="-120"/>
              <a:cs typeface="Angsana New" pitchFamily="18" charset="-34"/>
            </a:endParaRPr>
          </a:p>
        </p:txBody>
      </p:sp>
      <p:pic>
        <p:nvPicPr>
          <p:cNvPr id="14" name="Picture 15"/>
          <p:cNvPicPr>
            <a:picLocks noChangeAspect="1" noChangeArrowheads="1"/>
          </p:cNvPicPr>
          <p:nvPr/>
        </p:nvPicPr>
        <p:blipFill>
          <a:blip r:embed="rId7" cstate="print">
            <a:lum bright="-18000" contrast="30000"/>
          </a:blip>
          <a:srcRect/>
          <a:stretch>
            <a:fillRect/>
          </a:stretch>
        </p:blipFill>
        <p:spPr bwMode="auto">
          <a:xfrm>
            <a:off x="2245399" y="2525713"/>
            <a:ext cx="4146550" cy="2151062"/>
          </a:xfrm>
          <a:prstGeom prst="rect">
            <a:avLst/>
          </a:prstGeom>
          <a:noFill/>
          <a:ln w="9525">
            <a:noFill/>
            <a:miter lim="800000"/>
            <a:headEnd/>
            <a:tailEnd/>
          </a:ln>
        </p:spPr>
      </p:pic>
      <p:pic>
        <p:nvPicPr>
          <p:cNvPr id="15" name="Picture 17"/>
          <p:cNvPicPr>
            <a:picLocks noChangeAspect="1" noChangeArrowheads="1"/>
          </p:cNvPicPr>
          <p:nvPr/>
        </p:nvPicPr>
        <p:blipFill>
          <a:blip r:embed="rId9" cstate="print">
            <a:lum bright="-18000" contrast="30000"/>
          </a:blip>
          <a:srcRect/>
          <a:stretch>
            <a:fillRect/>
          </a:stretch>
        </p:blipFill>
        <p:spPr bwMode="auto">
          <a:xfrm>
            <a:off x="4829849" y="4541838"/>
            <a:ext cx="2867025" cy="174783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Two -Level </a:t>
            </a:r>
            <a:r>
              <a:rPr lang="en-US" altLang="zh-TW" smtClean="0">
                <a:ea typeface="新細明體" pitchFamily="18" charset="-120"/>
              </a:rPr>
              <a:t>NAND Circuits</a:t>
            </a:r>
            <a:endParaRPr lang="zh-TW" altLang="en-US" sz="2500" dirty="0">
              <a:ea typeface="新細明體" pitchFamily="18" charset="-120"/>
            </a:endParaRPr>
          </a:p>
        </p:txBody>
      </p:sp>
      <p:sp>
        <p:nvSpPr>
          <p:cNvPr id="675843" name="Rectangle 3"/>
          <p:cNvSpPr>
            <a:spLocks noGrp="1" noChangeArrowheads="1"/>
          </p:cNvSpPr>
          <p:nvPr>
            <p:ph idx="4294967295"/>
          </p:nvPr>
        </p:nvSpPr>
        <p:spPr/>
        <p:txBody>
          <a:bodyPr lIns="90488" tIns="44450" rIns="90488" bIns="44450"/>
          <a:lstStyle/>
          <a:p>
            <a:r>
              <a:rPr lang="en-US" altLang="zh-TW" dirty="0">
                <a:ea typeface="新細明體" pitchFamily="18" charset="-120"/>
              </a:rPr>
              <a:t>The procedure</a:t>
            </a:r>
          </a:p>
          <a:p>
            <a:pPr lvl="1"/>
            <a:r>
              <a:rPr lang="en-US" sz="2400" dirty="0" smtClean="0"/>
              <a:t>Simplify the function and express it in SOP form</a:t>
            </a:r>
          </a:p>
          <a:p>
            <a:pPr lvl="1"/>
            <a:r>
              <a:rPr lang="en-US" sz="2400" dirty="0" smtClean="0"/>
              <a:t>Draw a NAND gate for each product term</a:t>
            </a:r>
          </a:p>
          <a:p>
            <a:pPr lvl="1"/>
            <a:r>
              <a:rPr lang="en-US" sz="2400" dirty="0" smtClean="0"/>
              <a:t>Draw a single gate using AND-invert or invert-OR symbol for the sum term</a:t>
            </a:r>
          </a:p>
          <a:p>
            <a:pPr lvl="1"/>
            <a:r>
              <a:rPr lang="en-US" sz="2400" dirty="0" smtClean="0"/>
              <a:t>A term with single literal, complement if needed</a:t>
            </a:r>
            <a:endParaRPr lang="zh-TW" altLang="en-US" sz="2400" dirty="0">
              <a:ea typeface="新細明體" pitchFamily="18" charset="-120"/>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idx="4294967295"/>
          </p:nvPr>
        </p:nvSpPr>
        <p:spPr/>
        <p:txBody>
          <a:bodyPr lIns="0" tIns="0" rIns="0" bIns="0"/>
          <a:lstStyle/>
          <a:p>
            <a:r>
              <a:rPr lang="en-US" altLang="zh-TW" dirty="0" smtClean="0">
                <a:ea typeface="新細明體" pitchFamily="18" charset="-120"/>
              </a:rPr>
              <a:t>Multilevel NAND Circuits</a:t>
            </a:r>
            <a:endParaRPr lang="zh-TW" altLang="en-US" sz="2500" dirty="0">
              <a:ea typeface="新細明體" pitchFamily="18" charset="-120"/>
            </a:endParaRPr>
          </a:p>
        </p:txBody>
      </p:sp>
      <p:sp>
        <p:nvSpPr>
          <p:cNvPr id="675843" name="Rectangle 3"/>
          <p:cNvSpPr>
            <a:spLocks noGrp="1" noChangeArrowheads="1"/>
          </p:cNvSpPr>
          <p:nvPr>
            <p:ph idx="4294967295"/>
          </p:nvPr>
        </p:nvSpPr>
        <p:spPr/>
        <p:txBody>
          <a:bodyPr lIns="90488" tIns="44450" rIns="90488" bIns="44450"/>
          <a:lstStyle/>
          <a:p>
            <a:r>
              <a:rPr lang="en-US" altLang="zh-TW" dirty="0">
                <a:ea typeface="新細明體" pitchFamily="18" charset="-120"/>
              </a:rPr>
              <a:t>The procedure</a:t>
            </a:r>
          </a:p>
          <a:p>
            <a:pPr lvl="1"/>
            <a:r>
              <a:rPr lang="en-US" sz="2400" dirty="0" smtClean="0"/>
              <a:t>Convert all AND gates to NAND gates</a:t>
            </a:r>
          </a:p>
          <a:p>
            <a:pPr lvl="1"/>
            <a:r>
              <a:rPr lang="en-US" sz="2400" dirty="0" smtClean="0"/>
              <a:t>Convert all OR gates to NAND gates with invert-OR symbols</a:t>
            </a:r>
          </a:p>
          <a:p>
            <a:pPr lvl="1"/>
            <a:r>
              <a:rPr lang="en-US" sz="2400" dirty="0" smtClean="0"/>
              <a:t>Balance all bubbles, insert an inverter if needed</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a:ea typeface="新細明體" pitchFamily="18" charset="-120"/>
              </a:rPr>
              <a:t>Multilevel NAND Circuits</a:t>
            </a:r>
            <a:endParaRPr lang="zh-TW" altLang="en-US" sz="250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CD + 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 + BC</a:t>
            </a:r>
            <a:r>
              <a:rPr lang="en-US" altLang="zh-TW" i="1" dirty="0" smtClean="0">
                <a:latin typeface="Times New Roman" pitchFamily="18" charset="0"/>
                <a:ea typeface="新細明體" pitchFamily="18" charset="-120"/>
                <a:cs typeface="Angsana New" pitchFamily="18" charset="-34"/>
                <a:sym typeface="Symbol" pitchFamily="18" charset="2"/>
              </a:rPr>
              <a:t></a:t>
            </a:r>
          </a:p>
          <a:p>
            <a:endParaRPr lang="zh-TW" altLang="en-US" dirty="0">
              <a:ea typeface="新細明體" pitchFamily="18" charset="-120"/>
            </a:endParaRPr>
          </a:p>
        </p:txBody>
      </p:sp>
      <p:pic>
        <p:nvPicPr>
          <p:cNvPr id="676868" name="Picture 6"/>
          <p:cNvPicPr>
            <a:picLocks noChangeAspect="1" noChangeArrowheads="1"/>
          </p:cNvPicPr>
          <p:nvPr/>
        </p:nvPicPr>
        <p:blipFill>
          <a:blip r:embed="rId2" cstate="print">
            <a:lum bright="-18000" contrast="36000"/>
          </a:blip>
          <a:srcRect/>
          <a:stretch>
            <a:fillRect/>
          </a:stretch>
        </p:blipFill>
        <p:spPr bwMode="auto">
          <a:xfrm>
            <a:off x="824375" y="2366175"/>
            <a:ext cx="5662613" cy="1747838"/>
          </a:xfrm>
          <a:prstGeom prst="rect">
            <a:avLst/>
          </a:prstGeom>
          <a:noFill/>
          <a:ln w="9525">
            <a:noFill/>
            <a:miter lim="800000"/>
            <a:headEnd/>
            <a:tailEnd/>
          </a:ln>
        </p:spPr>
      </p:pic>
      <p:pic>
        <p:nvPicPr>
          <p:cNvPr id="676869" name="Picture 7"/>
          <p:cNvPicPr>
            <a:picLocks noChangeAspect="1" noChangeArrowheads="1"/>
          </p:cNvPicPr>
          <p:nvPr/>
        </p:nvPicPr>
        <p:blipFill>
          <a:blip r:embed="rId3" cstate="print">
            <a:lum bright="-18000" contrast="36000"/>
          </a:blip>
          <a:srcRect/>
          <a:stretch>
            <a:fillRect/>
          </a:stretch>
        </p:blipFill>
        <p:spPr bwMode="auto">
          <a:xfrm>
            <a:off x="824375" y="4118775"/>
            <a:ext cx="5656263" cy="17224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a:ea typeface="新細明體" pitchFamily="18" charset="-120"/>
              </a:rPr>
              <a:t>Multilevel NAND Circuits</a:t>
            </a:r>
            <a:endParaRPr lang="zh-TW" altLang="en-US" sz="250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 = </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AB</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i="1" dirty="0" smtClean="0">
                <a:latin typeface="Times New Roman" pitchFamily="18" charset="0"/>
                <a:ea typeface="新細明體" pitchFamily="18" charset="-120"/>
                <a:cs typeface="Angsana New" pitchFamily="18" charset="-34"/>
              </a:rPr>
              <a:t> +A</a:t>
            </a:r>
            <a:r>
              <a:rPr lang="en-US" altLang="zh-TW" i="1" dirty="0" smtClean="0">
                <a:latin typeface="Times New Roman" pitchFamily="18" charset="0"/>
                <a:ea typeface="新細明體" pitchFamily="18" charset="-120"/>
                <a:cs typeface="Angsana New" pitchFamily="18" charset="-34"/>
                <a:sym typeface="Symbol" pitchFamily="18" charset="2"/>
              </a:rPr>
              <a:t>B</a:t>
            </a:r>
            <a:r>
              <a:rPr lang="en-US" altLang="zh-TW"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D</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endParaRPr lang="en-US" altLang="zh-TW" dirty="0" smtClean="0">
              <a:latin typeface="Times New Roman" pitchFamily="18" charset="0"/>
              <a:ea typeface="新細明體" pitchFamily="18" charset="-120"/>
              <a:cs typeface="Angsana New" pitchFamily="18" charset="-34"/>
              <a:sym typeface="Symbol" pitchFamily="18" charset="2"/>
            </a:endParaRPr>
          </a:p>
          <a:p>
            <a:endParaRPr lang="zh-TW" altLang="en-US" dirty="0">
              <a:ea typeface="新細明體" pitchFamily="18" charset="-120"/>
            </a:endParaRPr>
          </a:p>
        </p:txBody>
      </p:sp>
      <p:pic>
        <p:nvPicPr>
          <p:cNvPr id="6" name="Picture 6"/>
          <p:cNvPicPr>
            <a:picLocks noChangeAspect="1" noChangeArrowheads="1"/>
          </p:cNvPicPr>
          <p:nvPr/>
        </p:nvPicPr>
        <p:blipFill>
          <a:blip r:embed="rId2" cstate="print">
            <a:lum bright="-12000" contrast="30000"/>
          </a:blip>
          <a:srcRect/>
          <a:stretch>
            <a:fillRect/>
          </a:stretch>
        </p:blipFill>
        <p:spPr bwMode="auto">
          <a:xfrm>
            <a:off x="843172" y="2092508"/>
            <a:ext cx="4977552" cy="1993730"/>
          </a:xfrm>
          <a:prstGeom prst="rect">
            <a:avLst/>
          </a:prstGeom>
          <a:noFill/>
          <a:ln w="9525">
            <a:noFill/>
            <a:miter lim="800000"/>
            <a:headEnd/>
            <a:tailEnd/>
          </a:ln>
        </p:spPr>
      </p:pic>
      <p:pic>
        <p:nvPicPr>
          <p:cNvPr id="7" name="Picture 7"/>
          <p:cNvPicPr>
            <a:picLocks noChangeAspect="1" noChangeArrowheads="1"/>
          </p:cNvPicPr>
          <p:nvPr/>
        </p:nvPicPr>
        <p:blipFill>
          <a:blip r:embed="rId3" cstate="print">
            <a:lum bright="-12000" contrast="30000"/>
          </a:blip>
          <a:srcRect/>
          <a:stretch>
            <a:fillRect/>
          </a:stretch>
        </p:blipFill>
        <p:spPr bwMode="auto">
          <a:xfrm>
            <a:off x="825595" y="4539631"/>
            <a:ext cx="5699467" cy="2016756"/>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標題 1"/>
          <p:cNvSpPr>
            <a:spLocks noGrp="1"/>
          </p:cNvSpPr>
          <p:nvPr>
            <p:ph type="title" idx="4294967295"/>
          </p:nvPr>
        </p:nvSpPr>
        <p:spPr/>
        <p:txBody>
          <a:bodyPr lIns="0" tIns="0" rIns="0" bIns="0"/>
          <a:lstStyle/>
          <a:p>
            <a:r>
              <a:rPr lang="en-US" altLang="zh-TW">
                <a:ea typeface="新細明體" pitchFamily="18" charset="-120"/>
              </a:rPr>
              <a:t>NOR Implementation</a:t>
            </a:r>
            <a:endParaRPr lang="zh-TW" altLang="en-US" sz="2500">
              <a:ea typeface="新細明體" pitchFamily="18" charset="-120"/>
            </a:endParaRPr>
          </a:p>
        </p:txBody>
      </p:sp>
      <p:sp>
        <p:nvSpPr>
          <p:cNvPr id="678915" name="內容版面配置區 2"/>
          <p:cNvSpPr>
            <a:spLocks noGrp="1"/>
          </p:cNvSpPr>
          <p:nvPr>
            <p:ph idx="4294967295"/>
          </p:nvPr>
        </p:nvSpPr>
        <p:spPr/>
        <p:txBody>
          <a:bodyPr lIns="90488" tIns="44450" rIns="90488" bIns="44450"/>
          <a:lstStyle/>
          <a:p>
            <a:r>
              <a:rPr lang="en-US" altLang="zh-TW" dirty="0">
                <a:ea typeface="新細明體" pitchFamily="18" charset="-120"/>
              </a:rPr>
              <a:t>NOR function is the dual of NAND function.</a:t>
            </a:r>
          </a:p>
          <a:p>
            <a:r>
              <a:rPr lang="en-US" altLang="zh-TW" dirty="0">
                <a:ea typeface="新細明體" pitchFamily="18" charset="-120"/>
              </a:rPr>
              <a:t>The NOR gate is also universal.</a:t>
            </a:r>
          </a:p>
          <a:p>
            <a:endParaRPr lang="zh-TW" altLang="en-US" dirty="0">
              <a:ea typeface="新細明體" pitchFamily="18" charset="-120"/>
            </a:endParaRPr>
          </a:p>
        </p:txBody>
      </p:sp>
      <p:pic>
        <p:nvPicPr>
          <p:cNvPr id="678916" name="Picture 1030"/>
          <p:cNvPicPr>
            <a:picLocks noChangeAspect="1" noChangeArrowheads="1"/>
          </p:cNvPicPr>
          <p:nvPr/>
        </p:nvPicPr>
        <p:blipFill>
          <a:blip r:embed="rId2" cstate="print">
            <a:lum bright="-12000" contrast="24000"/>
          </a:blip>
          <a:srcRect/>
          <a:stretch>
            <a:fillRect/>
          </a:stretch>
        </p:blipFill>
        <p:spPr bwMode="auto">
          <a:xfrm>
            <a:off x="771896" y="2826626"/>
            <a:ext cx="6440095" cy="3142745"/>
          </a:xfrm>
          <a:prstGeom prst="rect">
            <a:avLst/>
          </a:prstGeom>
          <a:noFill/>
          <a:ln w="9525">
            <a:noFill/>
            <a:miter lim="800000"/>
            <a:headEnd/>
            <a:tailEnd/>
          </a:ln>
        </p:spPr>
      </p:pic>
      <p:sp>
        <p:nvSpPr>
          <p:cNvPr id="678917" name="Text Box 8"/>
          <p:cNvSpPr txBox="1">
            <a:spLocks noChangeArrowheads="1"/>
          </p:cNvSpPr>
          <p:nvPr/>
        </p:nvSpPr>
        <p:spPr bwMode="auto">
          <a:xfrm>
            <a:off x="1695372" y="6098207"/>
            <a:ext cx="4910138" cy="369887"/>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Operation with NOR Gates</a:t>
            </a:r>
            <a:endParaRPr lang="en-US" altLang="zh-TW" i="1" dirty="0">
              <a:latin typeface="Times New Roman" pitchFamily="18" charset="0"/>
              <a:ea typeface="新細明體" pitchFamily="18" charset="-120"/>
              <a:cs typeface="Angsana New" pitchFamily="18" charset="-34"/>
              <a:sym typeface="Symbol" pitchFamily="18" charset="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標題 1"/>
          <p:cNvSpPr>
            <a:spLocks noGrp="1"/>
          </p:cNvSpPr>
          <p:nvPr>
            <p:ph type="title" idx="4294967295"/>
          </p:nvPr>
        </p:nvSpPr>
        <p:spPr/>
        <p:txBody>
          <a:bodyPr lIns="0" tIns="0" rIns="0" bIns="0"/>
          <a:lstStyle/>
          <a:p>
            <a:r>
              <a:rPr lang="en-US" altLang="zh-TW" dirty="0" smtClean="0">
                <a:ea typeface="新細明體" pitchFamily="18" charset="-120"/>
              </a:rPr>
              <a:t>NOR </a:t>
            </a:r>
            <a:r>
              <a:rPr lang="en-US" altLang="zh-TW" dirty="0">
                <a:ea typeface="新細明體" pitchFamily="18" charset="-120"/>
              </a:rPr>
              <a:t>Gate</a:t>
            </a:r>
            <a:endParaRPr lang="zh-TW" altLang="en-US" sz="2500" dirty="0">
              <a:ea typeface="新細明體" pitchFamily="18" charset="-120"/>
            </a:endParaRPr>
          </a:p>
        </p:txBody>
      </p:sp>
      <p:sp>
        <p:nvSpPr>
          <p:cNvPr id="672771" name="內容版面配置區 2"/>
          <p:cNvSpPr>
            <a:spLocks noGrp="1"/>
          </p:cNvSpPr>
          <p:nvPr>
            <p:ph idx="4294967295"/>
          </p:nvPr>
        </p:nvSpPr>
        <p:spPr/>
        <p:txBody>
          <a:bodyPr lIns="90488" tIns="44450" rIns="90488" bIns="44450"/>
          <a:lstStyle/>
          <a:p>
            <a:r>
              <a:rPr lang="en-US" altLang="zh-TW" dirty="0">
                <a:ea typeface="新細明體" pitchFamily="18" charset="-120"/>
              </a:rPr>
              <a:t>Two graphic symbols for a </a:t>
            </a:r>
            <a:r>
              <a:rPr lang="en-US" altLang="zh-TW" dirty="0" smtClean="0">
                <a:ea typeface="新細明體" pitchFamily="18" charset="-120"/>
              </a:rPr>
              <a:t>NOR </a:t>
            </a:r>
            <a:r>
              <a:rPr lang="en-US" altLang="zh-TW" dirty="0">
                <a:ea typeface="新細明體" pitchFamily="18" charset="-120"/>
              </a:rPr>
              <a:t>gate</a:t>
            </a:r>
          </a:p>
          <a:p>
            <a:endParaRPr lang="zh-TW" altLang="en-US" dirty="0">
              <a:ea typeface="新細明體" pitchFamily="18" charset="-120"/>
            </a:endParaRPr>
          </a:p>
        </p:txBody>
      </p:sp>
      <p:pic>
        <p:nvPicPr>
          <p:cNvPr id="6" name="Picture 6"/>
          <p:cNvPicPr>
            <a:picLocks noChangeAspect="1" noChangeArrowheads="1"/>
          </p:cNvPicPr>
          <p:nvPr/>
        </p:nvPicPr>
        <p:blipFill>
          <a:blip r:embed="rId2" cstate="print">
            <a:lum bright="-12000" contrast="24000"/>
          </a:blip>
          <a:srcRect/>
          <a:stretch>
            <a:fillRect/>
          </a:stretch>
        </p:blipFill>
        <p:spPr bwMode="auto">
          <a:xfrm>
            <a:off x="411163" y="2500863"/>
            <a:ext cx="8407400" cy="1095375"/>
          </a:xfrm>
          <a:prstGeom prst="rect">
            <a:avLst/>
          </a:prstGeom>
          <a:noFill/>
          <a:ln w="9525">
            <a:noFill/>
            <a:miter lim="800000"/>
            <a:headEnd/>
            <a:tailEnd/>
          </a:ln>
        </p:spPr>
      </p:pic>
      <p:sp>
        <p:nvSpPr>
          <p:cNvPr id="7" name="Text Box 9"/>
          <p:cNvSpPr txBox="1">
            <a:spLocks noChangeArrowheads="1"/>
          </p:cNvSpPr>
          <p:nvPr/>
        </p:nvSpPr>
        <p:spPr bwMode="auto">
          <a:xfrm>
            <a:off x="2271713" y="3842300"/>
            <a:ext cx="475932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Two </a:t>
            </a:r>
            <a:r>
              <a:rPr lang="en-US" altLang="zh-TW" dirty="0">
                <a:latin typeface="Times New Roman" pitchFamily="18" charset="0"/>
                <a:ea typeface="新細明體" pitchFamily="18" charset="-120"/>
                <a:cs typeface="Angsana New" pitchFamily="18" charset="-34"/>
              </a:rPr>
              <a:t>Graphic Symbols for NOR Gate</a:t>
            </a:r>
            <a:endParaRPr lang="en-US" altLang="zh-TW" i="1"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dirty="0" smtClean="0">
                <a:ea typeface="新細明體" pitchFamily="18" charset="-120"/>
              </a:rPr>
              <a:t>NOR Implementation</a:t>
            </a:r>
            <a:endParaRPr lang="zh-TW" altLang="en-US" sz="2500" dirty="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 + 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 D</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E</a:t>
            </a:r>
            <a:endParaRPr lang="en-US" altLang="zh-TW" i="1" dirty="0">
              <a:latin typeface="Times New Roman" pitchFamily="18" charset="0"/>
              <a:ea typeface="新細明體" pitchFamily="18" charset="-120"/>
              <a:cs typeface="Angsana New" pitchFamily="18" charset="-34"/>
            </a:endParaRPr>
          </a:p>
        </p:txBody>
      </p:sp>
      <p:pic>
        <p:nvPicPr>
          <p:cNvPr id="6" name="Picture 8"/>
          <p:cNvPicPr>
            <a:picLocks noChangeAspect="1" noChangeArrowheads="1"/>
          </p:cNvPicPr>
          <p:nvPr/>
        </p:nvPicPr>
        <p:blipFill>
          <a:blip r:embed="rId2" cstate="print">
            <a:lum bright="-12000" contrast="24000"/>
          </a:blip>
          <a:srcRect/>
          <a:stretch>
            <a:fillRect/>
          </a:stretch>
        </p:blipFill>
        <p:spPr bwMode="auto">
          <a:xfrm>
            <a:off x="1623147" y="2741015"/>
            <a:ext cx="4770437" cy="2171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標題 1"/>
          <p:cNvSpPr>
            <a:spLocks noGrp="1"/>
          </p:cNvSpPr>
          <p:nvPr>
            <p:ph type="title" idx="4294967295"/>
          </p:nvPr>
        </p:nvSpPr>
        <p:spPr/>
        <p:txBody>
          <a:bodyPr lIns="0" tIns="0" rIns="0" bIns="0"/>
          <a:lstStyle/>
          <a:p>
            <a:r>
              <a:rPr lang="en-US" altLang="zh-TW" dirty="0" smtClean="0">
                <a:ea typeface="新細明體" pitchFamily="18" charset="-120"/>
              </a:rPr>
              <a:t>NOR Implementation</a:t>
            </a:r>
            <a:endParaRPr lang="zh-TW" altLang="en-US" sz="2500" dirty="0">
              <a:ea typeface="新細明體" pitchFamily="18" charset="-120"/>
            </a:endParaRPr>
          </a:p>
        </p:txBody>
      </p:sp>
      <p:sp>
        <p:nvSpPr>
          <p:cNvPr id="676867" name="內容版面配置區 2"/>
          <p:cNvSpPr>
            <a:spLocks noGrp="1"/>
          </p:cNvSpPr>
          <p:nvPr>
            <p:ph idx="4294967295"/>
          </p:nvPr>
        </p:nvSpPr>
        <p:spPr/>
        <p:txBody>
          <a:bodyPr lIns="90488" tIns="44450" rIns="90488" bIns="44450"/>
          <a:lstStyle/>
          <a:p>
            <a:r>
              <a:rPr lang="en-US" altLang="zh-TW" i="1" dirty="0" smtClean="0">
                <a:latin typeface="Times New Roman" pitchFamily="18" charset="0"/>
                <a:ea typeface="新細明體" pitchFamily="18" charset="-120"/>
                <a:cs typeface="Angsana New" pitchFamily="18" charset="-34"/>
              </a:rPr>
              <a:t>F</a:t>
            </a:r>
            <a:r>
              <a:rPr lang="en-US" altLang="zh-TW" dirty="0" smtClean="0">
                <a:latin typeface="Times New Roman" pitchFamily="18" charset="0"/>
                <a:ea typeface="新細明體" pitchFamily="18" charset="-120"/>
                <a:cs typeface="Angsana New" pitchFamily="18" charset="-34"/>
              </a:rPr>
              <a:t> = (</a:t>
            </a:r>
            <a:r>
              <a:rPr lang="en-US" altLang="zh-TW" i="1" dirty="0" smtClean="0">
                <a:latin typeface="Times New Roman" pitchFamily="18" charset="0"/>
                <a:ea typeface="新細明體" pitchFamily="18" charset="-120"/>
                <a:cs typeface="Angsana New" pitchFamily="18" charset="-34"/>
              </a:rPr>
              <a:t>AB</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i="1" dirty="0" smtClean="0">
                <a:latin typeface="Times New Roman" pitchFamily="18" charset="0"/>
                <a:ea typeface="新細明體" pitchFamily="18" charset="-120"/>
                <a:cs typeface="Angsana New" pitchFamily="18" charset="-34"/>
              </a:rPr>
              <a:t> +A</a:t>
            </a:r>
            <a:r>
              <a:rPr lang="en-US" altLang="zh-TW" i="1" dirty="0" smtClean="0">
                <a:latin typeface="Times New Roman" pitchFamily="18" charset="0"/>
                <a:ea typeface="新細明體" pitchFamily="18" charset="-120"/>
                <a:cs typeface="Angsana New" pitchFamily="18" charset="-34"/>
                <a:sym typeface="Symbol" pitchFamily="18" charset="2"/>
              </a:rPr>
              <a:t>B</a:t>
            </a:r>
            <a:r>
              <a:rPr lang="en-US" altLang="zh-TW" dirty="0" smtClean="0">
                <a:latin typeface="Times New Roman" pitchFamily="18" charset="0"/>
                <a:ea typeface="新細明體" pitchFamily="18" charset="-120"/>
                <a:cs typeface="Angsana New" pitchFamily="18" charset="-34"/>
              </a:rPr>
              <a:t>)(</a:t>
            </a:r>
            <a:r>
              <a:rPr lang="en-US" altLang="zh-TW" i="1" dirty="0" smtClean="0">
                <a:latin typeface="Times New Roman" pitchFamily="18" charset="0"/>
                <a:ea typeface="新細明體" pitchFamily="18" charset="-120"/>
                <a:cs typeface="Angsana New" pitchFamily="18" charset="-34"/>
              </a:rPr>
              <a:t>C + D</a:t>
            </a:r>
            <a:r>
              <a:rPr lang="en-US" altLang="zh-TW" i="1" dirty="0" smtClean="0">
                <a:latin typeface="Times New Roman" pitchFamily="18" charset="0"/>
                <a:ea typeface="新細明體" pitchFamily="18" charset="-120"/>
                <a:cs typeface="Angsana New" pitchFamily="18" charset="-34"/>
                <a:sym typeface="Symbol" pitchFamily="18" charset="2"/>
              </a:rPr>
              <a:t></a:t>
            </a:r>
            <a:r>
              <a:rPr lang="en-US" altLang="zh-TW" dirty="0" smtClean="0">
                <a:latin typeface="Times New Roman" pitchFamily="18" charset="0"/>
                <a:ea typeface="新細明體" pitchFamily="18" charset="-120"/>
                <a:cs typeface="Angsana New" pitchFamily="18" charset="-34"/>
              </a:rPr>
              <a:t>)</a:t>
            </a:r>
            <a:endParaRPr lang="en-US" altLang="zh-TW" i="1" dirty="0">
              <a:latin typeface="Times New Roman" pitchFamily="18" charset="0"/>
              <a:ea typeface="新細明體" pitchFamily="18" charset="-120"/>
              <a:cs typeface="Angsana New" pitchFamily="18" charset="-34"/>
            </a:endParaRPr>
          </a:p>
        </p:txBody>
      </p:sp>
      <p:pic>
        <p:nvPicPr>
          <p:cNvPr id="5" name="Picture 9"/>
          <p:cNvPicPr>
            <a:picLocks noChangeAspect="1" noChangeArrowheads="1"/>
          </p:cNvPicPr>
          <p:nvPr/>
        </p:nvPicPr>
        <p:blipFill>
          <a:blip r:embed="rId2" cstate="print">
            <a:lum bright="-12000" contrast="24000"/>
          </a:blip>
          <a:srcRect/>
          <a:stretch>
            <a:fillRect/>
          </a:stretch>
        </p:blipFill>
        <p:spPr bwMode="auto">
          <a:xfrm>
            <a:off x="785813" y="2371725"/>
            <a:ext cx="7612062" cy="28575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2"/>
          </p:nvPr>
        </p:nvSpPr>
        <p:spPr/>
        <p:txBody>
          <a:bodyPr/>
          <a:lstStyle/>
          <a:p>
            <a:fld id="{C8B8D7A7-9EB7-4A95-ABCD-79E90579E1D3}" type="slidenum">
              <a:rPr lang="en-US"/>
              <a:pPr/>
              <a:t>54</a:t>
            </a:fld>
            <a:endParaRPr lang="en-US"/>
          </a:p>
        </p:txBody>
      </p:sp>
      <p:sp>
        <p:nvSpPr>
          <p:cNvPr id="681986" name="標題 1"/>
          <p:cNvSpPr>
            <a:spLocks noGrp="1"/>
          </p:cNvSpPr>
          <p:nvPr>
            <p:ph type="title" idx="4294967295"/>
          </p:nvPr>
        </p:nvSpPr>
        <p:spPr/>
        <p:txBody>
          <a:bodyPr lIns="0" tIns="0" rIns="0" bIns="0">
            <a:normAutofit fontScale="90000"/>
          </a:bodyPr>
          <a:lstStyle/>
          <a:p>
            <a:r>
              <a:rPr lang="en-US" altLang="zh-TW" sz="3800" dirty="0" smtClean="0">
                <a:ea typeface="新細明體" pitchFamily="18" charset="-120"/>
              </a:rPr>
              <a:t>Other </a:t>
            </a:r>
            <a:r>
              <a:rPr lang="en-US" altLang="zh-TW" sz="3800" dirty="0">
                <a:ea typeface="新細明體" pitchFamily="18" charset="-120"/>
              </a:rPr>
              <a:t>Two-level Implementations </a:t>
            </a:r>
            <a:endParaRPr lang="zh-TW" altLang="en-US" sz="2500" dirty="0">
              <a:ea typeface="新細明體" pitchFamily="18" charset="-120"/>
            </a:endParaRPr>
          </a:p>
        </p:txBody>
      </p:sp>
      <p:sp>
        <p:nvSpPr>
          <p:cNvPr id="681987" name="內容版面配置區 2"/>
          <p:cNvSpPr>
            <a:spLocks noGrp="1"/>
          </p:cNvSpPr>
          <p:nvPr>
            <p:ph idx="4294967295"/>
          </p:nvPr>
        </p:nvSpPr>
        <p:spPr/>
        <p:txBody>
          <a:bodyPr lIns="90488" tIns="44450" rIns="90488" bIns="44450"/>
          <a:lstStyle/>
          <a:p>
            <a:pPr>
              <a:spcBef>
                <a:spcPct val="10000"/>
              </a:spcBef>
            </a:pPr>
            <a:r>
              <a:rPr lang="en-US" altLang="zh-TW" dirty="0">
                <a:ea typeface="新細明體" pitchFamily="18" charset="-120"/>
              </a:rPr>
              <a:t>Wired logic</a:t>
            </a:r>
          </a:p>
          <a:p>
            <a:pPr lvl="1">
              <a:spcBef>
                <a:spcPct val="0"/>
              </a:spcBef>
            </a:pPr>
            <a:r>
              <a:rPr lang="en-AU" altLang="zh-TW" sz="2400" dirty="0" smtClean="0">
                <a:ea typeface="新細明體" pitchFamily="18" charset="-120"/>
              </a:rPr>
              <a:t>In some technologies, it is possible to short O/Ps of some logic gates</a:t>
            </a:r>
            <a:endParaRPr lang="zh-TW" altLang="en-US" sz="2400" dirty="0">
              <a:ea typeface="新細明體" pitchFamily="18" charset="-120"/>
            </a:endParaRPr>
          </a:p>
        </p:txBody>
      </p:sp>
      <p:graphicFrame>
        <p:nvGraphicFramePr>
          <p:cNvPr id="681988" name="Object 7"/>
          <p:cNvGraphicFramePr>
            <a:graphicFrameLocks noChangeAspect="1"/>
          </p:cNvGraphicFramePr>
          <p:nvPr/>
        </p:nvGraphicFramePr>
        <p:xfrm>
          <a:off x="285750" y="2997200"/>
          <a:ext cx="5857875" cy="803275"/>
        </p:xfrm>
        <a:graphic>
          <a:graphicData uri="http://schemas.openxmlformats.org/presentationml/2006/ole">
            <mc:AlternateContent xmlns:mc="http://schemas.openxmlformats.org/markup-compatibility/2006">
              <mc:Choice xmlns:v="urn:schemas-microsoft-com:vml" Requires="v">
                <p:oleObj spid="_x0000_s286723" name="Equation" r:id="rId3" imgW="3149280" imgH="431640" progId="">
                  <p:embed/>
                </p:oleObj>
              </mc:Choice>
              <mc:Fallback>
                <p:oleObj name="Equation" r:id="rId3" imgW="3149280" imgH="431640"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2997200"/>
                        <a:ext cx="5857875" cy="803275"/>
                      </a:xfrm>
                      <a:prstGeom prst="rect">
                        <a:avLst/>
                      </a:prstGeom>
                      <a:solidFill>
                        <a:srgbClr val="9FFFE6"/>
                      </a:solidFill>
                    </p:spPr>
                  </p:pic>
                </p:oleObj>
              </mc:Fallback>
            </mc:AlternateContent>
          </a:graphicData>
        </a:graphic>
      </p:graphicFrame>
      <p:pic>
        <p:nvPicPr>
          <p:cNvPr id="681989" name="Picture 6"/>
          <p:cNvPicPr>
            <a:picLocks noChangeAspect="1" noChangeArrowheads="1"/>
          </p:cNvPicPr>
          <p:nvPr/>
        </p:nvPicPr>
        <p:blipFill>
          <a:blip r:embed="rId5" cstate="print">
            <a:lum bright="-18000" contrast="30000"/>
          </a:blip>
          <a:srcRect/>
          <a:stretch>
            <a:fillRect/>
          </a:stretch>
        </p:blipFill>
        <p:spPr bwMode="auto">
          <a:xfrm>
            <a:off x="619125" y="4106863"/>
            <a:ext cx="7921625" cy="2003425"/>
          </a:xfrm>
          <a:prstGeom prst="rect">
            <a:avLst/>
          </a:prstGeom>
          <a:noFill/>
          <a:ln w="9525">
            <a:noFill/>
            <a:miter lim="800000"/>
            <a:headEnd/>
            <a:tailEnd/>
          </a:ln>
        </p:spPr>
      </p:pic>
      <p:sp>
        <p:nvSpPr>
          <p:cNvPr id="681990" name="Text Box 9"/>
          <p:cNvSpPr txBox="1">
            <a:spLocks noChangeArrowheads="1"/>
          </p:cNvSpPr>
          <p:nvPr/>
        </p:nvSpPr>
        <p:spPr bwMode="auto">
          <a:xfrm>
            <a:off x="6215063" y="3006725"/>
            <a:ext cx="2700337" cy="757238"/>
          </a:xfrm>
          <a:prstGeom prst="rect">
            <a:avLst/>
          </a:prstGeom>
          <a:solidFill>
            <a:srgbClr val="FFFF99"/>
          </a:solidFill>
          <a:ln w="9525">
            <a:noFill/>
            <a:miter lim="800000"/>
            <a:headEnd/>
            <a:tailEnd/>
          </a:ln>
        </p:spPr>
        <p:txBody>
          <a:bodyPr wrap="none">
            <a:spAutoFit/>
          </a:bodyPr>
          <a:lstStyle/>
          <a:p>
            <a:pPr>
              <a:spcBef>
                <a:spcPct val="40000"/>
              </a:spcBef>
            </a:pPr>
            <a:r>
              <a:rPr lang="en-US" altLang="zh-TW" i="1">
                <a:latin typeface="Times New Roman" pitchFamily="18" charset="0"/>
                <a:ea typeface="新細明體" pitchFamily="18" charset="-120"/>
                <a:cs typeface="Angsana New" pitchFamily="18" charset="-34"/>
              </a:rPr>
              <a:t>AND-OR-INVERT function</a:t>
            </a:r>
          </a:p>
          <a:p>
            <a:pPr>
              <a:spcBef>
                <a:spcPct val="40000"/>
              </a:spcBef>
            </a:pPr>
            <a:r>
              <a:rPr lang="en-US" altLang="zh-TW" i="1">
                <a:latin typeface="Times New Roman" pitchFamily="18" charset="0"/>
                <a:ea typeface="新細明體" pitchFamily="18" charset="-120"/>
                <a:cs typeface="Angsana New" pitchFamily="18" charset="-34"/>
              </a:rPr>
              <a:t>OR-AND-INVERT function</a:t>
            </a:r>
          </a:p>
        </p:txBody>
      </p:sp>
      <p:sp>
        <p:nvSpPr>
          <p:cNvPr id="681991" name="Text Box 7"/>
          <p:cNvSpPr txBox="1">
            <a:spLocks noChangeArrowheads="1"/>
          </p:cNvSpPr>
          <p:nvPr/>
        </p:nvSpPr>
        <p:spPr bwMode="auto">
          <a:xfrm>
            <a:off x="2820988" y="6288088"/>
            <a:ext cx="2686050" cy="369887"/>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Wired </a:t>
            </a:r>
            <a:r>
              <a:rPr lang="en-US" altLang="zh-TW" dirty="0">
                <a:latin typeface="Times New Roman" pitchFamily="18" charset="0"/>
                <a:ea typeface="新細明體" pitchFamily="18" charset="-120"/>
                <a:cs typeface="Angsana New" pitchFamily="18" charset="-34"/>
              </a:rPr>
              <a:t>Logic</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標題 1"/>
          <p:cNvSpPr>
            <a:spLocks noGrp="1"/>
          </p:cNvSpPr>
          <p:nvPr>
            <p:ph type="title" idx="4294967295"/>
          </p:nvPr>
        </p:nvSpPr>
        <p:spPr/>
        <p:txBody>
          <a:bodyPr lIns="0" tIns="0" rIns="0" bIns="0"/>
          <a:lstStyle/>
          <a:p>
            <a:r>
              <a:rPr lang="en-US" altLang="zh-TW">
                <a:ea typeface="新細明體" pitchFamily="18" charset="-120"/>
              </a:rPr>
              <a:t>Non-degenerate Forms</a:t>
            </a:r>
            <a:endParaRPr lang="zh-TW" altLang="en-US" sz="2500">
              <a:ea typeface="新細明體" pitchFamily="18" charset="-120"/>
            </a:endParaRPr>
          </a:p>
        </p:txBody>
      </p:sp>
      <p:sp>
        <p:nvSpPr>
          <p:cNvPr id="44035" name="內容版面配置區 2"/>
          <p:cNvSpPr>
            <a:spLocks noGrp="1"/>
          </p:cNvSpPr>
          <p:nvPr>
            <p:ph idx="4294967295"/>
          </p:nvPr>
        </p:nvSpPr>
        <p:spPr/>
        <p:txBody>
          <a:bodyPr lIns="90488" tIns="44450" rIns="90488" bIns="44450">
            <a:normAutofit lnSpcReduction="10000"/>
          </a:bodyPr>
          <a:lstStyle/>
          <a:p>
            <a:r>
              <a:rPr lang="zh-TW" altLang="en-US" dirty="0">
                <a:ea typeface="新細明體" pitchFamily="18" charset="-120"/>
              </a:rPr>
              <a:t>16 </a:t>
            </a:r>
            <a:r>
              <a:rPr lang="en-US" altLang="zh-TW" dirty="0">
                <a:ea typeface="新細明體" pitchFamily="18" charset="-120"/>
              </a:rPr>
              <a:t>possible combinations of two-level </a:t>
            </a:r>
            <a:r>
              <a:rPr lang="en-US" altLang="zh-TW" dirty="0" smtClean="0">
                <a:ea typeface="新細明體" pitchFamily="18" charset="-120"/>
              </a:rPr>
              <a:t>forms</a:t>
            </a:r>
          </a:p>
          <a:p>
            <a:pPr>
              <a:buNone/>
            </a:pPr>
            <a:endParaRPr lang="en-US" altLang="zh-TW" dirty="0">
              <a:ea typeface="新細明體" pitchFamily="18" charset="-120"/>
            </a:endParaRPr>
          </a:p>
          <a:p>
            <a:r>
              <a:rPr lang="en-US" altLang="zh-TW" dirty="0">
                <a:ea typeface="新細明體" pitchFamily="18" charset="-120"/>
              </a:rPr>
              <a:t>Eight of them: degenerate forms = a single operation</a:t>
            </a:r>
          </a:p>
          <a:p>
            <a:pPr lvl="1"/>
            <a:r>
              <a:rPr lang="en-US" altLang="zh-TW" sz="2300" dirty="0">
                <a:ea typeface="新細明體" pitchFamily="18" charset="-120"/>
              </a:rPr>
              <a:t>AND-AND, AND-NAND, OR-OR, OR-NOR, NAND-OR, NAND-NOR, NOR-AND, NOR-NAND</a:t>
            </a:r>
            <a:r>
              <a:rPr lang="en-US" altLang="zh-TW" sz="2300" dirty="0" smtClean="0">
                <a:ea typeface="新細明體" pitchFamily="18" charset="-120"/>
              </a:rPr>
              <a:t>.</a:t>
            </a:r>
          </a:p>
          <a:p>
            <a:pPr lvl="2">
              <a:buNone/>
            </a:pPr>
            <a:endParaRPr lang="en-US" altLang="zh-TW" dirty="0">
              <a:ea typeface="新細明體" pitchFamily="18" charset="-120"/>
            </a:endParaRPr>
          </a:p>
          <a:p>
            <a:r>
              <a:rPr lang="en-US" altLang="zh-TW" sz="2700" dirty="0">
                <a:ea typeface="新細明體" pitchFamily="18" charset="-120"/>
              </a:rPr>
              <a:t>The eight </a:t>
            </a:r>
            <a:r>
              <a:rPr lang="en-US" altLang="zh-TW" sz="2700" dirty="0" smtClean="0">
                <a:ea typeface="新細明體" pitchFamily="18" charset="-120"/>
              </a:rPr>
              <a:t>non-degenerate forms</a:t>
            </a:r>
            <a:endParaRPr lang="en-US" altLang="zh-TW" sz="2700" dirty="0">
              <a:ea typeface="新細明體" pitchFamily="18" charset="-120"/>
            </a:endParaRPr>
          </a:p>
          <a:p>
            <a:pPr lvl="1"/>
            <a:r>
              <a:rPr lang="en-US" altLang="zh-TW" sz="2300" dirty="0">
                <a:ea typeface="新細明體" pitchFamily="18" charset="-120"/>
              </a:rPr>
              <a:t>AND-OR, OR-AND, NAND-NAND, NOR-NOR, NOR-OR, NAND-AND, OR-NAND, AND-NOR.</a:t>
            </a:r>
          </a:p>
          <a:p>
            <a:pPr lvl="1"/>
            <a:r>
              <a:rPr lang="en-US" altLang="zh-TW" sz="2300" dirty="0">
                <a:solidFill>
                  <a:srgbClr val="FF0000"/>
                </a:solidFill>
                <a:ea typeface="新細明體" pitchFamily="18" charset="-120"/>
              </a:rPr>
              <a:t>AND-OR</a:t>
            </a:r>
            <a:r>
              <a:rPr lang="en-US" altLang="zh-TW" sz="2300" dirty="0">
                <a:ea typeface="新細明體" pitchFamily="18" charset="-120"/>
              </a:rPr>
              <a:t> and </a:t>
            </a:r>
            <a:r>
              <a:rPr lang="en-US" altLang="zh-TW" sz="2300" dirty="0">
                <a:solidFill>
                  <a:srgbClr val="1B1BFF"/>
                </a:solidFill>
                <a:ea typeface="新細明體" pitchFamily="18" charset="-120"/>
              </a:rPr>
              <a:t>NAND-NAND</a:t>
            </a:r>
            <a:r>
              <a:rPr lang="en-US" altLang="zh-TW" sz="2300" dirty="0">
                <a:ea typeface="新細明體" pitchFamily="18" charset="-120"/>
              </a:rPr>
              <a:t> = sum of products.</a:t>
            </a:r>
          </a:p>
          <a:p>
            <a:pPr lvl="1"/>
            <a:r>
              <a:rPr lang="en-US" altLang="zh-TW" sz="2300" dirty="0">
                <a:solidFill>
                  <a:srgbClr val="FF0000"/>
                </a:solidFill>
                <a:ea typeface="新細明體" pitchFamily="18" charset="-120"/>
              </a:rPr>
              <a:t>OR-AND </a:t>
            </a:r>
            <a:r>
              <a:rPr lang="en-US" altLang="zh-TW" sz="2300" dirty="0">
                <a:ea typeface="新細明體" pitchFamily="18" charset="-120"/>
              </a:rPr>
              <a:t>and </a:t>
            </a:r>
            <a:r>
              <a:rPr lang="en-US" altLang="zh-TW" sz="2300" dirty="0">
                <a:solidFill>
                  <a:srgbClr val="1B1BFF"/>
                </a:solidFill>
                <a:ea typeface="新細明體" pitchFamily="18" charset="-120"/>
              </a:rPr>
              <a:t>NOR-NOR</a:t>
            </a:r>
            <a:r>
              <a:rPr lang="en-US" altLang="zh-TW" sz="2300" dirty="0">
                <a:ea typeface="新細明體" pitchFamily="18" charset="-120"/>
              </a:rPr>
              <a:t> = product of sums.</a:t>
            </a:r>
          </a:p>
          <a:p>
            <a:pPr lvl="1"/>
            <a:r>
              <a:rPr lang="en-US" altLang="zh-TW" sz="2300" dirty="0">
                <a:solidFill>
                  <a:srgbClr val="CC605E"/>
                </a:solidFill>
                <a:ea typeface="新細明體" pitchFamily="18" charset="-120"/>
              </a:rPr>
              <a:t>NOR-OR</a:t>
            </a:r>
            <a:r>
              <a:rPr lang="en-US" altLang="zh-TW" sz="2300" dirty="0">
                <a:ea typeface="新細明體" pitchFamily="18" charset="-120"/>
              </a:rPr>
              <a:t>, </a:t>
            </a:r>
            <a:r>
              <a:rPr lang="en-US" altLang="zh-TW" sz="2300" dirty="0">
                <a:solidFill>
                  <a:srgbClr val="CC605E"/>
                </a:solidFill>
                <a:ea typeface="新細明體" pitchFamily="18" charset="-120"/>
              </a:rPr>
              <a:t>NAND-AND</a:t>
            </a:r>
            <a:r>
              <a:rPr lang="en-US" altLang="zh-TW" sz="2300" dirty="0">
                <a:ea typeface="新細明體" pitchFamily="18" charset="-120"/>
              </a:rPr>
              <a:t>, </a:t>
            </a:r>
            <a:r>
              <a:rPr lang="en-US" altLang="zh-TW" sz="2300" dirty="0">
                <a:solidFill>
                  <a:srgbClr val="00B050"/>
                </a:solidFill>
                <a:ea typeface="新細明體" pitchFamily="18" charset="-120"/>
              </a:rPr>
              <a:t>OR-NAND</a:t>
            </a:r>
            <a:r>
              <a:rPr lang="en-US" altLang="zh-TW" sz="2300" dirty="0">
                <a:ea typeface="新細明體" pitchFamily="18" charset="-120"/>
              </a:rPr>
              <a:t>, </a:t>
            </a:r>
            <a:r>
              <a:rPr lang="en-US" altLang="zh-TW" sz="2300" dirty="0">
                <a:solidFill>
                  <a:srgbClr val="00B050"/>
                </a:solidFill>
                <a:ea typeface="新細明體" pitchFamily="18" charset="-120"/>
              </a:rPr>
              <a:t>AND-NOR</a:t>
            </a:r>
            <a:r>
              <a:rPr lang="en-US" altLang="zh-TW" sz="2300" dirty="0">
                <a:ea typeface="新細明體" pitchFamily="18" charset="-120"/>
              </a:rPr>
              <a:t> = ?</a:t>
            </a: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標題 1"/>
          <p:cNvSpPr>
            <a:spLocks noGrp="1"/>
          </p:cNvSpPr>
          <p:nvPr>
            <p:ph type="title" idx="4294967295"/>
          </p:nvPr>
        </p:nvSpPr>
        <p:spPr/>
        <p:txBody>
          <a:bodyPr lIns="0" tIns="0" rIns="0" bIns="0"/>
          <a:lstStyle/>
          <a:p>
            <a:r>
              <a:rPr lang="en-US" altLang="zh-TW">
                <a:ea typeface="新細明體" pitchFamily="18" charset="-120"/>
              </a:rPr>
              <a:t>AND-OR-Invert Implementation</a:t>
            </a:r>
            <a:endParaRPr lang="zh-TW" altLang="en-US" sz="2500">
              <a:ea typeface="新細明體" pitchFamily="18" charset="-120"/>
            </a:endParaRPr>
          </a:p>
        </p:txBody>
      </p:sp>
      <p:sp>
        <p:nvSpPr>
          <p:cNvPr id="684035" name="內容版面配置區 2"/>
          <p:cNvSpPr>
            <a:spLocks noGrp="1"/>
          </p:cNvSpPr>
          <p:nvPr>
            <p:ph idx="4294967295"/>
          </p:nvPr>
        </p:nvSpPr>
        <p:spPr/>
        <p:txBody>
          <a:bodyPr lIns="90488" tIns="44450" rIns="90488" bIns="44450"/>
          <a:lstStyle/>
          <a:p>
            <a:r>
              <a:rPr lang="en-US" altLang="zh-TW" dirty="0">
                <a:ea typeface="新細明體" pitchFamily="18" charset="-120"/>
              </a:rPr>
              <a:t>AND-OR-INVERT (AOI) Implementation</a:t>
            </a:r>
          </a:p>
          <a:p>
            <a:pPr lvl="1"/>
            <a:r>
              <a:rPr lang="en-US" altLang="zh-TW" sz="2400" dirty="0">
                <a:ea typeface="新細明體" pitchFamily="18" charset="-120"/>
              </a:rPr>
              <a:t>NAND-AND = AND-NOR = AOI</a:t>
            </a:r>
          </a:p>
          <a:p>
            <a:pPr lvl="1"/>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AB+CD+E</a:t>
            </a:r>
            <a:r>
              <a:rPr lang="en-US" altLang="zh-TW" sz="2400" dirty="0">
                <a:ea typeface="新細明體" pitchFamily="18" charset="-120"/>
              </a:rPr>
              <a:t>)</a:t>
            </a:r>
            <a:r>
              <a:rPr lang="en-US" altLang="zh-TW" sz="2400" i="1" dirty="0">
                <a:ea typeface="新細明體" pitchFamily="18" charset="-120"/>
              </a:rPr>
              <a:t>'</a:t>
            </a:r>
            <a:r>
              <a:rPr lang="en-US" altLang="zh-TW" sz="2400" dirty="0">
                <a:ea typeface="新細明體" pitchFamily="18" charset="-120"/>
              </a:rPr>
              <a:t> </a:t>
            </a:r>
            <a:endParaRPr lang="tr-TR" altLang="zh-TW" sz="2400" dirty="0"/>
          </a:p>
          <a:p>
            <a:pPr lvl="1"/>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AB+CD+E</a:t>
            </a:r>
            <a:r>
              <a:rPr lang="en-US" altLang="zh-TW" sz="2400" dirty="0">
                <a:ea typeface="新細明體" pitchFamily="18" charset="-120"/>
              </a:rPr>
              <a:t>   (sum of products)</a:t>
            </a:r>
          </a:p>
          <a:p>
            <a:endParaRPr lang="zh-TW" altLang="en-US" dirty="0">
              <a:ea typeface="新細明體" pitchFamily="18" charset="-120"/>
            </a:endParaRPr>
          </a:p>
        </p:txBody>
      </p:sp>
      <p:pic>
        <p:nvPicPr>
          <p:cNvPr id="684036" name="Picture 5"/>
          <p:cNvPicPr>
            <a:picLocks noChangeAspect="1" noChangeArrowheads="1"/>
          </p:cNvPicPr>
          <p:nvPr/>
        </p:nvPicPr>
        <p:blipFill>
          <a:blip r:embed="rId2" cstate="print">
            <a:lum bright="-18000" contrast="30000"/>
          </a:blip>
          <a:srcRect/>
          <a:stretch>
            <a:fillRect/>
          </a:stretch>
        </p:blipFill>
        <p:spPr bwMode="auto">
          <a:xfrm>
            <a:off x="588963" y="3370263"/>
            <a:ext cx="8034337" cy="2316162"/>
          </a:xfrm>
          <a:prstGeom prst="rect">
            <a:avLst/>
          </a:prstGeom>
          <a:noFill/>
          <a:ln w="9525">
            <a:noFill/>
            <a:miter lim="800000"/>
            <a:headEnd/>
            <a:tailEnd/>
          </a:ln>
        </p:spPr>
      </p:pic>
      <p:sp>
        <p:nvSpPr>
          <p:cNvPr id="684037" name="Text Box 7"/>
          <p:cNvSpPr txBox="1">
            <a:spLocks noChangeArrowheads="1"/>
          </p:cNvSpPr>
          <p:nvPr/>
        </p:nvSpPr>
        <p:spPr bwMode="auto">
          <a:xfrm>
            <a:off x="1771650" y="6000750"/>
            <a:ext cx="5743575"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AND-OR-INVERT </a:t>
            </a:r>
            <a:r>
              <a:rPr lang="en-US" altLang="zh-TW" dirty="0">
                <a:latin typeface="Times New Roman" pitchFamily="18" charset="0"/>
                <a:ea typeface="新細明體" pitchFamily="18" charset="-120"/>
                <a:cs typeface="Angsana New" pitchFamily="18" charset="-34"/>
              </a:rPr>
              <a:t>circuits, </a:t>
            </a:r>
            <a:r>
              <a:rPr lang="en-US" altLang="zh-TW" i="1" dirty="0">
                <a:latin typeface="Times New Roman" pitchFamily="18" charset="0"/>
                <a:ea typeface="新細明體" pitchFamily="18" charset="-120"/>
                <a:cs typeface="Angsana New" pitchFamily="18" charset="-34"/>
              </a:rPr>
              <a:t>F</a:t>
            </a:r>
            <a:r>
              <a:rPr lang="en-US" altLang="zh-TW" dirty="0">
                <a:latin typeface="Times New Roman" pitchFamily="18" charset="0"/>
                <a:ea typeface="新細明體" pitchFamily="18" charset="-120"/>
                <a:cs typeface="Angsana New" pitchFamily="18" charset="-34"/>
              </a:rPr>
              <a:t> = (</a:t>
            </a:r>
            <a:r>
              <a:rPr lang="en-US" altLang="zh-TW" i="1" dirty="0">
                <a:latin typeface="Times New Roman" pitchFamily="18" charset="0"/>
                <a:ea typeface="新細明體" pitchFamily="18" charset="-120"/>
                <a:cs typeface="Angsana New" pitchFamily="18" charset="-34"/>
              </a:rPr>
              <a:t>AB +CD +E</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sym typeface="Symbol" pitchFamily="18" charset="2"/>
              </a:rPr>
              <a:t></a:t>
            </a:r>
            <a:r>
              <a:rPr lang="en-US" altLang="zh-TW" i="1" dirty="0">
                <a:latin typeface="Times New Roman" pitchFamily="18" charset="0"/>
                <a:ea typeface="新細明體" pitchFamily="18" charset="-120"/>
                <a:cs typeface="Angsana New" pitchFamily="18" charset="-34"/>
              </a:rPr>
              <a:t> </a:t>
            </a:r>
            <a:endParaRPr lang="en-US" altLang="zh-TW" dirty="0">
              <a:latin typeface="Times New Roman" pitchFamily="18" charset="0"/>
              <a:ea typeface="新細明體" pitchFamily="18" charset="-120"/>
              <a:cs typeface="Angsana New" pitchFamily="18" charset="-34"/>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標題 1"/>
          <p:cNvSpPr>
            <a:spLocks noGrp="1"/>
          </p:cNvSpPr>
          <p:nvPr>
            <p:ph type="title" idx="4294967295"/>
          </p:nvPr>
        </p:nvSpPr>
        <p:spPr/>
        <p:txBody>
          <a:bodyPr lIns="0" tIns="0" rIns="0" bIns="0"/>
          <a:lstStyle/>
          <a:p>
            <a:r>
              <a:rPr lang="en-US" altLang="zh-TW" dirty="0">
                <a:ea typeface="新細明體" pitchFamily="18" charset="-120"/>
              </a:rPr>
              <a:t>OR-AND-Invert Implementation</a:t>
            </a:r>
            <a:endParaRPr lang="zh-TW" altLang="en-US" dirty="0">
              <a:ea typeface="新細明體" pitchFamily="18" charset="-120"/>
            </a:endParaRPr>
          </a:p>
        </p:txBody>
      </p:sp>
      <p:sp>
        <p:nvSpPr>
          <p:cNvPr id="685059" name="內容版面配置區 2"/>
          <p:cNvSpPr>
            <a:spLocks noGrp="1"/>
          </p:cNvSpPr>
          <p:nvPr>
            <p:ph idx="4294967295"/>
          </p:nvPr>
        </p:nvSpPr>
        <p:spPr/>
        <p:txBody>
          <a:bodyPr lIns="90488" tIns="44450" rIns="90488" bIns="44450"/>
          <a:lstStyle/>
          <a:p>
            <a:r>
              <a:rPr lang="en-US" altLang="zh-TW" dirty="0">
                <a:ea typeface="新細明體" pitchFamily="18" charset="-120"/>
              </a:rPr>
              <a:t>OR-AND-INVERT (OAI) Implementation</a:t>
            </a:r>
          </a:p>
          <a:p>
            <a:pPr lvl="1">
              <a:lnSpc>
                <a:spcPct val="90000"/>
              </a:lnSpc>
            </a:pPr>
            <a:r>
              <a:rPr lang="en-US" altLang="zh-TW" sz="2400" dirty="0">
                <a:ea typeface="新細明體" pitchFamily="18" charset="-120"/>
              </a:rPr>
              <a:t>OR-NAND = NOR-OR = OAI</a:t>
            </a:r>
          </a:p>
          <a:p>
            <a:pPr lvl="1">
              <a:lnSpc>
                <a:spcPct val="90000"/>
              </a:lnSpc>
            </a:pPr>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E</a:t>
            </a:r>
            <a:r>
              <a:rPr lang="en-US" altLang="zh-TW" sz="2400" dirty="0">
                <a:ea typeface="新細明體" pitchFamily="18" charset="-120"/>
              </a:rPr>
              <a:t>)</a:t>
            </a:r>
            <a:r>
              <a:rPr lang="en-US" altLang="zh-TW" sz="2400" i="1" dirty="0">
                <a:ea typeface="新細明體" pitchFamily="18" charset="-120"/>
              </a:rPr>
              <a:t>'</a:t>
            </a:r>
          </a:p>
          <a:p>
            <a:pPr lvl="1">
              <a:lnSpc>
                <a:spcPct val="90000"/>
              </a:lnSpc>
            </a:pPr>
            <a:r>
              <a:rPr lang="en-US" altLang="zh-TW" sz="2400" i="1" dirty="0">
                <a:ea typeface="新細明體" pitchFamily="18" charset="-120"/>
              </a:rPr>
              <a:t>F'</a:t>
            </a:r>
            <a:r>
              <a:rPr lang="en-US" altLang="zh-TW" sz="2400" dirty="0">
                <a:ea typeface="新細明體" pitchFamily="18" charset="-120"/>
              </a:rPr>
              <a:t> = (</a:t>
            </a:r>
            <a:r>
              <a:rPr lang="en-US" altLang="zh-TW" sz="2400" i="1" dirty="0">
                <a:ea typeface="新細明體" pitchFamily="18" charset="-120"/>
              </a:rPr>
              <a:t>A+B</a:t>
            </a:r>
            <a:r>
              <a:rPr lang="en-US" altLang="zh-TW" sz="2400" dirty="0">
                <a:ea typeface="新細明體" pitchFamily="18" charset="-120"/>
              </a:rPr>
              <a:t>)(</a:t>
            </a:r>
            <a:r>
              <a:rPr lang="en-US" altLang="zh-TW" sz="2400" i="1" dirty="0">
                <a:ea typeface="新細明體" pitchFamily="18" charset="-120"/>
              </a:rPr>
              <a:t>C+D</a:t>
            </a:r>
            <a:r>
              <a:rPr lang="en-US" altLang="zh-TW" sz="2400" dirty="0">
                <a:ea typeface="新細明體" pitchFamily="18" charset="-120"/>
              </a:rPr>
              <a:t>)</a:t>
            </a:r>
            <a:r>
              <a:rPr lang="en-US" altLang="zh-TW" sz="2400" i="1" dirty="0">
                <a:ea typeface="新細明體" pitchFamily="18" charset="-120"/>
              </a:rPr>
              <a:t>E</a:t>
            </a:r>
            <a:r>
              <a:rPr lang="en-US" altLang="zh-TW" sz="2400" dirty="0">
                <a:ea typeface="新細明體" pitchFamily="18" charset="-120"/>
              </a:rPr>
              <a:t>   (product of sums)</a:t>
            </a:r>
          </a:p>
          <a:p>
            <a:endParaRPr lang="en-US" altLang="zh-TW" dirty="0">
              <a:ea typeface="新細明體" pitchFamily="18" charset="-120"/>
            </a:endParaRPr>
          </a:p>
        </p:txBody>
      </p:sp>
      <p:pic>
        <p:nvPicPr>
          <p:cNvPr id="685060" name="Picture 5"/>
          <p:cNvPicPr>
            <a:picLocks noChangeAspect="1" noChangeArrowheads="1"/>
          </p:cNvPicPr>
          <p:nvPr/>
        </p:nvPicPr>
        <p:blipFill>
          <a:blip r:embed="rId2" cstate="print">
            <a:lum bright="-18000" contrast="30000"/>
          </a:blip>
          <a:srcRect/>
          <a:stretch>
            <a:fillRect/>
          </a:stretch>
        </p:blipFill>
        <p:spPr bwMode="auto">
          <a:xfrm>
            <a:off x="344488" y="3343663"/>
            <a:ext cx="8502650" cy="2378075"/>
          </a:xfrm>
          <a:prstGeom prst="rect">
            <a:avLst/>
          </a:prstGeom>
          <a:noFill/>
          <a:ln w="9525">
            <a:noFill/>
            <a:miter lim="800000"/>
            <a:headEnd/>
            <a:tailEnd/>
          </a:ln>
        </p:spPr>
      </p:pic>
      <p:sp>
        <p:nvSpPr>
          <p:cNvPr id="685061" name="Text Box 7"/>
          <p:cNvSpPr txBox="1">
            <a:spLocks noChangeArrowheads="1"/>
          </p:cNvSpPr>
          <p:nvPr/>
        </p:nvSpPr>
        <p:spPr bwMode="auto">
          <a:xfrm>
            <a:off x="1957388" y="6110288"/>
            <a:ext cx="5976937" cy="369887"/>
          </a:xfrm>
          <a:prstGeom prst="rect">
            <a:avLst/>
          </a:prstGeom>
          <a:noFill/>
          <a:ln w="9525">
            <a:noFill/>
            <a:miter lim="800000"/>
            <a:headEnd/>
            <a:tailEnd/>
          </a:ln>
        </p:spPr>
        <p:txBody>
          <a:bodyPr>
            <a:spAutoFit/>
          </a:bodyPr>
          <a:lstStyle/>
          <a:p>
            <a:pPr marL="0" lvl="1" algn="ctr"/>
            <a:r>
              <a:rPr lang="en-US" altLang="zh-TW" dirty="0" smtClean="0">
                <a:latin typeface="Times New Roman" pitchFamily="18" charset="0"/>
                <a:ea typeface="新細明體" pitchFamily="18" charset="-120"/>
                <a:cs typeface="Angsana New" pitchFamily="18" charset="-34"/>
              </a:rPr>
              <a:t>OR-AND-INVERT </a:t>
            </a:r>
            <a:r>
              <a:rPr lang="en-US" altLang="zh-TW" dirty="0">
                <a:latin typeface="Times New Roman" pitchFamily="18" charset="0"/>
                <a:ea typeface="新細明體" pitchFamily="18" charset="-120"/>
                <a:cs typeface="Angsana New" pitchFamily="18" charset="-34"/>
              </a:rPr>
              <a:t>circuits, </a:t>
            </a:r>
            <a:r>
              <a:rPr lang="en-US" altLang="zh-TW" i="1" dirty="0">
                <a:latin typeface="Times New Roman" pitchFamily="18" charset="0"/>
                <a:ea typeface="新細明體" pitchFamily="18" charset="-120"/>
                <a:cs typeface="Angsana New" pitchFamily="18" charset="-34"/>
              </a:rPr>
              <a:t>F = </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A+B</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C+D</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E</a:t>
            </a:r>
            <a:r>
              <a:rPr lang="en-US" altLang="zh-TW" dirty="0">
                <a:latin typeface="Times New Roman" pitchFamily="18" charset="0"/>
                <a:ea typeface="新細明體" pitchFamily="18" charset="-120"/>
                <a:cs typeface="Angsana New" pitchFamily="18" charset="-34"/>
              </a:rPr>
              <a:t>)</a:t>
            </a:r>
            <a:r>
              <a:rPr lang="en-US" altLang="zh-TW" i="1" dirty="0">
                <a:latin typeface="Times New Roman" pitchFamily="18" charset="0"/>
                <a:ea typeface="新細明體" pitchFamily="18" charset="-120"/>
                <a:cs typeface="Angsana New" pitchFamily="18" charset="-34"/>
              </a:rPr>
              <a:t>'</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idx="4294967295"/>
          </p:nvPr>
        </p:nvSpPr>
        <p:spPr/>
        <p:txBody>
          <a:bodyPr lIns="0" tIns="0" rIns="0" bIns="0"/>
          <a:lstStyle/>
          <a:p>
            <a:r>
              <a:rPr lang="en-US" altLang="zh-TW">
                <a:ea typeface="新細明體" pitchFamily="18" charset="-120"/>
              </a:rPr>
              <a:t>Tabular Summary and Examples</a:t>
            </a:r>
          </a:p>
        </p:txBody>
      </p:sp>
      <p:pic>
        <p:nvPicPr>
          <p:cNvPr id="687107" name="Picture 5"/>
          <p:cNvPicPr>
            <a:picLocks noChangeAspect="1" noChangeArrowheads="1"/>
          </p:cNvPicPr>
          <p:nvPr/>
        </p:nvPicPr>
        <p:blipFill>
          <a:blip r:embed="rId2" cstate="print">
            <a:lum bright="-12000" contrast="24000"/>
          </a:blip>
          <a:srcRect/>
          <a:stretch>
            <a:fillRect/>
          </a:stretch>
        </p:blipFill>
        <p:spPr bwMode="auto">
          <a:xfrm>
            <a:off x="571500" y="2090738"/>
            <a:ext cx="7989888" cy="3632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8130" name="Picture 8"/>
          <p:cNvPicPr>
            <a:picLocks noChangeAspect="1" noChangeArrowheads="1"/>
          </p:cNvPicPr>
          <p:nvPr/>
        </p:nvPicPr>
        <p:blipFill>
          <a:blip r:embed="rId2" cstate="print">
            <a:lum bright="-12000" contrast="24000"/>
          </a:blip>
          <a:srcRect/>
          <a:stretch>
            <a:fillRect/>
          </a:stretch>
        </p:blipFill>
        <p:spPr bwMode="auto">
          <a:xfrm>
            <a:off x="288925" y="4503738"/>
            <a:ext cx="5665788" cy="1776412"/>
          </a:xfrm>
          <a:prstGeom prst="rect">
            <a:avLst/>
          </a:prstGeom>
          <a:noFill/>
          <a:ln w="9525">
            <a:noFill/>
            <a:miter lim="800000"/>
            <a:headEnd/>
            <a:tailEnd/>
          </a:ln>
        </p:spPr>
      </p:pic>
      <p:pic>
        <p:nvPicPr>
          <p:cNvPr id="688131" name="Picture 6"/>
          <p:cNvPicPr>
            <a:picLocks noChangeAspect="1" noChangeArrowheads="1"/>
          </p:cNvPicPr>
          <p:nvPr/>
        </p:nvPicPr>
        <p:blipFill>
          <a:blip r:embed="rId3" cstate="print">
            <a:lum bright="-12000" contrast="24000"/>
          </a:blip>
          <a:srcRect/>
          <a:stretch>
            <a:fillRect/>
          </a:stretch>
        </p:blipFill>
        <p:spPr bwMode="auto">
          <a:xfrm>
            <a:off x="0" y="1611075"/>
            <a:ext cx="5037138" cy="2195513"/>
          </a:xfrm>
          <a:prstGeom prst="rect">
            <a:avLst/>
          </a:prstGeom>
          <a:noFill/>
          <a:ln w="9525">
            <a:noFill/>
            <a:miter lim="800000"/>
            <a:headEnd/>
            <a:tailEnd/>
          </a:ln>
        </p:spPr>
      </p:pic>
      <p:sp>
        <p:nvSpPr>
          <p:cNvPr id="688132" name="Text Box 7"/>
          <p:cNvSpPr txBox="1">
            <a:spLocks noChangeArrowheads="1"/>
          </p:cNvSpPr>
          <p:nvPr/>
        </p:nvSpPr>
        <p:spPr bwMode="auto">
          <a:xfrm>
            <a:off x="2130425" y="6407150"/>
            <a:ext cx="4972050" cy="369888"/>
          </a:xfrm>
          <a:prstGeom prst="rect">
            <a:avLst/>
          </a:prstGeom>
          <a:noFill/>
          <a:ln w="9525">
            <a:noFill/>
            <a:miter lim="800000"/>
            <a:headEnd/>
            <a:tailEnd/>
          </a:ln>
        </p:spPr>
        <p:txBody>
          <a:bodyPr>
            <a:spAutoFit/>
          </a:bodyPr>
          <a:lstStyle/>
          <a:p>
            <a:pPr marL="0" lvl="1" algn="ctr"/>
            <a:r>
              <a:rPr lang="en-US" altLang="zh-TW" dirty="0" smtClean="0">
                <a:latin typeface="Times New Roman" pitchFamily="18" charset="0"/>
                <a:ea typeface="新細明體" pitchFamily="18" charset="-120"/>
                <a:cs typeface="Angsana New" pitchFamily="18" charset="-34"/>
              </a:rPr>
              <a:t>Other </a:t>
            </a:r>
            <a:r>
              <a:rPr lang="en-US" altLang="zh-TW" dirty="0">
                <a:latin typeface="Times New Roman" pitchFamily="18" charset="0"/>
                <a:ea typeface="新細明體" pitchFamily="18" charset="-120"/>
                <a:cs typeface="Angsana New" pitchFamily="18" charset="-34"/>
              </a:rPr>
              <a:t>Two-level Implementations</a:t>
            </a:r>
            <a:endParaRPr lang="en-US" altLang="zh-TW" i="1" dirty="0">
              <a:latin typeface="Times New Roman" pitchFamily="18" charset="0"/>
              <a:ea typeface="新細明體" pitchFamily="18" charset="-120"/>
              <a:cs typeface="Angsana New" pitchFamily="18" charset="-34"/>
            </a:endParaRPr>
          </a:p>
        </p:txBody>
      </p:sp>
      <p:grpSp>
        <p:nvGrpSpPr>
          <p:cNvPr id="2" name="Group 10"/>
          <p:cNvGrpSpPr>
            <a:grpSpLocks/>
          </p:cNvGrpSpPr>
          <p:nvPr/>
        </p:nvGrpSpPr>
        <p:grpSpPr bwMode="auto">
          <a:xfrm>
            <a:off x="4359275" y="2713038"/>
            <a:ext cx="4459288" cy="1831975"/>
            <a:chOff x="22" y="1071"/>
            <a:chExt cx="3548" cy="1690"/>
          </a:xfrm>
        </p:grpSpPr>
        <p:pic>
          <p:nvPicPr>
            <p:cNvPr id="688134" name="Picture 7"/>
            <p:cNvPicPr>
              <a:picLocks noChangeAspect="1" noChangeArrowheads="1"/>
            </p:cNvPicPr>
            <p:nvPr/>
          </p:nvPicPr>
          <p:blipFill>
            <a:blip r:embed="rId4" cstate="print">
              <a:lum bright="-12000" contrast="24000"/>
            </a:blip>
            <a:srcRect r="8688"/>
            <a:stretch>
              <a:fillRect/>
            </a:stretch>
          </p:blipFill>
          <p:spPr bwMode="auto">
            <a:xfrm>
              <a:off x="22" y="1071"/>
              <a:ext cx="3489" cy="1690"/>
            </a:xfrm>
            <a:prstGeom prst="rect">
              <a:avLst/>
            </a:prstGeom>
            <a:noFill/>
            <a:ln w="9525">
              <a:noFill/>
              <a:miter lim="800000"/>
              <a:headEnd/>
              <a:tailEnd/>
            </a:ln>
          </p:spPr>
        </p:pic>
        <p:pic>
          <p:nvPicPr>
            <p:cNvPr id="688135" name="Picture 9"/>
            <p:cNvPicPr>
              <a:picLocks noChangeAspect="1" noChangeArrowheads="1"/>
            </p:cNvPicPr>
            <p:nvPr/>
          </p:nvPicPr>
          <p:blipFill>
            <a:blip r:embed="rId5" cstate="print">
              <a:lum bright="-12000" contrast="24000"/>
            </a:blip>
            <a:srcRect l="53441" b="9349"/>
            <a:stretch>
              <a:fillRect/>
            </a:stretch>
          </p:blipFill>
          <p:spPr bwMode="auto">
            <a:xfrm>
              <a:off x="1791" y="1071"/>
              <a:ext cx="1779" cy="1532"/>
            </a:xfrm>
            <a:prstGeom prst="rect">
              <a:avLst/>
            </a:prstGeom>
            <a:noFill/>
            <a:ln w="9525">
              <a:noFill/>
              <a:miter lim="800000"/>
              <a:headEnd/>
              <a:tailEnd/>
            </a:ln>
          </p:spPr>
        </p:pic>
      </p:grpSp>
      <p:sp>
        <p:nvSpPr>
          <p:cNvPr id="8" name="標題 1"/>
          <p:cNvSpPr txBox="1">
            <a:spLocks/>
          </p:cNvSpPr>
          <p:nvPr/>
        </p:nvSpPr>
        <p:spPr>
          <a:xfrm>
            <a:off x="457199" y="274638"/>
            <a:ext cx="7689273" cy="1143000"/>
          </a:xfrm>
          <a:prstGeom prst="rect">
            <a:avLst/>
          </a:prstGeom>
        </p:spPr>
        <p:txBody>
          <a:bodyPr vert="horz" lIns="0" t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TW" sz="3000" b="0" i="0" u="none" strike="noStrike" kern="1200" cap="small" spc="0" normalizeH="0" baseline="0" noProof="0" dirty="0" smtClean="0">
                <a:ln>
                  <a:noFill/>
                </a:ln>
                <a:solidFill>
                  <a:schemeClr val="tx2"/>
                </a:solidFill>
                <a:effectLst/>
                <a:uLnTx/>
                <a:uFillTx/>
                <a:latin typeface="+mj-lt"/>
                <a:ea typeface="新細明體" pitchFamily="18" charset="-120"/>
                <a:cs typeface="+mj-cs"/>
              </a:rPr>
              <a:t>Example</a:t>
            </a:r>
            <a:endParaRPr kumimoji="0" lang="zh-TW" altLang="en-US" sz="3000" b="0" i="0" u="none" strike="noStrike" kern="1200" cap="small" spc="0" normalizeH="0" baseline="0" noProof="0" dirty="0">
              <a:ln>
                <a:noFill/>
              </a:ln>
              <a:solidFill>
                <a:schemeClr val="tx2"/>
              </a:solidFill>
              <a:effectLst/>
              <a:uLnTx/>
              <a:uFillTx/>
              <a:latin typeface="+mj-lt"/>
              <a:ea typeface="新細明體" pitchFamily="18" charset="-120"/>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8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標題 1"/>
          <p:cNvSpPr>
            <a:spLocks noGrp="1"/>
          </p:cNvSpPr>
          <p:nvPr>
            <p:ph type="title" idx="4294967295"/>
          </p:nvPr>
        </p:nvSpPr>
        <p:spPr/>
        <p:txBody>
          <a:bodyPr lIns="0" tIns="0" rIns="0" bIns="0"/>
          <a:lstStyle/>
          <a:p>
            <a:r>
              <a:rPr lang="en-US" altLang="zh-TW" dirty="0" smtClean="0">
                <a:ea typeface="新細明體" pitchFamily="18" charset="-120"/>
              </a:rPr>
              <a:t>Exclusive-OR </a:t>
            </a:r>
            <a:r>
              <a:rPr lang="en-US" altLang="zh-TW" dirty="0">
                <a:ea typeface="新細明體" pitchFamily="18" charset="-120"/>
              </a:rPr>
              <a:t>Function</a:t>
            </a:r>
            <a:endParaRPr lang="zh-TW" altLang="en-US" sz="2500" dirty="0">
              <a:ea typeface="新細明體" pitchFamily="18" charset="-120"/>
            </a:endParaRPr>
          </a:p>
        </p:txBody>
      </p:sp>
      <p:sp>
        <p:nvSpPr>
          <p:cNvPr id="689155" name="內容版面配置區 2"/>
          <p:cNvSpPr>
            <a:spLocks noGrp="1"/>
          </p:cNvSpPr>
          <p:nvPr>
            <p:ph idx="4294967295"/>
          </p:nvPr>
        </p:nvSpPr>
        <p:spPr/>
        <p:txBody>
          <a:bodyPr lIns="90488" tIns="44450" rIns="90488" bIns="44450">
            <a:normAutofit lnSpcReduction="10000"/>
          </a:bodyPr>
          <a:lstStyle/>
          <a:p>
            <a:pPr>
              <a:lnSpc>
                <a:spcPct val="90000"/>
              </a:lnSpc>
            </a:pPr>
            <a:r>
              <a:rPr lang="en-US" altLang="zh-TW" dirty="0">
                <a:ea typeface="新細明體" pitchFamily="18" charset="-120"/>
              </a:rPr>
              <a:t>Exclusive-OR (XOR)</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i="1" dirty="0">
                <a:ea typeface="新細明體" pitchFamily="18" charset="-120"/>
              </a:rPr>
              <a:t> = </a:t>
            </a:r>
            <a:r>
              <a:rPr lang="en-US" altLang="zh-TW" i="1" dirty="0" err="1">
                <a:ea typeface="新細明體" pitchFamily="18" charset="-120"/>
              </a:rPr>
              <a:t>xy'+x'y</a:t>
            </a:r>
            <a:endParaRPr lang="en-US" altLang="zh-TW" i="1" dirty="0">
              <a:ea typeface="新細明體" pitchFamily="18" charset="-120"/>
            </a:endParaRPr>
          </a:p>
          <a:p>
            <a:pPr>
              <a:lnSpc>
                <a:spcPct val="90000"/>
              </a:lnSpc>
            </a:pPr>
            <a:r>
              <a:rPr lang="en-US" altLang="zh-TW" dirty="0">
                <a:ea typeface="新細明體" pitchFamily="18" charset="-120"/>
              </a:rPr>
              <a:t>Exclusive-NOR (XNOR)</a:t>
            </a:r>
          </a:p>
          <a:p>
            <a:pPr lvl="1">
              <a:lnSpc>
                <a:spcPct val="90000"/>
              </a:lnSpc>
            </a:pPr>
            <a:r>
              <a:rPr lang="zh-TW" altLang="en-US" dirty="0">
                <a:ea typeface="新細明體" pitchFamily="18" charset="-120"/>
              </a:rPr>
              <a:t>(</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r>
              <a:rPr lang="en-US" altLang="zh-TW" dirty="0">
                <a:ea typeface="新細明體" pitchFamily="18" charset="-120"/>
              </a:rPr>
              <a:t> = </a:t>
            </a:r>
            <a:r>
              <a:rPr lang="en-US" altLang="zh-TW" i="1" dirty="0" err="1">
                <a:ea typeface="新細明體" pitchFamily="18" charset="-120"/>
              </a:rPr>
              <a:t>xy</a:t>
            </a:r>
            <a:r>
              <a:rPr lang="en-US" altLang="zh-TW" i="1" dirty="0">
                <a:ea typeface="新細明體" pitchFamily="18" charset="-120"/>
              </a:rPr>
              <a:t> + </a:t>
            </a:r>
            <a:r>
              <a:rPr lang="en-US" altLang="zh-TW" i="1" dirty="0" err="1">
                <a:ea typeface="新細明體" pitchFamily="18" charset="-120"/>
              </a:rPr>
              <a:t>x'y</a:t>
            </a:r>
            <a:r>
              <a:rPr lang="en-US" altLang="zh-TW" i="1" dirty="0">
                <a:ea typeface="新細明體" pitchFamily="18" charset="-120"/>
              </a:rPr>
              <a:t>'</a:t>
            </a:r>
          </a:p>
          <a:p>
            <a:pPr>
              <a:lnSpc>
                <a:spcPct val="90000"/>
              </a:lnSpc>
            </a:pPr>
            <a:r>
              <a:rPr lang="en-US" altLang="zh-TW" dirty="0">
                <a:ea typeface="新細明體" pitchFamily="18" charset="-120"/>
              </a:rPr>
              <a:t>Some identities</a:t>
            </a:r>
          </a:p>
          <a:p>
            <a:pPr lvl="1">
              <a:lnSpc>
                <a:spcPct val="90000"/>
              </a:lnSpc>
            </a:pPr>
            <a:r>
              <a:rPr lang="en-US" altLang="zh-TW" i="1" dirty="0">
                <a:ea typeface="新細明體" pitchFamily="18" charset="-120"/>
              </a:rPr>
              <a:t>x</a:t>
            </a:r>
            <a:r>
              <a:rPr lang="en-US" altLang="zh-TW" dirty="0">
                <a:latin typeface="Symbol" pitchFamily="18" charset="2"/>
                <a:ea typeface="新細明體" pitchFamily="18" charset="-120"/>
              </a:rPr>
              <a:t>Å</a:t>
            </a:r>
            <a:r>
              <a:rPr lang="en-US" altLang="zh-TW" dirty="0">
                <a:ea typeface="新細明體" pitchFamily="18" charset="-120"/>
              </a:rPr>
              <a:t>0 = </a:t>
            </a:r>
            <a:r>
              <a:rPr lang="en-US" altLang="zh-TW" i="1" dirty="0">
                <a:ea typeface="新細明體" pitchFamily="18" charset="-120"/>
              </a:rPr>
              <a:t>x</a:t>
            </a:r>
          </a:p>
          <a:p>
            <a:pPr lvl="1">
              <a:lnSpc>
                <a:spcPct val="90000"/>
              </a:lnSpc>
            </a:pPr>
            <a:r>
              <a:rPr lang="en-US" altLang="zh-TW" i="1" dirty="0">
                <a:ea typeface="新細明體" pitchFamily="18" charset="-120"/>
              </a:rPr>
              <a:t>x</a:t>
            </a:r>
            <a:r>
              <a:rPr lang="en-US" altLang="zh-TW" dirty="0">
                <a:latin typeface="Symbol" pitchFamily="18" charset="2"/>
                <a:ea typeface="新細明體" pitchFamily="18" charset="-120"/>
              </a:rPr>
              <a:t>Å</a:t>
            </a:r>
            <a:r>
              <a:rPr lang="en-US" altLang="zh-TW" dirty="0">
                <a:ea typeface="新細明體" pitchFamily="18" charset="-120"/>
              </a:rPr>
              <a:t>1 = </a:t>
            </a:r>
            <a:r>
              <a:rPr lang="en-US" altLang="zh-TW" i="1" dirty="0">
                <a:ea typeface="新細明體" pitchFamily="18" charset="-120"/>
              </a:rPr>
              <a:t>x'</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x</a:t>
            </a:r>
            <a:r>
              <a:rPr lang="en-US" altLang="zh-TW" dirty="0">
                <a:ea typeface="新細明體" pitchFamily="18" charset="-120"/>
              </a:rPr>
              <a:t> = 0</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x</a:t>
            </a:r>
            <a:r>
              <a:rPr lang="en-US" altLang="zh-TW" i="1" dirty="0">
                <a:ea typeface="新細明體" pitchFamily="18" charset="-120"/>
              </a:rPr>
              <a:t>' </a:t>
            </a:r>
            <a:r>
              <a:rPr lang="en-US" altLang="zh-TW" dirty="0">
                <a:ea typeface="新細明體" pitchFamily="18" charset="-120"/>
              </a:rPr>
              <a:t>= 1</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i="1" dirty="0">
                <a:ea typeface="新細明體" pitchFamily="18" charset="-120"/>
              </a:rPr>
              <a:t>' </a:t>
            </a:r>
            <a:r>
              <a:rPr lang="en-US" altLang="zh-TW" dirty="0">
                <a:ea typeface="新細明體" pitchFamily="18" charset="-120"/>
              </a:rPr>
              <a:t>= (</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p>
          <a:p>
            <a:pPr lvl="1">
              <a:lnSpc>
                <a:spcPct val="90000"/>
              </a:lnSpc>
            </a:pP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 = (</a:t>
            </a:r>
            <a:r>
              <a:rPr lang="en-US" altLang="zh-TW" i="1" dirty="0" err="1">
                <a:ea typeface="新細明體" pitchFamily="18" charset="-120"/>
              </a:rPr>
              <a:t>x</a:t>
            </a:r>
            <a:r>
              <a:rPr lang="en-US" altLang="zh-TW" dirty="0" err="1">
                <a:latin typeface="Symbol" pitchFamily="18" charset="2"/>
                <a:ea typeface="新細明體" pitchFamily="18" charset="-120"/>
              </a:rPr>
              <a:t>Å</a:t>
            </a:r>
            <a:r>
              <a:rPr lang="en-US" altLang="zh-TW" i="1" dirty="0" err="1">
                <a:ea typeface="新細明體" pitchFamily="18" charset="-120"/>
              </a:rPr>
              <a:t>y</a:t>
            </a:r>
            <a:r>
              <a:rPr lang="en-US" altLang="zh-TW" dirty="0">
                <a:ea typeface="新細明體" pitchFamily="18" charset="-120"/>
              </a:rPr>
              <a:t>)</a:t>
            </a:r>
            <a:r>
              <a:rPr lang="en-US" altLang="zh-TW" i="1" dirty="0">
                <a:ea typeface="新細明體" pitchFamily="18" charset="-120"/>
              </a:rPr>
              <a:t>'</a:t>
            </a:r>
          </a:p>
          <a:p>
            <a:pPr>
              <a:lnSpc>
                <a:spcPct val="90000"/>
              </a:lnSpc>
            </a:pPr>
            <a:r>
              <a:rPr lang="en-US" altLang="zh-TW" dirty="0">
                <a:ea typeface="新細明體" pitchFamily="18" charset="-120"/>
              </a:rPr>
              <a:t>Commutative and associative</a:t>
            </a:r>
          </a:p>
          <a:p>
            <a:pPr lvl="1">
              <a:lnSpc>
                <a:spcPct val="90000"/>
              </a:lnSpc>
            </a:pP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 = B</a:t>
            </a:r>
            <a:r>
              <a:rPr lang="en-US" altLang="zh-TW" dirty="0">
                <a:latin typeface="Symbol" pitchFamily="18" charset="2"/>
                <a:ea typeface="新細明體" pitchFamily="18" charset="-120"/>
              </a:rPr>
              <a:t>Å</a:t>
            </a:r>
            <a:r>
              <a:rPr lang="en-US" altLang="zh-TW" i="1" dirty="0">
                <a:ea typeface="新細明體" pitchFamily="18" charset="-120"/>
              </a:rPr>
              <a:t>A</a:t>
            </a:r>
          </a:p>
          <a:p>
            <a:pPr lvl="1">
              <a:lnSpc>
                <a:spcPct val="90000"/>
              </a:lnSpc>
            </a:pPr>
            <a:r>
              <a:rPr lang="zh-TW" altLang="en-US" dirty="0">
                <a:ea typeface="新細明體" pitchFamily="18" charset="-120"/>
              </a:rPr>
              <a:t>(</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ea typeface="新細明體" pitchFamily="18" charset="-120"/>
              </a:rPr>
              <a:t>) </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ea typeface="新細明體" pitchFamily="18" charset="-120"/>
              </a:rPr>
              <a:t> = </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dirty="0">
                <a:ea typeface="新細明體" pitchFamily="18" charset="-120"/>
              </a:rPr>
              <a:t> (</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ea typeface="新細明體" pitchFamily="18" charset="-120"/>
              </a:rPr>
              <a:t>) = </a:t>
            </a:r>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endParaRPr lang="zh-TW" altLang="en-US" i="1" dirty="0">
              <a:ea typeface="新細明體" pitchFamily="18" charset="-120"/>
            </a:endParaRPr>
          </a:p>
          <a:p>
            <a:endParaRPr lang="zh-TW" altLang="en-US" dirty="0">
              <a:ea typeface="新細明體" pitchFamily="18" charset="-120"/>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標題 1"/>
          <p:cNvSpPr>
            <a:spLocks noGrp="1"/>
          </p:cNvSpPr>
          <p:nvPr>
            <p:ph type="title" idx="4294967295"/>
          </p:nvPr>
        </p:nvSpPr>
        <p:spPr/>
        <p:txBody>
          <a:bodyPr lIns="0" tIns="0" rIns="0" bIns="0"/>
          <a:lstStyle/>
          <a:p>
            <a:r>
              <a:rPr lang="en-US" altLang="zh-TW">
                <a:ea typeface="新細明體" pitchFamily="18" charset="-120"/>
              </a:rPr>
              <a:t>Exclusive-OR Implementations</a:t>
            </a:r>
            <a:endParaRPr lang="zh-TW" altLang="en-US" sz="2500">
              <a:ea typeface="新細明體" pitchFamily="18" charset="-120"/>
            </a:endParaRPr>
          </a:p>
        </p:txBody>
      </p:sp>
      <p:sp>
        <p:nvSpPr>
          <p:cNvPr id="690179" name="內容版面配置區 2"/>
          <p:cNvSpPr>
            <a:spLocks noGrp="1"/>
          </p:cNvSpPr>
          <p:nvPr>
            <p:ph idx="4294967295"/>
          </p:nvPr>
        </p:nvSpPr>
        <p:spPr/>
        <p:txBody>
          <a:bodyPr lIns="90488" tIns="44450" rIns="90488" bIns="44450"/>
          <a:lstStyle/>
          <a:p>
            <a:r>
              <a:rPr lang="en-US" altLang="zh-TW">
                <a:ea typeface="新細明體" pitchFamily="18" charset="-120"/>
              </a:rPr>
              <a:t>Implementations</a:t>
            </a:r>
          </a:p>
          <a:p>
            <a:pPr lvl="1"/>
            <a:r>
              <a:rPr lang="zh-TW" altLang="en-US">
                <a:ea typeface="新細明體" pitchFamily="18" charset="-120"/>
              </a:rPr>
              <a:t>(</a:t>
            </a:r>
            <a:r>
              <a:rPr lang="en-US" altLang="zh-TW" i="1">
                <a:ea typeface="新細明體" pitchFamily="18" charset="-120"/>
              </a:rPr>
              <a:t>x'+y'</a:t>
            </a:r>
            <a:r>
              <a:rPr lang="en-US" altLang="zh-TW">
                <a:ea typeface="新細明體" pitchFamily="18" charset="-120"/>
              </a:rPr>
              <a:t>)</a:t>
            </a:r>
            <a:r>
              <a:rPr lang="en-US" altLang="zh-TW" i="1">
                <a:ea typeface="新細明體" pitchFamily="18" charset="-120"/>
              </a:rPr>
              <a:t>x + </a:t>
            </a:r>
            <a:r>
              <a:rPr lang="en-US" altLang="zh-TW">
                <a:ea typeface="新細明體" pitchFamily="18" charset="-120"/>
              </a:rPr>
              <a:t>(</a:t>
            </a:r>
            <a:r>
              <a:rPr lang="en-US" altLang="zh-TW" i="1">
                <a:ea typeface="新細明體" pitchFamily="18" charset="-120"/>
              </a:rPr>
              <a:t>x'+y'</a:t>
            </a:r>
            <a:r>
              <a:rPr lang="en-US" altLang="zh-TW">
                <a:ea typeface="新細明體" pitchFamily="18" charset="-120"/>
              </a:rPr>
              <a:t>)</a:t>
            </a:r>
            <a:r>
              <a:rPr lang="en-US" altLang="zh-TW" i="1">
                <a:ea typeface="新細明體" pitchFamily="18" charset="-120"/>
              </a:rPr>
              <a:t>y = xy'+x'y = x</a:t>
            </a:r>
            <a:r>
              <a:rPr lang="en-US" altLang="zh-TW">
                <a:latin typeface="Symbol" pitchFamily="18" charset="2"/>
                <a:ea typeface="新細明體" pitchFamily="18" charset="-120"/>
              </a:rPr>
              <a:t>Å</a:t>
            </a:r>
            <a:r>
              <a:rPr lang="en-US" altLang="zh-TW" i="1">
                <a:ea typeface="新細明體" pitchFamily="18" charset="-120"/>
              </a:rPr>
              <a:t>y</a:t>
            </a:r>
          </a:p>
          <a:p>
            <a:endParaRPr lang="zh-TW" altLang="en-US" i="1">
              <a:ea typeface="新細明體" pitchFamily="18" charset="-120"/>
            </a:endParaRPr>
          </a:p>
        </p:txBody>
      </p:sp>
      <p:pic>
        <p:nvPicPr>
          <p:cNvPr id="690180" name="Picture 6"/>
          <p:cNvPicPr>
            <a:picLocks noChangeAspect="1" noChangeArrowheads="1"/>
          </p:cNvPicPr>
          <p:nvPr/>
        </p:nvPicPr>
        <p:blipFill>
          <a:blip r:embed="rId2" cstate="print">
            <a:lum bright="-12000" contrast="24000"/>
          </a:blip>
          <a:srcRect/>
          <a:stretch>
            <a:fillRect/>
          </a:stretch>
        </p:blipFill>
        <p:spPr bwMode="auto">
          <a:xfrm>
            <a:off x="2133600" y="2382838"/>
            <a:ext cx="4595813" cy="3984625"/>
          </a:xfrm>
          <a:prstGeom prst="rect">
            <a:avLst/>
          </a:prstGeom>
          <a:noFill/>
          <a:ln w="9525">
            <a:noFill/>
            <a:miter lim="800000"/>
            <a:headEnd/>
            <a:tailEnd/>
          </a:ln>
        </p:spPr>
      </p:pic>
      <p:sp>
        <p:nvSpPr>
          <p:cNvPr id="690181" name="Text Box 7"/>
          <p:cNvSpPr txBox="1">
            <a:spLocks noChangeArrowheads="1"/>
          </p:cNvSpPr>
          <p:nvPr/>
        </p:nvSpPr>
        <p:spPr bwMode="auto">
          <a:xfrm>
            <a:off x="2038350" y="6397625"/>
            <a:ext cx="486092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Exclusive-OR </a:t>
            </a:r>
            <a:r>
              <a:rPr lang="en-US" altLang="zh-TW" dirty="0">
                <a:latin typeface="Times New Roman" pitchFamily="18" charset="0"/>
                <a:ea typeface="新細明體" pitchFamily="18" charset="-120"/>
                <a:cs typeface="Angsana New" pitchFamily="18" charset="-34"/>
              </a:rPr>
              <a:t>Implementations</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idx="4294967295"/>
          </p:nvPr>
        </p:nvSpPr>
        <p:spPr/>
        <p:txBody>
          <a:bodyPr lIns="0" tIns="0" rIns="0" bIns="0"/>
          <a:lstStyle/>
          <a:p>
            <a:r>
              <a:rPr lang="en-US" altLang="zh-TW">
                <a:ea typeface="新細明體" pitchFamily="18" charset="-120"/>
              </a:rPr>
              <a:t>Odd Function</a:t>
            </a:r>
            <a:endParaRPr lang="zh-TW" altLang="en-US" sz="2500">
              <a:ea typeface="新細明體" pitchFamily="18" charset="-120"/>
            </a:endParaRPr>
          </a:p>
        </p:txBody>
      </p:sp>
      <p:sp>
        <p:nvSpPr>
          <p:cNvPr id="691203" name="Rectangle 3"/>
          <p:cNvSpPr>
            <a:spLocks noGrp="1" noChangeArrowheads="1"/>
          </p:cNvSpPr>
          <p:nvPr>
            <p:ph idx="4294967295"/>
          </p:nvPr>
        </p:nvSpPr>
        <p:spPr/>
        <p:txBody>
          <a:bodyPr lIns="90488" tIns="44450" rIns="90488" bIns="44450"/>
          <a:lstStyle/>
          <a:p>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 = AB'C'+A'BC'+ABC+A'B'C</a:t>
            </a:r>
            <a:r>
              <a:rPr lang="en-US" altLang="zh-TW" dirty="0">
                <a:ea typeface="新細明體" pitchFamily="18" charset="-120"/>
              </a:rPr>
              <a:t> = </a:t>
            </a:r>
            <a:r>
              <a:rPr lang="en-US" altLang="zh-TW" dirty="0">
                <a:latin typeface="Symbol" pitchFamily="18" charset="2"/>
                <a:ea typeface="新細明體" pitchFamily="18" charset="-120"/>
              </a:rPr>
              <a:t>S</a:t>
            </a:r>
            <a:r>
              <a:rPr lang="en-US" altLang="zh-TW" dirty="0">
                <a:ea typeface="新細明體" pitchFamily="18" charset="-120"/>
              </a:rPr>
              <a:t>(1, 2, 4, 7)</a:t>
            </a:r>
          </a:p>
          <a:p>
            <a:r>
              <a:rPr lang="en-US" altLang="zh-TW" dirty="0">
                <a:ea typeface="新細明體" pitchFamily="18" charset="-120"/>
              </a:rPr>
              <a:t>XOR is a odd function → an odd number of 1's, then </a:t>
            </a:r>
            <a:r>
              <a:rPr lang="en-US" altLang="zh-TW" i="1" dirty="0">
                <a:ea typeface="新細明體" pitchFamily="18" charset="-120"/>
              </a:rPr>
              <a:t>F</a:t>
            </a:r>
            <a:r>
              <a:rPr lang="en-US" altLang="zh-TW" dirty="0">
                <a:ea typeface="新細明體" pitchFamily="18" charset="-120"/>
              </a:rPr>
              <a:t> = 1.</a:t>
            </a:r>
          </a:p>
          <a:p>
            <a:pPr lvl="1"/>
            <a:r>
              <a:rPr lang="en-US" altLang="zh-TW" dirty="0">
                <a:ea typeface="新細明體" pitchFamily="18" charset="-120"/>
              </a:rPr>
              <a:t>XNOR is a even function → an even number of 1's, then </a:t>
            </a:r>
            <a:r>
              <a:rPr lang="en-US" altLang="zh-TW" i="1" dirty="0">
                <a:ea typeface="新細明體" pitchFamily="18" charset="-120"/>
              </a:rPr>
              <a:t>F</a:t>
            </a:r>
            <a:r>
              <a:rPr lang="en-US" altLang="zh-TW" dirty="0">
                <a:ea typeface="新細明體" pitchFamily="18" charset="-120"/>
              </a:rPr>
              <a:t> = 1.</a:t>
            </a:r>
          </a:p>
          <a:p>
            <a:pPr lvl="1"/>
            <a:endParaRPr lang="en-US" altLang="zh-TW" dirty="0">
              <a:ea typeface="新細明體" pitchFamily="18" charset="-120"/>
            </a:endParaRPr>
          </a:p>
          <a:p>
            <a:endParaRPr lang="zh-TW" altLang="en-US" dirty="0">
              <a:ea typeface="新細明體" pitchFamily="18" charset="-120"/>
            </a:endParaRPr>
          </a:p>
        </p:txBody>
      </p:sp>
      <p:pic>
        <p:nvPicPr>
          <p:cNvPr id="691204" name="Picture 7"/>
          <p:cNvPicPr>
            <a:picLocks noChangeAspect="1" noChangeArrowheads="1"/>
          </p:cNvPicPr>
          <p:nvPr/>
        </p:nvPicPr>
        <p:blipFill>
          <a:blip r:embed="rId2" cstate="print">
            <a:lum bright="-12000" contrast="24000"/>
          </a:blip>
          <a:srcRect/>
          <a:stretch>
            <a:fillRect/>
          </a:stretch>
        </p:blipFill>
        <p:spPr bwMode="auto">
          <a:xfrm>
            <a:off x="344384" y="3310183"/>
            <a:ext cx="7647112" cy="2744620"/>
          </a:xfrm>
          <a:prstGeom prst="rect">
            <a:avLst/>
          </a:prstGeom>
          <a:noFill/>
          <a:ln w="9525">
            <a:noFill/>
            <a:miter lim="800000"/>
            <a:headEnd/>
            <a:tailEnd/>
          </a:ln>
        </p:spPr>
      </p:pic>
      <p:sp>
        <p:nvSpPr>
          <p:cNvPr id="691205" name="Text Box 7"/>
          <p:cNvSpPr txBox="1">
            <a:spLocks noChangeArrowheads="1"/>
          </p:cNvSpPr>
          <p:nvPr/>
        </p:nvSpPr>
        <p:spPr bwMode="auto">
          <a:xfrm>
            <a:off x="1581150" y="6102350"/>
            <a:ext cx="5876925"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Map </a:t>
            </a:r>
            <a:r>
              <a:rPr lang="en-US" altLang="zh-TW" dirty="0">
                <a:latin typeface="Times New Roman" pitchFamily="18" charset="0"/>
                <a:ea typeface="新細明體" pitchFamily="18" charset="-120"/>
                <a:cs typeface="Angsana New" pitchFamily="18" charset="-34"/>
              </a:rPr>
              <a:t>for a Three-variable Exclusive-OR Function</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idx="4294967295"/>
          </p:nvPr>
        </p:nvSpPr>
        <p:spPr/>
        <p:txBody>
          <a:bodyPr lIns="0" tIns="0" rIns="0" bIns="0"/>
          <a:lstStyle/>
          <a:p>
            <a:r>
              <a:rPr lang="en-US" altLang="zh-TW">
                <a:ea typeface="新細明體" pitchFamily="18" charset="-120"/>
              </a:rPr>
              <a:t>XOR and XNOR</a:t>
            </a:r>
            <a:endParaRPr lang="zh-TW" altLang="en-US">
              <a:ea typeface="新細明體" pitchFamily="18" charset="-120"/>
            </a:endParaRPr>
          </a:p>
        </p:txBody>
      </p:sp>
      <p:sp>
        <p:nvSpPr>
          <p:cNvPr id="692227" name="Rectangle 3"/>
          <p:cNvSpPr>
            <a:spLocks noGrp="1" noChangeArrowheads="1"/>
          </p:cNvSpPr>
          <p:nvPr>
            <p:ph idx="4294967295"/>
          </p:nvPr>
        </p:nvSpPr>
        <p:spPr/>
        <p:txBody>
          <a:bodyPr lIns="90488" tIns="44450" rIns="90488" bIns="44450"/>
          <a:lstStyle/>
          <a:p>
            <a:r>
              <a:rPr lang="en-US" altLang="zh-TW">
                <a:ea typeface="新細明體" pitchFamily="18" charset="-120"/>
              </a:rPr>
              <a:t>Logic diagram of odd and even functions</a:t>
            </a:r>
          </a:p>
        </p:txBody>
      </p:sp>
      <p:pic>
        <p:nvPicPr>
          <p:cNvPr id="692228" name="Picture 6"/>
          <p:cNvPicPr>
            <a:picLocks noChangeAspect="1" noChangeArrowheads="1"/>
          </p:cNvPicPr>
          <p:nvPr/>
        </p:nvPicPr>
        <p:blipFill>
          <a:blip r:embed="rId2" cstate="print">
            <a:lum bright="-12000" contrast="24000"/>
          </a:blip>
          <a:srcRect/>
          <a:stretch>
            <a:fillRect/>
          </a:stretch>
        </p:blipFill>
        <p:spPr bwMode="auto">
          <a:xfrm>
            <a:off x="427038" y="2938463"/>
            <a:ext cx="8370887" cy="1541462"/>
          </a:xfrm>
          <a:prstGeom prst="rect">
            <a:avLst/>
          </a:prstGeom>
          <a:noFill/>
          <a:ln w="9525">
            <a:noFill/>
            <a:miter lim="800000"/>
            <a:headEnd/>
            <a:tailEnd/>
          </a:ln>
        </p:spPr>
      </p:pic>
      <p:sp>
        <p:nvSpPr>
          <p:cNvPr id="692229" name="Text Box 7"/>
          <p:cNvSpPr txBox="1">
            <a:spLocks noChangeArrowheads="1"/>
          </p:cNvSpPr>
          <p:nvPr/>
        </p:nvSpPr>
        <p:spPr bwMode="auto">
          <a:xfrm>
            <a:off x="1835150" y="4945063"/>
            <a:ext cx="5337175"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Diagram of Odd and Even Functions</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標題 1"/>
          <p:cNvSpPr>
            <a:spLocks noGrp="1"/>
          </p:cNvSpPr>
          <p:nvPr>
            <p:ph type="title" idx="4294967295"/>
          </p:nvPr>
        </p:nvSpPr>
        <p:spPr/>
        <p:txBody>
          <a:bodyPr lIns="0" tIns="0" rIns="0" bIns="0"/>
          <a:lstStyle/>
          <a:p>
            <a:r>
              <a:rPr lang="en-US" altLang="zh-TW">
                <a:ea typeface="新細明體" pitchFamily="18" charset="-120"/>
              </a:rPr>
              <a:t>Four-variable Exclusive-OR function</a:t>
            </a:r>
            <a:endParaRPr lang="zh-TW" altLang="en-US">
              <a:ea typeface="新細明體" pitchFamily="18" charset="-120"/>
            </a:endParaRPr>
          </a:p>
        </p:txBody>
      </p:sp>
      <p:sp>
        <p:nvSpPr>
          <p:cNvPr id="693251" name="內容版面配置區 2"/>
          <p:cNvSpPr>
            <a:spLocks noGrp="1"/>
          </p:cNvSpPr>
          <p:nvPr>
            <p:ph idx="4294967295"/>
          </p:nvPr>
        </p:nvSpPr>
        <p:spPr/>
        <p:txBody>
          <a:bodyPr lIns="90488" tIns="44450" rIns="90488" bIns="44450"/>
          <a:lstStyle/>
          <a:p>
            <a:r>
              <a:rPr lang="en-US" altLang="zh-TW" dirty="0">
                <a:ea typeface="新細明體" pitchFamily="18" charset="-120"/>
              </a:rPr>
              <a:t>Four-variable Exclusive-OR function</a:t>
            </a:r>
          </a:p>
          <a:p>
            <a:pPr lvl="1"/>
            <a:r>
              <a:rPr lang="en-US" altLang="zh-TW" i="1" dirty="0">
                <a:ea typeface="新細明體" pitchFamily="18" charset="-120"/>
              </a:rPr>
              <a:t>A</a:t>
            </a:r>
            <a:r>
              <a:rPr lang="en-US" altLang="zh-TW" dirty="0">
                <a:latin typeface="Symbol" pitchFamily="18" charset="2"/>
                <a:ea typeface="新細明體" pitchFamily="18" charset="-120"/>
              </a:rPr>
              <a:t>Å</a:t>
            </a:r>
            <a:r>
              <a:rPr lang="en-US" altLang="zh-TW" i="1" dirty="0">
                <a:ea typeface="新細明體" pitchFamily="18" charset="-120"/>
              </a:rPr>
              <a:t>B</a:t>
            </a:r>
            <a:r>
              <a:rPr lang="en-US" altLang="zh-TW" dirty="0">
                <a:latin typeface="Symbol" pitchFamily="18" charset="2"/>
                <a:ea typeface="新細明體" pitchFamily="18" charset="-120"/>
              </a:rPr>
              <a:t>Å</a:t>
            </a:r>
            <a:r>
              <a:rPr lang="en-US" altLang="zh-TW" i="1" dirty="0">
                <a:ea typeface="新細明體" pitchFamily="18" charset="-120"/>
              </a:rPr>
              <a:t>C</a:t>
            </a:r>
            <a:r>
              <a:rPr lang="en-US" altLang="zh-TW" dirty="0">
                <a:latin typeface="Symbol" pitchFamily="18" charset="2"/>
                <a:ea typeface="新細明體" pitchFamily="18" charset="-120"/>
              </a:rPr>
              <a:t>Å</a:t>
            </a:r>
            <a:r>
              <a:rPr lang="en-US" altLang="zh-TW" i="1" dirty="0">
                <a:ea typeface="新細明體" pitchFamily="18" charset="-120"/>
              </a:rPr>
              <a:t>D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dirty="0">
                <a:latin typeface="Symbol" pitchFamily="18" charset="2"/>
                <a:ea typeface="新細明體" pitchFamily="18" charset="-120"/>
              </a:rPr>
              <a:t>Å</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r>
              <a:rPr lang="en-US" altLang="zh-TW" i="1" dirty="0">
                <a:ea typeface="新細明體" pitchFamily="18" charset="-120"/>
              </a:rPr>
              <a:t> = </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r>
              <a:rPr lang="en-US" altLang="zh-TW" i="1" dirty="0">
                <a:ea typeface="新細明體" pitchFamily="18" charset="-120"/>
              </a:rPr>
              <a:t>+</a:t>
            </a:r>
            <a:r>
              <a:rPr lang="en-US" altLang="zh-TW" dirty="0">
                <a:ea typeface="新細明體" pitchFamily="18" charset="-120"/>
              </a:rPr>
              <a:t>(</a:t>
            </a:r>
            <a:r>
              <a:rPr lang="en-US" altLang="zh-TW" i="1" dirty="0">
                <a:ea typeface="新細明體" pitchFamily="18" charset="-120"/>
              </a:rPr>
              <a:t>AB+A'B'</a:t>
            </a:r>
            <a:r>
              <a:rPr lang="en-US" altLang="zh-TW" dirty="0">
                <a:ea typeface="新細明體" pitchFamily="18" charset="-120"/>
              </a:rPr>
              <a:t>)(</a:t>
            </a:r>
            <a:r>
              <a:rPr lang="en-US" altLang="zh-TW" i="1" dirty="0">
                <a:ea typeface="新細明體" pitchFamily="18" charset="-120"/>
              </a:rPr>
              <a:t>CD'+C'D</a:t>
            </a:r>
            <a:r>
              <a:rPr lang="en-US" altLang="zh-TW" dirty="0">
                <a:ea typeface="新細明體" pitchFamily="18" charset="-120"/>
              </a:rPr>
              <a:t>)</a:t>
            </a:r>
            <a:endParaRPr lang="en-US" altLang="zh-TW" dirty="0">
              <a:latin typeface="Symbol" pitchFamily="18" charset="2"/>
              <a:ea typeface="新細明體" pitchFamily="18" charset="-120"/>
            </a:endParaRPr>
          </a:p>
          <a:p>
            <a:endParaRPr lang="zh-TW" altLang="en-US" i="1" dirty="0">
              <a:ea typeface="新細明體" pitchFamily="18" charset="-120"/>
            </a:endParaRPr>
          </a:p>
        </p:txBody>
      </p:sp>
      <p:pic>
        <p:nvPicPr>
          <p:cNvPr id="693252" name="Picture 6"/>
          <p:cNvPicPr>
            <a:picLocks noChangeAspect="1" noChangeArrowheads="1"/>
          </p:cNvPicPr>
          <p:nvPr/>
        </p:nvPicPr>
        <p:blipFill>
          <a:blip r:embed="rId2" cstate="print">
            <a:lum bright="-18000" contrast="30000"/>
          </a:blip>
          <a:srcRect l="1834" t="839" r="1109"/>
          <a:stretch>
            <a:fillRect/>
          </a:stretch>
        </p:blipFill>
        <p:spPr bwMode="auto">
          <a:xfrm>
            <a:off x="950041" y="2906405"/>
            <a:ext cx="6646759" cy="3124508"/>
          </a:xfrm>
          <a:prstGeom prst="rect">
            <a:avLst/>
          </a:prstGeom>
          <a:noFill/>
          <a:ln w="9525">
            <a:noFill/>
            <a:miter lim="800000"/>
            <a:headEnd/>
            <a:tailEnd/>
          </a:ln>
        </p:spPr>
      </p:pic>
      <p:sp>
        <p:nvSpPr>
          <p:cNvPr id="693253" name="Text Box 7"/>
          <p:cNvSpPr txBox="1">
            <a:spLocks noChangeArrowheads="1"/>
          </p:cNvSpPr>
          <p:nvPr/>
        </p:nvSpPr>
        <p:spPr bwMode="auto">
          <a:xfrm>
            <a:off x="1327150" y="6216650"/>
            <a:ext cx="6191250" cy="368300"/>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Map </a:t>
            </a:r>
            <a:r>
              <a:rPr lang="en-US" altLang="zh-TW" dirty="0">
                <a:latin typeface="Times New Roman" pitchFamily="18" charset="0"/>
                <a:ea typeface="新細明體" pitchFamily="18" charset="-120"/>
                <a:cs typeface="Angsana New" pitchFamily="18" charset="-34"/>
              </a:rPr>
              <a:t>for a Four-variable Exclusive-OR Function</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sz="2500">
              <a:ea typeface="新細明體" pitchFamily="18" charset="-120"/>
            </a:endParaRPr>
          </a:p>
        </p:txBody>
      </p:sp>
      <p:sp>
        <p:nvSpPr>
          <p:cNvPr id="694275" name="內容版面配置區 2"/>
          <p:cNvSpPr>
            <a:spLocks noGrp="1"/>
          </p:cNvSpPr>
          <p:nvPr>
            <p:ph idx="4294967295"/>
          </p:nvPr>
        </p:nvSpPr>
        <p:spPr/>
        <p:txBody>
          <a:bodyPr lIns="90488" tIns="44450" rIns="90488" bIns="44450"/>
          <a:lstStyle/>
          <a:p>
            <a:r>
              <a:rPr lang="en-US" altLang="zh-TW" dirty="0">
                <a:ea typeface="新細明體" pitchFamily="18" charset="-120"/>
              </a:rPr>
              <a:t>Parity Generation and Checking</a:t>
            </a:r>
          </a:p>
          <a:p>
            <a:pPr lvl="1"/>
            <a:r>
              <a:rPr lang="en-US" altLang="zh-TW" sz="2400" dirty="0">
                <a:ea typeface="新細明體" pitchFamily="18" charset="-120"/>
              </a:rPr>
              <a:t>A parity bit: </a:t>
            </a:r>
            <a:r>
              <a:rPr lang="en-US" altLang="zh-TW" sz="2400" i="1" dirty="0">
                <a:ea typeface="新細明體" pitchFamily="18" charset="-120"/>
              </a:rPr>
              <a:t>P</a:t>
            </a:r>
            <a:r>
              <a:rPr lang="en-US" altLang="zh-TW" sz="2400" dirty="0">
                <a:ea typeface="新細明體" pitchFamily="18" charset="-120"/>
              </a:rPr>
              <a:t> = </a:t>
            </a:r>
            <a:r>
              <a:rPr lang="en-US" altLang="zh-TW" sz="2400" i="1" dirty="0" err="1">
                <a:ea typeface="新細明體" pitchFamily="18" charset="-120"/>
              </a:rPr>
              <a:t>x</a:t>
            </a:r>
            <a:r>
              <a:rPr lang="en-US" altLang="zh-TW" sz="2400" dirty="0" err="1">
                <a:latin typeface="Symbol" pitchFamily="18" charset="2"/>
                <a:ea typeface="新細明體" pitchFamily="18" charset="-120"/>
              </a:rPr>
              <a:t>Å</a:t>
            </a:r>
            <a:r>
              <a:rPr lang="en-US" altLang="zh-TW" sz="2400" i="1" dirty="0" err="1">
                <a:ea typeface="新細明體" pitchFamily="18" charset="-120"/>
              </a:rPr>
              <a:t>y</a:t>
            </a:r>
            <a:r>
              <a:rPr lang="en-US" altLang="zh-TW" sz="2400" dirty="0" err="1">
                <a:latin typeface="Symbol" pitchFamily="18" charset="2"/>
                <a:ea typeface="新細明體" pitchFamily="18" charset="-120"/>
              </a:rPr>
              <a:t>Å</a:t>
            </a:r>
            <a:r>
              <a:rPr lang="en-US" altLang="zh-TW" sz="2400" i="1" dirty="0" err="1">
                <a:ea typeface="新細明體" pitchFamily="18" charset="-120"/>
              </a:rPr>
              <a:t>z</a:t>
            </a:r>
            <a:endParaRPr lang="en-US" altLang="zh-TW" sz="2400" i="1" dirty="0">
              <a:ea typeface="新細明體" pitchFamily="18" charset="-120"/>
            </a:endParaRPr>
          </a:p>
          <a:p>
            <a:pPr lvl="1"/>
            <a:r>
              <a:rPr lang="en-US" altLang="zh-TW" sz="2400" dirty="0">
                <a:ea typeface="新細明體" pitchFamily="18" charset="-120"/>
              </a:rPr>
              <a:t>Parity check: </a:t>
            </a:r>
            <a:r>
              <a:rPr lang="en-US" altLang="zh-TW" sz="2400" i="1" dirty="0">
                <a:ea typeface="新細明體" pitchFamily="18" charset="-120"/>
              </a:rPr>
              <a:t>C</a:t>
            </a:r>
            <a:r>
              <a:rPr lang="en-US" altLang="zh-TW" sz="2400" dirty="0">
                <a:ea typeface="新細明體" pitchFamily="18" charset="-120"/>
              </a:rPr>
              <a:t> = </a:t>
            </a:r>
            <a:r>
              <a:rPr lang="en-US" altLang="zh-TW" sz="2400" i="1" dirty="0" err="1">
                <a:ea typeface="新細明體" pitchFamily="18" charset="-120"/>
              </a:rPr>
              <a:t>x</a:t>
            </a:r>
            <a:r>
              <a:rPr lang="en-US" altLang="zh-TW" sz="2400" dirty="0" err="1">
                <a:latin typeface="Symbol" pitchFamily="18" charset="2"/>
                <a:ea typeface="新細明體" pitchFamily="18" charset="-120"/>
              </a:rPr>
              <a:t>Å</a:t>
            </a:r>
            <a:r>
              <a:rPr lang="en-US" altLang="zh-TW" sz="2400" i="1" dirty="0" err="1">
                <a:ea typeface="新細明體" pitchFamily="18" charset="-120"/>
              </a:rPr>
              <a:t>y</a:t>
            </a:r>
            <a:r>
              <a:rPr lang="en-US" altLang="zh-TW" sz="2400" dirty="0" err="1">
                <a:latin typeface="Symbol" pitchFamily="18" charset="2"/>
                <a:ea typeface="新細明體" pitchFamily="18" charset="-120"/>
              </a:rPr>
              <a:t>Å</a:t>
            </a:r>
            <a:r>
              <a:rPr lang="en-US" altLang="zh-TW" sz="2400" i="1" dirty="0" err="1">
                <a:ea typeface="新細明體" pitchFamily="18" charset="-120"/>
              </a:rPr>
              <a:t>z</a:t>
            </a:r>
            <a:r>
              <a:rPr lang="en-US" altLang="zh-TW" sz="2400" dirty="0" err="1">
                <a:latin typeface="Symbol" pitchFamily="18" charset="2"/>
                <a:ea typeface="新細明體" pitchFamily="18" charset="-120"/>
              </a:rPr>
              <a:t>Å</a:t>
            </a:r>
            <a:r>
              <a:rPr lang="en-US" altLang="zh-TW" sz="2400" i="1" dirty="0" err="1">
                <a:ea typeface="新細明體" pitchFamily="18" charset="-120"/>
              </a:rPr>
              <a:t>P</a:t>
            </a:r>
            <a:endParaRPr lang="en-US" altLang="zh-TW" sz="2400" i="1" dirty="0">
              <a:ea typeface="新細明體" pitchFamily="18" charset="-120"/>
            </a:endParaRPr>
          </a:p>
          <a:p>
            <a:pPr lvl="2"/>
            <a:r>
              <a:rPr lang="en-US" altLang="zh-TW" sz="2000" i="1" dirty="0">
                <a:ea typeface="新細明體" pitchFamily="18" charset="-120"/>
              </a:rPr>
              <a:t>C</a:t>
            </a:r>
            <a:r>
              <a:rPr lang="en-US" altLang="zh-TW" sz="2000" dirty="0">
                <a:ea typeface="新細明體" pitchFamily="18" charset="-120"/>
              </a:rPr>
              <a:t>=1: one bit error or an odd number of data bit error</a:t>
            </a:r>
          </a:p>
          <a:p>
            <a:pPr lvl="2"/>
            <a:r>
              <a:rPr lang="en-US" altLang="zh-TW" sz="2000" i="1" dirty="0">
                <a:ea typeface="新細明體" pitchFamily="18" charset="-120"/>
              </a:rPr>
              <a:t>C</a:t>
            </a:r>
            <a:r>
              <a:rPr lang="en-US" altLang="zh-TW" sz="2000" dirty="0">
                <a:ea typeface="新細明體" pitchFamily="18" charset="-120"/>
              </a:rPr>
              <a:t>=0: correct or an even # of data bit error</a:t>
            </a:r>
          </a:p>
          <a:p>
            <a:endParaRPr lang="zh-TW" altLang="en-US" sz="2000" dirty="0">
              <a:ea typeface="新細明體" pitchFamily="18" charset="-120"/>
            </a:endParaRPr>
          </a:p>
        </p:txBody>
      </p:sp>
      <p:pic>
        <p:nvPicPr>
          <p:cNvPr id="694276" name="Picture 6"/>
          <p:cNvPicPr>
            <a:picLocks noChangeAspect="1" noChangeArrowheads="1"/>
          </p:cNvPicPr>
          <p:nvPr/>
        </p:nvPicPr>
        <p:blipFill>
          <a:blip r:embed="rId2" cstate="print">
            <a:lum bright="-18000" contrast="30000"/>
          </a:blip>
          <a:srcRect t="8492"/>
          <a:stretch>
            <a:fillRect/>
          </a:stretch>
        </p:blipFill>
        <p:spPr bwMode="auto">
          <a:xfrm>
            <a:off x="433264" y="3754379"/>
            <a:ext cx="8366125" cy="1938338"/>
          </a:xfrm>
          <a:prstGeom prst="rect">
            <a:avLst/>
          </a:prstGeom>
          <a:noFill/>
          <a:ln w="9525">
            <a:noFill/>
            <a:miter lim="800000"/>
            <a:headEnd/>
            <a:tailEnd/>
          </a:ln>
        </p:spPr>
      </p:pic>
      <p:sp>
        <p:nvSpPr>
          <p:cNvPr id="694277" name="Text Box 7"/>
          <p:cNvSpPr txBox="1">
            <a:spLocks noChangeArrowheads="1"/>
          </p:cNvSpPr>
          <p:nvPr/>
        </p:nvSpPr>
        <p:spPr bwMode="auto">
          <a:xfrm>
            <a:off x="1530350" y="6073775"/>
            <a:ext cx="6191250" cy="369888"/>
          </a:xfrm>
          <a:prstGeom prst="rect">
            <a:avLst/>
          </a:prstGeom>
          <a:noFill/>
          <a:ln w="9525">
            <a:noFill/>
            <a:miter lim="800000"/>
            <a:headEnd/>
            <a:tailEnd/>
          </a:ln>
        </p:spPr>
        <p:txBody>
          <a:bodyPr>
            <a:spAutoFit/>
          </a:bodyPr>
          <a:lstStyle/>
          <a:p>
            <a:pPr algn="ctr"/>
            <a:r>
              <a:rPr lang="en-US" altLang="zh-TW" dirty="0" smtClean="0">
                <a:latin typeface="Times New Roman" pitchFamily="18" charset="0"/>
                <a:ea typeface="新細明體" pitchFamily="18" charset="-120"/>
                <a:cs typeface="Angsana New" pitchFamily="18" charset="-34"/>
              </a:rPr>
              <a:t>Logic </a:t>
            </a:r>
            <a:r>
              <a:rPr lang="en-US" altLang="zh-TW" dirty="0">
                <a:latin typeface="Times New Roman" pitchFamily="18" charset="0"/>
                <a:ea typeface="新細明體" pitchFamily="18" charset="-120"/>
                <a:cs typeface="Angsana New" pitchFamily="18" charset="-34"/>
              </a:rPr>
              <a:t>Diagram of a Parity Generator and Checker</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sz="2500">
              <a:ea typeface="新細明體" pitchFamily="18" charset="-120"/>
            </a:endParaRPr>
          </a:p>
        </p:txBody>
      </p:sp>
      <p:pic>
        <p:nvPicPr>
          <p:cNvPr id="695299" name="Picture 7"/>
          <p:cNvPicPr>
            <a:picLocks noChangeAspect="1" noChangeArrowheads="1"/>
          </p:cNvPicPr>
          <p:nvPr/>
        </p:nvPicPr>
        <p:blipFill>
          <a:blip r:embed="rId2" cstate="print">
            <a:lum bright="-18000" contrast="36000"/>
          </a:blip>
          <a:srcRect/>
          <a:stretch>
            <a:fillRect/>
          </a:stretch>
        </p:blipFill>
        <p:spPr bwMode="auto">
          <a:xfrm>
            <a:off x="1524000" y="1481138"/>
            <a:ext cx="5884863" cy="49418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標題 1"/>
          <p:cNvSpPr>
            <a:spLocks noGrp="1"/>
          </p:cNvSpPr>
          <p:nvPr>
            <p:ph type="title" idx="4294967295"/>
          </p:nvPr>
        </p:nvSpPr>
        <p:spPr/>
        <p:txBody>
          <a:bodyPr lIns="0" tIns="0" rIns="0" bIns="0"/>
          <a:lstStyle/>
          <a:p>
            <a:r>
              <a:rPr lang="en-US" altLang="zh-TW">
                <a:ea typeface="新細明體" pitchFamily="18" charset="-120"/>
              </a:rPr>
              <a:t>Parity Generation and Checking</a:t>
            </a:r>
            <a:endParaRPr lang="zh-TW" altLang="en-US">
              <a:ea typeface="新細明體" pitchFamily="18" charset="-120"/>
            </a:endParaRPr>
          </a:p>
        </p:txBody>
      </p:sp>
      <p:pic>
        <p:nvPicPr>
          <p:cNvPr id="696324" name="Picture 4"/>
          <p:cNvPicPr>
            <a:picLocks noChangeAspect="1" noChangeArrowheads="1"/>
          </p:cNvPicPr>
          <p:nvPr/>
        </p:nvPicPr>
        <p:blipFill>
          <a:blip r:embed="rId2" cstate="print">
            <a:lum bright="-12000" contrast="36000"/>
          </a:blip>
          <a:srcRect/>
          <a:stretch>
            <a:fillRect/>
          </a:stretch>
        </p:blipFill>
        <p:spPr bwMode="auto">
          <a:xfrm>
            <a:off x="2185988" y="1346200"/>
            <a:ext cx="4767262" cy="53038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5567</TotalTime>
  <Words>2367</Words>
  <Application>Microsoft Office PowerPoint</Application>
  <PresentationFormat>On-screen Show (4:3)</PresentationFormat>
  <Paragraphs>314</Paragraphs>
  <Slides>67</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69" baseType="lpstr">
      <vt:lpstr>Oriel</vt:lpstr>
      <vt:lpstr>Equation</vt:lpstr>
      <vt:lpstr>CSE 205: Digital Logic Design</vt:lpstr>
      <vt:lpstr>Logic Minimization</vt:lpstr>
      <vt:lpstr>The Map Method</vt:lpstr>
      <vt:lpstr>Two-Variable Map</vt:lpstr>
      <vt:lpstr>Example</vt:lpstr>
      <vt:lpstr>Example</vt:lpstr>
      <vt:lpstr>Three-Variable Map</vt:lpstr>
      <vt:lpstr>Three-Variable Map</vt:lpstr>
      <vt:lpstr>Example</vt:lpstr>
      <vt:lpstr>Example</vt:lpstr>
      <vt:lpstr>Example </vt:lpstr>
      <vt:lpstr>Four adjacent Squares</vt:lpstr>
      <vt:lpstr>Example</vt:lpstr>
      <vt:lpstr>Example</vt:lpstr>
      <vt:lpstr>Four-Variable Map</vt:lpstr>
      <vt:lpstr>Example 3.5</vt:lpstr>
      <vt:lpstr>Example</vt:lpstr>
      <vt:lpstr>Prime Implicants</vt:lpstr>
      <vt:lpstr>Prime Implicants</vt:lpstr>
      <vt:lpstr>Five-Variable Map</vt:lpstr>
      <vt:lpstr>Example</vt:lpstr>
      <vt:lpstr>Example</vt:lpstr>
      <vt:lpstr>Six-Variable Map</vt:lpstr>
      <vt:lpstr>Don't-Care Conditions</vt:lpstr>
      <vt:lpstr>Example</vt:lpstr>
      <vt:lpstr>Don't-Care Conditions</vt:lpstr>
      <vt:lpstr>Product of Sums Simplification</vt:lpstr>
      <vt:lpstr>Example</vt:lpstr>
      <vt:lpstr>Example (cont.)</vt:lpstr>
      <vt:lpstr>Product of Maxterms</vt:lpstr>
      <vt:lpstr>Product of Maxterms</vt:lpstr>
      <vt:lpstr>Map Method: Summary</vt:lpstr>
      <vt:lpstr>Simplification of Boolean functions</vt:lpstr>
      <vt:lpstr>Tabulation Methods</vt:lpstr>
      <vt:lpstr>Determination of prime implicants</vt:lpstr>
      <vt:lpstr>Determination of prime implicants</vt:lpstr>
      <vt:lpstr>Determination of prime implicants</vt:lpstr>
      <vt:lpstr>Determination of prime implicants</vt:lpstr>
      <vt:lpstr>Minimal cover generation</vt:lpstr>
      <vt:lpstr>Minimal cover generation</vt:lpstr>
      <vt:lpstr>Minimal cover generation</vt:lpstr>
      <vt:lpstr>NAND and NOR Implementation</vt:lpstr>
      <vt:lpstr>NAND Gate</vt:lpstr>
      <vt:lpstr>Two-level Implementation</vt:lpstr>
      <vt:lpstr>Example</vt:lpstr>
      <vt:lpstr>Two -Level NAND Circuits</vt:lpstr>
      <vt:lpstr>Multilevel NAND Circuits</vt:lpstr>
      <vt:lpstr>Multilevel NAND Circuits</vt:lpstr>
      <vt:lpstr>Multilevel NAND Circuits</vt:lpstr>
      <vt:lpstr>NOR Implementation</vt:lpstr>
      <vt:lpstr>NOR Gate</vt:lpstr>
      <vt:lpstr>NOR Implementation</vt:lpstr>
      <vt:lpstr>NOR Implementation</vt:lpstr>
      <vt:lpstr>Other Two-level Implementations </vt:lpstr>
      <vt:lpstr>Non-degenerate Forms</vt:lpstr>
      <vt:lpstr>AND-OR-Invert Implementation</vt:lpstr>
      <vt:lpstr>OR-AND-Invert Implementation</vt:lpstr>
      <vt:lpstr>Tabular Summary and Examples</vt:lpstr>
      <vt:lpstr>PowerPoint Presentation</vt:lpstr>
      <vt:lpstr>Exclusive-OR Function</vt:lpstr>
      <vt:lpstr>Exclusive-OR Implementations</vt:lpstr>
      <vt:lpstr>Odd Function</vt:lpstr>
      <vt:lpstr>XOR and XNOR</vt:lpstr>
      <vt:lpstr>Four-variable Exclusive-OR function</vt:lpstr>
      <vt:lpstr>Parity Generation and Checking</vt:lpstr>
      <vt:lpstr>Parity Generation and Checking</vt:lpstr>
      <vt:lpstr>Parity Generation and Checking</vt:lpstr>
    </vt:vector>
  </TitlesOfParts>
  <Company>BUET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205: Digital Logic Design</dc:title>
  <dc:creator>user</dc:creator>
  <cp:lastModifiedBy>user</cp:lastModifiedBy>
  <cp:revision>773</cp:revision>
  <dcterms:created xsi:type="dcterms:W3CDTF">2012-03-31T05:29:50Z</dcterms:created>
  <dcterms:modified xsi:type="dcterms:W3CDTF">2023-12-04T03:41:33Z</dcterms:modified>
</cp:coreProperties>
</file>