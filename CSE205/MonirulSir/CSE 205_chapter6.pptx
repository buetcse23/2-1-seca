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52"/>
  </p:notesMasterIdLst>
  <p:handoutMasterIdLst>
    <p:handoutMasterId r:id="rId53"/>
  </p:handoutMasterIdLst>
  <p:sldIdLst>
    <p:sldId id="25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92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3" r:id="rId19"/>
    <p:sldId id="294" r:id="rId20"/>
    <p:sldId id="295" r:id="rId21"/>
    <p:sldId id="300" r:id="rId22"/>
    <p:sldId id="296" r:id="rId23"/>
    <p:sldId id="301" r:id="rId24"/>
    <p:sldId id="297" r:id="rId25"/>
    <p:sldId id="298" r:id="rId26"/>
    <p:sldId id="299" r:id="rId27"/>
    <p:sldId id="302" r:id="rId28"/>
    <p:sldId id="303" r:id="rId29"/>
    <p:sldId id="309" r:id="rId30"/>
    <p:sldId id="305" r:id="rId31"/>
    <p:sldId id="306" r:id="rId32"/>
    <p:sldId id="307" r:id="rId33"/>
    <p:sldId id="308" r:id="rId34"/>
    <p:sldId id="31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319" r:id="rId44"/>
    <p:sldId id="320" r:id="rId45"/>
    <p:sldId id="321" r:id="rId46"/>
    <p:sldId id="322" r:id="rId47"/>
    <p:sldId id="323" r:id="rId48"/>
    <p:sldId id="324" r:id="rId49"/>
    <p:sldId id="325" r:id="rId50"/>
    <p:sldId id="326" r:id="rId51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68568" autoAdjust="0"/>
  </p:normalViewPr>
  <p:slideViewPr>
    <p:cSldViewPr snapToGrid="0">
      <p:cViewPr>
        <p:scale>
          <a:sx n="50" d="100"/>
          <a:sy n="50" d="100"/>
        </p:scale>
        <p:origin x="-163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6DDAA8-2571-4EEF-8A14-844D596EE726}" type="datetimeFigureOut">
              <a:rPr lang="en-US" smtClean="0"/>
              <a:pPr/>
              <a:t>5/22/2016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5FB613-7FED-4192-8E5B-1481EA2AEB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A233E0B-8985-4C80-9212-0E2B041D2DB7}" type="datetimeFigureOut">
              <a:rPr lang="en-US" smtClean="0"/>
              <a:pPr/>
              <a:t>5/22/2016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8E32228-077E-4C6D-9838-E60F51038F3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E32228-077E-4C6D-9838-E60F51038F37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/>
              <a:t>Princess Sumaya University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en-US"/>
              <a:t>4241 - Digital Logic Design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Dr. Bassam Kahhaleh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3CECF9-D1C7-4D48-9AA6-7C81E0A7249E}" type="slidenum">
              <a:rPr lang="en-US"/>
              <a:pPr/>
              <a:t>50</a:t>
            </a:fld>
            <a:endParaRPr lang="en-US"/>
          </a:p>
        </p:txBody>
      </p:sp>
      <p:sp>
        <p:nvSpPr>
          <p:cNvPr id="88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7C7ABDB8-B3F5-47A4-9711-3777097313E1}" type="datetime1">
              <a:rPr lang="en-US" smtClean="0"/>
              <a:pPr/>
              <a:t>5/22/2016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96200" cy="48737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50C7453-5EB7-426C-953A-B1BEE0DC2850}" type="datetime1">
              <a:rPr lang="en-US" smtClean="0"/>
              <a:pPr/>
              <a:t>5/22/2016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65C4C3B-E9F6-4B3F-BFA4-47000192CD50}" type="datetime1">
              <a:rPr lang="en-US" smtClean="0"/>
              <a:pPr/>
              <a:t>5/22/2016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764E5-3D11-41A1-A8FF-4233BBCB609C}" type="datetime1">
              <a:rPr lang="en-US" smtClean="0"/>
              <a:pPr/>
              <a:t>5/22/2016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B279-38B0-44CD-87B6-270BEE6682AE}" type="datetime1">
              <a:rPr lang="en-US" smtClean="0"/>
              <a:pPr/>
              <a:t>5/22/2016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3B1E256-9A78-47EF-BC62-13EC55DEEF32}" type="datetime1">
              <a:rPr lang="en-US" smtClean="0"/>
              <a:pPr/>
              <a:t>5/22/2016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87023-EB44-4A49-8D1E-CA226DFA12E4}" type="datetime1">
              <a:rPr lang="en-US" smtClean="0"/>
              <a:pPr/>
              <a:t>5/22/2016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FF60033-61F6-4F32-B158-8B7BF2CCC4F4}" type="datetime1">
              <a:rPr lang="en-US" smtClean="0"/>
              <a:pPr/>
              <a:t>5/22/2016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C326B57-48FE-4F89-9485-22981ED8D38D}" type="datetime1">
              <a:rPr lang="en-US" smtClean="0"/>
              <a:pPr/>
              <a:t>5/22/2016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8DB20-CB48-4E1E-B9D9-60D119054EBB}" type="datetime1">
              <a:rPr lang="en-US" smtClean="0"/>
              <a:pPr/>
              <a:t>5/22/2016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99063-3249-449C-AA5F-8FF72848E7CE}" type="datetime1">
              <a:rPr lang="en-US" smtClean="0"/>
              <a:pPr/>
              <a:t>5/22/2016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60A57B3C-C493-4246-9095-3DD941B09960}" type="datetime1">
              <a:rPr lang="en-US" smtClean="0"/>
              <a:pPr/>
              <a:t>5/22/2016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5119B53-8FEA-4BCD-AD8C-881E4C0351D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667000"/>
            <a:ext cx="6553200" cy="1894362"/>
          </a:xfrm>
        </p:spPr>
        <p:txBody>
          <a:bodyPr/>
          <a:lstStyle/>
          <a:p>
            <a:r>
              <a:rPr lang="en-US" dirty="0" smtClean="0"/>
              <a:t>CSE 205: Digital Logic Design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648200"/>
            <a:ext cx="6172200" cy="13716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Dr. </a:t>
            </a:r>
            <a:r>
              <a:rPr lang="en-US" sz="2400" dirty="0" err="1" smtClean="0"/>
              <a:t>Tanzima</a:t>
            </a:r>
            <a:r>
              <a:rPr lang="en-US" sz="2400" dirty="0" smtClean="0"/>
              <a:t> </a:t>
            </a:r>
            <a:r>
              <a:rPr lang="en-US" sz="2400" dirty="0" err="1" smtClean="0"/>
              <a:t>Hashem</a:t>
            </a:r>
            <a:endParaRPr lang="en-US" sz="2400" dirty="0" smtClean="0"/>
          </a:p>
          <a:p>
            <a:r>
              <a:rPr lang="en-US" sz="2400" dirty="0" smtClean="0"/>
              <a:t>Associate Professor</a:t>
            </a:r>
          </a:p>
          <a:p>
            <a:r>
              <a:rPr lang="en-US" sz="2400" dirty="0" smtClean="0"/>
              <a:t>CSE, BUET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Registers and Counters</a:t>
            </a:r>
            <a:endParaRPr lang="zh-TW" altLang="en-US" dirty="0" smtClean="0"/>
          </a:p>
        </p:txBody>
      </p:sp>
      <p:sp>
        <p:nvSpPr>
          <p:cNvPr id="512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dirty="0" smtClean="0"/>
              <a:t>Clocked sequential circuits</a:t>
            </a:r>
          </a:p>
          <a:p>
            <a:pPr lvl="1">
              <a:lnSpc>
                <a:spcPct val="90000"/>
              </a:lnSpc>
            </a:pPr>
            <a:r>
              <a:rPr lang="en-US" altLang="zh-TW" dirty="0" smtClean="0"/>
              <a:t>A group of flip-flops and combinational gates.</a:t>
            </a:r>
          </a:p>
          <a:p>
            <a:pPr lvl="1">
              <a:lnSpc>
                <a:spcPct val="90000"/>
              </a:lnSpc>
            </a:pPr>
            <a:r>
              <a:rPr lang="en-US" altLang="zh-TW" dirty="0" smtClean="0"/>
              <a:t>Connected to form a feedback path.</a:t>
            </a:r>
          </a:p>
          <a:p>
            <a:pPr lvl="1">
              <a:lnSpc>
                <a:spcPct val="90000"/>
              </a:lnSpc>
            </a:pPr>
            <a:r>
              <a:rPr lang="en-US" altLang="zh-TW" dirty="0" smtClean="0">
                <a:solidFill>
                  <a:srgbClr val="1B1BFF"/>
                </a:solidFill>
              </a:rPr>
              <a:t>Flip-flops </a:t>
            </a:r>
            <a:r>
              <a:rPr lang="en-US" altLang="zh-TW" dirty="0" smtClean="0">
                <a:solidFill>
                  <a:schemeClr val="folHlink"/>
                </a:solidFill>
              </a:rPr>
              <a:t> + </a:t>
            </a:r>
            <a:r>
              <a:rPr lang="en-US" altLang="zh-TW" dirty="0" smtClean="0">
                <a:solidFill>
                  <a:srgbClr val="1B1BFF"/>
                </a:solidFill>
              </a:rPr>
              <a:t>Combinational gates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dirty="0" smtClean="0"/>
              <a:t>	</a:t>
            </a:r>
            <a:r>
              <a:rPr lang="en-US" altLang="zh-TW" dirty="0" smtClean="0">
                <a:solidFill>
                  <a:schemeClr val="hlink"/>
                </a:solidFill>
              </a:rPr>
              <a:t>(essential)            (optional)</a:t>
            </a:r>
          </a:p>
          <a:p>
            <a:pPr>
              <a:lnSpc>
                <a:spcPct val="90000"/>
              </a:lnSpc>
            </a:pPr>
            <a:r>
              <a:rPr lang="en-US" altLang="zh-TW" dirty="0" smtClean="0"/>
              <a:t>Register</a:t>
            </a:r>
          </a:p>
          <a:p>
            <a:pPr lvl="1">
              <a:lnSpc>
                <a:spcPct val="90000"/>
              </a:lnSpc>
            </a:pPr>
            <a:r>
              <a:rPr lang="en-US" altLang="zh-TW" dirty="0" smtClean="0"/>
              <a:t>A group of </a:t>
            </a:r>
            <a:r>
              <a:rPr lang="en-US" altLang="zh-TW" dirty="0" smtClean="0">
                <a:solidFill>
                  <a:srgbClr val="1B1BFF"/>
                </a:solidFill>
              </a:rPr>
              <a:t>flip-flops</a:t>
            </a:r>
            <a:r>
              <a:rPr lang="en-US" altLang="zh-TW" dirty="0" smtClean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zh-TW" dirty="0" smtClean="0">
                <a:solidFill>
                  <a:srgbClr val="1B1BFF"/>
                </a:solidFill>
              </a:rPr>
              <a:t>Gates</a:t>
            </a:r>
            <a:r>
              <a:rPr lang="en-US" altLang="zh-TW" dirty="0" smtClean="0"/>
              <a:t> that determine how the information is transferred into the register.</a:t>
            </a:r>
          </a:p>
          <a:p>
            <a:pPr>
              <a:lnSpc>
                <a:spcPct val="90000"/>
              </a:lnSpc>
            </a:pPr>
            <a:r>
              <a:rPr lang="en-US" altLang="zh-TW" dirty="0" smtClean="0"/>
              <a:t>Counter</a:t>
            </a:r>
          </a:p>
          <a:p>
            <a:pPr lvl="1">
              <a:lnSpc>
                <a:spcPct val="90000"/>
              </a:lnSpc>
            </a:pPr>
            <a:r>
              <a:rPr lang="en-US" altLang="zh-TW" dirty="0" smtClean="0"/>
              <a:t>A register that goes through a predetermined sequence of states.</a:t>
            </a:r>
          </a:p>
          <a:p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5257800" cy="4873752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A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-bit register</a:t>
            </a:r>
          </a:p>
          <a:p>
            <a:pPr lvl="1"/>
            <a:r>
              <a:rPr lang="en-US" altLang="zh-TW" i="1" dirty="0" smtClean="0"/>
              <a:t>n</a:t>
            </a:r>
            <a:r>
              <a:rPr lang="en-US" altLang="zh-TW" dirty="0" smtClean="0"/>
              <a:t> flip-flops capable of storing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bits of binary information.</a:t>
            </a:r>
          </a:p>
          <a:p>
            <a:pPr lvl="1"/>
            <a:r>
              <a:rPr lang="en-US" altLang="zh-TW" dirty="0" smtClean="0"/>
              <a:t>4-bit register is shown in Fig. 6.1.</a:t>
            </a:r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r>
              <a:rPr lang="en-AU" dirty="0" smtClean="0"/>
              <a:t>If some bits must be left unchanged, how to do it ?</a:t>
            </a:r>
            <a:endParaRPr lang="en-US" altLang="zh-TW" dirty="0" smtClean="0"/>
          </a:p>
          <a:p>
            <a:endParaRPr lang="en-AU" dirty="0"/>
          </a:p>
        </p:txBody>
      </p:sp>
      <p:sp>
        <p:nvSpPr>
          <p:cNvPr id="614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Registers</a:t>
            </a:r>
            <a:endParaRPr lang="zh-TW" altLang="en-US" dirty="0" smtClean="0"/>
          </a:p>
        </p:txBody>
      </p:sp>
      <p:pic>
        <p:nvPicPr>
          <p:cNvPr id="6148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5835650" y="1065213"/>
            <a:ext cx="1960563" cy="551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9" name="Text Box 6"/>
          <p:cNvSpPr txBox="1">
            <a:spLocks noChangeArrowheads="1"/>
          </p:cNvSpPr>
          <p:nvPr/>
        </p:nvSpPr>
        <p:spPr bwMode="auto">
          <a:xfrm>
            <a:off x="5634038" y="6489700"/>
            <a:ext cx="245586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i="0" u="none" dirty="0">
                <a:solidFill>
                  <a:schemeClr val="tx1"/>
                </a:solidFill>
              </a:rPr>
              <a:t>Fig. 6.1 Four-bit register</a:t>
            </a:r>
          </a:p>
        </p:txBody>
      </p:sp>
      <p:sp>
        <p:nvSpPr>
          <p:cNvPr id="6150" name="文字方塊 5"/>
          <p:cNvSpPr txBox="1">
            <a:spLocks noChangeArrowheads="1"/>
          </p:cNvSpPr>
          <p:nvPr/>
        </p:nvSpPr>
        <p:spPr bwMode="auto">
          <a:xfrm>
            <a:off x="1501775" y="3892550"/>
            <a:ext cx="3136900" cy="1014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 dirty="0">
                <a:solidFill>
                  <a:srgbClr val="1B1BFF"/>
                </a:solidFill>
              </a:rPr>
              <a:t>Clear =0 (active low); </a:t>
            </a:r>
            <a:r>
              <a:rPr lang="en-US" altLang="zh-TW" sz="2000" u="none" dirty="0">
                <a:solidFill>
                  <a:srgbClr val="1B1BFF"/>
                </a:solidFill>
              </a:rPr>
              <a:t>A</a:t>
            </a:r>
            <a:r>
              <a:rPr lang="en-US" altLang="zh-TW" sz="2000" u="none" baseline="-25000" dirty="0">
                <a:solidFill>
                  <a:srgbClr val="1B1BFF"/>
                </a:solidFill>
              </a:rPr>
              <a:t>x</a:t>
            </a:r>
            <a:r>
              <a:rPr lang="en-US" altLang="zh-TW" sz="2000" i="0" u="none" dirty="0">
                <a:solidFill>
                  <a:srgbClr val="1B1BFF"/>
                </a:solidFill>
              </a:rPr>
              <a:t> = 0</a:t>
            </a:r>
          </a:p>
          <a:p>
            <a:r>
              <a:rPr lang="en-US" altLang="zh-TW" sz="2000" i="0" u="none" dirty="0">
                <a:solidFill>
                  <a:srgbClr val="1B1BFF"/>
                </a:solidFill>
              </a:rPr>
              <a:t>Clock= ↑; </a:t>
            </a:r>
            <a:r>
              <a:rPr lang="en-US" altLang="zh-TW" sz="2000" u="none" dirty="0">
                <a:solidFill>
                  <a:srgbClr val="1B1BFF"/>
                </a:solidFill>
              </a:rPr>
              <a:t>A</a:t>
            </a:r>
            <a:r>
              <a:rPr lang="en-US" altLang="zh-TW" sz="2000" u="none" baseline="-25000" dirty="0">
                <a:solidFill>
                  <a:srgbClr val="1B1BFF"/>
                </a:solidFill>
              </a:rPr>
              <a:t>x</a:t>
            </a:r>
            <a:r>
              <a:rPr lang="en-US" altLang="zh-TW" sz="2000" i="0" u="none" dirty="0">
                <a:solidFill>
                  <a:srgbClr val="1B1BFF"/>
                </a:solidFill>
              </a:rPr>
              <a:t>=</a:t>
            </a:r>
            <a:r>
              <a:rPr lang="en-US" altLang="zh-TW" sz="2000" u="none" dirty="0">
                <a:solidFill>
                  <a:srgbClr val="1B1BFF"/>
                </a:solidFill>
              </a:rPr>
              <a:t>I</a:t>
            </a:r>
            <a:r>
              <a:rPr lang="en-US" altLang="zh-TW" sz="2000" u="none" baseline="-25000" dirty="0">
                <a:solidFill>
                  <a:srgbClr val="1B1BFF"/>
                </a:solidFill>
              </a:rPr>
              <a:t>x</a:t>
            </a:r>
          </a:p>
          <a:p>
            <a:r>
              <a:rPr lang="en-US" altLang="zh-TW" sz="2000" i="0" u="none" dirty="0">
                <a:solidFill>
                  <a:srgbClr val="1B1BFF"/>
                </a:solidFill>
              </a:rPr>
              <a:t>Normal Operation; Clear =1</a:t>
            </a:r>
            <a:endParaRPr lang="zh-TW" altLang="en-US" sz="2000" i="0" u="none" dirty="0">
              <a:solidFill>
                <a:srgbClr val="1B1B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4-</a:t>
            </a:r>
            <a:r>
              <a:rPr lang="en-US" altLang="zh-TW" smtClean="0"/>
              <a:t>bit Register with Parallel Load</a:t>
            </a:r>
            <a:endParaRPr lang="zh-TW" altLang="en-US" smtClean="0"/>
          </a:p>
        </p:txBody>
      </p:sp>
      <p:pic>
        <p:nvPicPr>
          <p:cNvPr id="7171" name="Picture 7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 t="548" r="2348"/>
          <a:stretch>
            <a:fillRect/>
          </a:stretch>
        </p:blipFill>
        <p:spPr bwMode="auto">
          <a:xfrm>
            <a:off x="2308225" y="1423988"/>
            <a:ext cx="5141913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835275" y="1787525"/>
            <a:ext cx="6445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800" u="none" dirty="0">
                <a:solidFill>
                  <a:srgbClr val="FF0000"/>
                </a:solidFill>
                <a:latin typeface="+mj-lt"/>
              </a:rPr>
              <a:t>load'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629025" y="2330450"/>
            <a:ext cx="5683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sz="1800" u="none" dirty="0">
                <a:solidFill>
                  <a:srgbClr val="FF0000"/>
                </a:solidFill>
                <a:latin typeface="+mj-lt"/>
              </a:rPr>
              <a:t>load</a:t>
            </a:r>
          </a:p>
        </p:txBody>
      </p:sp>
      <p:sp>
        <p:nvSpPr>
          <p:cNvPr id="7" name="文字方塊 6"/>
          <p:cNvSpPr txBox="1">
            <a:spLocks noChangeArrowheads="1"/>
          </p:cNvSpPr>
          <p:nvPr/>
        </p:nvSpPr>
        <p:spPr bwMode="auto">
          <a:xfrm>
            <a:off x="1801813" y="1347788"/>
            <a:ext cx="5111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i="0" u="none">
                <a:solidFill>
                  <a:srgbClr val="1B1BFF"/>
                </a:solidFill>
              </a:rPr>
              <a:t>1</a:t>
            </a:r>
            <a:r>
              <a:rPr lang="en-US" altLang="zh-TW" sz="2000" b="1" i="0" u="none">
                <a:solidFill>
                  <a:schemeClr val="tx1"/>
                </a:solidFill>
              </a:rPr>
              <a:t>/</a:t>
            </a:r>
            <a:r>
              <a:rPr lang="en-US" altLang="zh-TW" sz="2000" b="1" i="0" u="none">
                <a:solidFill>
                  <a:srgbClr val="00B050"/>
                </a:solidFill>
              </a:rPr>
              <a:t>0</a:t>
            </a:r>
            <a:endParaRPr lang="zh-TW" altLang="en-US" sz="2000" b="1" i="0" u="none">
              <a:solidFill>
                <a:srgbClr val="00B050"/>
              </a:solidFill>
            </a:endParaRPr>
          </a:p>
        </p:txBody>
      </p:sp>
      <p:sp>
        <p:nvSpPr>
          <p:cNvPr id="8" name="文字方塊 7"/>
          <p:cNvSpPr txBox="1">
            <a:spLocks noChangeArrowheads="1"/>
          </p:cNvSpPr>
          <p:nvPr/>
        </p:nvSpPr>
        <p:spPr bwMode="auto">
          <a:xfrm>
            <a:off x="2976563" y="1527175"/>
            <a:ext cx="5111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i="0" u="none">
                <a:solidFill>
                  <a:srgbClr val="1B1BFF"/>
                </a:solidFill>
              </a:rPr>
              <a:t>0</a:t>
            </a:r>
            <a:r>
              <a:rPr lang="en-US" altLang="zh-TW" sz="2000" b="1" i="0" u="none">
                <a:solidFill>
                  <a:schemeClr val="tx1"/>
                </a:solidFill>
              </a:rPr>
              <a:t>/</a:t>
            </a:r>
            <a:r>
              <a:rPr lang="en-US" altLang="zh-TW" sz="2000" b="1" i="0" u="none">
                <a:solidFill>
                  <a:srgbClr val="00B050"/>
                </a:solidFill>
              </a:rPr>
              <a:t>1</a:t>
            </a:r>
            <a:endParaRPr lang="zh-TW" altLang="en-US" sz="2000" b="1" i="0" u="none">
              <a:solidFill>
                <a:srgbClr val="00B050"/>
              </a:solidFill>
            </a:endParaRPr>
          </a:p>
        </p:txBody>
      </p:sp>
      <p:sp>
        <p:nvSpPr>
          <p:cNvPr id="9" name="文字方塊 8"/>
          <p:cNvSpPr txBox="1">
            <a:spLocks noChangeArrowheads="1"/>
          </p:cNvSpPr>
          <p:nvPr/>
        </p:nvSpPr>
        <p:spPr bwMode="auto">
          <a:xfrm>
            <a:off x="3770313" y="1512888"/>
            <a:ext cx="5111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i="0" u="none">
                <a:solidFill>
                  <a:srgbClr val="1B1BFF"/>
                </a:solidFill>
              </a:rPr>
              <a:t>1</a:t>
            </a:r>
            <a:r>
              <a:rPr lang="en-US" altLang="zh-TW" sz="2000" b="1" i="0" u="none">
                <a:solidFill>
                  <a:schemeClr val="tx1"/>
                </a:solidFill>
              </a:rPr>
              <a:t>/</a:t>
            </a:r>
            <a:r>
              <a:rPr lang="en-US" altLang="zh-TW" sz="2000" b="1" i="0" u="none">
                <a:solidFill>
                  <a:srgbClr val="00B050"/>
                </a:solidFill>
              </a:rPr>
              <a:t>0</a:t>
            </a:r>
            <a:endParaRPr lang="zh-TW" altLang="en-US" sz="2000" b="1" i="0" u="none">
              <a:solidFill>
                <a:srgbClr val="00B050"/>
              </a:solidFill>
            </a:endParaRPr>
          </a:p>
        </p:txBody>
      </p:sp>
      <p:sp>
        <p:nvSpPr>
          <p:cNvPr id="10" name="文字方塊 9"/>
          <p:cNvSpPr txBox="1">
            <a:spLocks noChangeArrowheads="1"/>
          </p:cNvSpPr>
          <p:nvPr/>
        </p:nvSpPr>
        <p:spPr bwMode="auto">
          <a:xfrm>
            <a:off x="2981325" y="3009900"/>
            <a:ext cx="5111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i="0" u="none">
                <a:solidFill>
                  <a:srgbClr val="1B1BFF"/>
                </a:solidFill>
              </a:rPr>
              <a:t>0</a:t>
            </a:r>
            <a:r>
              <a:rPr lang="en-US" altLang="zh-TW" sz="2000" b="1" i="0" u="none">
                <a:solidFill>
                  <a:schemeClr val="tx1"/>
                </a:solidFill>
              </a:rPr>
              <a:t>/</a:t>
            </a:r>
            <a:r>
              <a:rPr lang="en-US" altLang="zh-TW" sz="2000" b="1" i="0" u="none">
                <a:solidFill>
                  <a:srgbClr val="00B050"/>
                </a:solidFill>
              </a:rPr>
              <a:t>1</a:t>
            </a:r>
            <a:endParaRPr lang="zh-TW" altLang="en-US" sz="2000" b="1" i="0" u="none">
              <a:solidFill>
                <a:srgbClr val="00B050"/>
              </a:solidFill>
            </a:endParaRPr>
          </a:p>
        </p:txBody>
      </p:sp>
      <p:sp>
        <p:nvSpPr>
          <p:cNvPr id="11" name="文字方塊 10"/>
          <p:cNvSpPr txBox="1">
            <a:spLocks noChangeArrowheads="1"/>
          </p:cNvSpPr>
          <p:nvPr/>
        </p:nvSpPr>
        <p:spPr bwMode="auto">
          <a:xfrm>
            <a:off x="3706813" y="3548063"/>
            <a:ext cx="5111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b="1" i="0" u="none">
                <a:solidFill>
                  <a:srgbClr val="1B1BFF"/>
                </a:solidFill>
              </a:rPr>
              <a:t>1</a:t>
            </a:r>
            <a:r>
              <a:rPr lang="en-US" altLang="zh-TW" sz="2000" b="1" i="0" u="none">
                <a:solidFill>
                  <a:schemeClr val="tx1"/>
                </a:solidFill>
              </a:rPr>
              <a:t>/</a:t>
            </a:r>
            <a:r>
              <a:rPr lang="en-US" altLang="zh-TW" sz="2000" b="1" i="0" u="none">
                <a:solidFill>
                  <a:srgbClr val="00B050"/>
                </a:solidFill>
              </a:rPr>
              <a:t>0</a:t>
            </a:r>
            <a:endParaRPr lang="zh-TW" altLang="en-US" sz="2000" b="1" i="0" u="none">
              <a:solidFill>
                <a:srgbClr val="00B050"/>
              </a:solidFill>
            </a:endParaRPr>
          </a:p>
        </p:txBody>
      </p:sp>
      <p:cxnSp>
        <p:nvCxnSpPr>
          <p:cNvPr id="7180" name="直線接點 56"/>
          <p:cNvCxnSpPr>
            <a:cxnSpLocks noChangeShapeType="1"/>
          </p:cNvCxnSpPr>
          <p:nvPr/>
        </p:nvCxnSpPr>
        <p:spPr bwMode="auto">
          <a:xfrm>
            <a:off x="1365250" y="6675438"/>
            <a:ext cx="395288" cy="158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7181" name="直線接點 56"/>
          <p:cNvCxnSpPr>
            <a:cxnSpLocks noChangeShapeType="1"/>
          </p:cNvCxnSpPr>
          <p:nvPr/>
        </p:nvCxnSpPr>
        <p:spPr bwMode="auto">
          <a:xfrm>
            <a:off x="1746250" y="6289675"/>
            <a:ext cx="395288" cy="158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7182" name="直線接點 56"/>
          <p:cNvCxnSpPr>
            <a:cxnSpLocks noChangeShapeType="1"/>
          </p:cNvCxnSpPr>
          <p:nvPr/>
        </p:nvCxnSpPr>
        <p:spPr bwMode="auto">
          <a:xfrm rot="5400000">
            <a:off x="1561306" y="6482557"/>
            <a:ext cx="396875" cy="1588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 type="triangle" w="med" len="lg"/>
            <a:tailEnd type="none" w="sm" len="sm"/>
          </a:ln>
        </p:spPr>
      </p:cxnSp>
      <p:sp>
        <p:nvSpPr>
          <p:cNvPr id="16" name="文字方塊 15"/>
          <p:cNvSpPr txBox="1">
            <a:spLocks noChangeArrowheads="1"/>
          </p:cNvSpPr>
          <p:nvPr/>
        </p:nvSpPr>
        <p:spPr bwMode="auto">
          <a:xfrm>
            <a:off x="461963" y="4775200"/>
            <a:ext cx="173355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 dirty="0">
                <a:solidFill>
                  <a:srgbClr val="1B1BFF"/>
                </a:solidFill>
              </a:rPr>
              <a:t>1: Parallel load</a:t>
            </a:r>
            <a:endParaRPr lang="en-US" altLang="zh-TW" sz="2000" i="0" u="none" dirty="0">
              <a:solidFill>
                <a:schemeClr val="tx1"/>
              </a:solidFill>
            </a:endParaRPr>
          </a:p>
          <a:p>
            <a:r>
              <a:rPr lang="en-US" altLang="zh-TW" sz="2000" i="0" u="none" dirty="0">
                <a:solidFill>
                  <a:srgbClr val="00B050"/>
                </a:solidFill>
              </a:rPr>
              <a:t>0: No change</a:t>
            </a:r>
            <a:endParaRPr lang="zh-TW" altLang="en-US" sz="2000" i="0" u="none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Shift Registers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A register capable of </a:t>
            </a:r>
            <a:r>
              <a:rPr lang="en-AU" b="1" dirty="0" smtClean="0"/>
              <a:t>shifting the binary information </a:t>
            </a:r>
            <a:r>
              <a:rPr lang="en-AU" dirty="0" smtClean="0"/>
              <a:t>held in each cell to its neighbouring cell, in a selected direction is called a </a:t>
            </a:r>
            <a:r>
              <a:rPr lang="en-AU" b="1" dirty="0" smtClean="0"/>
              <a:t>shift register.</a:t>
            </a:r>
          </a:p>
          <a:p>
            <a:pPr lvl="1"/>
            <a:r>
              <a:rPr lang="en-AU" dirty="0" smtClean="0"/>
              <a:t>Clock controls the shift operation</a:t>
            </a:r>
            <a:endParaRPr lang="en-US" altLang="zh-TW" dirty="0" smtClean="0"/>
          </a:p>
        </p:txBody>
      </p:sp>
      <p:pic>
        <p:nvPicPr>
          <p:cNvPr id="8196" name="Picture 15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295275" y="4000500"/>
            <a:ext cx="8447088" cy="2166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7" name="Text Box 16"/>
          <p:cNvSpPr txBox="1">
            <a:spLocks noChangeArrowheads="1"/>
          </p:cNvSpPr>
          <p:nvPr/>
        </p:nvSpPr>
        <p:spPr bwMode="auto">
          <a:xfrm>
            <a:off x="1268413" y="3667125"/>
            <a:ext cx="3127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198" name="Text Box 17"/>
          <p:cNvSpPr txBox="1">
            <a:spLocks noChangeArrowheads="1"/>
          </p:cNvSpPr>
          <p:nvPr/>
        </p:nvSpPr>
        <p:spPr bwMode="auto">
          <a:xfrm>
            <a:off x="922338" y="4033838"/>
            <a:ext cx="3143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8199" name="Text Box 18"/>
          <p:cNvSpPr txBox="1">
            <a:spLocks noChangeArrowheads="1"/>
          </p:cNvSpPr>
          <p:nvPr/>
        </p:nvSpPr>
        <p:spPr bwMode="auto">
          <a:xfrm>
            <a:off x="2768600" y="3649663"/>
            <a:ext cx="3127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8200" name="Text Box 19"/>
          <p:cNvSpPr txBox="1">
            <a:spLocks noChangeArrowheads="1"/>
          </p:cNvSpPr>
          <p:nvPr/>
        </p:nvSpPr>
        <p:spPr bwMode="auto">
          <a:xfrm>
            <a:off x="2987675" y="4003675"/>
            <a:ext cx="3127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8201" name="Text Box 20"/>
          <p:cNvSpPr txBox="1">
            <a:spLocks noChangeArrowheads="1"/>
          </p:cNvSpPr>
          <p:nvPr/>
        </p:nvSpPr>
        <p:spPr bwMode="auto">
          <a:xfrm>
            <a:off x="4314825" y="3644900"/>
            <a:ext cx="3127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202" name="Text Box 21"/>
          <p:cNvSpPr txBox="1">
            <a:spLocks noChangeArrowheads="1"/>
          </p:cNvSpPr>
          <p:nvPr/>
        </p:nvSpPr>
        <p:spPr bwMode="auto">
          <a:xfrm>
            <a:off x="4587875" y="4065588"/>
            <a:ext cx="3127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8203" name="Text Box 22"/>
          <p:cNvSpPr txBox="1">
            <a:spLocks noChangeArrowheads="1"/>
          </p:cNvSpPr>
          <p:nvPr/>
        </p:nvSpPr>
        <p:spPr bwMode="auto">
          <a:xfrm>
            <a:off x="5899150" y="3644900"/>
            <a:ext cx="3127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204" name="Text Box 23"/>
          <p:cNvSpPr txBox="1">
            <a:spLocks noChangeArrowheads="1"/>
          </p:cNvSpPr>
          <p:nvPr/>
        </p:nvSpPr>
        <p:spPr bwMode="auto">
          <a:xfrm>
            <a:off x="6172200" y="4065588"/>
            <a:ext cx="3127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8205" name="Text Box 24"/>
          <p:cNvSpPr txBox="1">
            <a:spLocks noChangeArrowheads="1"/>
          </p:cNvSpPr>
          <p:nvPr/>
        </p:nvSpPr>
        <p:spPr bwMode="auto">
          <a:xfrm>
            <a:off x="7491413" y="3676650"/>
            <a:ext cx="3127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8206" name="Text Box 25"/>
          <p:cNvSpPr txBox="1">
            <a:spLocks noChangeArrowheads="1"/>
          </p:cNvSpPr>
          <p:nvPr/>
        </p:nvSpPr>
        <p:spPr bwMode="auto">
          <a:xfrm>
            <a:off x="7912100" y="4003675"/>
            <a:ext cx="3127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8207" name="Text Box 26"/>
          <p:cNvSpPr txBox="1">
            <a:spLocks noChangeArrowheads="1"/>
          </p:cNvSpPr>
          <p:nvPr/>
        </p:nvSpPr>
        <p:spPr bwMode="auto">
          <a:xfrm>
            <a:off x="3159125" y="6057900"/>
            <a:ext cx="3505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sz="1800" i="0" u="none" dirty="0" smtClean="0">
                <a:solidFill>
                  <a:schemeClr val="tx1"/>
                </a:solidFill>
              </a:rPr>
              <a:t>Four-bit </a:t>
            </a:r>
            <a:r>
              <a:rPr lang="en-US" altLang="zh-TW" sz="1800" i="0" u="none" dirty="0">
                <a:solidFill>
                  <a:schemeClr val="tx1"/>
                </a:solidFill>
              </a:rPr>
              <a:t>shift register</a:t>
            </a:r>
          </a:p>
        </p:txBody>
      </p:sp>
      <p:cxnSp>
        <p:nvCxnSpPr>
          <p:cNvPr id="17" name="直線單箭頭接點 16"/>
          <p:cNvCxnSpPr>
            <a:cxnSpLocks noChangeShapeType="1"/>
            <a:stCxn id="8197" idx="3"/>
            <a:endCxn id="8200" idx="1"/>
          </p:cNvCxnSpPr>
          <p:nvPr/>
        </p:nvCxnSpPr>
        <p:spPr bwMode="auto">
          <a:xfrm>
            <a:off x="1581150" y="3867150"/>
            <a:ext cx="1406525" cy="3365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prstDash val="sysDash"/>
            <a:round/>
            <a:headEnd type="none" w="sm" len="sm"/>
            <a:tailEnd type="arrow" w="med" len="med"/>
          </a:ln>
        </p:spPr>
      </p:cxnSp>
      <p:cxnSp>
        <p:nvCxnSpPr>
          <p:cNvPr id="19" name="直線單箭頭接點 18"/>
          <p:cNvCxnSpPr>
            <a:cxnSpLocks noChangeShapeType="1"/>
            <a:stCxn id="8199" idx="3"/>
            <a:endCxn id="8202" idx="1"/>
          </p:cNvCxnSpPr>
          <p:nvPr/>
        </p:nvCxnSpPr>
        <p:spPr bwMode="auto">
          <a:xfrm>
            <a:off x="3081338" y="3849688"/>
            <a:ext cx="1506537" cy="415925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prstDash val="sysDash"/>
            <a:round/>
            <a:headEnd type="none" w="sm" len="sm"/>
            <a:tailEnd type="arrow" w="med" len="med"/>
          </a:ln>
        </p:spPr>
      </p:cxnSp>
      <p:cxnSp>
        <p:nvCxnSpPr>
          <p:cNvPr id="21" name="直線單箭頭接點 20"/>
          <p:cNvCxnSpPr>
            <a:cxnSpLocks noChangeShapeType="1"/>
            <a:stCxn id="8201" idx="3"/>
            <a:endCxn id="8204" idx="1"/>
          </p:cNvCxnSpPr>
          <p:nvPr/>
        </p:nvCxnSpPr>
        <p:spPr bwMode="auto">
          <a:xfrm>
            <a:off x="4627563" y="3844925"/>
            <a:ext cx="1544637" cy="420688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prstDash val="sysDash"/>
            <a:round/>
            <a:headEnd type="none" w="sm" len="sm"/>
            <a:tailEnd type="arrow" w="med" len="med"/>
          </a:ln>
        </p:spPr>
      </p:cxnSp>
      <p:cxnSp>
        <p:nvCxnSpPr>
          <p:cNvPr id="23" name="直線單箭頭接點 22"/>
          <p:cNvCxnSpPr>
            <a:cxnSpLocks noChangeShapeType="1"/>
            <a:stCxn id="8203" idx="3"/>
            <a:endCxn id="8206" idx="1"/>
          </p:cNvCxnSpPr>
          <p:nvPr/>
        </p:nvCxnSpPr>
        <p:spPr bwMode="auto">
          <a:xfrm>
            <a:off x="6211888" y="3844925"/>
            <a:ext cx="1700212" cy="358775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prstDash val="sysDash"/>
            <a:round/>
            <a:headEnd type="none" w="sm" len="sm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  <p:bldP spid="8198" grpId="0"/>
      <p:bldP spid="8199" grpId="0"/>
      <p:bldP spid="8200" grpId="0"/>
      <p:bldP spid="8201" grpId="0"/>
      <p:bldP spid="8202" grpId="0"/>
      <p:bldP spid="8203" grpId="0"/>
      <p:bldP spid="8204" grpId="0"/>
      <p:bldP spid="8205" grpId="0"/>
      <p:bldP spid="820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Data Transfer</a:t>
            </a:r>
            <a:endParaRPr lang="zh-TW" altLang="en-US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Serial transfer vs. Parallel transfer </a:t>
            </a:r>
          </a:p>
          <a:p>
            <a:pPr lvl="1"/>
            <a:r>
              <a:rPr lang="en-US" altLang="zh-TW" dirty="0" smtClean="0"/>
              <a:t>Serial transfer</a:t>
            </a:r>
          </a:p>
          <a:p>
            <a:pPr lvl="2"/>
            <a:r>
              <a:rPr lang="en-US" altLang="zh-TW" dirty="0" smtClean="0"/>
              <a:t>Information is transferred </a:t>
            </a:r>
            <a:r>
              <a:rPr lang="en-US" altLang="zh-TW" dirty="0" smtClean="0">
                <a:solidFill>
                  <a:srgbClr val="FF0000"/>
                </a:solidFill>
              </a:rPr>
              <a:t>one bit at a time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Shifts the bits out of the source register into the destination register.</a:t>
            </a:r>
          </a:p>
          <a:p>
            <a:pPr lvl="1"/>
            <a:r>
              <a:rPr lang="en-US" altLang="zh-TW" dirty="0" smtClean="0"/>
              <a:t>Parallel transfer</a:t>
            </a:r>
          </a:p>
          <a:p>
            <a:pPr lvl="2"/>
            <a:r>
              <a:rPr lang="en-US" altLang="zh-TW" dirty="0" smtClean="0"/>
              <a:t>All the bits of the register are transferred </a:t>
            </a:r>
            <a:r>
              <a:rPr lang="en-US" altLang="zh-TW" dirty="0" smtClean="0">
                <a:solidFill>
                  <a:srgbClr val="FF0000"/>
                </a:solidFill>
              </a:rPr>
              <a:t>at the same time</a:t>
            </a:r>
            <a:r>
              <a:rPr lang="en-US" altLang="zh-TW" dirty="0" smtClean="0"/>
              <a:t>.</a:t>
            </a:r>
          </a:p>
          <a:p>
            <a:pPr lvl="2"/>
            <a:endParaRPr lang="en-US" altLang="zh-TW" sz="1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i="1" dirty="0" smtClean="0"/>
              <a:t/>
            </a:r>
            <a:br>
              <a:rPr lang="en-US" altLang="zh-TW" i="1" dirty="0" smtClean="0"/>
            </a:br>
            <a:r>
              <a:rPr lang="zh-TW" altLang="en-US" dirty="0" smtClean="0"/>
              <a:t/>
            </a:r>
            <a:br>
              <a:rPr lang="zh-TW" altLang="en-US" dirty="0" smtClean="0"/>
            </a:br>
            <a:r>
              <a:rPr lang="en-US" altLang="zh-TW" sz="3300" dirty="0" smtClean="0"/>
              <a:t>Serial transfer from </a:t>
            </a:r>
            <a:r>
              <a:rPr lang="en-US" altLang="zh-TW" sz="3300" dirty="0" err="1" smtClean="0"/>
              <a:t>reg</a:t>
            </a:r>
            <a:r>
              <a:rPr lang="en-US" altLang="zh-TW" sz="3300" dirty="0" smtClean="0"/>
              <a:t> </a:t>
            </a:r>
            <a:r>
              <a:rPr lang="en-US" altLang="zh-TW" sz="3300" i="1" dirty="0" smtClean="0"/>
              <a:t>A</a:t>
            </a:r>
            <a:r>
              <a:rPr lang="en-US" altLang="zh-TW" sz="3300" dirty="0" smtClean="0"/>
              <a:t> to </a:t>
            </a:r>
            <a:r>
              <a:rPr lang="en-US" altLang="zh-TW" sz="3300" dirty="0" err="1" smtClean="0"/>
              <a:t>reg</a:t>
            </a:r>
            <a:r>
              <a:rPr lang="en-US" altLang="zh-TW" sz="3300" dirty="0" smtClean="0"/>
              <a:t> </a:t>
            </a:r>
            <a:r>
              <a:rPr lang="en-US" altLang="zh-TW" sz="3300" i="1" dirty="0" smtClean="0"/>
              <a:t>B</a:t>
            </a:r>
            <a:endParaRPr lang="zh-TW" altLang="en-US" sz="3300" dirty="0" smtClean="0"/>
          </a:p>
        </p:txBody>
      </p:sp>
      <p:sp>
        <p:nvSpPr>
          <p:cNvPr id="1024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 smtClean="0"/>
          </a:p>
        </p:txBody>
      </p:sp>
      <p:pic>
        <p:nvPicPr>
          <p:cNvPr id="10244" name="Picture 6"/>
          <p:cNvPicPr>
            <a:picLocks noChangeAspect="1" noChangeArrowheads="1"/>
          </p:cNvPicPr>
          <p:nvPr/>
        </p:nvPicPr>
        <p:blipFill>
          <a:blip r:embed="rId2" cstate="print">
            <a:lum bright="-18000" contrast="30000"/>
          </a:blip>
          <a:srcRect/>
          <a:stretch>
            <a:fillRect/>
          </a:stretch>
        </p:blipFill>
        <p:spPr bwMode="auto">
          <a:xfrm>
            <a:off x="1443038" y="1597025"/>
            <a:ext cx="6026150" cy="228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5" name="Picture 7"/>
          <p:cNvPicPr>
            <a:picLocks noChangeAspect="1" noChangeArrowheads="1"/>
          </p:cNvPicPr>
          <p:nvPr/>
        </p:nvPicPr>
        <p:blipFill>
          <a:blip r:embed="rId3" cstate="print">
            <a:lum bright="-18000" contrast="30000"/>
          </a:blip>
          <a:srcRect/>
          <a:stretch>
            <a:fillRect/>
          </a:stretch>
        </p:blipFill>
        <p:spPr bwMode="auto">
          <a:xfrm>
            <a:off x="1516063" y="3949700"/>
            <a:ext cx="5797550" cy="225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6" name="Text Box 8"/>
          <p:cNvSpPr txBox="1">
            <a:spLocks noChangeArrowheads="1"/>
          </p:cNvSpPr>
          <p:nvPr/>
        </p:nvSpPr>
        <p:spPr bwMode="auto">
          <a:xfrm>
            <a:off x="1339850" y="6189663"/>
            <a:ext cx="61277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1800" i="0" u="none" dirty="0">
                <a:solidFill>
                  <a:schemeClr val="tx1"/>
                </a:solidFill>
              </a:rPr>
              <a:t>Fig. 6.4 Serial transfer from register </a:t>
            </a:r>
            <a:r>
              <a:rPr lang="en-US" altLang="zh-TW" sz="1800" u="none" dirty="0">
                <a:solidFill>
                  <a:schemeClr val="tx1"/>
                </a:solidFill>
              </a:rPr>
              <a:t>A</a:t>
            </a:r>
            <a:r>
              <a:rPr lang="en-US" altLang="zh-TW" sz="1800" i="0" u="none" dirty="0">
                <a:solidFill>
                  <a:schemeClr val="tx1"/>
                </a:solidFill>
              </a:rPr>
              <a:t> to register </a:t>
            </a:r>
            <a:r>
              <a:rPr lang="en-US" altLang="zh-TW" sz="1800" u="none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0247" name="橢圓 6"/>
          <p:cNvSpPr>
            <a:spLocks noChangeArrowheads="1"/>
          </p:cNvSpPr>
          <p:nvPr/>
        </p:nvSpPr>
        <p:spPr bwMode="auto">
          <a:xfrm>
            <a:off x="3590925" y="3773488"/>
            <a:ext cx="282575" cy="1357312"/>
          </a:xfrm>
          <a:prstGeom prst="ellipse">
            <a:avLst/>
          </a:prstGeom>
          <a:noFill/>
          <a:ln w="22225" algn="ctr">
            <a:solidFill>
              <a:srgbClr val="FF0000"/>
            </a:solidFill>
            <a:prstDash val="sysDash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文字方塊 8"/>
          <p:cNvSpPr txBox="1">
            <a:spLocks noChangeArrowheads="1"/>
          </p:cNvSpPr>
          <p:nvPr/>
        </p:nvSpPr>
        <p:spPr bwMode="auto">
          <a:xfrm>
            <a:off x="2049463" y="4319588"/>
            <a:ext cx="15224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2000" i="0" u="none">
                <a:solidFill>
                  <a:srgbClr val="FF0000"/>
                </a:solidFill>
              </a:rPr>
              <a:t>Synchronous</a:t>
            </a:r>
            <a:endParaRPr lang="zh-TW" altLang="en-US" sz="2000" i="0" u="none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 smtClean="0"/>
              <a:t>Serial transfer from </a:t>
            </a:r>
            <a:r>
              <a:rPr lang="en-US" altLang="zh-TW" sz="3200" dirty="0" err="1" smtClean="0"/>
              <a:t>reg</a:t>
            </a:r>
            <a:r>
              <a:rPr lang="en-US" altLang="zh-TW" sz="3200" dirty="0" smtClean="0"/>
              <a:t> </a:t>
            </a:r>
            <a:r>
              <a:rPr lang="en-US" altLang="zh-TW" sz="3200" i="1" dirty="0" smtClean="0"/>
              <a:t>A</a:t>
            </a:r>
            <a:r>
              <a:rPr lang="en-US" altLang="zh-TW" sz="3200" dirty="0" smtClean="0"/>
              <a:t> to </a:t>
            </a:r>
            <a:r>
              <a:rPr lang="en-US" altLang="zh-TW" sz="3200" dirty="0" err="1" smtClean="0"/>
              <a:t>reg</a:t>
            </a:r>
            <a:r>
              <a:rPr lang="en-US" altLang="zh-TW" sz="3200" dirty="0" smtClean="0"/>
              <a:t> </a:t>
            </a:r>
            <a:r>
              <a:rPr lang="en-US" altLang="zh-TW" sz="3200" i="1" dirty="0" smtClean="0"/>
              <a:t>B</a:t>
            </a:r>
            <a:endParaRPr lang="zh-TW" altLang="en-US" dirty="0" smtClean="0"/>
          </a:p>
        </p:txBody>
      </p:sp>
      <p:sp>
        <p:nvSpPr>
          <p:cNvPr id="1126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 smtClean="0"/>
          </a:p>
        </p:txBody>
      </p:sp>
      <p:pic>
        <p:nvPicPr>
          <p:cNvPr id="11268" name="Picture 6"/>
          <p:cNvPicPr>
            <a:picLocks noChangeAspect="1" noChangeArrowheads="1"/>
          </p:cNvPicPr>
          <p:nvPr/>
        </p:nvPicPr>
        <p:blipFill>
          <a:blip r:embed="rId2" cstate="print">
            <a:lum bright="-6000" contrast="30000"/>
          </a:blip>
          <a:srcRect/>
          <a:stretch>
            <a:fillRect/>
          </a:stretch>
        </p:blipFill>
        <p:spPr bwMode="auto">
          <a:xfrm>
            <a:off x="1452563" y="3956050"/>
            <a:ext cx="6365875" cy="261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0" name="矩形 5"/>
          <p:cNvSpPr>
            <a:spLocks noChangeArrowheads="1"/>
          </p:cNvSpPr>
          <p:nvPr/>
        </p:nvSpPr>
        <p:spPr bwMode="auto">
          <a:xfrm>
            <a:off x="3617913" y="5083175"/>
            <a:ext cx="1504950" cy="268288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71" name="矩形 6"/>
          <p:cNvSpPr>
            <a:spLocks noChangeArrowheads="1"/>
          </p:cNvSpPr>
          <p:nvPr/>
        </p:nvSpPr>
        <p:spPr bwMode="auto">
          <a:xfrm>
            <a:off x="5921375" y="6149975"/>
            <a:ext cx="1506538" cy="268288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72" name="矩形 7"/>
          <p:cNvSpPr>
            <a:spLocks noChangeArrowheads="1"/>
          </p:cNvSpPr>
          <p:nvPr/>
        </p:nvSpPr>
        <p:spPr bwMode="auto">
          <a:xfrm>
            <a:off x="3613150" y="6140450"/>
            <a:ext cx="1504950" cy="269875"/>
          </a:xfrm>
          <a:prstGeom prst="rect">
            <a:avLst/>
          </a:prstGeom>
          <a:noFill/>
          <a:ln w="254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cxnSp>
        <p:nvCxnSpPr>
          <p:cNvPr id="11273" name="直線單箭頭接點 9"/>
          <p:cNvCxnSpPr>
            <a:cxnSpLocks noChangeShapeType="1"/>
            <a:stCxn id="11270" idx="3"/>
            <a:endCxn id="11271" idx="1"/>
          </p:cNvCxnSpPr>
          <p:nvPr/>
        </p:nvCxnSpPr>
        <p:spPr bwMode="auto">
          <a:xfrm>
            <a:off x="5122863" y="5218113"/>
            <a:ext cx="798512" cy="106680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prstDash val="sysDash"/>
            <a:round/>
            <a:headEnd type="none" w="sm" len="sm"/>
            <a:tailEnd type="arrow" w="med" len="med"/>
          </a:ln>
        </p:spPr>
      </p:cxnSp>
      <p:sp>
        <p:nvSpPr>
          <p:cNvPr id="11274" name="文字方塊 10"/>
          <p:cNvSpPr txBox="1">
            <a:spLocks noChangeArrowheads="1"/>
          </p:cNvSpPr>
          <p:nvPr/>
        </p:nvSpPr>
        <p:spPr bwMode="auto">
          <a:xfrm>
            <a:off x="5311774" y="5110163"/>
            <a:ext cx="124142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TW" i="0" u="none" dirty="0">
                <a:solidFill>
                  <a:srgbClr val="FF0000"/>
                </a:solidFill>
              </a:rPr>
              <a:t>serial-transfer</a:t>
            </a:r>
            <a:endParaRPr lang="zh-TW" altLang="en-US" i="0" u="none" dirty="0">
              <a:solidFill>
                <a:srgbClr val="FF0000"/>
              </a:solidFill>
            </a:endParaRPr>
          </a:p>
        </p:txBody>
      </p:sp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3" cstate="print">
            <a:lum bright="-18000" contrast="30000"/>
          </a:blip>
          <a:srcRect/>
          <a:stretch>
            <a:fillRect/>
          </a:stretch>
        </p:blipFill>
        <p:spPr bwMode="auto">
          <a:xfrm>
            <a:off x="1443038" y="1597025"/>
            <a:ext cx="6026150" cy="228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Serial Addition</a:t>
            </a:r>
            <a:endParaRPr lang="zh-TW" altLang="en-US" dirty="0" smtClean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3257550" y="4095750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AU" dirty="0" smtClean="0"/>
              <a:t>Parallel adders</a:t>
            </a:r>
          </a:p>
          <a:p>
            <a:pPr lvl="1"/>
            <a:r>
              <a:rPr lang="en-AU" dirty="0" smtClean="0"/>
              <a:t>Faster,</a:t>
            </a:r>
          </a:p>
          <a:p>
            <a:pPr lvl="1"/>
            <a:r>
              <a:rPr lang="en-AU" dirty="0" smtClean="0"/>
              <a:t>cost more logic</a:t>
            </a:r>
          </a:p>
          <a:p>
            <a:r>
              <a:rPr lang="en-AU" dirty="0" smtClean="0"/>
              <a:t>Serial adders</a:t>
            </a:r>
          </a:p>
          <a:p>
            <a:pPr lvl="1"/>
            <a:r>
              <a:rPr lang="en-AU" dirty="0" smtClean="0"/>
              <a:t>Slower</a:t>
            </a:r>
          </a:p>
          <a:p>
            <a:pPr lvl="1"/>
            <a:r>
              <a:rPr lang="en-AU" i="1" dirty="0" smtClean="0"/>
              <a:t>n</a:t>
            </a:r>
            <a:r>
              <a:rPr lang="en-AU" dirty="0" smtClean="0"/>
              <a:t>-bit addition          n clock cycles</a:t>
            </a:r>
          </a:p>
          <a:p>
            <a:pPr lvl="1"/>
            <a:r>
              <a:rPr lang="en-AU" dirty="0" smtClean="0"/>
              <a:t>Less hardware</a:t>
            </a:r>
            <a:endParaRPr lang="zh-TW" altLang="en-US" dirty="0" smtClean="0"/>
          </a:p>
          <a:p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Serial Addition using </a:t>
            </a:r>
            <a:r>
              <a:rPr lang="en-US" altLang="zh-TW" i="1" smtClean="0"/>
              <a:t>D</a:t>
            </a:r>
            <a:r>
              <a:rPr lang="en-US" altLang="zh-TW" smtClean="0"/>
              <a:t> Flip-Flops</a:t>
            </a:r>
            <a:endParaRPr lang="zh-TW" altLang="en-US" smtClean="0"/>
          </a:p>
        </p:txBody>
      </p:sp>
      <p:pic>
        <p:nvPicPr>
          <p:cNvPr id="12291" name="Picture 20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1262063" y="1327150"/>
            <a:ext cx="6083300" cy="504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163888" y="2335213"/>
            <a:ext cx="6461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b="1" i="0" u="none">
                <a:solidFill>
                  <a:srgbClr val="0000FF"/>
                </a:solidFill>
              </a:rPr>
              <a:t>0101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163888" y="3738563"/>
            <a:ext cx="6381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b="1" i="0" u="none">
                <a:solidFill>
                  <a:srgbClr val="0000FF"/>
                </a:solidFill>
              </a:rPr>
              <a:t>0011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4217988" y="2057400"/>
            <a:ext cx="3095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b="1" i="0" u="none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4217988" y="3400425"/>
            <a:ext cx="3095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b="1" i="0" u="none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5467350" y="3343275"/>
            <a:ext cx="3095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b="1" i="0" u="none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7305675" y="2141538"/>
            <a:ext cx="3095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b="1" i="0" u="none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7305675" y="3022600"/>
            <a:ext cx="3095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b="1" i="0" u="none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3163888" y="2578100"/>
            <a:ext cx="64611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b="1" i="0" u="none">
                <a:solidFill>
                  <a:srgbClr val="0000FF"/>
                </a:solidFill>
              </a:rPr>
              <a:t>0</a:t>
            </a:r>
            <a:r>
              <a:rPr lang="zh-TW" altLang="en-US" sz="1800" b="1" i="0" u="none">
                <a:solidFill>
                  <a:srgbClr val="0000FF"/>
                </a:solidFill>
              </a:rPr>
              <a:t>010</a:t>
            </a:r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3163888" y="4057650"/>
            <a:ext cx="6992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AU" altLang="zh-TW" b="1" dirty="0" smtClean="0">
                <a:solidFill>
                  <a:srgbClr val="0000FF"/>
                </a:solidFill>
              </a:rPr>
              <a:t>?</a:t>
            </a:r>
            <a:r>
              <a:rPr lang="zh-TW" altLang="en-US" sz="1800" b="1" i="0" u="none" dirty="0" smtClean="0">
                <a:solidFill>
                  <a:srgbClr val="0000FF"/>
                </a:solidFill>
              </a:rPr>
              <a:t>001</a:t>
            </a:r>
            <a:endParaRPr lang="zh-TW" altLang="en-US" sz="1800" b="1" i="0" u="none" dirty="0">
              <a:solidFill>
                <a:srgbClr val="0000FF"/>
              </a:solidFill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5619750" y="3495675"/>
            <a:ext cx="3095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b="1" i="0" u="none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7529513" y="2293938"/>
            <a:ext cx="30956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b="1" i="0" u="none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7534275" y="3265488"/>
            <a:ext cx="30956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b="1" i="0" u="none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4370388" y="2209800"/>
            <a:ext cx="3095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b="1" i="0" u="none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4370388" y="3552825"/>
            <a:ext cx="30956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 sz="1800" b="1" i="0" u="none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12306" name="Text Box 21"/>
          <p:cNvSpPr txBox="1">
            <a:spLocks noChangeArrowheads="1"/>
          </p:cNvSpPr>
          <p:nvPr/>
        </p:nvSpPr>
        <p:spPr bwMode="auto">
          <a:xfrm>
            <a:off x="3113088" y="6434138"/>
            <a:ext cx="340836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sz="1800" i="0" u="none" dirty="0">
                <a:solidFill>
                  <a:schemeClr val="tx1"/>
                </a:solidFill>
              </a:rPr>
              <a:t>Fig. 6.5 Serial </a:t>
            </a:r>
            <a:r>
              <a:rPr lang="en-US" altLang="zh-TW" sz="1800" i="0" u="none" dirty="0" smtClean="0">
                <a:solidFill>
                  <a:schemeClr val="tx1"/>
                </a:solidFill>
              </a:rPr>
              <a:t>adder</a:t>
            </a:r>
            <a:endParaRPr lang="en-US" altLang="zh-TW" sz="1800" i="0" u="none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  <p:bldP spid="14" grpId="0" autoUpdateAnimBg="0"/>
      <p:bldP spid="15" grpId="0" autoUpdateAnimBg="0"/>
      <p:bldP spid="16" grpId="0" autoUpdateAnimBg="0"/>
      <p:bldP spid="17" grpId="0" autoUpdateAnimBg="0"/>
      <p:bldP spid="1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Serial Adder using </a:t>
            </a:r>
            <a:r>
              <a:rPr lang="en-US" altLang="zh-TW" i="1" smtClean="0"/>
              <a:t>JK</a:t>
            </a:r>
            <a:r>
              <a:rPr lang="en-US" altLang="zh-TW" smtClean="0"/>
              <a:t> FFs (1/2)</a:t>
            </a:r>
            <a:endParaRPr lang="zh-TW" altLang="en-US" smtClean="0"/>
          </a:p>
        </p:txBody>
      </p:sp>
      <p:sp>
        <p:nvSpPr>
          <p:cNvPr id="1331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Serial adder using </a:t>
            </a:r>
            <a:r>
              <a:rPr lang="en-US" altLang="zh-TW" i="1" dirty="0" smtClean="0"/>
              <a:t>JK</a:t>
            </a:r>
            <a:r>
              <a:rPr lang="en-US" altLang="zh-TW" dirty="0" smtClean="0"/>
              <a:t> flip-flops</a:t>
            </a:r>
          </a:p>
          <a:p>
            <a:endParaRPr lang="zh-TW" altLang="en-US" dirty="0" smtClean="0"/>
          </a:p>
        </p:txBody>
      </p:sp>
      <p:pic>
        <p:nvPicPr>
          <p:cNvPr id="13316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30000"/>
          </a:blip>
          <a:srcRect/>
          <a:stretch>
            <a:fillRect/>
          </a:stretch>
        </p:blipFill>
        <p:spPr bwMode="auto">
          <a:xfrm>
            <a:off x="493713" y="2460625"/>
            <a:ext cx="8151812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3" cstate="print">
            <a:lum bright="-6000" contrast="24000"/>
          </a:blip>
          <a:srcRect/>
          <a:stretch>
            <a:fillRect/>
          </a:stretch>
        </p:blipFill>
        <p:spPr bwMode="auto">
          <a:xfrm>
            <a:off x="4995863" y="1344613"/>
            <a:ext cx="3614737" cy="139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Serial Adder using </a:t>
            </a:r>
            <a:r>
              <a:rPr lang="en-US" altLang="zh-TW" i="1" smtClean="0"/>
              <a:t>JK</a:t>
            </a:r>
            <a:r>
              <a:rPr lang="en-US" altLang="zh-TW" smtClean="0"/>
              <a:t> FFs (2/2)</a:t>
            </a:r>
            <a:endParaRPr lang="zh-TW" altLang="en-US" smtClean="0"/>
          </a:p>
        </p:txBody>
      </p:sp>
      <p:sp>
        <p:nvSpPr>
          <p:cNvPr id="1433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Circuit diagram</a:t>
            </a:r>
          </a:p>
          <a:p>
            <a:pPr lvl="1"/>
            <a:r>
              <a:rPr lang="en-US" altLang="zh-TW" i="1" dirty="0" smtClean="0"/>
              <a:t>J</a:t>
            </a:r>
            <a:r>
              <a:rPr lang="en-US" altLang="zh-TW" i="1" baseline="-25000" dirty="0" smtClean="0"/>
              <a:t>Q</a:t>
            </a:r>
            <a:r>
              <a:rPr lang="en-US" altLang="zh-TW" dirty="0" smtClean="0"/>
              <a:t> = </a:t>
            </a:r>
            <a:r>
              <a:rPr lang="en-US" altLang="zh-TW" i="1" dirty="0" err="1" smtClean="0"/>
              <a:t>xy</a:t>
            </a:r>
            <a:r>
              <a:rPr lang="en-US" altLang="zh-TW" i="1" dirty="0" smtClean="0"/>
              <a:t>	 K</a:t>
            </a:r>
            <a:r>
              <a:rPr lang="en-US" altLang="zh-TW" i="1" baseline="-25000" dirty="0" smtClean="0"/>
              <a:t>Q</a:t>
            </a:r>
            <a:r>
              <a:rPr lang="en-US" altLang="zh-TW" i="1" dirty="0" smtClean="0"/>
              <a:t>  </a:t>
            </a:r>
            <a:r>
              <a:rPr lang="en-US" altLang="zh-TW" dirty="0" smtClean="0"/>
              <a:t>= </a:t>
            </a:r>
            <a:r>
              <a:rPr lang="en-US" altLang="zh-TW" i="1" dirty="0" err="1" smtClean="0"/>
              <a:t>x</a:t>
            </a:r>
            <a:r>
              <a:rPr lang="en-US" altLang="zh-TW" dirty="0" err="1" smtClean="0">
                <a:sym typeface="Symbol" pitchFamily="18" charset="2"/>
              </a:rPr>
              <a:t></a:t>
            </a:r>
            <a:r>
              <a:rPr lang="en-US" altLang="zh-TW" i="1" dirty="0" err="1" smtClean="0">
                <a:sym typeface="Symbol" pitchFamily="18" charset="2"/>
              </a:rPr>
              <a:t>y</a:t>
            </a:r>
            <a:r>
              <a:rPr lang="en-US" altLang="zh-TW" dirty="0" smtClean="0">
                <a:sym typeface="Symbol" pitchFamily="18" charset="2"/>
              </a:rPr>
              <a:t> </a:t>
            </a:r>
            <a:r>
              <a:rPr lang="en-US" altLang="zh-TW" i="1" dirty="0" smtClean="0">
                <a:sym typeface="Symbol" pitchFamily="18" charset="2"/>
              </a:rPr>
              <a:t>=</a:t>
            </a:r>
            <a:r>
              <a:rPr lang="en-US" altLang="zh-TW" dirty="0" smtClean="0">
                <a:sym typeface="Symbol" pitchFamily="18" charset="2"/>
              </a:rPr>
              <a:t> (</a:t>
            </a:r>
            <a:r>
              <a:rPr lang="en-US" altLang="zh-TW" i="1" dirty="0" err="1" smtClean="0">
                <a:sym typeface="Symbol" pitchFamily="18" charset="2"/>
              </a:rPr>
              <a:t>x+y</a:t>
            </a:r>
            <a:r>
              <a:rPr lang="en-US" altLang="zh-TW" dirty="0" smtClean="0">
                <a:sym typeface="Symbol" pitchFamily="18" charset="2"/>
              </a:rPr>
              <a:t>)</a:t>
            </a:r>
          </a:p>
          <a:p>
            <a:pPr lvl="1"/>
            <a:r>
              <a:rPr lang="en-US" altLang="zh-TW" i="1" dirty="0" smtClean="0">
                <a:sym typeface="Symbol" pitchFamily="18" charset="2"/>
              </a:rPr>
              <a:t>S </a:t>
            </a:r>
            <a:r>
              <a:rPr lang="en-US" altLang="zh-TW" dirty="0" smtClean="0">
                <a:sym typeface="Symbol" pitchFamily="18" charset="2"/>
              </a:rPr>
              <a:t>= </a:t>
            </a:r>
            <a:r>
              <a:rPr lang="en-US" altLang="zh-TW" i="1" dirty="0" smtClean="0">
                <a:sym typeface="Symbol" pitchFamily="18" charset="2"/>
              </a:rPr>
              <a:t>x </a:t>
            </a:r>
            <a:r>
              <a:rPr lang="en-US" altLang="zh-TW" dirty="0" smtClean="0">
                <a:sym typeface="Symbol" pitchFamily="18" charset="2"/>
              </a:rPr>
              <a:t> </a:t>
            </a:r>
            <a:r>
              <a:rPr lang="en-US" altLang="zh-TW" i="1" dirty="0" smtClean="0">
                <a:sym typeface="Symbol" pitchFamily="18" charset="2"/>
              </a:rPr>
              <a:t>y </a:t>
            </a:r>
            <a:r>
              <a:rPr lang="en-US" altLang="zh-TW" dirty="0" smtClean="0">
                <a:sym typeface="Symbol" pitchFamily="18" charset="2"/>
              </a:rPr>
              <a:t> </a:t>
            </a:r>
            <a:r>
              <a:rPr lang="en-US" altLang="zh-TW" i="1" dirty="0" smtClean="0">
                <a:sym typeface="Symbol" pitchFamily="18" charset="2"/>
              </a:rPr>
              <a:t>Q</a:t>
            </a:r>
            <a:endParaRPr lang="en-US" altLang="zh-TW" baseline="-25000" dirty="0" smtClean="0"/>
          </a:p>
          <a:p>
            <a:endParaRPr lang="zh-TW" altLang="en-US" dirty="0" smtClean="0"/>
          </a:p>
        </p:txBody>
      </p:sp>
      <p:pic>
        <p:nvPicPr>
          <p:cNvPr id="14340" name="Picture 6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981075" y="2936875"/>
            <a:ext cx="6946900" cy="346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41" name="Text Box 7"/>
          <p:cNvSpPr txBox="1">
            <a:spLocks noChangeArrowheads="1"/>
          </p:cNvSpPr>
          <p:nvPr/>
        </p:nvSpPr>
        <p:spPr bwMode="auto">
          <a:xfrm>
            <a:off x="6932613" y="4506913"/>
            <a:ext cx="3810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u="none">
                <a:solidFill>
                  <a:srgbClr val="FF0000"/>
                </a:solidFill>
              </a:rPr>
              <a:t>C</a:t>
            </a:r>
            <a:r>
              <a:rPr lang="en-US" altLang="zh-TW" sz="1800" u="none" baseline="-25000">
                <a:solidFill>
                  <a:srgbClr val="FF0000"/>
                </a:solidFill>
              </a:rPr>
              <a:t>i</a:t>
            </a:r>
          </a:p>
        </p:txBody>
      </p:sp>
      <p:sp>
        <p:nvSpPr>
          <p:cNvPr id="14342" name="Text Box 8"/>
          <p:cNvSpPr txBox="1">
            <a:spLocks noChangeArrowheads="1"/>
          </p:cNvSpPr>
          <p:nvPr/>
        </p:nvSpPr>
        <p:spPr bwMode="auto">
          <a:xfrm>
            <a:off x="2624138" y="6448425"/>
            <a:ext cx="40052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sz="1800" i="0" u="none">
                <a:solidFill>
                  <a:schemeClr val="tx1"/>
                </a:solidFill>
              </a:rPr>
              <a:t>Fig. 6.6 Second form of serial adder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Universal Shift Register</a:t>
            </a:r>
            <a:endParaRPr lang="zh-TW" altLang="en-US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Three types of shift register</a:t>
            </a:r>
          </a:p>
          <a:p>
            <a:pPr lvl="1"/>
            <a:r>
              <a:rPr lang="en-US" altLang="zh-TW" dirty="0" smtClean="0"/>
              <a:t>Unidirectional shift register</a:t>
            </a:r>
          </a:p>
          <a:p>
            <a:pPr lvl="2"/>
            <a:r>
              <a:rPr lang="en-US" altLang="zh-TW" dirty="0" smtClean="0"/>
              <a:t>A register capable of shifting in one direction.</a:t>
            </a:r>
          </a:p>
          <a:p>
            <a:pPr lvl="1"/>
            <a:r>
              <a:rPr lang="en-US" altLang="zh-TW" dirty="0" smtClean="0"/>
              <a:t>Bidirectional shift register</a:t>
            </a:r>
            <a:r>
              <a:rPr lang="zh-TW" altLang="en-US" dirty="0" smtClean="0"/>
              <a:t>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A register can shift in both directions.</a:t>
            </a:r>
          </a:p>
          <a:p>
            <a:pPr lvl="1"/>
            <a:r>
              <a:rPr lang="en-US" altLang="zh-TW" dirty="0" smtClean="0"/>
              <a:t>Universal shift register</a:t>
            </a:r>
          </a:p>
          <a:p>
            <a:pPr lvl="2"/>
            <a:r>
              <a:rPr lang="en-US" altLang="zh-TW" dirty="0" smtClean="0"/>
              <a:t>Has both direction shifts &amp; parallel load/out capabilities.</a:t>
            </a:r>
          </a:p>
          <a:p>
            <a:pPr lvl="1"/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Universal Shift Register (1/4)</a:t>
            </a:r>
            <a:endParaRPr lang="zh-TW" altLang="en-US" smtClean="0"/>
          </a:p>
        </p:txBody>
      </p:sp>
      <p:sp>
        <p:nvSpPr>
          <p:cNvPr id="16387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000" dirty="0" smtClean="0"/>
              <a:t>Capability of a universal shift register:</a:t>
            </a:r>
          </a:p>
          <a:p>
            <a:pPr lvl="1">
              <a:buClrTx/>
              <a:buSzTx/>
              <a:buFontTx/>
              <a:buAutoNum type="arabicPeriod"/>
            </a:pPr>
            <a:r>
              <a:rPr lang="en-US" altLang="zh-TW" sz="2000" dirty="0" smtClean="0"/>
              <a:t>A </a:t>
            </a:r>
            <a:r>
              <a:rPr lang="en-US" altLang="zh-TW" sz="2000" dirty="0" smtClean="0">
                <a:solidFill>
                  <a:srgbClr val="1B1BFF"/>
                </a:solidFill>
              </a:rPr>
              <a:t>clear</a:t>
            </a:r>
            <a:r>
              <a:rPr lang="en-US" altLang="zh-TW" sz="2000" dirty="0" smtClean="0"/>
              <a:t> control to clear the register to 0;</a:t>
            </a:r>
          </a:p>
          <a:p>
            <a:pPr lvl="1">
              <a:buClrTx/>
              <a:buSzTx/>
              <a:buFontTx/>
              <a:buAutoNum type="arabicPeriod"/>
            </a:pPr>
            <a:r>
              <a:rPr lang="en-US" altLang="zh-TW" sz="2000" dirty="0" smtClean="0"/>
              <a:t>A </a:t>
            </a:r>
            <a:r>
              <a:rPr lang="en-US" altLang="zh-TW" sz="2000" dirty="0" smtClean="0">
                <a:solidFill>
                  <a:srgbClr val="1B1BFF"/>
                </a:solidFill>
              </a:rPr>
              <a:t>clock</a:t>
            </a:r>
            <a:r>
              <a:rPr lang="en-US" altLang="zh-TW" sz="2000" dirty="0" smtClean="0"/>
              <a:t> input to synchronize the operations;</a:t>
            </a:r>
          </a:p>
          <a:p>
            <a:pPr lvl="1">
              <a:buClrTx/>
              <a:buSzTx/>
              <a:buFontTx/>
              <a:buAutoNum type="arabicPeriod"/>
            </a:pPr>
            <a:r>
              <a:rPr lang="en-US" altLang="zh-TW" sz="2000" dirty="0" smtClean="0"/>
              <a:t>A </a:t>
            </a:r>
            <a:r>
              <a:rPr lang="en-US" altLang="zh-TW" sz="2000" dirty="0" smtClean="0">
                <a:solidFill>
                  <a:srgbClr val="1B1BFF"/>
                </a:solidFill>
              </a:rPr>
              <a:t>shift-right</a:t>
            </a:r>
            <a:r>
              <a:rPr lang="en-US" altLang="zh-TW" sz="2000" dirty="0" smtClean="0"/>
              <a:t> control to enable the shift right operation and the </a:t>
            </a:r>
            <a:r>
              <a:rPr lang="en-US" altLang="zh-TW" sz="2000" dirty="0" smtClean="0">
                <a:solidFill>
                  <a:srgbClr val="1B1BFF"/>
                </a:solidFill>
              </a:rPr>
              <a:t>serial input </a:t>
            </a:r>
            <a:r>
              <a:rPr lang="en-US" altLang="zh-TW" sz="2000" dirty="0" smtClean="0"/>
              <a:t>and </a:t>
            </a:r>
            <a:r>
              <a:rPr lang="en-US" altLang="zh-TW" sz="2000" dirty="0" smtClean="0">
                <a:solidFill>
                  <a:srgbClr val="1B1BFF"/>
                </a:solidFill>
              </a:rPr>
              <a:t>output </a:t>
            </a:r>
            <a:r>
              <a:rPr lang="en-US" altLang="zh-TW" sz="2000" dirty="0" smtClean="0"/>
              <a:t>lines associated w/ the shift right;</a:t>
            </a:r>
          </a:p>
          <a:p>
            <a:pPr lvl="1">
              <a:buClrTx/>
              <a:buSzTx/>
              <a:buFontTx/>
              <a:buAutoNum type="arabicPeriod"/>
            </a:pPr>
            <a:r>
              <a:rPr lang="en-US" altLang="zh-TW" sz="2000" dirty="0" smtClean="0"/>
              <a:t>A </a:t>
            </a:r>
            <a:r>
              <a:rPr lang="en-US" altLang="zh-TW" sz="2000" dirty="0" smtClean="0">
                <a:solidFill>
                  <a:srgbClr val="1B1BFF"/>
                </a:solidFill>
              </a:rPr>
              <a:t>shift-left</a:t>
            </a:r>
            <a:r>
              <a:rPr lang="en-US" altLang="zh-TW" sz="2000" dirty="0" smtClean="0"/>
              <a:t> control to enable the shift left operation and the </a:t>
            </a:r>
            <a:r>
              <a:rPr lang="en-US" altLang="zh-TW" sz="2000" dirty="0" smtClean="0">
                <a:solidFill>
                  <a:srgbClr val="1B1BFF"/>
                </a:solidFill>
              </a:rPr>
              <a:t>serial input </a:t>
            </a:r>
            <a:r>
              <a:rPr lang="en-US" altLang="zh-TW" sz="2000" dirty="0" smtClean="0"/>
              <a:t>and </a:t>
            </a:r>
            <a:r>
              <a:rPr lang="en-US" altLang="zh-TW" sz="2000" dirty="0" smtClean="0">
                <a:solidFill>
                  <a:srgbClr val="1B1BFF"/>
                </a:solidFill>
              </a:rPr>
              <a:t>output</a:t>
            </a:r>
            <a:r>
              <a:rPr lang="en-US" altLang="zh-TW" sz="2000" dirty="0" smtClean="0"/>
              <a:t> lines associated w/ the shift left;</a:t>
            </a:r>
          </a:p>
          <a:p>
            <a:pPr lvl="1">
              <a:buClrTx/>
              <a:buSzTx/>
              <a:buFontTx/>
              <a:buAutoNum type="arabicPeriod"/>
            </a:pPr>
            <a:r>
              <a:rPr lang="en-US" altLang="zh-TW" sz="2000" dirty="0" smtClean="0"/>
              <a:t>A </a:t>
            </a:r>
            <a:r>
              <a:rPr lang="en-US" altLang="zh-TW" sz="2000" dirty="0" smtClean="0">
                <a:solidFill>
                  <a:srgbClr val="1B1BFF"/>
                </a:solidFill>
              </a:rPr>
              <a:t>parallel-load</a:t>
            </a:r>
            <a:r>
              <a:rPr lang="en-US" altLang="zh-TW" sz="2000" dirty="0" smtClean="0"/>
              <a:t> control to enable a parallel transfer and the </a:t>
            </a:r>
            <a:r>
              <a:rPr lang="en-US" altLang="zh-TW" sz="2000" i="1" dirty="0" smtClean="0"/>
              <a:t>n</a:t>
            </a:r>
            <a:r>
              <a:rPr lang="en-US" altLang="zh-TW" sz="2000" dirty="0" smtClean="0"/>
              <a:t> </a:t>
            </a:r>
            <a:r>
              <a:rPr lang="en-US" altLang="zh-TW" sz="2000" dirty="0" smtClean="0">
                <a:solidFill>
                  <a:srgbClr val="1B1BFF"/>
                </a:solidFill>
              </a:rPr>
              <a:t>parallel input </a:t>
            </a:r>
            <a:r>
              <a:rPr lang="en-US" altLang="zh-TW" sz="2000" dirty="0" smtClean="0"/>
              <a:t>lines associated w/ the parallel transfer;</a:t>
            </a:r>
          </a:p>
          <a:p>
            <a:pPr lvl="1">
              <a:buClrTx/>
              <a:buSzTx/>
              <a:buFontTx/>
              <a:buAutoNum type="arabicPeriod"/>
            </a:pPr>
            <a:r>
              <a:rPr lang="en-US" altLang="zh-TW" sz="2000" i="1" dirty="0" smtClean="0"/>
              <a:t>n</a:t>
            </a:r>
            <a:r>
              <a:rPr lang="en-US" altLang="zh-TW" sz="2000" dirty="0" smtClean="0"/>
              <a:t> </a:t>
            </a:r>
            <a:r>
              <a:rPr lang="en-US" altLang="zh-TW" sz="2000" dirty="0" smtClean="0">
                <a:solidFill>
                  <a:srgbClr val="1B1BFF"/>
                </a:solidFill>
              </a:rPr>
              <a:t>parallel output </a:t>
            </a:r>
            <a:r>
              <a:rPr lang="en-US" altLang="zh-TW" sz="2000" dirty="0" smtClean="0"/>
              <a:t>lines;</a:t>
            </a:r>
          </a:p>
          <a:p>
            <a:pPr lvl="1">
              <a:buClrTx/>
              <a:buSzTx/>
              <a:buFontTx/>
              <a:buAutoNum type="arabicPeriod"/>
            </a:pPr>
            <a:r>
              <a:rPr lang="en-US" altLang="zh-TW" sz="2000" dirty="0" smtClean="0"/>
              <a:t>A control state that leaves the information in the register unchanged in the presence of the clock</a:t>
            </a:r>
            <a:r>
              <a:rPr lang="en-AU" altLang="zh-TW" sz="2000" dirty="0" smtClean="0"/>
              <a:t>;</a:t>
            </a:r>
            <a:endParaRPr lang="zh-TW" alt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Universal Shift Register (2/4)</a:t>
            </a:r>
            <a:endParaRPr lang="zh-TW" altLang="en-US" smtClean="0"/>
          </a:p>
        </p:txBody>
      </p:sp>
      <p:sp>
        <p:nvSpPr>
          <p:cNvPr id="1741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/>
              <a:t>Example:  4-bit universal shift register</a:t>
            </a:r>
            <a:endParaRPr lang="zh-TW" altLang="en-US" smtClean="0"/>
          </a:p>
          <a:p>
            <a:endParaRPr lang="zh-TW" altLang="en-US" smtClean="0"/>
          </a:p>
        </p:txBody>
      </p:sp>
      <p:pic>
        <p:nvPicPr>
          <p:cNvPr id="17412" name="Picture 29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1468438" y="1989138"/>
            <a:ext cx="6048375" cy="425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413" name="Text Box 30"/>
          <p:cNvSpPr txBox="1">
            <a:spLocks noChangeArrowheads="1"/>
          </p:cNvSpPr>
          <p:nvPr/>
        </p:nvSpPr>
        <p:spPr bwMode="auto">
          <a:xfrm>
            <a:off x="2595563" y="6329363"/>
            <a:ext cx="38290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i="0" u="none">
                <a:solidFill>
                  <a:schemeClr val="tx1"/>
                </a:solidFill>
              </a:rPr>
              <a:t>Fig. 6.7 Four-bit universal shift register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Universal Shift Register (3/4)</a:t>
            </a:r>
            <a:endParaRPr lang="zh-TW" altLang="en-US" smtClean="0"/>
          </a:p>
        </p:txBody>
      </p:sp>
      <p:sp>
        <p:nvSpPr>
          <p:cNvPr id="1843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Function Table</a:t>
            </a:r>
          </a:p>
          <a:p>
            <a:endParaRPr lang="zh-TW" altLang="en-US" dirty="0" smtClean="0"/>
          </a:p>
        </p:txBody>
      </p:sp>
      <p:pic>
        <p:nvPicPr>
          <p:cNvPr id="18436" name="Picture 7"/>
          <p:cNvPicPr>
            <a:picLocks noChangeAspect="1" noChangeArrowheads="1"/>
          </p:cNvPicPr>
          <p:nvPr/>
        </p:nvPicPr>
        <p:blipFill>
          <a:blip r:embed="rId2" cstate="print">
            <a:lum bright="-6000" contrast="36000"/>
          </a:blip>
          <a:srcRect/>
          <a:stretch>
            <a:fillRect/>
          </a:stretch>
        </p:blipFill>
        <p:spPr bwMode="auto">
          <a:xfrm>
            <a:off x="2547938" y="2011363"/>
            <a:ext cx="3754437" cy="213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584200" y="4159250"/>
          <a:ext cx="7945438" cy="2228850"/>
        </p:xfrm>
        <a:graphic>
          <a:graphicData uri="http://schemas.openxmlformats.org/drawingml/2006/table">
            <a:tbl>
              <a:tblPr/>
              <a:tblGrid>
                <a:gridCol w="884238"/>
                <a:gridCol w="771525"/>
                <a:gridCol w="854075"/>
                <a:gridCol w="893762"/>
                <a:gridCol w="965200"/>
                <a:gridCol w="965200"/>
                <a:gridCol w="842963"/>
                <a:gridCol w="1768475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Clear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S1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S0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A3+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A2+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A1+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A0+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(operation)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×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×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Clear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A3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A2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A1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No change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B1BFF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sri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1B1BFF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A3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A2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A1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Shift right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A2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A1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1B1BFF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sli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1B1BFF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Shift left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I3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I2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I1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I0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Parallel load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8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836613" y="1273175"/>
            <a:ext cx="7002462" cy="509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2" name="Text Box 12"/>
          <p:cNvSpPr txBox="1">
            <a:spLocks noChangeArrowheads="1"/>
          </p:cNvSpPr>
          <p:nvPr/>
        </p:nvSpPr>
        <p:spPr bwMode="auto">
          <a:xfrm>
            <a:off x="2362200" y="6419850"/>
            <a:ext cx="46831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1800" i="0" u="none" dirty="0">
                <a:solidFill>
                  <a:schemeClr val="tx1"/>
                </a:solidFill>
              </a:rPr>
              <a:t>Fig. 6.7  Four-bit universal shift register</a:t>
            </a:r>
          </a:p>
        </p:txBody>
      </p:sp>
      <p:sp>
        <p:nvSpPr>
          <p:cNvPr id="19463" name="標題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Universal Shift Register</a:t>
            </a:r>
            <a:r>
              <a:rPr lang="zh-TW" altLang="en-US" smtClean="0"/>
              <a:t> </a:t>
            </a:r>
            <a:r>
              <a:rPr lang="en-US" altLang="zh-TW" smtClean="0"/>
              <a:t>(4/4)</a:t>
            </a:r>
            <a:endParaRPr lang="zh-TW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Counters</a:t>
            </a:r>
            <a:endParaRPr lang="zh-TW" altLang="en-US" dirty="0" smtClean="0"/>
          </a:p>
        </p:txBody>
      </p:sp>
      <p:sp>
        <p:nvSpPr>
          <p:cNvPr id="2048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Counter : A register that goes through a prescribed sequence of states.</a:t>
            </a:r>
          </a:p>
          <a:p>
            <a:pPr lvl="1"/>
            <a:r>
              <a:rPr lang="en-US" dirty="0" smtClean="0"/>
              <a:t>Special purpose arithmetic circuits used for the purpose of counting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The sequence of states: may follow the binary number sequence (</a:t>
            </a:r>
            <a:r>
              <a:rPr lang="en-US" altLang="zh-TW" dirty="0" smtClean="0">
                <a:sym typeface="Symbol" pitchFamily="18" charset="2"/>
              </a:rPr>
              <a:t> </a:t>
            </a:r>
            <a:r>
              <a:rPr lang="en-US" altLang="zh-TW" dirty="0" smtClean="0">
                <a:solidFill>
                  <a:srgbClr val="FF0000"/>
                </a:solidFill>
                <a:sym typeface="Symbol" pitchFamily="18" charset="2"/>
              </a:rPr>
              <a:t>Binary counter</a:t>
            </a:r>
            <a:r>
              <a:rPr lang="en-US" altLang="zh-TW" dirty="0" smtClean="0">
                <a:sym typeface="Symbol" pitchFamily="18" charset="2"/>
              </a:rPr>
              <a:t>) or</a:t>
            </a:r>
            <a:r>
              <a:rPr lang="en-US" altLang="zh-TW" dirty="0" smtClean="0"/>
              <a:t> any other sequence of states (e.g., Gray Code).</a:t>
            </a:r>
          </a:p>
          <a:p>
            <a:r>
              <a:rPr lang="en-US" dirty="0" smtClean="0"/>
              <a:t>Counter circuits server many purposes</a:t>
            </a:r>
          </a:p>
          <a:p>
            <a:pPr lvl="1"/>
            <a:r>
              <a:rPr lang="en-US" dirty="0" smtClean="0"/>
              <a:t>Count occurrences of certain events</a:t>
            </a:r>
          </a:p>
          <a:p>
            <a:pPr lvl="1"/>
            <a:r>
              <a:rPr lang="en-US" dirty="0" smtClean="0"/>
              <a:t>Generate timing intervals for controlling various tasks in a digital system</a:t>
            </a:r>
          </a:p>
          <a:p>
            <a:pPr lvl="1"/>
            <a:r>
              <a:rPr lang="en-US" dirty="0" smtClean="0"/>
              <a:t>Track elapsed time between events</a:t>
            </a:r>
            <a:endParaRPr lang="en-US" altLang="zh-TW" dirty="0" smtClean="0"/>
          </a:p>
          <a:p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zh-TW" dirty="0" smtClean="0"/>
              <a:t>Counters</a:t>
            </a:r>
            <a:endParaRPr lang="zh-TW" altLang="en-US" dirty="0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Categories of counters</a:t>
            </a:r>
          </a:p>
          <a:p>
            <a:pPr marL="914400" lvl="1" indent="-457200">
              <a:buClrTx/>
              <a:buSzTx/>
              <a:buFont typeface="Book Antiqua" pitchFamily="18" charset="0"/>
              <a:buAutoNum type="arabicPeriod"/>
            </a:pPr>
            <a:r>
              <a:rPr lang="en-US" altLang="zh-TW" dirty="0" smtClean="0"/>
              <a:t>Asynchronous counters (Ripple counters) The flip-flops within the counter do not change state at the same time</a:t>
            </a:r>
          </a:p>
          <a:p>
            <a:pPr marL="1314450" lvl="2" indent="-457200">
              <a:buClr>
                <a:srgbClr val="FF9933"/>
              </a:buClr>
              <a:buSzPct val="70000"/>
            </a:pPr>
            <a:r>
              <a:rPr lang="en-US" altLang="zh-TW" dirty="0" smtClean="0"/>
              <a:t> The flip-flop output transition serves as a source for triggering other flip-flop.</a:t>
            </a:r>
          </a:p>
          <a:p>
            <a:pPr marL="1588770" lvl="3" indent="-457200">
              <a:buClr>
                <a:srgbClr val="FF9933"/>
              </a:buClr>
              <a:buSzPct val="70000"/>
              <a:buFont typeface="Wingdings" pitchFamily="2" charset="2"/>
              <a:buChar char="u"/>
            </a:pPr>
            <a:r>
              <a:rPr lang="en-US" altLang="zh-TW" dirty="0" smtClean="0">
                <a:sym typeface="Symbol" pitchFamily="18" charset="2"/>
              </a:rPr>
              <a:t> </a:t>
            </a:r>
            <a:r>
              <a:rPr lang="en-US" altLang="zh-TW" dirty="0" smtClean="0">
                <a:solidFill>
                  <a:srgbClr val="1B1BFF"/>
                </a:solidFill>
                <a:sym typeface="Symbol" pitchFamily="18" charset="2"/>
              </a:rPr>
              <a:t>no common clock pulse</a:t>
            </a:r>
            <a:r>
              <a:rPr lang="en-US" altLang="zh-TW" dirty="0" smtClean="0">
                <a:sym typeface="Symbol" pitchFamily="18" charset="2"/>
              </a:rPr>
              <a:t>.</a:t>
            </a:r>
            <a:endParaRPr lang="en-US" altLang="zh-TW" dirty="0" smtClean="0"/>
          </a:p>
          <a:p>
            <a:pPr marL="914400" lvl="1" indent="-457200">
              <a:buClrTx/>
              <a:buSzTx/>
              <a:buFont typeface="Book Antiqua" pitchFamily="18" charset="0"/>
              <a:buAutoNum type="arabicPeriod" startAt="2"/>
            </a:pPr>
            <a:r>
              <a:rPr lang="en-US" altLang="zh-TW" dirty="0" smtClean="0"/>
              <a:t>Synchronous counters </a:t>
            </a:r>
          </a:p>
          <a:p>
            <a:pPr marL="1314450" lvl="2" indent="-457200">
              <a:buClr>
                <a:srgbClr val="FF9933"/>
              </a:buClr>
              <a:buSzPct val="70000"/>
              <a:buFont typeface="Wingdings" pitchFamily="2" charset="2"/>
              <a:buChar char="u"/>
            </a:pPr>
            <a:r>
              <a:rPr lang="en-US" altLang="zh-TW" dirty="0" smtClean="0"/>
              <a:t>The CLK inputs of all flip-flops receive a </a:t>
            </a:r>
            <a:r>
              <a:rPr lang="en-US" altLang="zh-TW" dirty="0" smtClean="0">
                <a:solidFill>
                  <a:srgbClr val="1B1BFF"/>
                </a:solidFill>
              </a:rPr>
              <a:t>common clock</a:t>
            </a:r>
            <a:r>
              <a:rPr lang="en-US" altLang="zh-TW" dirty="0" smtClean="0"/>
              <a:t>.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zh-TW" dirty="0" smtClean="0"/>
              <a:t>Binary Ripple Counter</a:t>
            </a:r>
            <a:endParaRPr lang="zh-TW" altLang="en-US" dirty="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74320" lvl="2" indent="-274320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altLang="zh-TW" dirty="0" smtClean="0"/>
              <a:t>A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-bit binary counter →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FFs → count from 0 to 2</a:t>
            </a:r>
            <a:r>
              <a:rPr lang="en-US" altLang="zh-TW" i="1" baseline="30000" dirty="0" smtClean="0"/>
              <a:t>n</a:t>
            </a:r>
            <a:r>
              <a:rPr lang="en-US" altLang="zh-TW" dirty="0" smtClean="0"/>
              <a:t>-1.</a:t>
            </a:r>
          </a:p>
          <a:p>
            <a:r>
              <a:rPr lang="en-US" altLang="zh-TW" dirty="0" smtClean="0"/>
              <a:t>Example: 4-bit binary ripple counter  </a:t>
            </a:r>
          </a:p>
          <a:p>
            <a:pPr lvl="1"/>
            <a:r>
              <a:rPr lang="en-US" altLang="zh-TW" dirty="0" smtClean="0"/>
              <a:t>Binary count sequence: 4-bit</a:t>
            </a:r>
          </a:p>
          <a:p>
            <a:endParaRPr lang="zh-TW" altLang="en-US" dirty="0" smtClean="0"/>
          </a:p>
        </p:txBody>
      </p:sp>
      <p:pic>
        <p:nvPicPr>
          <p:cNvPr id="22532" name="Picture 8"/>
          <p:cNvPicPr>
            <a:picLocks noChangeAspect="1" noChangeArrowheads="1"/>
          </p:cNvPicPr>
          <p:nvPr/>
        </p:nvPicPr>
        <p:blipFill>
          <a:blip r:embed="rId2" cstate="print">
            <a:lum bright="-6000" contrast="24000"/>
          </a:blip>
          <a:srcRect/>
          <a:stretch>
            <a:fillRect/>
          </a:stretch>
        </p:blipFill>
        <p:spPr bwMode="auto">
          <a:xfrm>
            <a:off x="3647744" y="3295650"/>
            <a:ext cx="2721306" cy="300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8"/>
          <p:cNvPicPr>
            <a:picLocks noChangeAspect="1" noChangeArrowheads="1"/>
          </p:cNvPicPr>
          <p:nvPr/>
        </p:nvPicPr>
        <p:blipFill>
          <a:blip r:embed="rId3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3597275" y="203200"/>
            <a:ext cx="5313363" cy="6535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614" name="直線接點 56"/>
          <p:cNvCxnSpPr>
            <a:cxnSpLocks noChangeShapeType="1"/>
          </p:cNvCxnSpPr>
          <p:nvPr/>
        </p:nvCxnSpPr>
        <p:spPr bwMode="auto">
          <a:xfrm>
            <a:off x="3498850" y="1177925"/>
            <a:ext cx="252413" cy="158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23615" name="直線接點 56"/>
          <p:cNvCxnSpPr>
            <a:cxnSpLocks noChangeShapeType="1"/>
          </p:cNvCxnSpPr>
          <p:nvPr/>
        </p:nvCxnSpPr>
        <p:spPr bwMode="auto">
          <a:xfrm>
            <a:off x="3305175" y="936625"/>
            <a:ext cx="215900" cy="158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23616" name="直線接點 56"/>
          <p:cNvCxnSpPr>
            <a:cxnSpLocks noChangeShapeType="1"/>
          </p:cNvCxnSpPr>
          <p:nvPr/>
        </p:nvCxnSpPr>
        <p:spPr bwMode="auto">
          <a:xfrm rot="-5400000">
            <a:off x="3386138" y="1054100"/>
            <a:ext cx="252412" cy="1588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 type="triangle" w="med" len="lg"/>
            <a:tailEnd type="none" w="sm" len="sm"/>
          </a:ln>
        </p:spPr>
      </p:cxnSp>
      <p:cxnSp>
        <p:nvCxnSpPr>
          <p:cNvPr id="23617" name="直線接點 56"/>
          <p:cNvCxnSpPr>
            <a:cxnSpLocks noChangeShapeType="1"/>
          </p:cNvCxnSpPr>
          <p:nvPr/>
        </p:nvCxnSpPr>
        <p:spPr bwMode="auto">
          <a:xfrm>
            <a:off x="6505575" y="1177925"/>
            <a:ext cx="252413" cy="158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23618" name="直線接點 56"/>
          <p:cNvCxnSpPr>
            <a:cxnSpLocks noChangeShapeType="1"/>
          </p:cNvCxnSpPr>
          <p:nvPr/>
        </p:nvCxnSpPr>
        <p:spPr bwMode="auto">
          <a:xfrm>
            <a:off x="6310313" y="936625"/>
            <a:ext cx="215900" cy="158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23619" name="直線接點 56"/>
          <p:cNvCxnSpPr>
            <a:cxnSpLocks noChangeShapeType="1"/>
          </p:cNvCxnSpPr>
          <p:nvPr/>
        </p:nvCxnSpPr>
        <p:spPr bwMode="auto">
          <a:xfrm rot="-5400000">
            <a:off x="6392863" y="1054100"/>
            <a:ext cx="252412" cy="1588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 type="triangle" w="med" len="lg"/>
            <a:tailEnd type="none" w="sm" len="sm"/>
          </a:ln>
        </p:spPr>
      </p:cxnSp>
      <p:sp>
        <p:nvSpPr>
          <p:cNvPr id="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AU" altLang="zh-TW" dirty="0" smtClean="0"/>
              <a:t>Binary Ripple </a:t>
            </a:r>
            <a:br>
              <a:rPr lang="en-AU" altLang="zh-TW" dirty="0" smtClean="0"/>
            </a:br>
            <a:r>
              <a:rPr lang="en-AU" altLang="zh-TW" dirty="0" smtClean="0"/>
              <a:t>Counter</a:t>
            </a:r>
            <a:endParaRPr lang="zh-TW" altLang="en-US" dirty="0" smtClean="0"/>
          </a:p>
        </p:txBody>
      </p:sp>
      <p:sp>
        <p:nvSpPr>
          <p:cNvPr id="39" name="Rectangle 3"/>
          <p:cNvSpPr txBox="1">
            <a:spLocks noChangeArrowheads="1"/>
          </p:cNvSpPr>
          <p:nvPr/>
        </p:nvSpPr>
        <p:spPr>
          <a:xfrm>
            <a:off x="457200" y="1600200"/>
            <a:ext cx="3562350" cy="4873752"/>
          </a:xfrm>
          <a:prstGeom prst="rect">
            <a:avLst/>
          </a:prstGeom>
        </p:spPr>
        <p:txBody>
          <a:bodyPr vert="horz">
            <a:normAutofit fontScale="55000" lnSpcReduction="20000"/>
          </a:bodyPr>
          <a:lstStyle/>
          <a:p>
            <a:pPr marL="274320" marR="0" lvl="2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r>
              <a:rPr lang="en-US" sz="4000" dirty="0" smtClean="0">
                <a:solidFill>
                  <a:schemeClr val="tx2"/>
                </a:solidFill>
              </a:rPr>
              <a:t>Reset</a:t>
            </a:r>
            <a:r>
              <a:rPr lang="en-US" sz="4000" dirty="0" smtClean="0"/>
              <a:t> signal sets all outputs to 0</a:t>
            </a:r>
          </a:p>
          <a:p>
            <a:pPr marL="274320" marR="0" lvl="2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r>
              <a:rPr lang="en-US" sz="4000" dirty="0" smtClean="0"/>
              <a:t>Negative edge triggered</a:t>
            </a:r>
          </a:p>
          <a:p>
            <a:pPr marL="274320" marR="0" lvl="2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r>
              <a:rPr lang="en-US" sz="4000" dirty="0" smtClean="0"/>
              <a:t>Count signal toggles output of </a:t>
            </a:r>
            <a:r>
              <a:rPr lang="en-US" sz="4000" dirty="0" smtClean="0">
                <a:solidFill>
                  <a:schemeClr val="tx2"/>
                </a:solidFill>
              </a:rPr>
              <a:t>low-order</a:t>
            </a:r>
            <a:r>
              <a:rPr lang="en-US" sz="4000" dirty="0" smtClean="0"/>
              <a:t> flip flop</a:t>
            </a:r>
          </a:p>
          <a:p>
            <a:pPr marL="274320" marR="0" lvl="2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r>
              <a:rPr lang="en-US" sz="4000" dirty="0" smtClean="0"/>
              <a:t>Low-order flip flop provides trigger for adjacent flip flop</a:t>
            </a:r>
          </a:p>
          <a:p>
            <a:pPr marL="274320" marR="0" lvl="2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r>
              <a:rPr lang="en-US" sz="4000" dirty="0" smtClean="0"/>
              <a:t>Output of one </a:t>
            </a:r>
            <a:r>
              <a:rPr lang="en-US" sz="4000" dirty="0" err="1" smtClean="0"/>
              <a:t>flipflop</a:t>
            </a:r>
            <a:r>
              <a:rPr lang="en-US" sz="4000" dirty="0" smtClean="0"/>
              <a:t> </a:t>
            </a:r>
            <a:r>
              <a:rPr lang="en-US" sz="4000" dirty="0" smtClean="0">
                <a:sym typeface="Wingdings" pitchFamily="2" charset="2"/>
              </a:rPr>
              <a:t> </a:t>
            </a:r>
            <a:r>
              <a:rPr lang="en-US" sz="4000" dirty="0" smtClean="0"/>
              <a:t>Clock to the next</a:t>
            </a:r>
          </a:p>
          <a:p>
            <a:pPr marL="274320" marR="0" lvl="2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r>
              <a:rPr lang="en-US" sz="4000" dirty="0" smtClean="0"/>
              <a:t>Not all flops change value simultaneously</a:t>
            </a:r>
          </a:p>
          <a:p>
            <a:pPr marL="731520" lvl="3" indent="-27432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/>
            </a:pPr>
            <a:r>
              <a:rPr lang="en-US" sz="4000" dirty="0" smtClean="0"/>
              <a:t>Lower-order flops change first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"/>
              <a:tabLst/>
              <a:defRPr/>
            </a:pPr>
            <a:endParaRPr kumimoji="0" lang="en-US" altLang="zh-TW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endParaRPr kumimoji="0" lang="zh-TW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8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3273425" y="203200"/>
            <a:ext cx="5313363" cy="6535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5" name="Text Box 12"/>
          <p:cNvSpPr txBox="1">
            <a:spLocks noChangeArrowheads="1"/>
          </p:cNvSpPr>
          <p:nvPr/>
        </p:nvSpPr>
        <p:spPr bwMode="auto">
          <a:xfrm>
            <a:off x="0" y="5740400"/>
            <a:ext cx="4097337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sz="1800" i="0" u="none" dirty="0"/>
              <a:t>Fig. 6.8 Four-bit binary ripple counter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473075" y="1897063"/>
          <a:ext cx="2736850" cy="3413130"/>
        </p:xfrm>
        <a:graphic>
          <a:graphicData uri="http://schemas.openxmlformats.org/drawingml/2006/table">
            <a:tbl>
              <a:tblPr/>
              <a:tblGrid>
                <a:gridCol w="684213"/>
                <a:gridCol w="684212"/>
                <a:gridCol w="684213"/>
                <a:gridCol w="684212"/>
              </a:tblGrid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3</a:t>
                      </a:r>
                      <a:endParaRPr kumimoji="0" lang="zh-TW" altLang="en-US" sz="1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2</a:t>
                      </a:r>
                      <a:endParaRPr kumimoji="0" lang="zh-TW" altLang="en-US" sz="1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</a:t>
                      </a:r>
                      <a:r>
                        <a:rPr kumimoji="0" lang="en-US" altLang="zh-TW" sz="14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1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23614" name="直線接點 56"/>
          <p:cNvCxnSpPr>
            <a:cxnSpLocks noChangeShapeType="1"/>
          </p:cNvCxnSpPr>
          <p:nvPr/>
        </p:nvCxnSpPr>
        <p:spPr bwMode="auto">
          <a:xfrm>
            <a:off x="3213100" y="1177925"/>
            <a:ext cx="252413" cy="158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23615" name="直線接點 56"/>
          <p:cNvCxnSpPr>
            <a:cxnSpLocks noChangeShapeType="1"/>
          </p:cNvCxnSpPr>
          <p:nvPr/>
        </p:nvCxnSpPr>
        <p:spPr bwMode="auto">
          <a:xfrm>
            <a:off x="3019425" y="936625"/>
            <a:ext cx="215900" cy="158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23616" name="直線接點 56"/>
          <p:cNvCxnSpPr>
            <a:cxnSpLocks noChangeShapeType="1"/>
          </p:cNvCxnSpPr>
          <p:nvPr/>
        </p:nvCxnSpPr>
        <p:spPr bwMode="auto">
          <a:xfrm rot="-5400000">
            <a:off x="3100388" y="1054100"/>
            <a:ext cx="252412" cy="1588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 type="triangle" w="med" len="lg"/>
            <a:tailEnd type="none" w="sm" len="sm"/>
          </a:ln>
        </p:spPr>
      </p:cxnSp>
      <p:cxnSp>
        <p:nvCxnSpPr>
          <p:cNvPr id="23617" name="直線接點 56"/>
          <p:cNvCxnSpPr>
            <a:cxnSpLocks noChangeShapeType="1"/>
          </p:cNvCxnSpPr>
          <p:nvPr/>
        </p:nvCxnSpPr>
        <p:spPr bwMode="auto">
          <a:xfrm>
            <a:off x="6219825" y="1177925"/>
            <a:ext cx="252413" cy="158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23618" name="直線接點 56"/>
          <p:cNvCxnSpPr>
            <a:cxnSpLocks noChangeShapeType="1"/>
          </p:cNvCxnSpPr>
          <p:nvPr/>
        </p:nvCxnSpPr>
        <p:spPr bwMode="auto">
          <a:xfrm>
            <a:off x="6024563" y="936625"/>
            <a:ext cx="215900" cy="158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23619" name="直線接點 56"/>
          <p:cNvCxnSpPr>
            <a:cxnSpLocks noChangeShapeType="1"/>
          </p:cNvCxnSpPr>
          <p:nvPr/>
        </p:nvCxnSpPr>
        <p:spPr bwMode="auto">
          <a:xfrm rot="-5400000">
            <a:off x="6107113" y="1054100"/>
            <a:ext cx="252412" cy="1588"/>
          </a:xfrm>
          <a:prstGeom prst="line">
            <a:avLst/>
          </a:prstGeom>
          <a:noFill/>
          <a:ln w="25400" algn="ctr">
            <a:solidFill>
              <a:srgbClr val="FF0000"/>
            </a:solidFill>
            <a:round/>
            <a:headEnd type="triangle" w="med" len="lg"/>
            <a:tailEnd type="none" w="sm" len="sm"/>
          </a:ln>
        </p:spPr>
      </p:cxnSp>
      <p:cxnSp>
        <p:nvCxnSpPr>
          <p:cNvPr id="29" name="直線接點 28"/>
          <p:cNvCxnSpPr>
            <a:cxnSpLocks noChangeShapeType="1"/>
          </p:cNvCxnSpPr>
          <p:nvPr/>
        </p:nvCxnSpPr>
        <p:spPr bwMode="auto">
          <a:xfrm rot="5400000">
            <a:off x="4868069" y="997744"/>
            <a:ext cx="1260475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31" name="直線接點 30"/>
          <p:cNvCxnSpPr>
            <a:cxnSpLocks noChangeShapeType="1"/>
          </p:cNvCxnSpPr>
          <p:nvPr/>
        </p:nvCxnSpPr>
        <p:spPr bwMode="auto">
          <a:xfrm rot="10800000">
            <a:off x="4346575" y="1617663"/>
            <a:ext cx="1143000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35" name="直線接點 34"/>
          <p:cNvCxnSpPr>
            <a:cxnSpLocks noChangeShapeType="1"/>
          </p:cNvCxnSpPr>
          <p:nvPr/>
        </p:nvCxnSpPr>
        <p:spPr bwMode="auto">
          <a:xfrm rot="5400000">
            <a:off x="4117976" y="1857375"/>
            <a:ext cx="474662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48" name="直線接點 47"/>
          <p:cNvCxnSpPr>
            <a:cxnSpLocks noChangeShapeType="1"/>
          </p:cNvCxnSpPr>
          <p:nvPr/>
        </p:nvCxnSpPr>
        <p:spPr bwMode="auto">
          <a:xfrm rot="10800000">
            <a:off x="4346575" y="2089150"/>
            <a:ext cx="1143000" cy="1588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49" name="直線接點 48"/>
          <p:cNvCxnSpPr>
            <a:cxnSpLocks noChangeShapeType="1"/>
          </p:cNvCxnSpPr>
          <p:nvPr/>
        </p:nvCxnSpPr>
        <p:spPr bwMode="auto">
          <a:xfrm rot="5400000">
            <a:off x="4998244" y="2574131"/>
            <a:ext cx="971550" cy="1588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50" name="直線接點 49"/>
          <p:cNvCxnSpPr>
            <a:cxnSpLocks noChangeShapeType="1"/>
          </p:cNvCxnSpPr>
          <p:nvPr/>
        </p:nvCxnSpPr>
        <p:spPr bwMode="auto">
          <a:xfrm rot="10800000">
            <a:off x="4341813" y="3055938"/>
            <a:ext cx="1143000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51" name="直線接點 50"/>
          <p:cNvCxnSpPr>
            <a:cxnSpLocks noChangeShapeType="1"/>
          </p:cNvCxnSpPr>
          <p:nvPr/>
        </p:nvCxnSpPr>
        <p:spPr bwMode="auto">
          <a:xfrm rot="5400000">
            <a:off x="4099719" y="3282157"/>
            <a:ext cx="473075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52" name="直線接點 51"/>
          <p:cNvCxnSpPr>
            <a:cxnSpLocks noChangeShapeType="1"/>
          </p:cNvCxnSpPr>
          <p:nvPr/>
        </p:nvCxnSpPr>
        <p:spPr bwMode="auto">
          <a:xfrm rot="10800000">
            <a:off x="4322763" y="3522663"/>
            <a:ext cx="1143000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53" name="直線接點 52"/>
          <p:cNvCxnSpPr>
            <a:cxnSpLocks noChangeShapeType="1"/>
          </p:cNvCxnSpPr>
          <p:nvPr/>
        </p:nvCxnSpPr>
        <p:spPr bwMode="auto">
          <a:xfrm rot="5400000">
            <a:off x="4979194" y="4002881"/>
            <a:ext cx="971550" cy="1588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54" name="直線接點 53"/>
          <p:cNvCxnSpPr>
            <a:cxnSpLocks noChangeShapeType="1"/>
          </p:cNvCxnSpPr>
          <p:nvPr/>
        </p:nvCxnSpPr>
        <p:spPr bwMode="auto">
          <a:xfrm rot="10800000">
            <a:off x="4327525" y="4484688"/>
            <a:ext cx="1143000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55" name="直線接點 54"/>
          <p:cNvCxnSpPr>
            <a:cxnSpLocks noChangeShapeType="1"/>
          </p:cNvCxnSpPr>
          <p:nvPr/>
        </p:nvCxnSpPr>
        <p:spPr bwMode="auto">
          <a:xfrm rot="5400000">
            <a:off x="4085431" y="4710907"/>
            <a:ext cx="473075" cy="1588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56" name="直線接點 55"/>
          <p:cNvCxnSpPr>
            <a:cxnSpLocks noChangeShapeType="1"/>
          </p:cNvCxnSpPr>
          <p:nvPr/>
        </p:nvCxnSpPr>
        <p:spPr bwMode="auto">
          <a:xfrm rot="10800000">
            <a:off x="4316413" y="4951413"/>
            <a:ext cx="1296987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triangle" w="med" len="lg"/>
            <a:tailEnd type="none" w="sm" len="sm"/>
          </a:ln>
        </p:spPr>
      </p:cxnSp>
      <p:cxnSp>
        <p:nvCxnSpPr>
          <p:cNvPr id="57" name="直線接點 56"/>
          <p:cNvCxnSpPr>
            <a:cxnSpLocks noChangeShapeType="1"/>
          </p:cNvCxnSpPr>
          <p:nvPr/>
        </p:nvCxnSpPr>
        <p:spPr bwMode="auto">
          <a:xfrm rot="5400000">
            <a:off x="7608888" y="995363"/>
            <a:ext cx="1258887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58" name="直線接點 57"/>
          <p:cNvCxnSpPr>
            <a:cxnSpLocks noChangeShapeType="1"/>
          </p:cNvCxnSpPr>
          <p:nvPr/>
        </p:nvCxnSpPr>
        <p:spPr bwMode="auto">
          <a:xfrm rot="10800000">
            <a:off x="7086600" y="1614488"/>
            <a:ext cx="1143000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59" name="直線接點 58"/>
          <p:cNvCxnSpPr>
            <a:cxnSpLocks noChangeShapeType="1"/>
          </p:cNvCxnSpPr>
          <p:nvPr/>
        </p:nvCxnSpPr>
        <p:spPr bwMode="auto">
          <a:xfrm rot="5400000">
            <a:off x="6858794" y="1854994"/>
            <a:ext cx="473075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60" name="直線接點 59"/>
          <p:cNvCxnSpPr>
            <a:cxnSpLocks noChangeShapeType="1"/>
          </p:cNvCxnSpPr>
          <p:nvPr/>
        </p:nvCxnSpPr>
        <p:spPr bwMode="auto">
          <a:xfrm rot="10800000">
            <a:off x="7086600" y="2085975"/>
            <a:ext cx="1143000" cy="1588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61" name="直線接點 60"/>
          <p:cNvCxnSpPr>
            <a:cxnSpLocks noChangeShapeType="1"/>
          </p:cNvCxnSpPr>
          <p:nvPr/>
        </p:nvCxnSpPr>
        <p:spPr bwMode="auto">
          <a:xfrm rot="5400000">
            <a:off x="7738269" y="2570956"/>
            <a:ext cx="971550" cy="1588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62" name="直線接點 61"/>
          <p:cNvCxnSpPr>
            <a:cxnSpLocks noChangeShapeType="1"/>
          </p:cNvCxnSpPr>
          <p:nvPr/>
        </p:nvCxnSpPr>
        <p:spPr bwMode="auto">
          <a:xfrm rot="10800000">
            <a:off x="7081838" y="3052763"/>
            <a:ext cx="1143000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63" name="直線接點 62"/>
          <p:cNvCxnSpPr>
            <a:cxnSpLocks noChangeShapeType="1"/>
          </p:cNvCxnSpPr>
          <p:nvPr/>
        </p:nvCxnSpPr>
        <p:spPr bwMode="auto">
          <a:xfrm rot="5400000">
            <a:off x="6839744" y="3278982"/>
            <a:ext cx="473075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64" name="直線接點 63"/>
          <p:cNvCxnSpPr>
            <a:cxnSpLocks noChangeShapeType="1"/>
          </p:cNvCxnSpPr>
          <p:nvPr/>
        </p:nvCxnSpPr>
        <p:spPr bwMode="auto">
          <a:xfrm rot="10800000">
            <a:off x="7062788" y="3519488"/>
            <a:ext cx="1143000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65" name="直線接點 64"/>
          <p:cNvCxnSpPr>
            <a:cxnSpLocks noChangeShapeType="1"/>
          </p:cNvCxnSpPr>
          <p:nvPr/>
        </p:nvCxnSpPr>
        <p:spPr bwMode="auto">
          <a:xfrm rot="5400000">
            <a:off x="7719219" y="3999706"/>
            <a:ext cx="971550" cy="1588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66" name="直線接點 65"/>
          <p:cNvCxnSpPr>
            <a:cxnSpLocks noChangeShapeType="1"/>
          </p:cNvCxnSpPr>
          <p:nvPr/>
        </p:nvCxnSpPr>
        <p:spPr bwMode="auto">
          <a:xfrm rot="10800000">
            <a:off x="7067550" y="4481513"/>
            <a:ext cx="1143000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67" name="直線接點 66"/>
          <p:cNvCxnSpPr>
            <a:cxnSpLocks noChangeShapeType="1"/>
          </p:cNvCxnSpPr>
          <p:nvPr/>
        </p:nvCxnSpPr>
        <p:spPr bwMode="auto">
          <a:xfrm rot="5400000">
            <a:off x="6825456" y="4707732"/>
            <a:ext cx="473075" cy="1588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</p:cxnSp>
      <p:cxnSp>
        <p:nvCxnSpPr>
          <p:cNvPr id="68" name="直線接點 67"/>
          <p:cNvCxnSpPr>
            <a:cxnSpLocks noChangeShapeType="1"/>
          </p:cNvCxnSpPr>
          <p:nvPr/>
        </p:nvCxnSpPr>
        <p:spPr bwMode="auto">
          <a:xfrm rot="10800000">
            <a:off x="7056438" y="4948238"/>
            <a:ext cx="1296987" cy="1587"/>
          </a:xfrm>
          <a:prstGeom prst="line">
            <a:avLst/>
          </a:prstGeom>
          <a:noFill/>
          <a:ln w="12700" algn="ctr">
            <a:solidFill>
              <a:srgbClr val="FF0000"/>
            </a:solidFill>
            <a:round/>
            <a:headEnd type="triangle" w="med" len="lg"/>
            <a:tailEnd type="none" w="sm" len="sm"/>
          </a:ln>
        </p:spPr>
      </p:cxnSp>
      <p:sp>
        <p:nvSpPr>
          <p:cNvPr id="69" name="Text Box 9"/>
          <p:cNvSpPr txBox="1">
            <a:spLocks noChangeArrowheads="1"/>
          </p:cNvSpPr>
          <p:nvPr/>
        </p:nvSpPr>
        <p:spPr bwMode="auto">
          <a:xfrm>
            <a:off x="5048250" y="5016500"/>
            <a:ext cx="165735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TW" sz="1600" i="0" u="none" dirty="0">
                <a:latin typeface="+mj-lt"/>
              </a:rPr>
              <a:t>Ripper propagation</a:t>
            </a:r>
          </a:p>
        </p:txBody>
      </p:sp>
      <p:sp>
        <p:nvSpPr>
          <p:cNvPr id="70" name="Text Box 9"/>
          <p:cNvSpPr txBox="1">
            <a:spLocks noChangeArrowheads="1"/>
          </p:cNvSpPr>
          <p:nvPr/>
        </p:nvSpPr>
        <p:spPr bwMode="auto">
          <a:xfrm>
            <a:off x="7856538" y="5013325"/>
            <a:ext cx="142081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TW" sz="1600" i="0" u="none" dirty="0">
                <a:latin typeface="+mj-lt"/>
              </a:rPr>
              <a:t>Ripper propagation</a:t>
            </a:r>
          </a:p>
        </p:txBody>
      </p:sp>
      <p:sp>
        <p:nvSpPr>
          <p:cNvPr id="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AU" altLang="zh-TW" dirty="0" smtClean="0"/>
              <a:t>Binary Ripple </a:t>
            </a:r>
            <a:br>
              <a:rPr lang="en-AU" altLang="zh-TW" dirty="0" smtClean="0"/>
            </a:br>
            <a:r>
              <a:rPr lang="en-AU" altLang="zh-TW" dirty="0" smtClean="0"/>
              <a:t>Counter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zh-TW" dirty="0" smtClean="0"/>
              <a:t>Asynchronous (Ripple) Counters</a:t>
            </a:r>
            <a:endParaRPr lang="zh-TW" altLang="en-US" dirty="0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Asynchronous counters are commonly referred as ripple counters</a:t>
            </a:r>
          </a:p>
          <a:p>
            <a:pPr lvl="1"/>
            <a:r>
              <a:rPr lang="en-US" altLang="zh-TW" dirty="0" smtClean="0"/>
              <a:t>The effect of the input clock pulse is first felt by the first flip-flop FF0.</a:t>
            </a:r>
          </a:p>
          <a:p>
            <a:pPr lvl="1"/>
            <a:r>
              <a:rPr lang="en-US" altLang="zh-TW" dirty="0" smtClean="0"/>
              <a:t>The effect cannot get to the next flip-flop FF1 immediately as there is a propagation delay through FF0</a:t>
            </a:r>
          </a:p>
          <a:p>
            <a:pPr lvl="1"/>
            <a:r>
              <a:rPr lang="en-US" altLang="zh-TW" dirty="0" smtClean="0"/>
              <a:t>Then there is a propagation delay through FF1 before the next flip-flop FF2 is triggered</a:t>
            </a:r>
          </a:p>
          <a:p>
            <a:pPr lvl="1"/>
            <a:r>
              <a:rPr lang="en-US" altLang="zh-TW" dirty="0" smtClean="0"/>
              <a:t>Thus, the effect of an input clock pulse “ripples” through the counter, taking some time, due to propagation delays, to reach the last flip-flop.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Counter must reset itself after counting the terminal count</a:t>
            </a:r>
            <a:endParaRPr lang="zh-TW" altLang="en-US" dirty="0" smtClean="0"/>
          </a:p>
        </p:txBody>
      </p:sp>
      <p:sp>
        <p:nvSpPr>
          <p:cNvPr id="2457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BCD Ripple Counter</a:t>
            </a:r>
            <a:endParaRPr lang="zh-TW" altLang="en-US" smtClean="0"/>
          </a:p>
        </p:txBody>
      </p:sp>
      <p:pic>
        <p:nvPicPr>
          <p:cNvPr id="24580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1047750" y="2617627"/>
            <a:ext cx="6781800" cy="30767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1" name="Text Box 6"/>
          <p:cNvSpPr txBox="1">
            <a:spLocks noChangeArrowheads="1"/>
          </p:cNvSpPr>
          <p:nvPr/>
        </p:nvSpPr>
        <p:spPr bwMode="auto">
          <a:xfrm>
            <a:off x="1635125" y="6062663"/>
            <a:ext cx="590391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sz="1800" i="0" u="none">
                <a:solidFill>
                  <a:schemeClr val="tx1"/>
                </a:solidFill>
              </a:rPr>
              <a:t>Fig. 6.9  State diagram of a decimal BCD counter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5"/>
          <p:cNvSpPr>
            <a:spLocks noChangeArrowheads="1"/>
          </p:cNvSpPr>
          <p:nvPr/>
        </p:nvSpPr>
        <p:spPr bwMode="auto">
          <a:xfrm>
            <a:off x="6400800" y="3429000"/>
            <a:ext cx="381000" cy="76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TW" altLang="en-US"/>
          </a:p>
        </p:txBody>
      </p:sp>
      <p:pic>
        <p:nvPicPr>
          <p:cNvPr id="25603" name="Picture 6"/>
          <p:cNvPicPr>
            <a:picLocks noChangeAspect="1" noChangeArrowheads="1"/>
          </p:cNvPicPr>
          <p:nvPr/>
        </p:nvPicPr>
        <p:blipFill>
          <a:blip r:embed="rId2" cstate="print">
            <a:lum bright="-18000" contrast="30000"/>
          </a:blip>
          <a:srcRect l="3009"/>
          <a:stretch>
            <a:fillRect/>
          </a:stretch>
        </p:blipFill>
        <p:spPr bwMode="auto">
          <a:xfrm>
            <a:off x="5003800" y="112713"/>
            <a:ext cx="3521075" cy="665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4" name="Text Box 7"/>
          <p:cNvSpPr txBox="1">
            <a:spLocks noChangeArrowheads="1"/>
          </p:cNvSpPr>
          <p:nvPr/>
        </p:nvSpPr>
        <p:spPr bwMode="auto">
          <a:xfrm>
            <a:off x="1038224" y="6419850"/>
            <a:ext cx="33242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1800" i="0" u="none" dirty="0"/>
              <a:t>Fig. 6.10  BCD ripple counter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390650" y="3248025"/>
          <a:ext cx="2262188" cy="3017520"/>
        </p:xfrm>
        <a:graphic>
          <a:graphicData uri="http://schemas.openxmlformats.org/drawingml/2006/table">
            <a:tbl>
              <a:tblPr/>
              <a:tblGrid>
                <a:gridCol w="565150"/>
                <a:gridCol w="565150"/>
                <a:gridCol w="566738"/>
                <a:gridCol w="565150"/>
              </a:tblGrid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Q</a:t>
                      </a:r>
                      <a:r>
                        <a:rPr kumimoji="0" lang="en-US" altLang="zh-TW" sz="1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8</a:t>
                      </a:r>
                      <a:endParaRPr kumimoji="0" lang="zh-TW" altLang="en-US" sz="12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Q</a:t>
                      </a:r>
                      <a:r>
                        <a:rPr kumimoji="0" lang="en-US" altLang="zh-TW" sz="1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4</a:t>
                      </a:r>
                      <a:endParaRPr kumimoji="0" lang="zh-TW" altLang="en-US" sz="12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Q</a:t>
                      </a:r>
                      <a:r>
                        <a:rPr kumimoji="0" lang="en-US" altLang="zh-TW" sz="1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2</a:t>
                      </a:r>
                      <a:endParaRPr kumimoji="0" lang="zh-TW" altLang="en-US" sz="12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Q</a:t>
                      </a:r>
                      <a:r>
                        <a:rPr kumimoji="0" lang="en-US" altLang="zh-TW" sz="12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2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5667" name="標題 1"/>
          <p:cNvSpPr>
            <a:spLocks noGrp="1"/>
          </p:cNvSpPr>
          <p:nvPr>
            <p:ph type="title"/>
          </p:nvPr>
        </p:nvSpPr>
        <p:spPr>
          <a:xfrm>
            <a:off x="185738" y="228600"/>
            <a:ext cx="4775200" cy="609600"/>
          </a:xfrm>
        </p:spPr>
        <p:txBody>
          <a:bodyPr/>
          <a:lstStyle/>
          <a:p>
            <a:r>
              <a:rPr lang="en-US" altLang="zh-TW" smtClean="0"/>
              <a:t>BCD Ripple Counter</a:t>
            </a:r>
            <a:endParaRPr lang="zh-TW" altLang="en-US" smtClean="0"/>
          </a:p>
        </p:txBody>
      </p:sp>
      <p:pic>
        <p:nvPicPr>
          <p:cNvPr id="25668" name="Picture 5"/>
          <p:cNvPicPr>
            <a:picLocks noChangeAspect="1" noChangeArrowheads="1"/>
          </p:cNvPicPr>
          <p:nvPr/>
        </p:nvPicPr>
        <p:blipFill>
          <a:blip r:embed="rId3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690563" y="1312863"/>
            <a:ext cx="3690937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zh-TW" dirty="0" smtClean="0"/>
              <a:t>BCD Ripple Counter</a:t>
            </a:r>
            <a:endParaRPr lang="zh-TW" altLang="en-US" dirty="0" smtClean="0"/>
          </a:p>
        </p:txBody>
      </p:sp>
      <p:sp>
        <p:nvSpPr>
          <p:cNvPr id="2662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/>
              <a:t>Three-decade BCD counter</a:t>
            </a:r>
            <a:endParaRPr lang="zh-TW" altLang="en-US" smtClean="0"/>
          </a:p>
        </p:txBody>
      </p:sp>
      <p:pic>
        <p:nvPicPr>
          <p:cNvPr id="26628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319088" y="2478088"/>
            <a:ext cx="8615362" cy="264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9" name="Text Box 6"/>
          <p:cNvSpPr txBox="1">
            <a:spLocks noChangeArrowheads="1"/>
          </p:cNvSpPr>
          <p:nvPr/>
        </p:nvSpPr>
        <p:spPr bwMode="auto">
          <a:xfrm>
            <a:off x="871538" y="5432425"/>
            <a:ext cx="74882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sz="1800" i="0" u="none">
                <a:solidFill>
                  <a:schemeClr val="tx1"/>
                </a:solidFill>
              </a:rPr>
              <a:t>Fig. 6.11  Block diagram of a three-decade decimal BCD counter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Synchronous Counters</a:t>
            </a:r>
            <a:endParaRPr lang="zh-TW" altLang="en-US" dirty="0" smtClean="0"/>
          </a:p>
        </p:txBody>
      </p:sp>
      <p:sp>
        <p:nvSpPr>
          <p:cNvPr id="28675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77190" indent="-285750"/>
            <a:r>
              <a:rPr lang="en-US" dirty="0" smtClean="0">
                <a:latin typeface="+mj-lt"/>
              </a:rPr>
              <a:t>All of the FFs are triggered simultaneously by the clock input pulses.</a:t>
            </a:r>
          </a:p>
          <a:p>
            <a:pPr marL="377190" indent="-285750"/>
            <a:r>
              <a:rPr lang="en-US" dirty="0" smtClean="0">
                <a:latin typeface="+mj-lt"/>
              </a:rPr>
              <a:t>All FFs change at same time </a:t>
            </a:r>
          </a:p>
          <a:p>
            <a:pPr marL="377190" indent="-285750"/>
            <a:endParaRPr lang="en-US" altLang="zh-TW" i="1" dirty="0" smtClean="0">
              <a:latin typeface="+mj-lt"/>
              <a:sym typeface="Symbol" pitchFamily="18" charset="2"/>
            </a:endParaRPr>
          </a:p>
          <a:p>
            <a:r>
              <a:rPr lang="en-US" dirty="0" smtClean="0"/>
              <a:t>Synchronous counters can be designed using </a:t>
            </a:r>
            <a:r>
              <a:rPr lang="en-US" b="1" dirty="0" smtClean="0"/>
              <a:t>sequential circuit procedure</a:t>
            </a:r>
            <a:endParaRPr lang="zh-TW" altLang="en-US" dirty="0" smtClean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4-Bit Binary Counter</a:t>
            </a:r>
            <a:endParaRPr lang="zh-TW" altLang="en-US" dirty="0" smtClean="0"/>
          </a:p>
        </p:txBody>
      </p:sp>
      <p:sp>
        <p:nvSpPr>
          <p:cNvPr id="2969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Value increments on </a:t>
            </a:r>
            <a:r>
              <a:rPr lang="en-US" dirty="0" smtClean="0">
                <a:solidFill>
                  <a:schemeClr val="tx2"/>
                </a:solidFill>
              </a:rPr>
              <a:t>positive edge</a:t>
            </a:r>
            <a:endParaRPr lang="en-US" dirty="0" smtClean="0"/>
          </a:p>
          <a:p>
            <a:endParaRPr lang="en-US" altLang="zh-TW" dirty="0" smtClean="0"/>
          </a:p>
          <a:p>
            <a:r>
              <a:rPr lang="en-US" altLang="zh-TW" i="1" dirty="0" smtClean="0">
                <a:sym typeface="Symbol" pitchFamily="18" charset="2"/>
              </a:rPr>
              <a:t>J</a:t>
            </a:r>
            <a:r>
              <a:rPr lang="en-US" altLang="zh-TW" dirty="0" smtClean="0">
                <a:sym typeface="Symbol" pitchFamily="18" charset="2"/>
              </a:rPr>
              <a:t>=</a:t>
            </a:r>
            <a:r>
              <a:rPr lang="en-US" altLang="zh-TW" i="1" dirty="0" smtClean="0">
                <a:sym typeface="Symbol" pitchFamily="18" charset="2"/>
              </a:rPr>
              <a:t>K</a:t>
            </a:r>
            <a:r>
              <a:rPr lang="en-US" altLang="zh-TW" dirty="0" smtClean="0">
                <a:sym typeface="Symbol" pitchFamily="18" charset="2"/>
              </a:rPr>
              <a:t>=0, </a:t>
            </a:r>
          </a:p>
          <a:p>
            <a:pPr>
              <a:buNone/>
            </a:pPr>
            <a:r>
              <a:rPr lang="en-US" altLang="zh-TW" dirty="0" smtClean="0">
                <a:sym typeface="Symbol" pitchFamily="18" charset="2"/>
              </a:rPr>
              <a:t>	</a:t>
            </a:r>
            <a:r>
              <a:rPr lang="en-US" altLang="zh-TW" dirty="0" smtClean="0">
                <a:sym typeface="Wingdings" pitchFamily="2" charset="2"/>
              </a:rPr>
              <a:t></a:t>
            </a:r>
            <a:r>
              <a:rPr lang="en-US" altLang="zh-TW" dirty="0" smtClean="0">
                <a:sym typeface="Symbol" pitchFamily="18" charset="2"/>
              </a:rPr>
              <a:t> no change;</a:t>
            </a:r>
          </a:p>
          <a:p>
            <a:r>
              <a:rPr lang="en-US" altLang="zh-TW" i="1" dirty="0" smtClean="0">
                <a:sym typeface="Symbol" pitchFamily="18" charset="2"/>
              </a:rPr>
              <a:t>J</a:t>
            </a:r>
            <a:r>
              <a:rPr lang="en-US" altLang="zh-TW" dirty="0" smtClean="0">
                <a:sym typeface="Symbol" pitchFamily="18" charset="2"/>
              </a:rPr>
              <a:t>=</a:t>
            </a:r>
            <a:r>
              <a:rPr lang="en-US" altLang="zh-TW" i="1" dirty="0" smtClean="0">
                <a:sym typeface="Symbol" pitchFamily="18" charset="2"/>
              </a:rPr>
              <a:t>K</a:t>
            </a:r>
            <a:r>
              <a:rPr lang="en-US" altLang="zh-TW" dirty="0" smtClean="0">
                <a:sym typeface="Symbol" pitchFamily="18" charset="2"/>
              </a:rPr>
              <a:t>=1, </a:t>
            </a:r>
          </a:p>
          <a:p>
            <a:pPr>
              <a:buNone/>
            </a:pPr>
            <a:r>
              <a:rPr lang="en-US" altLang="zh-TW" dirty="0" smtClean="0">
                <a:sym typeface="Symbol" pitchFamily="18" charset="2"/>
              </a:rPr>
              <a:t>   </a:t>
            </a:r>
            <a:r>
              <a:rPr lang="en-US" altLang="zh-TW" dirty="0" smtClean="0">
                <a:sym typeface="Wingdings" pitchFamily="2" charset="2"/>
              </a:rPr>
              <a:t></a:t>
            </a:r>
            <a:r>
              <a:rPr lang="en-US" altLang="zh-TW" dirty="0" smtClean="0">
                <a:sym typeface="Symbol" pitchFamily="18" charset="2"/>
              </a:rPr>
              <a:t>complement.</a:t>
            </a:r>
          </a:p>
          <a:p>
            <a:pPr>
              <a:buNone/>
            </a:pPr>
            <a:endParaRPr lang="en-US" altLang="zh-TW" dirty="0" smtClean="0">
              <a:sym typeface="Symbol" pitchFamily="18" charset="2"/>
            </a:endParaRPr>
          </a:p>
          <a:p>
            <a:pPr>
              <a:buNone/>
            </a:pPr>
            <a:endParaRPr lang="zh-TW" altLang="en-US" dirty="0" smtClean="0"/>
          </a:p>
        </p:txBody>
      </p:sp>
      <p:pic>
        <p:nvPicPr>
          <p:cNvPr id="29700" name="Picture 10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 l="854" r="5803"/>
          <a:stretch>
            <a:fillRect/>
          </a:stretch>
        </p:blipFill>
        <p:spPr bwMode="auto">
          <a:xfrm>
            <a:off x="5389563" y="1189038"/>
            <a:ext cx="3173412" cy="55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1" name="Text Box 11"/>
          <p:cNvSpPr txBox="1">
            <a:spLocks noChangeArrowheads="1"/>
          </p:cNvSpPr>
          <p:nvPr/>
        </p:nvSpPr>
        <p:spPr bwMode="auto">
          <a:xfrm>
            <a:off x="5353050" y="2187575"/>
            <a:ext cx="9429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u="none">
                <a:solidFill>
                  <a:srgbClr val="FF0000"/>
                </a:solidFill>
              </a:rPr>
              <a:t>C_en A</a:t>
            </a:r>
            <a:r>
              <a:rPr lang="en-US" altLang="zh-TW" sz="1800" i="0" u="none" baseline="-25000">
                <a:solidFill>
                  <a:srgbClr val="FF0000"/>
                </a:solidFill>
              </a:rPr>
              <a:t>0</a:t>
            </a:r>
            <a:endParaRPr lang="en-US" altLang="zh-TW" i="0" u="none">
              <a:solidFill>
                <a:srgbClr val="FF0000"/>
              </a:solidFill>
            </a:endParaRPr>
          </a:p>
        </p:txBody>
      </p:sp>
      <p:sp>
        <p:nvSpPr>
          <p:cNvPr id="29702" name="Text Box 12"/>
          <p:cNvSpPr txBox="1">
            <a:spLocks noChangeArrowheads="1"/>
          </p:cNvSpPr>
          <p:nvPr/>
        </p:nvSpPr>
        <p:spPr bwMode="auto">
          <a:xfrm>
            <a:off x="5145088" y="3503613"/>
            <a:ext cx="11969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u="none">
                <a:solidFill>
                  <a:srgbClr val="FF0000"/>
                </a:solidFill>
              </a:rPr>
              <a:t>C_en A</a:t>
            </a:r>
            <a:r>
              <a:rPr lang="en-US" altLang="zh-TW" sz="1800" i="0" u="none" baseline="-25000">
                <a:solidFill>
                  <a:srgbClr val="FF0000"/>
                </a:solidFill>
              </a:rPr>
              <a:t>0 </a:t>
            </a:r>
            <a:r>
              <a:rPr lang="en-US" altLang="zh-TW" sz="1800" u="none">
                <a:solidFill>
                  <a:srgbClr val="FF0000"/>
                </a:solidFill>
              </a:rPr>
              <a:t>A</a:t>
            </a:r>
            <a:r>
              <a:rPr lang="en-US" altLang="zh-TW" sz="1800" i="0" u="none" baseline="-25000">
                <a:solidFill>
                  <a:srgbClr val="FF0000"/>
                </a:solidFill>
              </a:rPr>
              <a:t>1</a:t>
            </a:r>
            <a:endParaRPr lang="en-US" altLang="zh-TW" i="0" u="none">
              <a:solidFill>
                <a:srgbClr val="FF0000"/>
              </a:solidFill>
            </a:endParaRPr>
          </a:p>
        </p:txBody>
      </p:sp>
      <p:sp>
        <p:nvSpPr>
          <p:cNvPr id="29703" name="Text Box 13"/>
          <p:cNvSpPr txBox="1">
            <a:spLocks noChangeArrowheads="1"/>
          </p:cNvSpPr>
          <p:nvPr/>
        </p:nvSpPr>
        <p:spPr bwMode="auto">
          <a:xfrm>
            <a:off x="4967288" y="4816475"/>
            <a:ext cx="14509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u="none">
                <a:solidFill>
                  <a:srgbClr val="FF0000"/>
                </a:solidFill>
              </a:rPr>
              <a:t>C_en A</a:t>
            </a:r>
            <a:r>
              <a:rPr lang="en-US" altLang="zh-TW" sz="1800" i="0" u="none" baseline="-25000">
                <a:solidFill>
                  <a:srgbClr val="FF0000"/>
                </a:solidFill>
              </a:rPr>
              <a:t>0 </a:t>
            </a:r>
            <a:r>
              <a:rPr lang="en-US" altLang="zh-TW" sz="1800" u="none">
                <a:solidFill>
                  <a:srgbClr val="FF0000"/>
                </a:solidFill>
              </a:rPr>
              <a:t>A</a:t>
            </a:r>
            <a:r>
              <a:rPr lang="en-US" altLang="zh-TW" sz="1800" i="0" u="none" baseline="-25000">
                <a:solidFill>
                  <a:srgbClr val="FF0000"/>
                </a:solidFill>
              </a:rPr>
              <a:t>1 </a:t>
            </a:r>
            <a:r>
              <a:rPr lang="en-US" altLang="zh-TW" sz="1800" u="none">
                <a:solidFill>
                  <a:srgbClr val="FF0000"/>
                </a:solidFill>
              </a:rPr>
              <a:t>A</a:t>
            </a:r>
            <a:r>
              <a:rPr lang="en-US" altLang="zh-TW" sz="1800" i="0" u="none" baseline="-25000">
                <a:solidFill>
                  <a:srgbClr val="FF0000"/>
                </a:solidFill>
              </a:rPr>
              <a:t>2</a:t>
            </a:r>
            <a:endParaRPr lang="en-US" altLang="zh-TW" i="0" u="none">
              <a:solidFill>
                <a:srgbClr val="FF0000"/>
              </a:solidFill>
            </a:endParaRPr>
          </a:p>
        </p:txBody>
      </p:sp>
      <p:sp>
        <p:nvSpPr>
          <p:cNvPr id="29704" name="Rectangle 14"/>
          <p:cNvSpPr>
            <a:spLocks noChangeArrowheads="1"/>
          </p:cNvSpPr>
          <p:nvPr/>
        </p:nvSpPr>
        <p:spPr bwMode="auto">
          <a:xfrm>
            <a:off x="7924800" y="6184900"/>
            <a:ext cx="690563" cy="381000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 i="0" u="none"/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3086101" y="2171700"/>
          <a:ext cx="1466849" cy="4404360"/>
        </p:xfrm>
        <a:graphic>
          <a:graphicData uri="http://schemas.openxmlformats.org/drawingml/2006/table">
            <a:tbl>
              <a:tblPr/>
              <a:tblGrid>
                <a:gridCol w="366455"/>
                <a:gridCol w="366455"/>
                <a:gridCol w="367484"/>
                <a:gridCol w="366455"/>
              </a:tblGrid>
              <a:tr h="186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</a:t>
                      </a:r>
                      <a:r>
                        <a:rPr kumimoji="0" lang="en-US" altLang="zh-TW" sz="11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3</a:t>
                      </a:r>
                      <a:endParaRPr kumimoji="0" lang="zh-TW" altLang="en-US" sz="1100" b="0" i="0" u="none" strike="noStrike" cap="none" normalizeH="0" baseline="-2500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</a:t>
                      </a:r>
                      <a:r>
                        <a:rPr kumimoji="0" lang="en-US" altLang="zh-TW" sz="1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2</a:t>
                      </a:r>
                      <a:endParaRPr kumimoji="0" lang="zh-TW" altLang="en-US" sz="11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</a:t>
                      </a:r>
                      <a:r>
                        <a:rPr kumimoji="0" lang="en-US" altLang="zh-TW" sz="1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</a:t>
                      </a:r>
                      <a:r>
                        <a:rPr kumimoji="0" lang="en-US" altLang="zh-TW" sz="1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6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6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6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6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6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6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6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6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6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6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6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6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6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6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6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601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29798" name="直線單箭頭接點 10"/>
          <p:cNvCxnSpPr>
            <a:cxnSpLocks noChangeShapeType="1"/>
          </p:cNvCxnSpPr>
          <p:nvPr/>
        </p:nvCxnSpPr>
        <p:spPr bwMode="auto">
          <a:xfrm rot="5400000" flipH="1" flipV="1">
            <a:off x="2974182" y="4372769"/>
            <a:ext cx="4046537" cy="9525"/>
          </a:xfrm>
          <a:prstGeom prst="straightConnector1">
            <a:avLst/>
          </a:prstGeom>
          <a:noFill/>
          <a:ln w="44450" algn="ctr">
            <a:solidFill>
              <a:srgbClr val="FF0000"/>
            </a:solidFill>
            <a:round/>
            <a:headEnd type="triangle" w="med" len="med"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12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3460750" y="130175"/>
            <a:ext cx="5162550" cy="664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3" name="標題 12"/>
          <p:cNvSpPr>
            <a:spLocks noGrp="1"/>
          </p:cNvSpPr>
          <p:nvPr>
            <p:ph type="title"/>
          </p:nvPr>
        </p:nvSpPr>
        <p:spPr>
          <a:xfrm>
            <a:off x="171450" y="423863"/>
            <a:ext cx="3276600" cy="609600"/>
          </a:xfrm>
        </p:spPr>
        <p:txBody>
          <a:bodyPr>
            <a:noAutofit/>
          </a:bodyPr>
          <a:lstStyle/>
          <a:p>
            <a:pPr algn="l"/>
            <a:r>
              <a:rPr lang="zh-TW" altLang="en-US" dirty="0" smtClean="0">
                <a:latin typeface="+mn-lt"/>
              </a:rPr>
              <a:t>4-</a:t>
            </a:r>
            <a:r>
              <a:rPr lang="en-US" altLang="zh-TW" dirty="0" smtClean="0">
                <a:latin typeface="+mn-lt"/>
              </a:rPr>
              <a:t>bit Up/Down Binary Counter</a:t>
            </a:r>
            <a:endParaRPr lang="zh-TW" altLang="en-US" dirty="0" smtClean="0">
              <a:latin typeface="+mn-lt"/>
            </a:endParaRPr>
          </a:p>
        </p:txBody>
      </p:sp>
      <p:sp>
        <p:nvSpPr>
          <p:cNvPr id="30724" name="Text Box 13"/>
          <p:cNvSpPr txBox="1">
            <a:spLocks noChangeArrowheads="1"/>
          </p:cNvSpPr>
          <p:nvPr/>
        </p:nvSpPr>
        <p:spPr bwMode="auto">
          <a:xfrm>
            <a:off x="5910263" y="1108075"/>
            <a:ext cx="388937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600" i="0" u="none">
                <a:solidFill>
                  <a:srgbClr val="1B1BFF"/>
                </a:solidFill>
              </a:rPr>
              <a:t>up</a:t>
            </a:r>
            <a:endParaRPr lang="en-US" altLang="zh-TW" i="0" u="none">
              <a:solidFill>
                <a:srgbClr val="1B1BFF"/>
              </a:solidFill>
            </a:endParaRPr>
          </a:p>
        </p:txBody>
      </p:sp>
      <p:sp>
        <p:nvSpPr>
          <p:cNvPr id="30725" name="Text Box 14"/>
          <p:cNvSpPr txBox="1">
            <a:spLocks noChangeArrowheads="1"/>
          </p:cNvSpPr>
          <p:nvPr/>
        </p:nvSpPr>
        <p:spPr bwMode="auto">
          <a:xfrm>
            <a:off x="4829175" y="1125538"/>
            <a:ext cx="639763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600" i="0" u="none">
                <a:solidFill>
                  <a:srgbClr val="1B1BFF"/>
                </a:solidFill>
              </a:rPr>
              <a:t>down</a:t>
            </a:r>
            <a:endParaRPr lang="en-US" altLang="zh-TW" i="0" u="none">
              <a:solidFill>
                <a:srgbClr val="1B1BFF"/>
              </a:solidFill>
            </a:endParaRPr>
          </a:p>
        </p:txBody>
      </p:sp>
      <p:sp>
        <p:nvSpPr>
          <p:cNvPr id="30726" name="Text Box 15"/>
          <p:cNvSpPr txBox="1">
            <a:spLocks noChangeArrowheads="1"/>
          </p:cNvSpPr>
          <p:nvPr/>
        </p:nvSpPr>
        <p:spPr bwMode="auto">
          <a:xfrm>
            <a:off x="4470400" y="1938338"/>
            <a:ext cx="93345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600" i="0" u="none">
                <a:solidFill>
                  <a:srgbClr val="FF0000"/>
                </a:solidFill>
              </a:rPr>
              <a:t>down </a:t>
            </a:r>
            <a:r>
              <a:rPr lang="en-US" altLang="zh-TW" sz="1600" u="none">
                <a:solidFill>
                  <a:srgbClr val="FF0000"/>
                </a:solidFill>
              </a:rPr>
              <a:t>A'</a:t>
            </a:r>
            <a:r>
              <a:rPr lang="en-US" altLang="zh-TW" sz="1600" i="0" u="none" baseline="-25000">
                <a:solidFill>
                  <a:srgbClr val="FF0000"/>
                </a:solidFill>
              </a:rPr>
              <a:t>0</a:t>
            </a:r>
            <a:endParaRPr lang="en-US" altLang="zh-TW" i="0" u="none">
              <a:solidFill>
                <a:srgbClr val="FF0000"/>
              </a:solidFill>
            </a:endParaRPr>
          </a:p>
        </p:txBody>
      </p:sp>
      <p:sp>
        <p:nvSpPr>
          <p:cNvPr id="30727" name="Text Box 16"/>
          <p:cNvSpPr txBox="1">
            <a:spLocks noChangeArrowheads="1"/>
          </p:cNvSpPr>
          <p:nvPr/>
        </p:nvSpPr>
        <p:spPr bwMode="auto">
          <a:xfrm>
            <a:off x="4267200" y="3652838"/>
            <a:ext cx="12128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600" i="0" u="none">
                <a:solidFill>
                  <a:srgbClr val="FF0000"/>
                </a:solidFill>
              </a:rPr>
              <a:t>down </a:t>
            </a:r>
            <a:r>
              <a:rPr lang="en-US" altLang="zh-TW" sz="1600" u="none">
                <a:solidFill>
                  <a:srgbClr val="FF0000"/>
                </a:solidFill>
              </a:rPr>
              <a:t>A'</a:t>
            </a:r>
            <a:r>
              <a:rPr lang="en-US" altLang="zh-TW" sz="1600" i="0" u="none" baseline="-25000">
                <a:solidFill>
                  <a:srgbClr val="FF0000"/>
                </a:solidFill>
              </a:rPr>
              <a:t>0 </a:t>
            </a:r>
            <a:r>
              <a:rPr lang="en-US" altLang="zh-TW" sz="1600" u="none">
                <a:solidFill>
                  <a:srgbClr val="FF0000"/>
                </a:solidFill>
              </a:rPr>
              <a:t>A'</a:t>
            </a:r>
            <a:r>
              <a:rPr lang="en-US" altLang="zh-TW" sz="1600" i="0" u="none" baseline="-25000">
                <a:solidFill>
                  <a:srgbClr val="FF0000"/>
                </a:solidFill>
              </a:rPr>
              <a:t>1</a:t>
            </a:r>
            <a:endParaRPr lang="en-US" altLang="zh-TW" i="0" u="none">
              <a:solidFill>
                <a:srgbClr val="FF0000"/>
              </a:solidFill>
            </a:endParaRPr>
          </a:p>
        </p:txBody>
      </p:sp>
      <p:sp>
        <p:nvSpPr>
          <p:cNvPr id="30728" name="Text Box 17"/>
          <p:cNvSpPr txBox="1">
            <a:spLocks noChangeArrowheads="1"/>
          </p:cNvSpPr>
          <p:nvPr/>
        </p:nvSpPr>
        <p:spPr bwMode="auto">
          <a:xfrm>
            <a:off x="4057650" y="5435600"/>
            <a:ext cx="149225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600" i="0" u="none">
                <a:solidFill>
                  <a:srgbClr val="FF0000"/>
                </a:solidFill>
              </a:rPr>
              <a:t>down </a:t>
            </a:r>
            <a:r>
              <a:rPr lang="en-US" altLang="zh-TW" sz="1600" u="none">
                <a:solidFill>
                  <a:srgbClr val="FF0000"/>
                </a:solidFill>
              </a:rPr>
              <a:t>A'</a:t>
            </a:r>
            <a:r>
              <a:rPr lang="en-US" altLang="zh-TW" sz="1600" i="0" u="none" baseline="-25000">
                <a:solidFill>
                  <a:srgbClr val="FF0000"/>
                </a:solidFill>
              </a:rPr>
              <a:t>0 </a:t>
            </a:r>
            <a:r>
              <a:rPr lang="en-US" altLang="zh-TW" sz="1600" u="none">
                <a:solidFill>
                  <a:srgbClr val="FF0000"/>
                </a:solidFill>
              </a:rPr>
              <a:t>A'</a:t>
            </a:r>
            <a:r>
              <a:rPr lang="en-US" altLang="zh-TW" sz="1600" i="0" u="none" baseline="-25000">
                <a:solidFill>
                  <a:srgbClr val="FF0000"/>
                </a:solidFill>
              </a:rPr>
              <a:t>1 </a:t>
            </a:r>
            <a:r>
              <a:rPr lang="en-US" altLang="zh-TW" sz="1600" u="none">
                <a:solidFill>
                  <a:srgbClr val="FF0000"/>
                </a:solidFill>
              </a:rPr>
              <a:t>A'</a:t>
            </a:r>
            <a:r>
              <a:rPr lang="en-US" altLang="zh-TW" sz="1600" i="0" u="none" baseline="-25000">
                <a:solidFill>
                  <a:srgbClr val="FF0000"/>
                </a:solidFill>
              </a:rPr>
              <a:t>2</a:t>
            </a:r>
            <a:endParaRPr lang="en-US" altLang="zh-TW" i="0" u="none">
              <a:solidFill>
                <a:srgbClr val="FF0000"/>
              </a:solidFill>
            </a:endParaRPr>
          </a:p>
        </p:txBody>
      </p:sp>
      <p:sp>
        <p:nvSpPr>
          <p:cNvPr id="30729" name="Text Box 18"/>
          <p:cNvSpPr txBox="1">
            <a:spLocks noChangeArrowheads="1"/>
          </p:cNvSpPr>
          <p:nvPr/>
        </p:nvSpPr>
        <p:spPr bwMode="auto">
          <a:xfrm>
            <a:off x="6126163" y="1920875"/>
            <a:ext cx="646112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600" i="0" u="none">
                <a:solidFill>
                  <a:srgbClr val="FF0000"/>
                </a:solidFill>
              </a:rPr>
              <a:t>up </a:t>
            </a:r>
            <a:r>
              <a:rPr lang="en-US" altLang="zh-TW" sz="1600" u="none">
                <a:solidFill>
                  <a:srgbClr val="FF0000"/>
                </a:solidFill>
              </a:rPr>
              <a:t>A</a:t>
            </a:r>
            <a:r>
              <a:rPr lang="en-US" altLang="zh-TW" sz="1600" i="0" u="none" baseline="-25000">
                <a:solidFill>
                  <a:srgbClr val="FF0000"/>
                </a:solidFill>
              </a:rPr>
              <a:t>0</a:t>
            </a:r>
            <a:endParaRPr lang="en-US" altLang="zh-TW" i="0" u="none">
              <a:solidFill>
                <a:srgbClr val="FF0000"/>
              </a:solidFill>
            </a:endParaRPr>
          </a:p>
        </p:txBody>
      </p:sp>
      <p:sp>
        <p:nvSpPr>
          <p:cNvPr id="30730" name="Text Box 19"/>
          <p:cNvSpPr txBox="1">
            <a:spLocks noChangeArrowheads="1"/>
          </p:cNvSpPr>
          <p:nvPr/>
        </p:nvSpPr>
        <p:spPr bwMode="auto">
          <a:xfrm>
            <a:off x="6213475" y="3662363"/>
            <a:ext cx="889000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600" i="0" u="none">
                <a:solidFill>
                  <a:srgbClr val="FF0000"/>
                </a:solidFill>
              </a:rPr>
              <a:t>up </a:t>
            </a:r>
            <a:r>
              <a:rPr lang="en-US" altLang="zh-TW" sz="1600" u="none">
                <a:solidFill>
                  <a:srgbClr val="FF0000"/>
                </a:solidFill>
              </a:rPr>
              <a:t>A</a:t>
            </a:r>
            <a:r>
              <a:rPr lang="en-US" altLang="zh-TW" sz="1600" i="0" u="none" baseline="-25000">
                <a:solidFill>
                  <a:srgbClr val="FF0000"/>
                </a:solidFill>
              </a:rPr>
              <a:t>0 </a:t>
            </a:r>
            <a:r>
              <a:rPr lang="en-US" altLang="zh-TW" sz="1600" u="none">
                <a:solidFill>
                  <a:srgbClr val="FF0000"/>
                </a:solidFill>
              </a:rPr>
              <a:t>A</a:t>
            </a:r>
            <a:r>
              <a:rPr lang="en-US" altLang="zh-TW" sz="1600" i="0" u="none" baseline="-25000">
                <a:solidFill>
                  <a:srgbClr val="FF0000"/>
                </a:solidFill>
              </a:rPr>
              <a:t>1</a:t>
            </a:r>
            <a:endParaRPr lang="en-US" altLang="zh-TW" i="0" u="none">
              <a:solidFill>
                <a:srgbClr val="FF0000"/>
              </a:solidFill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109663" y="2284413"/>
          <a:ext cx="2262187" cy="4404360"/>
        </p:xfrm>
        <a:graphic>
          <a:graphicData uri="http://schemas.openxmlformats.org/drawingml/2006/table">
            <a:tbl>
              <a:tblPr/>
              <a:tblGrid>
                <a:gridCol w="565150"/>
                <a:gridCol w="565150"/>
                <a:gridCol w="566737"/>
                <a:gridCol w="565150"/>
              </a:tblGrid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</a:t>
                      </a:r>
                      <a:r>
                        <a:rPr kumimoji="0" lang="en-US" altLang="zh-TW" sz="1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3</a:t>
                      </a:r>
                      <a:endParaRPr kumimoji="0" lang="zh-TW" altLang="en-US" sz="11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</a:t>
                      </a:r>
                      <a:r>
                        <a:rPr kumimoji="0" lang="en-US" altLang="zh-TW" sz="1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2</a:t>
                      </a:r>
                      <a:endParaRPr kumimoji="0" lang="zh-TW" altLang="en-US" sz="11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</a:t>
                      </a:r>
                      <a:r>
                        <a:rPr kumimoji="0" lang="en-US" altLang="zh-TW" sz="1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</a:t>
                      </a:r>
                      <a:r>
                        <a:rPr kumimoji="0" lang="en-US" altLang="zh-TW" sz="1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30824" name="直線單箭頭接點 15"/>
          <p:cNvCxnSpPr>
            <a:cxnSpLocks noChangeShapeType="1"/>
          </p:cNvCxnSpPr>
          <p:nvPr/>
        </p:nvCxnSpPr>
        <p:spPr bwMode="auto">
          <a:xfrm rot="5400000" flipH="1" flipV="1">
            <a:off x="-1062831" y="4650582"/>
            <a:ext cx="4048125" cy="7937"/>
          </a:xfrm>
          <a:prstGeom prst="straightConnector1">
            <a:avLst/>
          </a:prstGeom>
          <a:noFill/>
          <a:ln w="44450" algn="ctr">
            <a:solidFill>
              <a:srgbClr val="FF0000"/>
            </a:solidFill>
            <a:round/>
            <a:headEnd type="none" w="sm" len="sm"/>
            <a:tailEnd type="triangle" w="med" len="med"/>
          </a:ln>
        </p:spPr>
      </p:cxn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1252538" y="1073150"/>
          <a:ext cx="1938337" cy="1066800"/>
        </p:xfrm>
        <a:graphic>
          <a:graphicData uri="http://schemas.openxmlformats.org/drawingml/2006/table">
            <a:tbl>
              <a:tblPr/>
              <a:tblGrid>
                <a:gridCol w="460375"/>
                <a:gridCol w="471487"/>
                <a:gridCol w="1006475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Up</a:t>
                      </a:r>
                      <a:endParaRPr kumimoji="0" lang="zh-TW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Down</a:t>
                      </a:r>
                      <a:endParaRPr kumimoji="0" lang="zh-TW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Function</a:t>
                      </a:r>
                      <a:endParaRPr kumimoji="0" lang="zh-TW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No change</a:t>
                      </a:r>
                      <a:endParaRPr kumimoji="0" lang="zh-TW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Down Count</a:t>
                      </a:r>
                      <a:endParaRPr kumimoji="0" lang="zh-TW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Up Count</a:t>
                      </a:r>
                      <a:endParaRPr kumimoji="0" lang="zh-TW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Up Count</a:t>
                      </a:r>
                      <a:endParaRPr kumimoji="0" lang="zh-TW" altLang="en-US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851" name="Text Box 17"/>
          <p:cNvSpPr txBox="1">
            <a:spLocks noChangeArrowheads="1"/>
          </p:cNvSpPr>
          <p:nvPr/>
        </p:nvSpPr>
        <p:spPr bwMode="auto">
          <a:xfrm>
            <a:off x="6267450" y="5435600"/>
            <a:ext cx="11334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600" i="0" u="none">
                <a:solidFill>
                  <a:srgbClr val="FF0000"/>
                </a:solidFill>
              </a:rPr>
              <a:t>up </a:t>
            </a:r>
            <a:r>
              <a:rPr lang="en-US" altLang="zh-TW" sz="1600" u="none">
                <a:solidFill>
                  <a:srgbClr val="FF0000"/>
                </a:solidFill>
              </a:rPr>
              <a:t>A</a:t>
            </a:r>
            <a:r>
              <a:rPr lang="en-US" altLang="zh-TW" sz="1600" i="0" u="none" baseline="-25000">
                <a:solidFill>
                  <a:srgbClr val="FF0000"/>
                </a:solidFill>
              </a:rPr>
              <a:t>0 </a:t>
            </a:r>
            <a:r>
              <a:rPr lang="en-US" altLang="zh-TW" sz="1600" u="none">
                <a:solidFill>
                  <a:srgbClr val="FF0000"/>
                </a:solidFill>
              </a:rPr>
              <a:t>A</a:t>
            </a:r>
            <a:r>
              <a:rPr lang="en-US" altLang="zh-TW" sz="1600" i="0" u="none" baseline="-25000">
                <a:solidFill>
                  <a:srgbClr val="FF0000"/>
                </a:solidFill>
              </a:rPr>
              <a:t>1 </a:t>
            </a:r>
            <a:r>
              <a:rPr lang="en-US" altLang="zh-TW" sz="1600" u="none">
                <a:solidFill>
                  <a:srgbClr val="FF0000"/>
                </a:solidFill>
              </a:rPr>
              <a:t>A</a:t>
            </a:r>
            <a:r>
              <a:rPr lang="en-US" altLang="zh-TW" sz="1600" i="0" u="none" baseline="-25000">
                <a:solidFill>
                  <a:srgbClr val="FF0000"/>
                </a:solidFill>
              </a:rPr>
              <a:t>2</a:t>
            </a:r>
            <a:endParaRPr lang="en-US" altLang="zh-TW" i="0" u="none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BCD Counters</a:t>
            </a:r>
            <a:endParaRPr lang="zh-TW" altLang="en-US" dirty="0" smtClean="0"/>
          </a:p>
        </p:txBody>
      </p:sp>
      <p:sp>
        <p:nvSpPr>
          <p:cNvPr id="3174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smtClean="0">
              <a:solidFill>
                <a:schemeClr val="hlink"/>
              </a:solidFill>
              <a:sym typeface="Symbol" pitchFamily="18" charset="2"/>
            </a:endParaRPr>
          </a:p>
          <a:p>
            <a:endParaRPr lang="en-US" altLang="zh-TW" smtClean="0">
              <a:solidFill>
                <a:schemeClr val="hlink"/>
              </a:solidFill>
              <a:sym typeface="Symbol" pitchFamily="18" charset="2"/>
            </a:endParaRPr>
          </a:p>
          <a:p>
            <a:endParaRPr lang="en-US" altLang="zh-TW" smtClean="0">
              <a:solidFill>
                <a:schemeClr val="hlink"/>
              </a:solidFill>
              <a:sym typeface="Symbol" pitchFamily="18" charset="2"/>
            </a:endParaRPr>
          </a:p>
          <a:p>
            <a:endParaRPr lang="en-US" altLang="zh-TW" smtClean="0">
              <a:solidFill>
                <a:schemeClr val="hlink"/>
              </a:solidFill>
              <a:sym typeface="Symbol" pitchFamily="18" charset="2"/>
            </a:endParaRPr>
          </a:p>
          <a:p>
            <a:endParaRPr lang="en-US" altLang="zh-TW" smtClean="0">
              <a:solidFill>
                <a:schemeClr val="hlink"/>
              </a:solidFill>
              <a:sym typeface="Symbol" pitchFamily="18" charset="2"/>
            </a:endParaRPr>
          </a:p>
          <a:p>
            <a:endParaRPr lang="en-US" altLang="zh-TW" smtClean="0">
              <a:solidFill>
                <a:schemeClr val="hlink"/>
              </a:solidFill>
              <a:sym typeface="Symbol" pitchFamily="18" charset="2"/>
            </a:endParaRPr>
          </a:p>
          <a:p>
            <a:endParaRPr lang="en-US" altLang="zh-TW" smtClean="0">
              <a:solidFill>
                <a:schemeClr val="hlink"/>
              </a:solidFill>
              <a:sym typeface="Symbol" pitchFamily="18" charset="2"/>
            </a:endParaRPr>
          </a:p>
          <a:p>
            <a:endParaRPr lang="en-US" altLang="zh-TW" sz="1200" smtClean="0">
              <a:solidFill>
                <a:schemeClr val="hlink"/>
              </a:solidFill>
              <a:sym typeface="Symbol" pitchFamily="18" charset="2"/>
            </a:endParaRPr>
          </a:p>
          <a:p>
            <a:r>
              <a:rPr lang="en-US" altLang="zh-TW" smtClean="0"/>
              <a:t>Simplified functions</a:t>
            </a:r>
          </a:p>
          <a:p>
            <a:endParaRPr lang="zh-TW" altLang="en-US" smtClean="0"/>
          </a:p>
        </p:txBody>
      </p:sp>
      <p:pic>
        <p:nvPicPr>
          <p:cNvPr id="31748" name="Picture 5"/>
          <p:cNvPicPr>
            <a:picLocks noChangeAspect="1" noChangeArrowheads="1"/>
          </p:cNvPicPr>
          <p:nvPr/>
        </p:nvPicPr>
        <p:blipFill>
          <a:blip r:embed="rId2" cstate="print">
            <a:lum bright="-6000" contrast="24000"/>
          </a:blip>
          <a:srcRect/>
          <a:stretch>
            <a:fillRect/>
          </a:stretch>
        </p:blipFill>
        <p:spPr bwMode="auto">
          <a:xfrm>
            <a:off x="1516063" y="1711325"/>
            <a:ext cx="6061075" cy="317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49" name="Picture 6"/>
          <p:cNvPicPr>
            <a:picLocks noChangeAspect="1" noChangeArrowheads="1"/>
          </p:cNvPicPr>
          <p:nvPr/>
        </p:nvPicPr>
        <p:blipFill>
          <a:blip r:embed="rId3" cstate="print">
            <a:lum bright="-6000" contrast="24000"/>
          </a:blip>
          <a:srcRect/>
          <a:stretch>
            <a:fillRect/>
          </a:stretch>
        </p:blipFill>
        <p:spPr bwMode="auto">
          <a:xfrm>
            <a:off x="2373313" y="5529263"/>
            <a:ext cx="1379537" cy="728662"/>
          </a:xfrm>
          <a:prstGeom prst="rect">
            <a:avLst/>
          </a:prstGeom>
          <a:noFill/>
          <a:ln w="28575">
            <a:solidFill>
              <a:srgbClr val="009900"/>
            </a:solidFill>
            <a:miter lim="800000"/>
            <a:headEnd/>
            <a:tailEnd/>
          </a:ln>
        </p:spPr>
      </p:pic>
      <p:pic>
        <p:nvPicPr>
          <p:cNvPr id="31750" name="Picture 7"/>
          <p:cNvPicPr>
            <a:picLocks noChangeAspect="1" noChangeArrowheads="1"/>
          </p:cNvPicPr>
          <p:nvPr/>
        </p:nvPicPr>
        <p:blipFill>
          <a:blip r:embed="rId4" cstate="print">
            <a:lum bright="-6000" contrast="24000"/>
          </a:blip>
          <a:srcRect/>
          <a:stretch>
            <a:fillRect/>
          </a:stretch>
        </p:blipFill>
        <p:spPr bwMode="auto">
          <a:xfrm>
            <a:off x="4567238" y="5543550"/>
            <a:ext cx="2520950" cy="1220788"/>
          </a:xfrm>
          <a:prstGeom prst="rect">
            <a:avLst/>
          </a:prstGeom>
          <a:noFill/>
          <a:ln w="28575">
            <a:solidFill>
              <a:srgbClr val="0099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dirty="0" smtClean="0"/>
              <a:t>4-</a:t>
            </a:r>
            <a:r>
              <a:rPr lang="en-US" altLang="zh-TW" dirty="0" smtClean="0"/>
              <a:t>bit binary counter </a:t>
            </a:r>
            <a:br>
              <a:rPr lang="en-US" altLang="zh-TW" dirty="0" smtClean="0"/>
            </a:br>
            <a:r>
              <a:rPr lang="en-US" altLang="zh-TW" dirty="0" smtClean="0"/>
              <a:t>with parallel load</a:t>
            </a:r>
            <a:endParaRPr lang="zh-TW" altLang="en-US" dirty="0" smtClean="0"/>
          </a:p>
        </p:txBody>
      </p:sp>
      <p:sp>
        <p:nvSpPr>
          <p:cNvPr id="3277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 smtClean="0"/>
          </a:p>
        </p:txBody>
      </p:sp>
      <p:pic>
        <p:nvPicPr>
          <p:cNvPr id="32772" name="Picture 1029"/>
          <p:cNvPicPr>
            <a:picLocks noChangeAspect="1" noChangeArrowheads="1"/>
          </p:cNvPicPr>
          <p:nvPr/>
        </p:nvPicPr>
        <p:blipFill>
          <a:blip r:embed="rId2" cstate="print">
            <a:lum bright="-6000" contrast="24000"/>
          </a:blip>
          <a:srcRect/>
          <a:stretch>
            <a:fillRect/>
          </a:stretch>
        </p:blipFill>
        <p:spPr bwMode="auto">
          <a:xfrm>
            <a:off x="1233488" y="1916113"/>
            <a:ext cx="6511925" cy="234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3" name="Picture 1030"/>
          <p:cNvPicPr>
            <a:picLocks noChangeAspect="1" noChangeArrowheads="1"/>
          </p:cNvPicPr>
          <p:nvPr/>
        </p:nvPicPr>
        <p:blipFill>
          <a:blip r:embed="rId3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2419350" y="4391025"/>
            <a:ext cx="4133850" cy="199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4" name="Text Box 1031"/>
          <p:cNvSpPr txBox="1">
            <a:spLocks noChangeArrowheads="1"/>
          </p:cNvSpPr>
          <p:nvPr/>
        </p:nvSpPr>
        <p:spPr bwMode="auto">
          <a:xfrm>
            <a:off x="1208088" y="6438900"/>
            <a:ext cx="65452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1800" i="0" u="none" dirty="0">
                <a:solidFill>
                  <a:schemeClr val="tx1"/>
                </a:solidFill>
              </a:rPr>
              <a:t>Fig. 6.14  Four-bit binary counter with parallel load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11"/>
          <p:cNvPicPr>
            <a:picLocks noChangeAspect="1" noChangeArrowheads="1"/>
          </p:cNvPicPr>
          <p:nvPr/>
        </p:nvPicPr>
        <p:blipFill>
          <a:blip r:embed="rId2" cstate="print">
            <a:lum bright="-18000" contrast="30000"/>
          </a:blip>
          <a:srcRect/>
          <a:stretch>
            <a:fillRect/>
          </a:stretch>
        </p:blipFill>
        <p:spPr bwMode="auto">
          <a:xfrm>
            <a:off x="2622550" y="180975"/>
            <a:ext cx="6238875" cy="654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5" name="Text Box 12"/>
          <p:cNvSpPr txBox="1">
            <a:spLocks noChangeArrowheads="1"/>
          </p:cNvSpPr>
          <p:nvPr/>
        </p:nvSpPr>
        <p:spPr bwMode="auto">
          <a:xfrm>
            <a:off x="2598738" y="5370513"/>
            <a:ext cx="7096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u="none">
                <a:solidFill>
                  <a:srgbClr val="FF0000"/>
                </a:solidFill>
              </a:rPr>
              <a:t>async</a:t>
            </a:r>
          </a:p>
        </p:txBody>
      </p:sp>
      <p:sp>
        <p:nvSpPr>
          <p:cNvPr id="33796" name="Text Box 13"/>
          <p:cNvSpPr txBox="1">
            <a:spLocks noChangeArrowheads="1"/>
          </p:cNvSpPr>
          <p:nvPr/>
        </p:nvSpPr>
        <p:spPr bwMode="auto">
          <a:xfrm>
            <a:off x="4997450" y="379413"/>
            <a:ext cx="12160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u="none">
                <a:solidFill>
                  <a:srgbClr val="FF0000"/>
                </a:solidFill>
              </a:rPr>
              <a:t>count load'</a:t>
            </a:r>
          </a:p>
        </p:txBody>
      </p:sp>
      <p:sp>
        <p:nvSpPr>
          <p:cNvPr id="33797" name="Text Box 14"/>
          <p:cNvSpPr txBox="1">
            <a:spLocks noChangeArrowheads="1"/>
          </p:cNvSpPr>
          <p:nvPr/>
        </p:nvSpPr>
        <p:spPr bwMode="auto">
          <a:xfrm>
            <a:off x="4241800" y="581025"/>
            <a:ext cx="5953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u="none">
                <a:solidFill>
                  <a:srgbClr val="FF0000"/>
                </a:solidFill>
              </a:rPr>
              <a:t>load</a:t>
            </a:r>
          </a:p>
        </p:txBody>
      </p:sp>
      <p:sp>
        <p:nvSpPr>
          <p:cNvPr id="33798" name="Text Box 15"/>
          <p:cNvSpPr txBox="1">
            <a:spLocks noChangeArrowheads="1"/>
          </p:cNvSpPr>
          <p:nvPr/>
        </p:nvSpPr>
        <p:spPr bwMode="auto">
          <a:xfrm>
            <a:off x="4999038" y="727075"/>
            <a:ext cx="6207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u="none">
                <a:solidFill>
                  <a:srgbClr val="FF0000"/>
                </a:solidFill>
              </a:rPr>
              <a:t>c_en</a:t>
            </a:r>
          </a:p>
        </p:txBody>
      </p:sp>
      <p:sp>
        <p:nvSpPr>
          <p:cNvPr id="33799" name="Text Box 16"/>
          <p:cNvSpPr txBox="1">
            <a:spLocks noChangeArrowheads="1"/>
          </p:cNvSpPr>
          <p:nvPr/>
        </p:nvSpPr>
        <p:spPr bwMode="auto">
          <a:xfrm>
            <a:off x="5208588" y="2154238"/>
            <a:ext cx="89217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sz="1800" u="none">
                <a:solidFill>
                  <a:srgbClr val="FF0000"/>
                </a:solidFill>
              </a:rPr>
              <a:t>c_en A</a:t>
            </a:r>
            <a:r>
              <a:rPr lang="en-US" altLang="zh-TW" sz="1800" u="none" baseline="-25000">
                <a:solidFill>
                  <a:srgbClr val="FF0000"/>
                </a:solidFill>
              </a:rPr>
              <a:t>0</a:t>
            </a:r>
            <a:endParaRPr lang="en-US" altLang="zh-TW" sz="1800" u="none">
              <a:solidFill>
                <a:srgbClr val="FF0000"/>
              </a:solidFill>
            </a:endParaRPr>
          </a:p>
        </p:txBody>
      </p:sp>
      <p:sp>
        <p:nvSpPr>
          <p:cNvPr id="33800" name="Rectangle 18"/>
          <p:cNvSpPr>
            <a:spLocks noChangeArrowheads="1"/>
          </p:cNvSpPr>
          <p:nvPr/>
        </p:nvSpPr>
        <p:spPr bwMode="auto">
          <a:xfrm>
            <a:off x="6421438" y="180975"/>
            <a:ext cx="474662" cy="24923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33801" name="Text Box 17"/>
          <p:cNvSpPr txBox="1">
            <a:spLocks noChangeArrowheads="1"/>
          </p:cNvSpPr>
          <p:nvPr/>
        </p:nvSpPr>
        <p:spPr bwMode="auto">
          <a:xfrm>
            <a:off x="161925" y="6083300"/>
            <a:ext cx="4633913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1800" i="0" u="none" dirty="0">
                <a:solidFill>
                  <a:schemeClr val="tx1"/>
                </a:solidFill>
              </a:rPr>
              <a:t>Fig. 6.14  </a:t>
            </a:r>
          </a:p>
          <a:p>
            <a:r>
              <a:rPr lang="en-US" altLang="zh-TW" sz="1800" i="0" u="none" dirty="0">
                <a:solidFill>
                  <a:schemeClr val="tx1"/>
                </a:solidFill>
              </a:rPr>
              <a:t>Four-bit binary counter with parallel </a:t>
            </a:r>
            <a:r>
              <a:rPr lang="en-US" altLang="zh-TW" sz="1800" i="0" u="none" dirty="0" smtClean="0">
                <a:solidFill>
                  <a:schemeClr val="tx1"/>
                </a:solidFill>
              </a:rPr>
              <a:t>load</a:t>
            </a:r>
            <a:endParaRPr lang="en-US" altLang="zh-TW" sz="1800" i="0" u="none" dirty="0">
              <a:solidFill>
                <a:schemeClr val="tx1"/>
              </a:solidFill>
            </a:endParaRPr>
          </a:p>
        </p:txBody>
      </p:sp>
      <p:sp>
        <p:nvSpPr>
          <p:cNvPr id="33802" name="橢圓 10"/>
          <p:cNvSpPr>
            <a:spLocks noChangeArrowheads="1"/>
          </p:cNvSpPr>
          <p:nvPr/>
        </p:nvSpPr>
        <p:spPr bwMode="auto">
          <a:xfrm>
            <a:off x="8302625" y="6059488"/>
            <a:ext cx="638175" cy="493712"/>
          </a:xfrm>
          <a:prstGeom prst="ellipse">
            <a:avLst/>
          </a:prstGeom>
          <a:noFill/>
          <a:ln w="25400" algn="ctr">
            <a:solidFill>
              <a:srgbClr val="FF0000"/>
            </a:solidFill>
            <a:prstDash val="sysDash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z="3300" dirty="0" smtClean="0">
                <a:solidFill>
                  <a:schemeClr val="tx1"/>
                </a:solidFill>
              </a:rPr>
              <a:t/>
            </a:r>
            <a:br>
              <a:rPr lang="en-US" altLang="zh-TW" sz="3300" dirty="0" smtClean="0">
                <a:solidFill>
                  <a:schemeClr val="tx1"/>
                </a:solidFill>
              </a:rPr>
            </a:br>
            <a:r>
              <a:rPr lang="en-US" altLang="zh-TW" sz="3300" dirty="0" smtClean="0">
                <a:solidFill>
                  <a:schemeClr val="tx1"/>
                </a:solidFill>
              </a:rPr>
              <a:t/>
            </a:r>
            <a:br>
              <a:rPr lang="en-US" altLang="zh-TW" sz="3300" dirty="0" smtClean="0">
                <a:solidFill>
                  <a:schemeClr val="tx1"/>
                </a:solidFill>
              </a:rPr>
            </a:br>
            <a:r>
              <a:rPr lang="en-US" altLang="zh-TW" sz="3300" dirty="0" smtClean="0"/>
              <a:t>BCD counter using a counter with parallel load</a:t>
            </a:r>
            <a:endParaRPr lang="zh-TW" altLang="en-US" dirty="0" smtClean="0"/>
          </a:p>
        </p:txBody>
      </p:sp>
      <p:sp>
        <p:nvSpPr>
          <p:cNvPr id="3481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/>
              <a:t>Generate any count sequence</a:t>
            </a:r>
          </a:p>
          <a:p>
            <a:pPr lvl="1"/>
            <a:r>
              <a:rPr lang="en-US" altLang="zh-TW" smtClean="0"/>
              <a:t>E.g.:  BCD counter </a:t>
            </a:r>
            <a:r>
              <a:rPr lang="en-US" altLang="zh-TW" smtClean="0">
                <a:sym typeface="Symbol" pitchFamily="18" charset="2"/>
              </a:rPr>
              <a:t> </a:t>
            </a:r>
            <a:r>
              <a:rPr lang="en-US" altLang="zh-TW" smtClean="0"/>
              <a:t>Counter with parallel load </a:t>
            </a:r>
          </a:p>
          <a:p>
            <a:endParaRPr lang="zh-TW" altLang="en-US" smtClean="0"/>
          </a:p>
        </p:txBody>
      </p:sp>
      <p:pic>
        <p:nvPicPr>
          <p:cNvPr id="34820" name="Picture 5"/>
          <p:cNvPicPr>
            <a:picLocks noChangeAspect="1" noChangeArrowheads="1"/>
          </p:cNvPicPr>
          <p:nvPr/>
        </p:nvPicPr>
        <p:blipFill>
          <a:blip r:embed="rId2" cstate="print">
            <a:lum bright="-18000" contrast="30000"/>
          </a:blip>
          <a:srcRect/>
          <a:stretch>
            <a:fillRect/>
          </a:stretch>
        </p:blipFill>
        <p:spPr bwMode="auto">
          <a:xfrm>
            <a:off x="560388" y="2527300"/>
            <a:ext cx="8032750" cy="328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21" name="Text Box 6"/>
          <p:cNvSpPr txBox="1">
            <a:spLocks noChangeArrowheads="1"/>
          </p:cNvSpPr>
          <p:nvPr/>
        </p:nvSpPr>
        <p:spPr bwMode="auto">
          <a:xfrm>
            <a:off x="741363" y="6022975"/>
            <a:ext cx="76644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sz="1800" i="0" u="none" dirty="0">
                <a:solidFill>
                  <a:schemeClr val="tx1"/>
                </a:solidFill>
              </a:rPr>
              <a:t>Fig. 6.15  Two ways to achieve a BCD counter using a counter with parallel load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Other Counters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Counters</a:t>
            </a:r>
          </a:p>
          <a:p>
            <a:pPr lvl="1"/>
            <a:r>
              <a:rPr lang="en-US" altLang="zh-TW" dirty="0" smtClean="0"/>
              <a:t>Can be designed to generate any desired sequence of states.</a:t>
            </a:r>
          </a:p>
          <a:p>
            <a:r>
              <a:rPr lang="en-US" altLang="zh-TW" dirty="0" smtClean="0"/>
              <a:t>Divide-by-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counter (modulo-N counter)</a:t>
            </a:r>
          </a:p>
          <a:p>
            <a:pPr lvl="1"/>
            <a:r>
              <a:rPr lang="en-US" altLang="zh-TW" dirty="0" smtClean="0"/>
              <a:t>A counter that goes through a repeated sequence of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 states.</a:t>
            </a:r>
          </a:p>
          <a:p>
            <a:pPr lvl="1"/>
            <a:r>
              <a:rPr lang="en-US" altLang="zh-TW" dirty="0" smtClean="0"/>
              <a:t>The sequence may follow the binary count or may be any other arbitrary sequence.</a:t>
            </a:r>
            <a:endParaRPr lang="zh-TW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3200" dirty="0" smtClean="0"/>
              <a:t>Counter with unsigned states</a:t>
            </a:r>
            <a:endParaRPr lang="zh-TW" altLang="en-US" dirty="0" smtClean="0"/>
          </a:p>
        </p:txBody>
      </p:sp>
      <p:sp>
        <p:nvSpPr>
          <p:cNvPr id="36867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circuit with </a:t>
            </a:r>
            <a:r>
              <a:rPr lang="en-US" i="1" dirty="0" smtClean="0"/>
              <a:t>n flip-flops has </a:t>
            </a:r>
            <a:r>
              <a:rPr lang="en-US" altLang="zh-TW" dirty="0" smtClean="0">
                <a:sym typeface="Symbol" pitchFamily="18" charset="2"/>
              </a:rPr>
              <a:t>2</a:t>
            </a:r>
            <a:r>
              <a:rPr lang="en-US" altLang="zh-TW" i="1" baseline="30000" dirty="0" smtClean="0">
                <a:sym typeface="Symbol" pitchFamily="18" charset="2"/>
              </a:rPr>
              <a:t>n</a:t>
            </a:r>
            <a:r>
              <a:rPr lang="en-US" i="1" dirty="0" smtClean="0"/>
              <a:t> states</a:t>
            </a:r>
          </a:p>
          <a:p>
            <a:pPr lvl="1"/>
            <a:r>
              <a:rPr lang="en-US" dirty="0" smtClean="0"/>
              <a:t>We may have to design a counter with a given sequence (unused states)</a:t>
            </a:r>
          </a:p>
          <a:p>
            <a:pPr lvl="1"/>
            <a:r>
              <a:rPr lang="en-US" dirty="0" smtClean="0"/>
              <a:t>Unused states may be treated as don’t care or assigned specific next state</a:t>
            </a:r>
          </a:p>
          <a:p>
            <a:pPr lvl="1"/>
            <a:r>
              <a:rPr lang="en-US" dirty="0" smtClean="0"/>
              <a:t>Outside noise may cause the counter to enter unused state</a:t>
            </a:r>
          </a:p>
          <a:p>
            <a:pPr lvl="1"/>
            <a:r>
              <a:rPr lang="en-US" dirty="0" smtClean="0"/>
              <a:t>Must ensure counter eventually goes to the valid state</a:t>
            </a:r>
            <a:endParaRPr lang="en-US" altLang="zh-TW" dirty="0" smtClean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 smtClean="0"/>
              <a:t>Counter with unsigned states</a:t>
            </a:r>
            <a:endParaRPr lang="zh-TW" altLang="en-US" dirty="0" smtClean="0"/>
          </a:p>
        </p:txBody>
      </p:sp>
      <p:sp>
        <p:nvSpPr>
          <p:cNvPr id="37891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zh-TW" sz="3400" dirty="0" smtClean="0"/>
              <a:t>An example</a:t>
            </a:r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endParaRPr lang="en-US" altLang="zh-TW" dirty="0" smtClean="0"/>
          </a:p>
          <a:p>
            <a:pPr>
              <a:buFont typeface="Wingdings" pitchFamily="2" charset="2"/>
              <a:buNone/>
            </a:pPr>
            <a:endParaRPr lang="en-US" altLang="zh-TW" dirty="0" smtClean="0"/>
          </a:p>
          <a:p>
            <a:pPr>
              <a:buFont typeface="Wingdings" pitchFamily="2" charset="2"/>
              <a:buNone/>
            </a:pPr>
            <a:endParaRPr lang="en-US" altLang="zh-TW" sz="1200" dirty="0" smtClean="0"/>
          </a:p>
          <a:p>
            <a:pPr>
              <a:buFont typeface="Wingdings" pitchFamily="2" charset="2"/>
              <a:buNone/>
            </a:pPr>
            <a:endParaRPr lang="en-US" altLang="zh-TW" sz="2600" dirty="0" smtClean="0"/>
          </a:p>
          <a:p>
            <a:pPr>
              <a:buFont typeface="Wingdings" pitchFamily="2" charset="2"/>
              <a:buNone/>
            </a:pPr>
            <a:endParaRPr lang="en-US" altLang="zh-TW" sz="2600" dirty="0" smtClean="0"/>
          </a:p>
          <a:p>
            <a:pPr lvl="1"/>
            <a:endParaRPr lang="en-US" altLang="zh-TW" sz="3800" dirty="0" smtClean="0"/>
          </a:p>
          <a:p>
            <a:pPr lvl="1"/>
            <a:r>
              <a:rPr lang="en-US" altLang="zh-TW" sz="3800" dirty="0" smtClean="0"/>
              <a:t>Two unused states:  011 &amp; 111</a:t>
            </a:r>
          </a:p>
          <a:p>
            <a:pPr lvl="1"/>
            <a:r>
              <a:rPr lang="en-US" altLang="zh-TW" sz="3800" dirty="0" smtClean="0"/>
              <a:t>The simplified flip-flop input equations:</a:t>
            </a:r>
          </a:p>
          <a:p>
            <a:pPr lvl="2"/>
            <a:r>
              <a:rPr lang="en-US" altLang="zh-TW" sz="3800" i="1" dirty="0" smtClean="0"/>
              <a:t>J</a:t>
            </a:r>
            <a:r>
              <a:rPr lang="en-US" altLang="zh-TW" sz="3800" i="1" baseline="-25000" dirty="0" smtClean="0"/>
              <a:t>A</a:t>
            </a:r>
            <a:r>
              <a:rPr lang="en-US" altLang="zh-TW" sz="3800" i="1" dirty="0" smtClean="0"/>
              <a:t> </a:t>
            </a:r>
            <a:r>
              <a:rPr lang="en-US" altLang="zh-TW" sz="3800" dirty="0" smtClean="0"/>
              <a:t>=</a:t>
            </a:r>
            <a:r>
              <a:rPr lang="en-US" altLang="zh-TW" sz="3800" i="1" dirty="0" smtClean="0"/>
              <a:t> B</a:t>
            </a:r>
            <a:r>
              <a:rPr lang="en-US" altLang="zh-TW" sz="3800" dirty="0" smtClean="0"/>
              <a:t>,</a:t>
            </a:r>
            <a:r>
              <a:rPr lang="en-US" altLang="zh-TW" sz="3800" i="1" dirty="0" smtClean="0"/>
              <a:t>  K</a:t>
            </a:r>
            <a:r>
              <a:rPr lang="en-US" altLang="zh-TW" sz="3800" i="1" baseline="-25000" dirty="0" smtClean="0"/>
              <a:t>A</a:t>
            </a:r>
            <a:r>
              <a:rPr lang="en-US" altLang="zh-TW" sz="3800" i="1" dirty="0" smtClean="0"/>
              <a:t> </a:t>
            </a:r>
            <a:r>
              <a:rPr lang="en-US" altLang="zh-TW" sz="3800" dirty="0" smtClean="0"/>
              <a:t>=</a:t>
            </a:r>
            <a:r>
              <a:rPr lang="en-US" altLang="zh-TW" sz="3800" i="1" dirty="0" smtClean="0"/>
              <a:t> B</a:t>
            </a:r>
          </a:p>
          <a:p>
            <a:pPr lvl="2"/>
            <a:r>
              <a:rPr lang="en-US" altLang="zh-TW" sz="3800" i="1" dirty="0" smtClean="0"/>
              <a:t>J</a:t>
            </a:r>
            <a:r>
              <a:rPr lang="en-US" altLang="zh-TW" sz="3800" i="1" baseline="-25000" dirty="0" smtClean="0"/>
              <a:t>B</a:t>
            </a:r>
            <a:r>
              <a:rPr lang="en-US" altLang="zh-TW" sz="3800" i="1" dirty="0" smtClean="0"/>
              <a:t> </a:t>
            </a:r>
            <a:r>
              <a:rPr lang="en-US" altLang="zh-TW" sz="3800" dirty="0" smtClean="0"/>
              <a:t>=</a:t>
            </a:r>
            <a:r>
              <a:rPr lang="en-US" altLang="zh-TW" sz="3800" i="1" dirty="0" smtClean="0"/>
              <a:t> C</a:t>
            </a:r>
            <a:r>
              <a:rPr lang="en-US" altLang="zh-TW" sz="3800" dirty="0" smtClean="0"/>
              <a:t>,</a:t>
            </a:r>
            <a:r>
              <a:rPr lang="en-US" altLang="zh-TW" sz="3800" i="1" dirty="0" smtClean="0"/>
              <a:t>  K</a:t>
            </a:r>
            <a:r>
              <a:rPr lang="en-US" altLang="zh-TW" sz="3800" i="1" baseline="-25000" dirty="0" smtClean="0"/>
              <a:t>B</a:t>
            </a:r>
            <a:r>
              <a:rPr lang="en-US" altLang="zh-TW" sz="3800" i="1" dirty="0" smtClean="0"/>
              <a:t> = </a:t>
            </a:r>
            <a:r>
              <a:rPr lang="en-US" altLang="zh-TW" sz="3800" dirty="0" smtClean="0"/>
              <a:t>1</a:t>
            </a:r>
          </a:p>
          <a:p>
            <a:pPr lvl="2"/>
            <a:r>
              <a:rPr lang="en-US" altLang="zh-TW" sz="3800" i="1" dirty="0" smtClean="0"/>
              <a:t>J</a:t>
            </a:r>
            <a:r>
              <a:rPr lang="en-US" altLang="zh-TW" sz="3800" i="1" baseline="-25000" dirty="0" smtClean="0"/>
              <a:t>C</a:t>
            </a:r>
            <a:r>
              <a:rPr lang="en-US" altLang="zh-TW" sz="3800" i="1" dirty="0" smtClean="0"/>
              <a:t> </a:t>
            </a:r>
            <a:r>
              <a:rPr lang="en-US" altLang="zh-TW" sz="3800" dirty="0" smtClean="0"/>
              <a:t>=</a:t>
            </a:r>
            <a:r>
              <a:rPr lang="en-US" altLang="zh-TW" sz="3800" i="1" dirty="0" smtClean="0"/>
              <a:t> B</a:t>
            </a:r>
            <a:r>
              <a:rPr lang="en-US" altLang="zh-TW" sz="3800" i="1" dirty="0" smtClean="0">
                <a:sym typeface="Symbol" pitchFamily="18" charset="2"/>
              </a:rPr>
              <a:t></a:t>
            </a:r>
            <a:r>
              <a:rPr lang="en-US" altLang="zh-TW" sz="3800" dirty="0" smtClean="0"/>
              <a:t>,</a:t>
            </a:r>
            <a:r>
              <a:rPr lang="en-US" altLang="zh-TW" sz="3800" i="1" dirty="0" smtClean="0"/>
              <a:t>  K</a:t>
            </a:r>
            <a:r>
              <a:rPr lang="en-US" altLang="zh-TW" sz="3800" i="1" baseline="-25000" dirty="0" smtClean="0"/>
              <a:t>C</a:t>
            </a:r>
            <a:r>
              <a:rPr lang="en-US" altLang="zh-TW" sz="3800" i="1" dirty="0" smtClean="0"/>
              <a:t> </a:t>
            </a:r>
            <a:r>
              <a:rPr lang="en-US" altLang="zh-TW" sz="3800" dirty="0" smtClean="0"/>
              <a:t>= 1</a:t>
            </a:r>
          </a:p>
        </p:txBody>
      </p:sp>
      <p:pic>
        <p:nvPicPr>
          <p:cNvPr id="37892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2367210" y="1489416"/>
            <a:ext cx="6217016" cy="2834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smtClean="0"/>
              <a:t/>
            </a:r>
            <a:br>
              <a:rPr lang="en-US" altLang="zh-TW" sz="3200" dirty="0" smtClean="0"/>
            </a:br>
            <a:r>
              <a:rPr lang="en-US" altLang="zh-TW" sz="3200" dirty="0" smtClean="0"/>
              <a:t>Counter with unsigned states</a:t>
            </a:r>
            <a:endParaRPr lang="zh-TW" altLang="en-US" dirty="0" smtClean="0"/>
          </a:p>
        </p:txBody>
      </p:sp>
      <p:sp>
        <p:nvSpPr>
          <p:cNvPr id="3891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sz="2000" dirty="0" smtClean="0"/>
          </a:p>
        </p:txBody>
      </p:sp>
      <p:pic>
        <p:nvPicPr>
          <p:cNvPr id="38916" name="Picture 5"/>
          <p:cNvPicPr>
            <a:picLocks noChangeAspect="1" noChangeArrowheads="1"/>
          </p:cNvPicPr>
          <p:nvPr/>
        </p:nvPicPr>
        <p:blipFill>
          <a:blip r:embed="rId2" cstate="print">
            <a:lum bright="-18000" contrast="30000"/>
          </a:blip>
          <a:srcRect r="7990"/>
          <a:stretch>
            <a:fillRect/>
          </a:stretch>
        </p:blipFill>
        <p:spPr bwMode="auto">
          <a:xfrm>
            <a:off x="2768600" y="1739900"/>
            <a:ext cx="2987675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6"/>
          <p:cNvPicPr>
            <a:picLocks noChangeAspect="1" noChangeArrowheads="1"/>
          </p:cNvPicPr>
          <p:nvPr/>
        </p:nvPicPr>
        <p:blipFill>
          <a:blip r:embed="rId3" cstate="print">
            <a:lum bright="-18000" contrast="30000"/>
          </a:blip>
          <a:srcRect/>
          <a:stretch>
            <a:fillRect/>
          </a:stretch>
        </p:blipFill>
        <p:spPr bwMode="auto">
          <a:xfrm>
            <a:off x="5907088" y="3213100"/>
            <a:ext cx="2619375" cy="245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9" name="Rectangle 8"/>
          <p:cNvSpPr>
            <a:spLocks noChangeArrowheads="1"/>
          </p:cNvSpPr>
          <p:nvPr/>
        </p:nvSpPr>
        <p:spPr bwMode="auto">
          <a:xfrm>
            <a:off x="265113" y="3271838"/>
            <a:ext cx="2879725" cy="1644650"/>
          </a:xfrm>
          <a:prstGeom prst="rect">
            <a:avLst/>
          </a:prstGeom>
          <a:solidFill>
            <a:srgbClr val="03D6E1">
              <a:alpha val="23921"/>
            </a:srgbClr>
          </a:soli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TW" sz="1800" i="0" u="none" dirty="0">
                <a:solidFill>
                  <a:schemeClr val="tx1"/>
                </a:solidFill>
              </a:rPr>
              <a:t>The simplified flip-flop input equations:</a:t>
            </a:r>
          </a:p>
          <a:p>
            <a:pPr>
              <a:spcBef>
                <a:spcPct val="20000"/>
              </a:spcBef>
            </a:pPr>
            <a:r>
              <a:rPr lang="en-US" altLang="zh-TW" sz="1800" u="none" dirty="0">
                <a:solidFill>
                  <a:schemeClr val="tx1"/>
                </a:solidFill>
              </a:rPr>
              <a:t>J</a:t>
            </a:r>
            <a:r>
              <a:rPr lang="en-US" altLang="zh-TW" sz="1800" u="none" baseline="-25000" dirty="0">
                <a:solidFill>
                  <a:schemeClr val="tx1"/>
                </a:solidFill>
              </a:rPr>
              <a:t>A</a:t>
            </a:r>
            <a:r>
              <a:rPr lang="en-US" altLang="zh-TW" sz="1800" u="none" dirty="0">
                <a:solidFill>
                  <a:schemeClr val="tx1"/>
                </a:solidFill>
              </a:rPr>
              <a:t> </a:t>
            </a:r>
            <a:r>
              <a:rPr lang="en-US" altLang="zh-TW" sz="1800" i="0" u="none" dirty="0">
                <a:solidFill>
                  <a:schemeClr val="tx1"/>
                </a:solidFill>
              </a:rPr>
              <a:t>=</a:t>
            </a:r>
            <a:r>
              <a:rPr lang="en-US" altLang="zh-TW" sz="1800" u="none" dirty="0">
                <a:solidFill>
                  <a:schemeClr val="tx1"/>
                </a:solidFill>
              </a:rPr>
              <a:t> B</a:t>
            </a:r>
            <a:r>
              <a:rPr lang="en-US" altLang="zh-TW" sz="1800" i="0" u="none" dirty="0">
                <a:solidFill>
                  <a:schemeClr val="tx1"/>
                </a:solidFill>
              </a:rPr>
              <a:t>,</a:t>
            </a:r>
            <a:r>
              <a:rPr lang="en-US" altLang="zh-TW" sz="1800" u="none" dirty="0">
                <a:solidFill>
                  <a:schemeClr val="tx1"/>
                </a:solidFill>
              </a:rPr>
              <a:t>  K</a:t>
            </a:r>
            <a:r>
              <a:rPr lang="en-US" altLang="zh-TW" sz="1800" u="none" baseline="-25000" dirty="0">
                <a:solidFill>
                  <a:schemeClr val="tx1"/>
                </a:solidFill>
              </a:rPr>
              <a:t>A</a:t>
            </a:r>
            <a:r>
              <a:rPr lang="en-US" altLang="zh-TW" sz="1800" u="none" dirty="0">
                <a:solidFill>
                  <a:schemeClr val="tx1"/>
                </a:solidFill>
              </a:rPr>
              <a:t> </a:t>
            </a:r>
            <a:r>
              <a:rPr lang="en-US" altLang="zh-TW" sz="1800" i="0" u="none" dirty="0">
                <a:solidFill>
                  <a:schemeClr val="tx1"/>
                </a:solidFill>
              </a:rPr>
              <a:t>=</a:t>
            </a:r>
            <a:r>
              <a:rPr lang="en-US" altLang="zh-TW" sz="1800" u="none" dirty="0">
                <a:solidFill>
                  <a:schemeClr val="tx1"/>
                </a:solidFill>
              </a:rPr>
              <a:t> B</a:t>
            </a:r>
          </a:p>
          <a:p>
            <a:pPr>
              <a:spcBef>
                <a:spcPct val="20000"/>
              </a:spcBef>
            </a:pPr>
            <a:r>
              <a:rPr lang="en-US" altLang="zh-TW" sz="1800" u="none" dirty="0">
                <a:solidFill>
                  <a:schemeClr val="tx1"/>
                </a:solidFill>
              </a:rPr>
              <a:t>J</a:t>
            </a:r>
            <a:r>
              <a:rPr lang="en-US" altLang="zh-TW" sz="1800" u="none" baseline="-25000" dirty="0">
                <a:solidFill>
                  <a:schemeClr val="tx1"/>
                </a:solidFill>
              </a:rPr>
              <a:t>B</a:t>
            </a:r>
            <a:r>
              <a:rPr lang="en-US" altLang="zh-TW" sz="1800" u="none" dirty="0">
                <a:solidFill>
                  <a:schemeClr val="tx1"/>
                </a:solidFill>
              </a:rPr>
              <a:t> </a:t>
            </a:r>
            <a:r>
              <a:rPr lang="en-US" altLang="zh-TW" sz="1800" i="0" u="none" dirty="0">
                <a:solidFill>
                  <a:schemeClr val="tx1"/>
                </a:solidFill>
              </a:rPr>
              <a:t>=</a:t>
            </a:r>
            <a:r>
              <a:rPr lang="en-US" altLang="zh-TW" sz="1800" u="none" dirty="0">
                <a:solidFill>
                  <a:schemeClr val="tx1"/>
                </a:solidFill>
              </a:rPr>
              <a:t> C</a:t>
            </a:r>
            <a:r>
              <a:rPr lang="en-US" altLang="zh-TW" sz="1800" i="0" u="none" dirty="0">
                <a:solidFill>
                  <a:schemeClr val="tx1"/>
                </a:solidFill>
              </a:rPr>
              <a:t>,</a:t>
            </a:r>
            <a:r>
              <a:rPr lang="en-US" altLang="zh-TW" sz="1800" u="none" dirty="0">
                <a:solidFill>
                  <a:schemeClr val="tx1"/>
                </a:solidFill>
              </a:rPr>
              <a:t>  K</a:t>
            </a:r>
            <a:r>
              <a:rPr lang="en-US" altLang="zh-TW" sz="1800" u="none" baseline="-25000" dirty="0">
                <a:solidFill>
                  <a:schemeClr val="tx1"/>
                </a:solidFill>
              </a:rPr>
              <a:t>B</a:t>
            </a:r>
            <a:r>
              <a:rPr lang="en-US" altLang="zh-TW" sz="1800" u="none" dirty="0">
                <a:solidFill>
                  <a:schemeClr val="tx1"/>
                </a:solidFill>
              </a:rPr>
              <a:t> </a:t>
            </a:r>
            <a:r>
              <a:rPr lang="en-US" altLang="zh-TW" sz="1800" i="0" u="none" dirty="0">
                <a:solidFill>
                  <a:schemeClr val="tx1"/>
                </a:solidFill>
              </a:rPr>
              <a:t>=</a:t>
            </a:r>
            <a:r>
              <a:rPr lang="en-US" altLang="zh-TW" sz="1800" u="none" dirty="0">
                <a:solidFill>
                  <a:schemeClr val="tx1"/>
                </a:solidFill>
              </a:rPr>
              <a:t> </a:t>
            </a:r>
            <a:r>
              <a:rPr lang="en-US" altLang="zh-TW" sz="1800" i="0" u="none" dirty="0">
                <a:solidFill>
                  <a:schemeClr val="tx1"/>
                </a:solidFill>
              </a:rPr>
              <a:t>1</a:t>
            </a:r>
          </a:p>
          <a:p>
            <a:pPr>
              <a:spcBef>
                <a:spcPct val="20000"/>
              </a:spcBef>
            </a:pPr>
            <a:r>
              <a:rPr lang="en-US" altLang="zh-TW" sz="1800" u="none" dirty="0">
                <a:solidFill>
                  <a:schemeClr val="tx1"/>
                </a:solidFill>
              </a:rPr>
              <a:t>J</a:t>
            </a:r>
            <a:r>
              <a:rPr lang="en-US" altLang="zh-TW" sz="1800" u="none" baseline="-25000" dirty="0">
                <a:solidFill>
                  <a:schemeClr val="tx1"/>
                </a:solidFill>
              </a:rPr>
              <a:t>C</a:t>
            </a:r>
            <a:r>
              <a:rPr lang="en-US" altLang="zh-TW" sz="1800" u="none" dirty="0">
                <a:solidFill>
                  <a:schemeClr val="tx1"/>
                </a:solidFill>
              </a:rPr>
              <a:t> </a:t>
            </a:r>
            <a:r>
              <a:rPr lang="en-US" altLang="zh-TW" sz="1800" i="0" u="none" dirty="0">
                <a:solidFill>
                  <a:schemeClr val="tx1"/>
                </a:solidFill>
              </a:rPr>
              <a:t>=</a:t>
            </a:r>
            <a:r>
              <a:rPr lang="en-US" altLang="zh-TW" sz="1800" u="none" dirty="0">
                <a:solidFill>
                  <a:schemeClr val="tx1"/>
                </a:solidFill>
              </a:rPr>
              <a:t> B</a:t>
            </a:r>
            <a:r>
              <a:rPr lang="en-US" altLang="zh-TW" sz="1800" u="none" dirty="0">
                <a:solidFill>
                  <a:schemeClr val="tx1"/>
                </a:solidFill>
                <a:sym typeface="Symbol" pitchFamily="18" charset="2"/>
              </a:rPr>
              <a:t></a:t>
            </a:r>
            <a:r>
              <a:rPr lang="en-US" altLang="zh-TW" sz="1800" i="0" u="none" dirty="0">
                <a:solidFill>
                  <a:schemeClr val="tx1"/>
                </a:solidFill>
              </a:rPr>
              <a:t>, </a:t>
            </a:r>
            <a:r>
              <a:rPr lang="en-US" altLang="zh-TW" sz="1800" u="none" dirty="0">
                <a:solidFill>
                  <a:schemeClr val="tx1"/>
                </a:solidFill>
              </a:rPr>
              <a:t> K</a:t>
            </a:r>
            <a:r>
              <a:rPr lang="en-US" altLang="zh-TW" sz="1800" u="none" baseline="-25000" dirty="0">
                <a:solidFill>
                  <a:schemeClr val="tx1"/>
                </a:solidFill>
              </a:rPr>
              <a:t>C</a:t>
            </a:r>
            <a:r>
              <a:rPr lang="en-US" altLang="zh-TW" sz="1800" u="none" dirty="0">
                <a:solidFill>
                  <a:schemeClr val="tx1"/>
                </a:solidFill>
              </a:rPr>
              <a:t> </a:t>
            </a:r>
            <a:r>
              <a:rPr lang="en-US" altLang="zh-TW" sz="1800" i="0" u="none" dirty="0">
                <a:solidFill>
                  <a:schemeClr val="tx1"/>
                </a:solidFill>
              </a:rPr>
              <a:t>=</a:t>
            </a:r>
            <a:r>
              <a:rPr lang="en-US" altLang="zh-TW" sz="1800" u="none" dirty="0">
                <a:solidFill>
                  <a:schemeClr val="tx1"/>
                </a:solidFill>
              </a:rPr>
              <a:t> </a:t>
            </a:r>
            <a:r>
              <a:rPr lang="en-US" altLang="zh-TW" sz="1800" i="0" u="none" dirty="0">
                <a:solidFill>
                  <a:schemeClr val="tx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A circular shift register with only one flip-flop being set at any particular time, all others are cleared (initial value = 1 0 0 … 0 ).</a:t>
            </a:r>
          </a:p>
          <a:p>
            <a:r>
              <a:rPr lang="en-US" altLang="zh-TW" dirty="0" smtClean="0"/>
              <a:t>The single bit is shifted from one flip-flop to the next to produce the sequence of timing signals.</a:t>
            </a:r>
          </a:p>
          <a:p>
            <a:endParaRPr lang="zh-TW" altLang="en-US" dirty="0" smtClean="0"/>
          </a:p>
        </p:txBody>
      </p:sp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>
            <a:normAutofit fontScale="90000"/>
          </a:bodyPr>
          <a:lstStyle/>
          <a:p>
            <a:r>
              <a:rPr lang="en-US" altLang="zh-TW" sz="3200" dirty="0" smtClean="0"/>
              <a:t/>
            </a:r>
            <a:br>
              <a:rPr lang="en-US" altLang="zh-TW" sz="3200" dirty="0" smtClean="0"/>
            </a:br>
            <a:r>
              <a:rPr lang="en-US" altLang="zh-TW" sz="3200" dirty="0" smtClean="0"/>
              <a:t>Ring counter</a:t>
            </a:r>
            <a:br>
              <a:rPr lang="en-US" altLang="zh-TW" sz="3200" dirty="0" smtClean="0"/>
            </a:br>
            <a:endParaRPr lang="zh-TW" altLang="en-US" dirty="0" smtClean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 smtClean="0"/>
              <a:t>Ring counter</a:t>
            </a:r>
            <a:endParaRPr lang="zh-TW" altLang="en-US" dirty="0" smtClean="0"/>
          </a:p>
        </p:txBody>
      </p:sp>
      <p:sp>
        <p:nvSpPr>
          <p:cNvPr id="4096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mtClean="0"/>
              <a:t>A 4-bit ring counter</a:t>
            </a:r>
          </a:p>
          <a:p>
            <a:endParaRPr lang="zh-TW" altLang="en-US" smtClean="0"/>
          </a:p>
        </p:txBody>
      </p:sp>
      <p:pic>
        <p:nvPicPr>
          <p:cNvPr id="40964" name="Picture 6"/>
          <p:cNvPicPr>
            <a:picLocks noChangeAspect="1" noChangeArrowheads="1"/>
          </p:cNvPicPr>
          <p:nvPr/>
        </p:nvPicPr>
        <p:blipFill>
          <a:blip r:embed="rId2" cstate="print">
            <a:lum bright="-18000" contrast="30000"/>
          </a:blip>
          <a:srcRect/>
          <a:stretch>
            <a:fillRect/>
          </a:stretch>
        </p:blipFill>
        <p:spPr bwMode="auto">
          <a:xfrm>
            <a:off x="4019550" y="2674938"/>
            <a:ext cx="4733925" cy="216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5" name="Text Box 7"/>
          <p:cNvSpPr txBox="1">
            <a:spLocks noChangeArrowheads="1"/>
          </p:cNvSpPr>
          <p:nvPr/>
        </p:nvSpPr>
        <p:spPr bwMode="auto">
          <a:xfrm>
            <a:off x="4575175" y="5081588"/>
            <a:ext cx="40322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zh-TW" sz="1800" i="0" u="none">
                <a:solidFill>
                  <a:schemeClr val="tx1"/>
                </a:solidFill>
              </a:rPr>
              <a:t>Fig. 6.17 Generation of timing signals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12738" y="2725738"/>
          <a:ext cx="3433762" cy="2228850"/>
        </p:xfrm>
        <a:graphic>
          <a:graphicData uri="http://schemas.openxmlformats.org/drawingml/2006/table">
            <a:tbl>
              <a:tblPr/>
              <a:tblGrid>
                <a:gridCol w="858837"/>
                <a:gridCol w="858838"/>
                <a:gridCol w="857250"/>
                <a:gridCol w="858837"/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A3</a:t>
                      </a:r>
                      <a:endParaRPr kumimoji="0" lang="zh-TW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A2</a:t>
                      </a:r>
                      <a:endParaRPr kumimoji="0" lang="zh-TW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A1</a:t>
                      </a:r>
                      <a:endParaRPr kumimoji="0" lang="zh-TW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A0</a:t>
                      </a:r>
                      <a:endParaRPr kumimoji="0" lang="zh-TW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1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ook Antiqua" pitchFamily="18" charset="0"/>
                          <a:ea typeface="新細明體" pitchFamily="18" charset="-120"/>
                        </a:rPr>
                        <a:t>0</a:t>
                      </a:r>
                      <a:endParaRPr kumimoji="0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ook Antiqua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2800" dirty="0" smtClean="0"/>
              <a:t>Ring counter</a:t>
            </a:r>
            <a:endParaRPr lang="zh-TW" altLang="en-US" dirty="0" smtClean="0"/>
          </a:p>
        </p:txBody>
      </p:sp>
      <p:sp>
        <p:nvSpPr>
          <p:cNvPr id="41987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Application of counters</a:t>
            </a:r>
          </a:p>
          <a:p>
            <a:pPr lvl="1"/>
            <a:r>
              <a:rPr lang="en-US" altLang="zh-TW" dirty="0" smtClean="0"/>
              <a:t>Counters may be used to generate timing signals to control the sequence of operations in a digital system.</a:t>
            </a:r>
          </a:p>
          <a:p>
            <a:r>
              <a:rPr lang="en-US" altLang="zh-TW" dirty="0" smtClean="0"/>
              <a:t>Approaches for generation of 2</a:t>
            </a:r>
            <a:r>
              <a:rPr lang="en-US" altLang="zh-TW" i="1" baseline="30000" dirty="0" smtClean="0"/>
              <a:t>n</a:t>
            </a:r>
            <a:r>
              <a:rPr lang="en-US" altLang="zh-TW" dirty="0" smtClean="0"/>
              <a:t> timing signals</a:t>
            </a:r>
          </a:p>
          <a:p>
            <a:pPr lvl="1">
              <a:buFont typeface="Wingdings" pitchFamily="2" charset="2"/>
              <a:buNone/>
            </a:pPr>
            <a:r>
              <a:rPr lang="en-US" altLang="zh-TW" dirty="0" smtClean="0"/>
              <a:t>1.	A shift register with 2</a:t>
            </a:r>
            <a:r>
              <a:rPr lang="en-US" altLang="zh-TW" i="1" baseline="30000" dirty="0" smtClean="0"/>
              <a:t>n</a:t>
            </a:r>
            <a:r>
              <a:rPr lang="en-US" altLang="zh-TW" dirty="0" smtClean="0"/>
              <a:t> flip-flops</a:t>
            </a:r>
          </a:p>
          <a:p>
            <a:pPr lvl="1">
              <a:buFont typeface="Wingdings" pitchFamily="2" charset="2"/>
              <a:buNone/>
            </a:pPr>
            <a:r>
              <a:rPr lang="en-US" altLang="zh-TW" dirty="0" smtClean="0"/>
              <a:t>2.	An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-bit binary counter together with an </a:t>
            </a:r>
            <a:r>
              <a:rPr lang="en-US" altLang="zh-TW" i="1" dirty="0" smtClean="0"/>
              <a:t>n</a:t>
            </a:r>
            <a:r>
              <a:rPr lang="en-US" altLang="zh-TW" dirty="0" smtClean="0"/>
              <a:t>-to-2</a:t>
            </a:r>
            <a:r>
              <a:rPr lang="en-US" altLang="zh-TW" i="1" baseline="30000" dirty="0" smtClean="0"/>
              <a:t>n</a:t>
            </a:r>
            <a:r>
              <a:rPr lang="en-US" altLang="zh-TW" dirty="0" smtClean="0"/>
              <a:t>-line decoder</a:t>
            </a:r>
            <a:endParaRPr lang="zh-TW" altLang="en-US" dirty="0" smtClean="0"/>
          </a:p>
          <a:p>
            <a:endParaRPr lang="zh-TW" altLang="en-US" dirty="0" smtClean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4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639763" y="1320800"/>
            <a:ext cx="3906837" cy="178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11" name="Picture 5"/>
          <p:cNvPicPr>
            <a:picLocks noChangeAspect="1" noChangeArrowheads="1"/>
          </p:cNvPicPr>
          <p:nvPr/>
        </p:nvPicPr>
        <p:blipFill>
          <a:blip r:embed="rId3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5011738" y="2106613"/>
            <a:ext cx="3182937" cy="3303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012" name="Picture 6"/>
          <p:cNvPicPr>
            <a:picLocks noChangeAspect="1" noChangeArrowheads="1"/>
          </p:cNvPicPr>
          <p:nvPr/>
        </p:nvPicPr>
        <p:blipFill>
          <a:blip r:embed="rId4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749300" y="3308350"/>
            <a:ext cx="3690938" cy="343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3" name="Text Box 7"/>
          <p:cNvSpPr txBox="1">
            <a:spLocks noChangeArrowheads="1"/>
          </p:cNvSpPr>
          <p:nvPr/>
        </p:nvSpPr>
        <p:spPr bwMode="auto">
          <a:xfrm>
            <a:off x="4691063" y="5937250"/>
            <a:ext cx="396875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altLang="zh-TW" sz="1800" i="0" u="none" dirty="0">
                <a:solidFill>
                  <a:schemeClr val="tx1"/>
                </a:solidFill>
              </a:rPr>
              <a:t>Fig. 6.17 Generation of timing signals</a:t>
            </a:r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96200" cy="1143000"/>
          </a:xfrm>
        </p:spPr>
        <p:txBody>
          <a:bodyPr/>
          <a:lstStyle/>
          <a:p>
            <a:r>
              <a:rPr lang="en-US" altLang="zh-TW" sz="2800" dirty="0" smtClean="0">
                <a:solidFill>
                  <a:schemeClr val="tx1"/>
                </a:solidFill>
              </a:rPr>
              <a:t>Generation of timing signals</a:t>
            </a:r>
            <a:endParaRPr lang="en-US" altLang="zh-TW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Ring counter vs. Switch-tail ring counter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Ring counter</a:t>
            </a:r>
          </a:p>
          <a:p>
            <a:pPr lvl="1"/>
            <a:r>
              <a:rPr lang="en-US" altLang="zh-TW" dirty="0" smtClean="0"/>
              <a:t>A 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-bit ring counter circulates a single bit among the flip-flops to provide 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 distinguishable states.</a:t>
            </a:r>
          </a:p>
          <a:p>
            <a:r>
              <a:rPr lang="en-US" altLang="zh-TW" dirty="0" smtClean="0"/>
              <a:t>Switch-tail ring counter</a:t>
            </a:r>
          </a:p>
          <a:p>
            <a:pPr lvl="1"/>
            <a:r>
              <a:rPr lang="en-US" altLang="zh-TW" dirty="0" smtClean="0"/>
              <a:t>It is a circular shift register with the complement output of the last flip-flop connected to the input of the first flip-flop.</a:t>
            </a:r>
          </a:p>
          <a:p>
            <a:pPr lvl="1"/>
            <a:r>
              <a:rPr lang="en-US" altLang="zh-TW" dirty="0" smtClean="0"/>
              <a:t>A 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-bit switch-tail ring counter will go through a sequence of 2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 distinguishable states. (initial value = 0 0 … 0).</a:t>
            </a:r>
          </a:p>
          <a:p>
            <a:endParaRPr lang="zh-TW" altLang="en-US" dirty="0" smtClean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An example: Switch-tail ring counter</a:t>
            </a:r>
            <a:endParaRPr lang="zh-TW" altLang="en-US" dirty="0" smtClean="0"/>
          </a:p>
        </p:txBody>
      </p:sp>
      <p:sp>
        <p:nvSpPr>
          <p:cNvPr id="45059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 smtClean="0"/>
          </a:p>
        </p:txBody>
      </p:sp>
      <p:pic>
        <p:nvPicPr>
          <p:cNvPr id="45060" name="Picture 5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1646238" y="1941513"/>
            <a:ext cx="5387975" cy="205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061" name="Picture 6"/>
          <p:cNvPicPr>
            <a:picLocks noChangeAspect="1" noChangeArrowheads="1"/>
          </p:cNvPicPr>
          <p:nvPr/>
        </p:nvPicPr>
        <p:blipFill>
          <a:blip r:embed="rId3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2047875" y="4127500"/>
            <a:ext cx="4557713" cy="230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Johnson counter </a:t>
            </a:r>
            <a:endParaRPr lang="zh-TW" altLang="en-US" dirty="0" smtClean="0"/>
          </a:p>
        </p:txBody>
      </p:sp>
      <p:sp>
        <p:nvSpPr>
          <p:cNvPr id="4608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/>
              <a:t>A 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-bit switch-tail ring counter + 2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 decoding gates</a:t>
            </a:r>
          </a:p>
          <a:p>
            <a:r>
              <a:rPr lang="en-US" altLang="zh-TW" dirty="0" smtClean="0"/>
              <a:t>Provide outputs for 2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 timing signals</a:t>
            </a:r>
          </a:p>
          <a:p>
            <a:pPr lvl="1"/>
            <a:r>
              <a:rPr lang="en-US" altLang="zh-TW" dirty="0" smtClean="0"/>
              <a:t>E.g.:  4-bit Johnson counter</a:t>
            </a:r>
          </a:p>
          <a:p>
            <a:pPr lvl="2"/>
            <a:endParaRPr lang="en-US" altLang="zh-TW" dirty="0" smtClean="0"/>
          </a:p>
          <a:p>
            <a:pPr lvl="2"/>
            <a:endParaRPr lang="en-US" altLang="zh-TW" dirty="0" smtClean="0"/>
          </a:p>
          <a:p>
            <a:pPr lvl="2">
              <a:buNone/>
            </a:pPr>
            <a:endParaRPr lang="en-US" altLang="zh-TW" dirty="0" smtClean="0"/>
          </a:p>
          <a:p>
            <a:pPr lvl="2">
              <a:buFont typeface="Times New Roman" pitchFamily="18" charset="0"/>
              <a:buNone/>
            </a:pPr>
            <a:endParaRPr lang="en-US" altLang="zh-TW" dirty="0" smtClean="0"/>
          </a:p>
          <a:p>
            <a:pPr lvl="1"/>
            <a:endParaRPr lang="en-US" altLang="zh-TW" dirty="0" smtClean="0"/>
          </a:p>
          <a:p>
            <a:pPr lvl="1"/>
            <a:endParaRPr lang="en-US" altLang="zh-TW" dirty="0" smtClean="0"/>
          </a:p>
          <a:p>
            <a:r>
              <a:rPr lang="en-US" altLang="zh-TW" dirty="0" smtClean="0"/>
              <a:t>The decoding follows a regular pattern</a:t>
            </a:r>
          </a:p>
          <a:p>
            <a:pPr lvl="1"/>
            <a:r>
              <a:rPr lang="en-US" altLang="zh-TW" dirty="0" smtClean="0"/>
              <a:t>2 inputs per decoding gate</a:t>
            </a:r>
            <a:endParaRPr lang="zh-TW" altLang="en-US" dirty="0" smtClean="0"/>
          </a:p>
          <a:p>
            <a:pPr lvl="2"/>
            <a:endParaRPr lang="en-US" altLang="zh-TW" dirty="0" smtClean="0"/>
          </a:p>
          <a:p>
            <a:endParaRPr lang="zh-TW" altLang="en-US" dirty="0" smtClean="0"/>
          </a:p>
        </p:txBody>
      </p:sp>
      <p:pic>
        <p:nvPicPr>
          <p:cNvPr id="46084" name="Picture 4"/>
          <p:cNvPicPr>
            <a:picLocks noChangeAspect="1" noChangeArrowheads="1"/>
          </p:cNvPicPr>
          <p:nvPr/>
        </p:nvPicPr>
        <p:blipFill>
          <a:blip r:embed="rId2" cstate="print">
            <a:lum bright="-12000" contrast="24000"/>
          </a:blip>
          <a:srcRect/>
          <a:stretch>
            <a:fillRect/>
          </a:stretch>
        </p:blipFill>
        <p:spPr bwMode="auto">
          <a:xfrm>
            <a:off x="1638300" y="2997524"/>
            <a:ext cx="5111750" cy="257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Summary</a:t>
            </a:r>
            <a:endParaRPr lang="zh-TW" altLang="en-US" smtClean="0"/>
          </a:p>
        </p:txBody>
      </p:sp>
      <p:sp>
        <p:nvSpPr>
          <p:cNvPr id="4710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TW" dirty="0" smtClean="0"/>
              <a:t>Disadvantage of the switch-tail ring counter</a:t>
            </a:r>
          </a:p>
          <a:p>
            <a:pPr lvl="1">
              <a:lnSpc>
                <a:spcPct val="90000"/>
              </a:lnSpc>
            </a:pPr>
            <a:r>
              <a:rPr lang="en-US" altLang="zh-TW" dirty="0" smtClean="0"/>
              <a:t>If it finds itself in an unused state, it will persist to circulate in the invalid states and never find its way to a valid state.</a:t>
            </a:r>
          </a:p>
          <a:p>
            <a:pPr lvl="1">
              <a:lnSpc>
                <a:spcPct val="90000"/>
              </a:lnSpc>
            </a:pPr>
            <a:r>
              <a:rPr lang="en-US" altLang="zh-TW" dirty="0" smtClean="0"/>
              <a:t>One correcting procedure:   </a:t>
            </a:r>
            <a:r>
              <a:rPr lang="en-US" altLang="zh-TW" i="1" dirty="0" smtClean="0"/>
              <a:t>D</a:t>
            </a:r>
            <a:r>
              <a:rPr lang="en-US" altLang="zh-TW" i="1" baseline="-25000" dirty="0" smtClean="0"/>
              <a:t>C</a:t>
            </a:r>
            <a:r>
              <a:rPr lang="en-US" altLang="zh-TW" i="1" dirty="0" smtClean="0"/>
              <a:t> </a:t>
            </a:r>
            <a:r>
              <a:rPr lang="en-US" altLang="zh-TW" dirty="0" smtClean="0"/>
              <a:t>= (</a:t>
            </a:r>
            <a:r>
              <a:rPr lang="en-US" altLang="zh-TW" i="1" dirty="0" smtClean="0"/>
              <a:t>A </a:t>
            </a:r>
            <a:r>
              <a:rPr lang="en-US" altLang="zh-TW" dirty="0" smtClean="0"/>
              <a:t>+</a:t>
            </a:r>
            <a:r>
              <a:rPr lang="en-US" altLang="zh-TW" i="1" dirty="0" smtClean="0"/>
              <a:t> C</a:t>
            </a:r>
            <a:r>
              <a:rPr lang="en-US" altLang="zh-TW" dirty="0" smtClean="0"/>
              <a:t>)</a:t>
            </a:r>
            <a:r>
              <a:rPr lang="en-US" altLang="zh-TW" i="1" dirty="0" smtClean="0"/>
              <a:t> B</a:t>
            </a:r>
            <a:endParaRPr lang="en-US" altLang="zh-TW" dirty="0" smtClean="0"/>
          </a:p>
          <a:p>
            <a:pPr>
              <a:lnSpc>
                <a:spcPct val="90000"/>
              </a:lnSpc>
            </a:pPr>
            <a:r>
              <a:rPr lang="en-US" altLang="zh-TW" dirty="0" smtClean="0"/>
              <a:t>Summary</a:t>
            </a:r>
          </a:p>
          <a:p>
            <a:pPr lvl="1">
              <a:lnSpc>
                <a:spcPct val="90000"/>
              </a:lnSpc>
            </a:pPr>
            <a:r>
              <a:rPr lang="en-US" altLang="zh-TW" dirty="0" smtClean="0"/>
              <a:t>Johnson counters can be constructed for any number of timing sequences</a:t>
            </a:r>
          </a:p>
          <a:p>
            <a:pPr lvl="2">
              <a:lnSpc>
                <a:spcPct val="90000"/>
              </a:lnSpc>
            </a:pPr>
            <a:r>
              <a:rPr lang="en-US" altLang="zh-TW" dirty="0" smtClean="0"/>
              <a:t>Number of flip-flops = 1/2 (the number of timing signals).</a:t>
            </a:r>
          </a:p>
          <a:p>
            <a:pPr lvl="2">
              <a:lnSpc>
                <a:spcPct val="90000"/>
              </a:lnSpc>
            </a:pPr>
            <a:r>
              <a:rPr lang="en-US" altLang="zh-TW" dirty="0" smtClean="0"/>
              <a:t>Number of decoding gates = number of timing signals 2-input per gate.</a:t>
            </a:r>
          </a:p>
          <a:p>
            <a:endParaRPr lang="zh-TW" altLang="en-US" dirty="0" smtClean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987" name="Group 83"/>
          <p:cNvGraphicFramePr>
            <a:graphicFrameLocks noGrp="1"/>
          </p:cNvGraphicFramePr>
          <p:nvPr>
            <p:ph sz="half" idx="1"/>
          </p:nvPr>
        </p:nvGraphicFramePr>
        <p:xfrm>
          <a:off x="4140200" y="4216400"/>
          <a:ext cx="4319588" cy="2520951"/>
        </p:xfrm>
        <a:graphic>
          <a:graphicData uri="http://schemas.openxmlformats.org/drawingml/2006/table">
            <a:tbl>
              <a:tblPr/>
              <a:tblGrid>
                <a:gridCol w="2341563"/>
                <a:gridCol w="1978025"/>
              </a:tblGrid>
              <a:tr h="7635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18" charset="0"/>
                          <a:ea typeface="新細明體" pitchFamily="18" charset="-120"/>
                        </a:rPr>
                        <a:t>Output Transitions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QN     QN+1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18" charset="0"/>
                          <a:ea typeface="新細明體" pitchFamily="18" charset="-120"/>
                        </a:rPr>
                        <a:t>Flip-Flop Inputs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 J    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 0  </a:t>
                      </a: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sym typeface="Wingdings" pitchFamily="2" charset="2"/>
                        </a:rPr>
                        <a:t> </a:t>
                      </a: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 </a:t>
                      </a: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0   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97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 </a:t>
                      </a: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0  </a:t>
                      </a: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sym typeface="Wingdings" pitchFamily="2" charset="2"/>
                        </a:rPr>
                        <a:t>   </a:t>
                      </a: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 </a:t>
                      </a: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1    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 </a:t>
                      </a: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1  </a:t>
                      </a: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sym typeface="Wingdings" pitchFamily="2" charset="2"/>
                        </a:rPr>
                        <a:t>   </a:t>
                      </a: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 </a:t>
                      </a: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x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 </a:t>
                      </a: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1  </a:t>
                      </a: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  <a:sym typeface="Wingdings" pitchFamily="2" charset="2"/>
                        </a:rPr>
                        <a:t>   </a:t>
                      </a: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 </a:t>
                      </a:r>
                      <a:r>
                        <a:rPr kumimoji="0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x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32794" name="Picture 5"/>
          <p:cNvPicPr>
            <a:picLocks noChangeAspect="1" noChangeArrowheads="1"/>
          </p:cNvPicPr>
          <p:nvPr/>
        </p:nvPicPr>
        <p:blipFill>
          <a:blip r:embed="rId2" cstate="print">
            <a:lum bright="-20000" contrast="40000"/>
          </a:blip>
          <a:srcRect/>
          <a:stretch>
            <a:fillRect/>
          </a:stretch>
        </p:blipFill>
        <p:spPr bwMode="auto">
          <a:xfrm>
            <a:off x="436563" y="2135188"/>
            <a:ext cx="3095625" cy="309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23973" name="Group 69"/>
          <p:cNvGraphicFramePr>
            <a:graphicFrameLocks noGrp="1"/>
          </p:cNvGraphicFramePr>
          <p:nvPr>
            <p:ph sz="half" idx="2"/>
          </p:nvPr>
        </p:nvGraphicFramePr>
        <p:xfrm>
          <a:off x="4643438" y="1641475"/>
          <a:ext cx="3308350" cy="2420939"/>
        </p:xfrm>
        <a:graphic>
          <a:graphicData uri="http://schemas.openxmlformats.org/drawingml/2006/table">
            <a:tbl>
              <a:tblPr/>
              <a:tblGrid>
                <a:gridCol w="1654175"/>
                <a:gridCol w="1654175"/>
              </a:tblGrid>
              <a:tr h="6635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18" charset="0"/>
                          <a:ea typeface="新細明體" pitchFamily="18" charset="-120"/>
                        </a:rPr>
                        <a:t>Present State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Q2 Q1 Q0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itchFamily="18" charset="0"/>
                          <a:ea typeface="新細明體" pitchFamily="18" charset="-120"/>
                        </a:rPr>
                        <a:t>Next State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Q2 Q1 Q0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 0  0  1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 </a:t>
                      </a: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0  1  0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 </a:t>
                      </a: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0  1  0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 </a:t>
                      </a: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1  0  1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 </a:t>
                      </a: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1  0  1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 </a:t>
                      </a:r>
                      <a:r>
                        <a:rPr kumimoji="0" lang="en-US" altLang="zh-TW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1  1  1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43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 </a:t>
                      </a:r>
                      <a:r>
                        <a:rPr kumimoji="0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1  1  1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TW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 </a:t>
                      </a:r>
                      <a:r>
                        <a:rPr kumimoji="0" lang="en-US" altLang="zh-TW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新細明體" pitchFamily="18" charset="-120"/>
                        </a:rPr>
                        <a:t>0  0  1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Practice: counter with irregular binary count sequence</a:t>
            </a: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8" name="Picture 5"/>
          <p:cNvPicPr>
            <a:picLocks noChangeAspect="1" noChangeArrowheads="1"/>
          </p:cNvPicPr>
          <p:nvPr/>
        </p:nvPicPr>
        <p:blipFill>
          <a:blip r:embed="rId2" cstate="print">
            <a:lum bright="-30000" contrast="40000"/>
          </a:blip>
          <a:srcRect/>
          <a:stretch>
            <a:fillRect/>
          </a:stretch>
        </p:blipFill>
        <p:spPr bwMode="auto">
          <a:xfrm>
            <a:off x="508000" y="1120775"/>
            <a:ext cx="7993063" cy="536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22" name="Picture 5"/>
          <p:cNvPicPr>
            <a:picLocks noChangeAspect="1" noChangeArrowheads="1"/>
          </p:cNvPicPr>
          <p:nvPr/>
        </p:nvPicPr>
        <p:blipFill>
          <a:blip r:embed="rId2" cstate="print">
            <a:lum bright="-30000" contrast="40000"/>
          </a:blip>
          <a:srcRect/>
          <a:stretch>
            <a:fillRect/>
          </a:stretch>
        </p:blipFill>
        <p:spPr bwMode="auto">
          <a:xfrm>
            <a:off x="684213" y="2276475"/>
            <a:ext cx="7772400" cy="346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823" name="Text Box 6"/>
          <p:cNvSpPr txBox="1">
            <a:spLocks noChangeArrowheads="1"/>
          </p:cNvSpPr>
          <p:nvPr/>
        </p:nvSpPr>
        <p:spPr bwMode="auto">
          <a:xfrm>
            <a:off x="611188" y="981075"/>
            <a:ext cx="21463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altLang="zh-TW" dirty="0">
                <a:ea typeface="新細明體" pitchFamily="18" charset="-120"/>
              </a:rPr>
              <a:t>J0 = 1,  K = Q2</a:t>
            </a:r>
          </a:p>
          <a:p>
            <a:pPr algn="l"/>
            <a:r>
              <a:rPr lang="en-US" altLang="zh-TW" dirty="0">
                <a:ea typeface="新細明體" pitchFamily="18" charset="-120"/>
              </a:rPr>
              <a:t>J1 = K1 = 1</a:t>
            </a:r>
          </a:p>
          <a:p>
            <a:pPr algn="l"/>
            <a:r>
              <a:rPr lang="en-US" altLang="zh-TW" dirty="0">
                <a:ea typeface="新細明體" pitchFamily="18" charset="-120"/>
              </a:rPr>
              <a:t>J2 = K2 = Q1</a:t>
            </a:r>
          </a:p>
        </p:txBody>
      </p:sp>
      <p:sp>
        <p:nvSpPr>
          <p:cNvPr id="34824" name="Line 7"/>
          <p:cNvSpPr>
            <a:spLocks noChangeShapeType="1"/>
          </p:cNvSpPr>
          <p:nvPr/>
        </p:nvSpPr>
        <p:spPr bwMode="auto">
          <a:xfrm>
            <a:off x="1906588" y="1052513"/>
            <a:ext cx="3587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 smtClean="0"/>
          </a:p>
        </p:txBody>
      </p:sp>
      <p:sp>
        <p:nvSpPr>
          <p:cNvPr id="47107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An analysis shows that if the counter, by accident, gets into one of the invalid states (0, 3, 4, 6) it will always return to a valid state according to the </a:t>
            </a:r>
            <a:r>
              <a:rPr lang="en-US" altLang="zh-TW" smtClean="0"/>
              <a:t>following sequences: 0</a:t>
            </a:r>
            <a:r>
              <a:rPr lang="en-US" altLang="zh-TW" smtClean="0">
                <a:sym typeface="Wingdings" pitchFamily="2" charset="2"/>
              </a:rPr>
              <a:t>347 and 61.</a:t>
            </a:r>
            <a:r>
              <a:rPr lang="en-US" altLang="zh-TW" smtClean="0"/>
              <a:t> </a:t>
            </a:r>
            <a:endParaRPr lang="zh-TW" altLang="en-US" dirty="0" smtClean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標題 3"/>
          <p:cNvSpPr>
            <a:spLocks noGrp="1"/>
          </p:cNvSpPr>
          <p:nvPr>
            <p:ph type="title" idx="4294967295"/>
          </p:nvPr>
        </p:nvSpPr>
        <p:spPr/>
        <p:txBody>
          <a:bodyPr lIns="0" tIns="0" rIns="0" bIns="0" anchor="ctr"/>
          <a:lstStyle/>
          <a:p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Syllabus</a:t>
            </a:r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875523" name="Rectangle 3"/>
          <p:cNvSpPr>
            <a:spLocks noGrp="1" noChangeArrowheads="1"/>
          </p:cNvSpPr>
          <p:nvPr>
            <p:ph idx="4294967295"/>
          </p:nvPr>
        </p:nvSpPr>
        <p:spPr/>
        <p:txBody>
          <a:bodyPr lIns="90488" tIns="44450" rIns="90488" bIns="44450">
            <a:normAutofit/>
          </a:bodyPr>
          <a:lstStyle/>
          <a:p>
            <a:r>
              <a:rPr lang="en-AU" dirty="0" smtClean="0"/>
              <a:t>Chapter </a:t>
            </a:r>
            <a:r>
              <a:rPr lang="en-AU" dirty="0" smtClean="0"/>
              <a:t>6 </a:t>
            </a:r>
            <a:r>
              <a:rPr lang="en-AU" dirty="0" smtClean="0"/>
              <a:t>(Excluding Section </a:t>
            </a:r>
            <a:r>
              <a:rPr lang="en-AU" dirty="0" smtClean="0"/>
              <a:t>6.6</a:t>
            </a:r>
            <a:r>
              <a:rPr lang="en-AU" dirty="0" smtClean="0"/>
              <a:t>)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5388</TotalTime>
  <Words>2003</Words>
  <Application>Microsoft Office PowerPoint</Application>
  <PresentationFormat>On-screen Show (4:3)</PresentationFormat>
  <Paragraphs>631</Paragraphs>
  <Slides>50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Oriel</vt:lpstr>
      <vt:lpstr>CSE 205: Digital Logic Design</vt:lpstr>
      <vt:lpstr>Registers and Counters</vt:lpstr>
      <vt:lpstr>Registers</vt:lpstr>
      <vt:lpstr>4-bit Register with Parallel Load</vt:lpstr>
      <vt:lpstr>Shift Registers</vt:lpstr>
      <vt:lpstr>Data Transfer</vt:lpstr>
      <vt:lpstr>  Serial transfer from reg A to reg B</vt:lpstr>
      <vt:lpstr>Serial transfer from reg A to reg B</vt:lpstr>
      <vt:lpstr>Serial Addition</vt:lpstr>
      <vt:lpstr>Serial Addition using D Flip-Flops</vt:lpstr>
      <vt:lpstr>Serial Adder using JK FFs (1/2)</vt:lpstr>
      <vt:lpstr>Serial Adder using JK FFs (2/2)</vt:lpstr>
      <vt:lpstr>Universal Shift Register</vt:lpstr>
      <vt:lpstr>Universal Shift Register (1/4)</vt:lpstr>
      <vt:lpstr>Universal Shift Register (2/4)</vt:lpstr>
      <vt:lpstr>Universal Shift Register (3/4)</vt:lpstr>
      <vt:lpstr>Universal Shift Register (4/4)</vt:lpstr>
      <vt:lpstr>Counters</vt:lpstr>
      <vt:lpstr>Counters</vt:lpstr>
      <vt:lpstr>Binary Ripple Counter</vt:lpstr>
      <vt:lpstr>Binary Ripple  Counter</vt:lpstr>
      <vt:lpstr>Binary Ripple  Counter</vt:lpstr>
      <vt:lpstr>Asynchronous (Ripple) Counters</vt:lpstr>
      <vt:lpstr>BCD Ripple Counter</vt:lpstr>
      <vt:lpstr>BCD Ripple Counter</vt:lpstr>
      <vt:lpstr>BCD Ripple Counter</vt:lpstr>
      <vt:lpstr>Synchronous Counters</vt:lpstr>
      <vt:lpstr>4-Bit Binary Counter</vt:lpstr>
      <vt:lpstr>4-bit Up/Down Binary Counter</vt:lpstr>
      <vt:lpstr>BCD Counters</vt:lpstr>
      <vt:lpstr>4-bit binary counter  with parallel load</vt:lpstr>
      <vt:lpstr>Slide 32</vt:lpstr>
      <vt:lpstr>  BCD counter using a counter with parallel load</vt:lpstr>
      <vt:lpstr>Other Counters</vt:lpstr>
      <vt:lpstr>Counter with unsigned states</vt:lpstr>
      <vt:lpstr>Counter with unsigned states</vt:lpstr>
      <vt:lpstr> Counter with unsigned states</vt:lpstr>
      <vt:lpstr> Ring counter </vt:lpstr>
      <vt:lpstr>Ring counter</vt:lpstr>
      <vt:lpstr>Ring counter</vt:lpstr>
      <vt:lpstr>Generation of timing signals</vt:lpstr>
      <vt:lpstr>Ring counter vs. Switch-tail ring counter</vt:lpstr>
      <vt:lpstr>An example: Switch-tail ring counter</vt:lpstr>
      <vt:lpstr>Johnson counter </vt:lpstr>
      <vt:lpstr>Summary</vt:lpstr>
      <vt:lpstr>Practice: counter with irregular binary count sequence</vt:lpstr>
      <vt:lpstr>Slide 47</vt:lpstr>
      <vt:lpstr>Slide 48</vt:lpstr>
      <vt:lpstr>Slide 49</vt:lpstr>
      <vt:lpstr> Syllabus</vt:lpstr>
    </vt:vector>
  </TitlesOfParts>
  <Company>BUET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205: Digital Logic Design</dc:title>
  <dc:creator>user</dc:creator>
  <cp:lastModifiedBy>Tanzima</cp:lastModifiedBy>
  <cp:revision>696</cp:revision>
  <dcterms:created xsi:type="dcterms:W3CDTF">2012-03-31T05:29:50Z</dcterms:created>
  <dcterms:modified xsi:type="dcterms:W3CDTF">2016-05-22T05:47:03Z</dcterms:modified>
</cp:coreProperties>
</file>