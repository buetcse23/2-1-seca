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notesMasterIdLst>
    <p:notesMasterId r:id="rId91"/>
  </p:notesMasterIdLst>
  <p:handoutMasterIdLst>
    <p:handoutMasterId r:id="rId92"/>
  </p:handoutMasterIdLst>
  <p:sldIdLst>
    <p:sldId id="256" r:id="rId2"/>
    <p:sldId id="368" r:id="rId3"/>
    <p:sldId id="369" r:id="rId4"/>
    <p:sldId id="370" r:id="rId5"/>
    <p:sldId id="373" r:id="rId6"/>
    <p:sldId id="276" r:id="rId7"/>
    <p:sldId id="277" r:id="rId8"/>
    <p:sldId id="274" r:id="rId9"/>
    <p:sldId id="371" r:id="rId10"/>
    <p:sldId id="278" r:id="rId11"/>
    <p:sldId id="279" r:id="rId12"/>
    <p:sldId id="258" r:id="rId13"/>
    <p:sldId id="259" r:id="rId14"/>
    <p:sldId id="260" r:id="rId15"/>
    <p:sldId id="261" r:id="rId16"/>
    <p:sldId id="262" r:id="rId17"/>
    <p:sldId id="268" r:id="rId18"/>
    <p:sldId id="269" r:id="rId19"/>
    <p:sldId id="265" r:id="rId20"/>
    <p:sldId id="266" r:id="rId21"/>
    <p:sldId id="267" r:id="rId22"/>
    <p:sldId id="270" r:id="rId23"/>
    <p:sldId id="271" r:id="rId24"/>
    <p:sldId id="272" r:id="rId25"/>
    <p:sldId id="257" r:id="rId26"/>
    <p:sldId id="293" r:id="rId27"/>
    <p:sldId id="281" r:id="rId28"/>
    <p:sldId id="282" r:id="rId29"/>
    <p:sldId id="294" r:id="rId30"/>
    <p:sldId id="283" r:id="rId31"/>
    <p:sldId id="315" r:id="rId32"/>
    <p:sldId id="295" r:id="rId33"/>
    <p:sldId id="296" r:id="rId34"/>
    <p:sldId id="284" r:id="rId35"/>
    <p:sldId id="285" r:id="rId36"/>
    <p:sldId id="286" r:id="rId37"/>
    <p:sldId id="287" r:id="rId38"/>
    <p:sldId id="298" r:id="rId39"/>
    <p:sldId id="316" r:id="rId40"/>
    <p:sldId id="301" r:id="rId41"/>
    <p:sldId id="302" r:id="rId42"/>
    <p:sldId id="308" r:id="rId43"/>
    <p:sldId id="303" r:id="rId44"/>
    <p:sldId id="304" r:id="rId45"/>
    <p:sldId id="305" r:id="rId46"/>
    <p:sldId id="307" r:id="rId47"/>
    <p:sldId id="310" r:id="rId48"/>
    <p:sldId id="311" r:id="rId49"/>
    <p:sldId id="312" r:id="rId50"/>
    <p:sldId id="313" r:id="rId51"/>
    <p:sldId id="314" r:id="rId52"/>
    <p:sldId id="333" r:id="rId53"/>
    <p:sldId id="330" r:id="rId54"/>
    <p:sldId id="331" r:id="rId55"/>
    <p:sldId id="332" r:id="rId56"/>
    <p:sldId id="321" r:id="rId57"/>
    <p:sldId id="323" r:id="rId58"/>
    <p:sldId id="324" r:id="rId59"/>
    <p:sldId id="328" r:id="rId60"/>
    <p:sldId id="325" r:id="rId61"/>
    <p:sldId id="326" r:id="rId62"/>
    <p:sldId id="355" r:id="rId63"/>
    <p:sldId id="358" r:id="rId64"/>
    <p:sldId id="359" r:id="rId65"/>
    <p:sldId id="361" r:id="rId66"/>
    <p:sldId id="362" r:id="rId67"/>
    <p:sldId id="374" r:id="rId68"/>
    <p:sldId id="375" r:id="rId69"/>
    <p:sldId id="376" r:id="rId70"/>
    <p:sldId id="350" r:id="rId71"/>
    <p:sldId id="336" r:id="rId72"/>
    <p:sldId id="337" r:id="rId73"/>
    <p:sldId id="338" r:id="rId74"/>
    <p:sldId id="340" r:id="rId75"/>
    <p:sldId id="341" r:id="rId76"/>
    <p:sldId id="342" r:id="rId77"/>
    <p:sldId id="343" r:id="rId78"/>
    <p:sldId id="344" r:id="rId79"/>
    <p:sldId id="345" r:id="rId80"/>
    <p:sldId id="346" r:id="rId81"/>
    <p:sldId id="347" r:id="rId82"/>
    <p:sldId id="348" r:id="rId83"/>
    <p:sldId id="349" r:id="rId84"/>
    <p:sldId id="363" r:id="rId85"/>
    <p:sldId id="364" r:id="rId86"/>
    <p:sldId id="365" r:id="rId87"/>
    <p:sldId id="366" r:id="rId88"/>
    <p:sldId id="367" r:id="rId89"/>
    <p:sldId id="372" r:id="rId90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620"/>
    <p:restoredTop sz="76514" autoAdjust="0"/>
  </p:normalViewPr>
  <p:slideViewPr>
    <p:cSldViewPr snapToGrid="0">
      <p:cViewPr>
        <p:scale>
          <a:sx n="50" d="100"/>
          <a:sy n="50" d="100"/>
        </p:scale>
        <p:origin x="-1626" y="-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notesMaster" Target="notesMasters/notesMaster1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image" Target="../media/image5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image" Target="../media/image5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image" Target="../media/image8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e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e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6DDAA8-2571-4EEF-8A14-844D596EE726}" type="datetimeFigureOut">
              <a:rPr lang="en-US" smtClean="0"/>
              <a:pPr/>
              <a:t>5/2/2017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5FB613-7FED-4192-8E5B-1481EA2AEB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768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A233E0B-8985-4C80-9212-0E2B041D2DB7}" type="datetimeFigureOut">
              <a:rPr lang="en-US" smtClean="0"/>
              <a:pPr/>
              <a:t>5/2/2017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78E32228-077E-4C6D-9838-E60F51038F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323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D41B88FF-6C49-4CE8-8537-C18D507211E6}" type="datetime5">
              <a:rPr lang="zh-CN" altLang="en-US" smtClean="0"/>
              <a:pPr/>
              <a:t>2017/5/2</a:t>
            </a:fld>
            <a:endParaRPr lang="en-US" altLang="zh-CN" smtClean="0"/>
          </a:p>
        </p:txBody>
      </p:sp>
      <p:sp>
        <p:nvSpPr>
          <p:cNvPr id="3789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22D435-BC17-4BF9-9E65-9A19ECE8EF34}" type="slidenum">
              <a:rPr lang="zh-CN" altLang="en-US" smtClean="0"/>
              <a:pPr/>
              <a:t>3</a:t>
            </a:fld>
            <a:endParaRPr lang="zh-CN" altLang="en-US" smtClean="0"/>
          </a:p>
        </p:txBody>
      </p:sp>
      <p:sp>
        <p:nvSpPr>
          <p:cNvPr id="3789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DC0E4AD5-CB16-4FF8-8F5C-96B8E2B9AEF2}" type="datetime5">
              <a:rPr lang="zh-CN" altLang="en-US" smtClean="0"/>
              <a:pPr/>
              <a:t>2017/5/2</a:t>
            </a:fld>
            <a:endParaRPr lang="en-US" altLang="zh-CN" smtClean="0"/>
          </a:p>
        </p:txBody>
      </p:sp>
      <p:sp>
        <p:nvSpPr>
          <p:cNvPr id="3891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5F6399A-0BCD-4A88-9104-AD9B6961A892}" type="slidenum">
              <a:rPr lang="zh-CN" altLang="en-US" smtClean="0"/>
              <a:pPr/>
              <a:t>4</a:t>
            </a:fld>
            <a:endParaRPr lang="zh-CN" altLang="en-US" smtClean="0"/>
          </a:p>
        </p:txBody>
      </p:sp>
      <p:sp>
        <p:nvSpPr>
          <p:cNvPr id="3891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D5EE888-DA19-4717-B4AA-7466C3E5E3DB}" type="slidenum">
              <a:rPr lang="en-US"/>
              <a:pPr/>
              <a:t>11</a:t>
            </a:fld>
            <a:endParaRPr lang="en-US"/>
          </a:p>
        </p:txBody>
      </p:sp>
      <p:sp>
        <p:nvSpPr>
          <p:cNvPr id="75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D5EE888-DA19-4717-B4AA-7466C3E5E3DB}" type="slidenum">
              <a:rPr lang="en-US"/>
              <a:pPr/>
              <a:t>12</a:t>
            </a:fld>
            <a:endParaRPr lang="en-US"/>
          </a:p>
        </p:txBody>
      </p:sp>
      <p:sp>
        <p:nvSpPr>
          <p:cNvPr id="75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2B69ADF-4B66-4E42-9E2E-91F363E35735}" type="slidenum">
              <a:rPr lang="en-US"/>
              <a:pPr/>
              <a:t>13</a:t>
            </a:fld>
            <a:endParaRPr lang="en-US"/>
          </a:p>
        </p:txBody>
      </p:sp>
      <p:sp>
        <p:nvSpPr>
          <p:cNvPr id="75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C6A030-FEDC-4B0E-8493-0D057DD61F60}" type="slidenum">
              <a:rPr lang="en-US"/>
              <a:pPr/>
              <a:t>14</a:t>
            </a:fld>
            <a:endParaRPr lang="en-US"/>
          </a:p>
        </p:txBody>
      </p:sp>
      <p:sp>
        <p:nvSpPr>
          <p:cNvPr id="756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6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0DD155B-E0C6-4FCF-83FA-01D3ADB2D5FE}" type="slidenum">
              <a:rPr lang="en-US"/>
              <a:pPr/>
              <a:t>15</a:t>
            </a:fld>
            <a:endParaRPr lang="en-US"/>
          </a:p>
        </p:txBody>
      </p:sp>
      <p:sp>
        <p:nvSpPr>
          <p:cNvPr id="75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8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23FB629-CA2C-4831-BB4D-4E0C2CAD86D4}" type="slidenum">
              <a:rPr lang="en-US"/>
              <a:pPr/>
              <a:t>16</a:t>
            </a:fld>
            <a:endParaRPr lang="en-US"/>
          </a:p>
        </p:txBody>
      </p:sp>
      <p:sp>
        <p:nvSpPr>
          <p:cNvPr id="76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0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B34ACA4-75F9-4394-9CFA-3334EB7D41A5}" type="slidenum">
              <a:rPr lang="en-US"/>
              <a:pPr/>
              <a:t>17</a:t>
            </a:fld>
            <a:endParaRPr lang="en-US"/>
          </a:p>
        </p:txBody>
      </p:sp>
      <p:sp>
        <p:nvSpPr>
          <p:cNvPr id="762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2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FDDCD75-2B03-4159-B5F1-F21AE48D343A}" type="slidenum">
              <a:rPr lang="en-US"/>
              <a:pPr/>
              <a:t>18</a:t>
            </a:fld>
            <a:endParaRPr lang="en-US"/>
          </a:p>
        </p:txBody>
      </p:sp>
      <p:sp>
        <p:nvSpPr>
          <p:cNvPr id="764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4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17A5F29-EB80-4C08-97A8-D9E059B2E266}" type="slidenum">
              <a:rPr lang="en-US"/>
              <a:pPr/>
              <a:t>19</a:t>
            </a:fld>
            <a:endParaRPr lang="en-US"/>
          </a:p>
        </p:txBody>
      </p:sp>
      <p:sp>
        <p:nvSpPr>
          <p:cNvPr id="766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6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64C3229-4911-4607-9BDA-E3B8C49EFA4D}" type="slidenum">
              <a:rPr lang="en-US"/>
              <a:pPr/>
              <a:t>20</a:t>
            </a:fld>
            <a:endParaRPr lang="en-US"/>
          </a:p>
        </p:txBody>
      </p:sp>
      <p:sp>
        <p:nvSpPr>
          <p:cNvPr id="76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9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C2D6EAE-1918-4F10-B866-1A9E67C30873}" type="slidenum">
              <a:rPr lang="en-US"/>
              <a:pPr/>
              <a:t>21</a:t>
            </a:fld>
            <a:endParaRPr lang="en-US"/>
          </a:p>
        </p:txBody>
      </p:sp>
      <p:sp>
        <p:nvSpPr>
          <p:cNvPr id="771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1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59F0A7-2607-4D19-B834-9ECBA7E685F1}" type="slidenum">
              <a:rPr lang="en-US"/>
              <a:pPr/>
              <a:t>22</a:t>
            </a:fld>
            <a:endParaRPr lang="en-US"/>
          </a:p>
        </p:txBody>
      </p:sp>
      <p:sp>
        <p:nvSpPr>
          <p:cNvPr id="773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3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D2A6C30-1785-4CAD-A7C2-FEE6ECFC7498}" type="slidenum">
              <a:rPr lang="en-US"/>
              <a:pPr/>
              <a:t>23</a:t>
            </a:fld>
            <a:endParaRPr lang="en-US"/>
          </a:p>
        </p:txBody>
      </p:sp>
      <p:sp>
        <p:nvSpPr>
          <p:cNvPr id="775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5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B5381E-3C9E-4946-B255-12EC8EC2C6BA}" type="slidenum">
              <a:rPr lang="en-US"/>
              <a:pPr/>
              <a:t>24</a:t>
            </a:fld>
            <a:endParaRPr lang="en-US"/>
          </a:p>
        </p:txBody>
      </p:sp>
      <p:sp>
        <p:nvSpPr>
          <p:cNvPr id="777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7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56C773E-34C1-4ED7-AA67-100FD80B9A37}" type="slidenum">
              <a:rPr lang="en-US"/>
              <a:pPr/>
              <a:t>27</a:t>
            </a:fld>
            <a:endParaRPr lang="en-US"/>
          </a:p>
        </p:txBody>
      </p:sp>
      <p:sp>
        <p:nvSpPr>
          <p:cNvPr id="779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9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A1F1CD4-4121-4FEA-9AB2-24F13BE4D70D}" type="slidenum">
              <a:rPr lang="en-US"/>
              <a:pPr/>
              <a:t>28</a:t>
            </a:fld>
            <a:endParaRPr lang="en-US"/>
          </a:p>
        </p:txBody>
      </p:sp>
      <p:sp>
        <p:nvSpPr>
          <p:cNvPr id="781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1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626F242-7D03-47FE-9647-8FC2C8032351}" type="slidenum">
              <a:rPr lang="en-US"/>
              <a:pPr/>
              <a:t>30</a:t>
            </a:fld>
            <a:endParaRPr lang="en-US"/>
          </a:p>
        </p:txBody>
      </p:sp>
      <p:sp>
        <p:nvSpPr>
          <p:cNvPr id="783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3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626F242-7D03-47FE-9647-8FC2C8032351}" type="slidenum">
              <a:rPr lang="en-US"/>
              <a:pPr/>
              <a:t>31</a:t>
            </a:fld>
            <a:endParaRPr lang="en-US"/>
          </a:p>
        </p:txBody>
      </p:sp>
      <p:sp>
        <p:nvSpPr>
          <p:cNvPr id="783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3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E32228-077E-4C6D-9838-E60F51038F37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EAD26A9-C49B-4ABC-954D-65C972D8EF7A}" type="slidenum">
              <a:rPr lang="en-US"/>
              <a:pPr/>
              <a:t>33</a:t>
            </a:fld>
            <a:endParaRPr lang="en-US"/>
          </a:p>
        </p:txBody>
      </p:sp>
      <p:sp>
        <p:nvSpPr>
          <p:cNvPr id="785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5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EAD26A9-C49B-4ABC-954D-65C972D8EF7A}" type="slidenum">
              <a:rPr lang="en-US"/>
              <a:pPr/>
              <a:t>34</a:t>
            </a:fld>
            <a:endParaRPr lang="en-US"/>
          </a:p>
        </p:txBody>
      </p:sp>
      <p:sp>
        <p:nvSpPr>
          <p:cNvPr id="785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5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E26ECB2-522E-408F-B7F9-6A4C3730018E}" type="slidenum">
              <a:rPr lang="en-US"/>
              <a:pPr/>
              <a:t>35</a:t>
            </a:fld>
            <a:endParaRPr lang="en-US"/>
          </a:p>
        </p:txBody>
      </p:sp>
      <p:sp>
        <p:nvSpPr>
          <p:cNvPr id="787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7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386135C-0E24-48F5-AA98-C7ACE629F0D4}" type="slidenum">
              <a:rPr lang="en-US"/>
              <a:pPr/>
              <a:t>36</a:t>
            </a:fld>
            <a:endParaRPr lang="en-US"/>
          </a:p>
        </p:txBody>
      </p:sp>
      <p:sp>
        <p:nvSpPr>
          <p:cNvPr id="789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9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D26CDC7-07A7-406C-80B0-4ED62F577002}" type="slidenum">
              <a:rPr lang="en-US"/>
              <a:pPr/>
              <a:t>37</a:t>
            </a:fld>
            <a:endParaRPr lang="en-US"/>
          </a:p>
        </p:txBody>
      </p:sp>
      <p:sp>
        <p:nvSpPr>
          <p:cNvPr id="791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1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DCC6481-82FA-47BE-8899-8094790BA861}" type="slidenum">
              <a:rPr lang="en-US"/>
              <a:pPr/>
              <a:t>38</a:t>
            </a:fld>
            <a:endParaRPr lang="en-US"/>
          </a:p>
        </p:txBody>
      </p:sp>
      <p:sp>
        <p:nvSpPr>
          <p:cNvPr id="805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5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DCC6481-82FA-47BE-8899-8094790BA861}" type="slidenum">
              <a:rPr lang="en-US"/>
              <a:pPr/>
              <a:t>39</a:t>
            </a:fld>
            <a:endParaRPr lang="en-US"/>
          </a:p>
        </p:txBody>
      </p:sp>
      <p:sp>
        <p:nvSpPr>
          <p:cNvPr id="805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5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0D7D150-0F85-40E4-88BB-9A990BF876D4}" type="slidenum">
              <a:rPr lang="en-US"/>
              <a:pPr/>
              <a:t>40</a:t>
            </a:fld>
            <a:endParaRPr lang="en-US"/>
          </a:p>
        </p:txBody>
      </p:sp>
      <p:sp>
        <p:nvSpPr>
          <p:cNvPr id="812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2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BBB3D3B-7138-4614-848E-26501E98F0EF}" type="slidenum">
              <a:rPr lang="en-US"/>
              <a:pPr/>
              <a:t>41</a:t>
            </a:fld>
            <a:endParaRPr lang="en-US"/>
          </a:p>
        </p:txBody>
      </p:sp>
      <p:sp>
        <p:nvSpPr>
          <p:cNvPr id="814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4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BBB3D3B-7138-4614-848E-26501E98F0EF}" type="slidenum">
              <a:rPr lang="en-US"/>
              <a:pPr/>
              <a:t>42</a:t>
            </a:fld>
            <a:endParaRPr lang="en-US"/>
          </a:p>
        </p:txBody>
      </p:sp>
      <p:sp>
        <p:nvSpPr>
          <p:cNvPr id="814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4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F10B3E1-23B5-4AA3-B0CA-5906BE39C65D}" type="slidenum">
              <a:rPr lang="en-US"/>
              <a:pPr/>
              <a:t>43</a:t>
            </a:fld>
            <a:endParaRPr lang="en-US"/>
          </a:p>
        </p:txBody>
      </p:sp>
      <p:sp>
        <p:nvSpPr>
          <p:cNvPr id="816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6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654E5F2-154E-4D30-B520-B27BEE2A4CB2}" type="slidenum">
              <a:rPr lang="en-US"/>
              <a:pPr/>
              <a:t>44</a:t>
            </a:fld>
            <a:endParaRPr lang="en-US"/>
          </a:p>
        </p:txBody>
      </p:sp>
      <p:sp>
        <p:nvSpPr>
          <p:cNvPr id="818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8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AD07EA1-5D96-483C-9452-EB0A8803822D}" type="slidenum">
              <a:rPr lang="en-US"/>
              <a:pPr/>
              <a:t>45</a:t>
            </a:fld>
            <a:endParaRPr lang="en-US"/>
          </a:p>
        </p:txBody>
      </p:sp>
      <p:sp>
        <p:nvSpPr>
          <p:cNvPr id="820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0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A753032-893C-44BE-AD3B-4A8F619D587F}" type="slidenum">
              <a:rPr lang="en-US"/>
              <a:pPr/>
              <a:t>46</a:t>
            </a:fld>
            <a:endParaRPr lang="en-US"/>
          </a:p>
        </p:txBody>
      </p:sp>
      <p:sp>
        <p:nvSpPr>
          <p:cNvPr id="82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2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66E3F34-A067-4CCB-8C4F-5F1EE90A5E1A}" type="slidenum">
              <a:rPr lang="en-US"/>
              <a:pPr/>
              <a:t>47</a:t>
            </a:fld>
            <a:endParaRPr lang="en-US"/>
          </a:p>
        </p:txBody>
      </p:sp>
      <p:sp>
        <p:nvSpPr>
          <p:cNvPr id="824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4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2D8DC96-40A1-4341-8B96-ED73706691D9}" type="slidenum">
              <a:rPr lang="en-US"/>
              <a:pPr/>
              <a:t>48</a:t>
            </a:fld>
            <a:endParaRPr lang="en-US"/>
          </a:p>
        </p:txBody>
      </p:sp>
      <p:sp>
        <p:nvSpPr>
          <p:cNvPr id="826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6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9196CE8-6C2D-485A-9BDA-C87520DA9E26}" type="slidenum">
              <a:rPr lang="en-US"/>
              <a:pPr/>
              <a:t>49</a:t>
            </a:fld>
            <a:endParaRPr lang="en-US"/>
          </a:p>
        </p:txBody>
      </p:sp>
      <p:sp>
        <p:nvSpPr>
          <p:cNvPr id="828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8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D4DBA3E-F01E-40A9-B542-50C06505A573}" type="slidenum">
              <a:rPr lang="en-US"/>
              <a:pPr/>
              <a:t>50</a:t>
            </a:fld>
            <a:endParaRPr lang="en-US"/>
          </a:p>
        </p:txBody>
      </p:sp>
      <p:sp>
        <p:nvSpPr>
          <p:cNvPr id="830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0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53172D6-DAD3-41AB-B522-14D7AEA0BD68}" type="slidenum">
              <a:rPr lang="en-US"/>
              <a:pPr/>
              <a:t>51</a:t>
            </a:fld>
            <a:endParaRPr lang="en-US"/>
          </a:p>
        </p:txBody>
      </p:sp>
      <p:sp>
        <p:nvSpPr>
          <p:cNvPr id="832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2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D020032-8AC8-4112-BEC5-2E7D76EF656B}" type="slidenum">
              <a:rPr lang="en-US"/>
              <a:pPr/>
              <a:t>53</a:t>
            </a:fld>
            <a:endParaRPr lang="en-US"/>
          </a:p>
        </p:txBody>
      </p:sp>
      <p:sp>
        <p:nvSpPr>
          <p:cNvPr id="893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3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DB20E2E-FB97-4C4D-AA32-F37E08C3C089}" type="slidenum">
              <a:rPr lang="en-US"/>
              <a:pPr/>
              <a:t>54</a:t>
            </a:fld>
            <a:endParaRPr lang="en-US"/>
          </a:p>
        </p:txBody>
      </p:sp>
      <p:sp>
        <p:nvSpPr>
          <p:cNvPr id="834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4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01DFAB2-151E-4789-BE53-66849D6D8B00}" type="slidenum">
              <a:rPr lang="en-US"/>
              <a:pPr/>
              <a:t>55</a:t>
            </a:fld>
            <a:endParaRPr lang="en-US"/>
          </a:p>
        </p:txBody>
      </p:sp>
      <p:sp>
        <p:nvSpPr>
          <p:cNvPr id="836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6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BBB3D3B-7138-4614-848E-26501E98F0EF}" type="slidenum">
              <a:rPr lang="en-US"/>
              <a:pPr/>
              <a:t>56</a:t>
            </a:fld>
            <a:endParaRPr lang="en-US"/>
          </a:p>
        </p:txBody>
      </p:sp>
      <p:sp>
        <p:nvSpPr>
          <p:cNvPr id="814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4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C1F4658-CFD3-410A-9B2C-718B67C18813}" type="slidenum">
              <a:rPr lang="en-US"/>
              <a:pPr/>
              <a:t>57</a:t>
            </a:fld>
            <a:endParaRPr lang="en-US"/>
          </a:p>
        </p:txBody>
      </p:sp>
      <p:sp>
        <p:nvSpPr>
          <p:cNvPr id="882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2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3CECF9-D1C7-4D48-9AA6-7C81E0A7249E}" type="slidenum">
              <a:rPr lang="en-US"/>
              <a:pPr/>
              <a:t>58</a:t>
            </a:fld>
            <a:endParaRPr lang="en-US"/>
          </a:p>
        </p:txBody>
      </p:sp>
      <p:sp>
        <p:nvSpPr>
          <p:cNvPr id="883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3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3CECF9-D1C7-4D48-9AA6-7C81E0A7249E}" type="slidenum">
              <a:rPr lang="en-US"/>
              <a:pPr/>
              <a:t>59</a:t>
            </a:fld>
            <a:endParaRPr lang="en-US"/>
          </a:p>
        </p:txBody>
      </p:sp>
      <p:sp>
        <p:nvSpPr>
          <p:cNvPr id="883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3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85452D9-226D-4F2C-863C-4F79AC392BDA}" type="slidenum">
              <a:rPr lang="en-US"/>
              <a:pPr/>
              <a:t>60</a:t>
            </a:fld>
            <a:endParaRPr lang="en-US"/>
          </a:p>
        </p:txBody>
      </p:sp>
      <p:sp>
        <p:nvSpPr>
          <p:cNvPr id="884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4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DBD1F3E-3468-408C-BBE7-A793AE52194B}" type="slidenum">
              <a:rPr lang="en-US"/>
              <a:pPr/>
              <a:t>61</a:t>
            </a:fld>
            <a:endParaRPr lang="en-US"/>
          </a:p>
        </p:txBody>
      </p:sp>
      <p:sp>
        <p:nvSpPr>
          <p:cNvPr id="885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5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3CECF9-D1C7-4D48-9AA6-7C81E0A7249E}" type="slidenum">
              <a:rPr lang="en-US"/>
              <a:pPr/>
              <a:t>62</a:t>
            </a:fld>
            <a:endParaRPr lang="en-US"/>
          </a:p>
        </p:txBody>
      </p:sp>
      <p:sp>
        <p:nvSpPr>
          <p:cNvPr id="883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3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12902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1290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FFD78DB-A9EE-4FAD-80CF-69BFAF63A3E8}" type="slidenum">
              <a:rPr lang="en-US"/>
              <a:pPr/>
              <a:t>63</a:t>
            </a:fld>
            <a:endParaRPr lang="en-US"/>
          </a:p>
        </p:txBody>
      </p:sp>
      <p:sp>
        <p:nvSpPr>
          <p:cNvPr id="1290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13005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1300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148CB71-7AAF-454F-812B-33637F7F256A}" type="slidenum">
              <a:rPr lang="en-US"/>
              <a:pPr/>
              <a:t>64</a:t>
            </a:fld>
            <a:endParaRPr lang="en-US"/>
          </a:p>
        </p:txBody>
      </p:sp>
      <p:sp>
        <p:nvSpPr>
          <p:cNvPr id="1300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3CECF9-D1C7-4D48-9AA6-7C81E0A7249E}" type="slidenum">
              <a:rPr lang="en-US"/>
              <a:pPr/>
              <a:t>65</a:t>
            </a:fld>
            <a:endParaRPr lang="en-US"/>
          </a:p>
        </p:txBody>
      </p:sp>
      <p:sp>
        <p:nvSpPr>
          <p:cNvPr id="883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3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3CECF9-D1C7-4D48-9AA6-7C81E0A7249E}" type="slidenum">
              <a:rPr lang="en-US"/>
              <a:pPr/>
              <a:t>66</a:t>
            </a:fld>
            <a:endParaRPr lang="en-US"/>
          </a:p>
        </p:txBody>
      </p:sp>
      <p:sp>
        <p:nvSpPr>
          <p:cNvPr id="883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3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3CECF9-D1C7-4D48-9AA6-7C81E0A7249E}" type="slidenum">
              <a:rPr lang="en-US"/>
              <a:pPr/>
              <a:t>67</a:t>
            </a:fld>
            <a:endParaRPr lang="en-US"/>
          </a:p>
        </p:txBody>
      </p:sp>
      <p:sp>
        <p:nvSpPr>
          <p:cNvPr id="883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3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3CECF9-D1C7-4D48-9AA6-7C81E0A7249E}" type="slidenum">
              <a:rPr lang="en-US"/>
              <a:pPr/>
              <a:t>68</a:t>
            </a:fld>
            <a:endParaRPr lang="en-US"/>
          </a:p>
        </p:txBody>
      </p:sp>
      <p:sp>
        <p:nvSpPr>
          <p:cNvPr id="883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3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3CECF9-D1C7-4D48-9AA6-7C81E0A7249E}" type="slidenum">
              <a:rPr lang="en-US"/>
              <a:pPr/>
              <a:t>69</a:t>
            </a:fld>
            <a:endParaRPr lang="en-US"/>
          </a:p>
        </p:txBody>
      </p:sp>
      <p:sp>
        <p:nvSpPr>
          <p:cNvPr id="883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3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3CECF9-D1C7-4D48-9AA6-7C81E0A7249E}" type="slidenum">
              <a:rPr lang="en-US"/>
              <a:pPr/>
              <a:t>70</a:t>
            </a:fld>
            <a:endParaRPr lang="en-US"/>
          </a:p>
        </p:txBody>
      </p:sp>
      <p:sp>
        <p:nvSpPr>
          <p:cNvPr id="883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3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3CECF9-D1C7-4D48-9AA6-7C81E0A7249E}" type="slidenum">
              <a:rPr lang="en-US"/>
              <a:pPr/>
              <a:t>71</a:t>
            </a:fld>
            <a:endParaRPr lang="en-US"/>
          </a:p>
        </p:txBody>
      </p:sp>
      <p:sp>
        <p:nvSpPr>
          <p:cNvPr id="883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3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39DD1D5-F61C-4820-995C-CD16F97875D3}" type="slidenum">
              <a:rPr lang="en-US"/>
              <a:pPr/>
              <a:t>72</a:t>
            </a:fld>
            <a:endParaRPr lang="en-US"/>
          </a:p>
        </p:txBody>
      </p:sp>
      <p:sp>
        <p:nvSpPr>
          <p:cNvPr id="888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8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3CECF9-D1C7-4D48-9AA6-7C81E0A7249E}" type="slidenum">
              <a:rPr lang="en-US"/>
              <a:pPr/>
              <a:t>73</a:t>
            </a:fld>
            <a:endParaRPr lang="en-US"/>
          </a:p>
        </p:txBody>
      </p:sp>
      <p:sp>
        <p:nvSpPr>
          <p:cNvPr id="883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3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4C53AE5-97F6-49FF-9CB7-85F6655FEB9A}" type="slidenum">
              <a:rPr lang="en-US"/>
              <a:pPr/>
              <a:t>74</a:t>
            </a:fld>
            <a:endParaRPr lang="en-US"/>
          </a:p>
        </p:txBody>
      </p:sp>
      <p:sp>
        <p:nvSpPr>
          <p:cNvPr id="842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2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47DF4A0-1400-4862-B930-843652ADC07F}" type="slidenum">
              <a:rPr lang="en-US"/>
              <a:pPr/>
              <a:t>75</a:t>
            </a:fld>
            <a:endParaRPr lang="en-US"/>
          </a:p>
        </p:txBody>
      </p:sp>
      <p:sp>
        <p:nvSpPr>
          <p:cNvPr id="844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4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F237647-665D-4058-A364-26166380625C}" type="slidenum">
              <a:rPr lang="en-US"/>
              <a:pPr/>
              <a:t>76</a:t>
            </a:fld>
            <a:endParaRPr lang="en-US"/>
          </a:p>
        </p:txBody>
      </p:sp>
      <p:sp>
        <p:nvSpPr>
          <p:cNvPr id="846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6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7E8DF75-A466-4FA6-8C96-55BF41FD1A3C}" type="slidenum">
              <a:rPr lang="en-US"/>
              <a:pPr/>
              <a:t>77</a:t>
            </a:fld>
            <a:endParaRPr lang="en-US"/>
          </a:p>
        </p:txBody>
      </p:sp>
      <p:sp>
        <p:nvSpPr>
          <p:cNvPr id="848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8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643E9FB-2E9C-44B6-8F39-2A1014AEC9DD}" type="slidenum">
              <a:rPr lang="en-US"/>
              <a:pPr/>
              <a:t>78</a:t>
            </a:fld>
            <a:endParaRPr lang="en-US"/>
          </a:p>
        </p:txBody>
      </p:sp>
      <p:sp>
        <p:nvSpPr>
          <p:cNvPr id="850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50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BF01BE0-1085-4316-9DCC-D71A6B297605}" type="slidenum">
              <a:rPr lang="en-US"/>
              <a:pPr/>
              <a:t>79</a:t>
            </a:fld>
            <a:endParaRPr lang="en-US"/>
          </a:p>
        </p:txBody>
      </p:sp>
      <p:sp>
        <p:nvSpPr>
          <p:cNvPr id="852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52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AFC1F3-4797-4862-A12C-3A99E1183A4F}" type="slidenum">
              <a:rPr lang="en-US"/>
              <a:pPr/>
              <a:t>80</a:t>
            </a:fld>
            <a:endParaRPr lang="en-US"/>
          </a:p>
        </p:txBody>
      </p:sp>
      <p:sp>
        <p:nvSpPr>
          <p:cNvPr id="855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55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A959E88-701B-4C72-B599-00E9183B9EBE}" type="slidenum">
              <a:rPr lang="en-US"/>
              <a:pPr/>
              <a:t>81</a:t>
            </a:fld>
            <a:endParaRPr lang="en-US"/>
          </a:p>
        </p:txBody>
      </p:sp>
      <p:sp>
        <p:nvSpPr>
          <p:cNvPr id="857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57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B85CC2-0260-41F3-80D7-2535679D6E1D}" type="slidenum">
              <a:rPr lang="en-US"/>
              <a:pPr/>
              <a:t>82</a:t>
            </a:fld>
            <a:endParaRPr lang="en-US"/>
          </a:p>
        </p:txBody>
      </p:sp>
      <p:sp>
        <p:nvSpPr>
          <p:cNvPr id="859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59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E90211A-B79B-44D8-BFE0-4883E406A9D1}" type="slidenum">
              <a:rPr lang="en-US"/>
              <a:pPr/>
              <a:t>83</a:t>
            </a:fld>
            <a:endParaRPr lang="en-US"/>
          </a:p>
        </p:txBody>
      </p:sp>
      <p:sp>
        <p:nvSpPr>
          <p:cNvPr id="861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1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B85CC2-0260-41F3-80D7-2535679D6E1D}" type="slidenum">
              <a:rPr lang="en-US"/>
              <a:pPr/>
              <a:t>84</a:t>
            </a:fld>
            <a:endParaRPr lang="en-US"/>
          </a:p>
        </p:txBody>
      </p:sp>
      <p:sp>
        <p:nvSpPr>
          <p:cNvPr id="859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59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B85CC2-0260-41F3-80D7-2535679D6E1D}" type="slidenum">
              <a:rPr lang="en-US"/>
              <a:pPr/>
              <a:t>85</a:t>
            </a:fld>
            <a:endParaRPr lang="en-US"/>
          </a:p>
        </p:txBody>
      </p:sp>
      <p:sp>
        <p:nvSpPr>
          <p:cNvPr id="859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59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B85CC2-0260-41F3-80D7-2535679D6E1D}" type="slidenum">
              <a:rPr lang="en-US"/>
              <a:pPr/>
              <a:t>86</a:t>
            </a:fld>
            <a:endParaRPr lang="en-US"/>
          </a:p>
        </p:txBody>
      </p:sp>
      <p:sp>
        <p:nvSpPr>
          <p:cNvPr id="859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59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B85CC2-0260-41F3-80D7-2535679D6E1D}" type="slidenum">
              <a:rPr lang="en-US"/>
              <a:pPr/>
              <a:t>87</a:t>
            </a:fld>
            <a:endParaRPr lang="en-US"/>
          </a:p>
        </p:txBody>
      </p:sp>
      <p:sp>
        <p:nvSpPr>
          <p:cNvPr id="859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59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B85CC2-0260-41F3-80D7-2535679D6E1D}" type="slidenum">
              <a:rPr lang="en-US"/>
              <a:pPr/>
              <a:t>88</a:t>
            </a:fld>
            <a:endParaRPr lang="en-US"/>
          </a:p>
        </p:txBody>
      </p:sp>
      <p:sp>
        <p:nvSpPr>
          <p:cNvPr id="859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59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3CECF9-D1C7-4D48-9AA6-7C81E0A7249E}" type="slidenum">
              <a:rPr lang="en-US"/>
              <a:pPr/>
              <a:t>89</a:t>
            </a:fld>
            <a:endParaRPr lang="en-US"/>
          </a:p>
        </p:txBody>
      </p:sp>
      <p:sp>
        <p:nvSpPr>
          <p:cNvPr id="883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3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7C7ABDB8-B3F5-47A4-9711-3777097313E1}" type="datetime1">
              <a:rPr lang="en-US" smtClean="0"/>
              <a:pPr/>
              <a:t>5/2/2017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962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696200" cy="487375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 eaLnBrk="1" latinLnBrk="0" hangingPunct="1"/>
            <a:r>
              <a:rPr lang="en-US" dirty="0" smtClean="0"/>
              <a:t>Click to edit Master text styles</a:t>
            </a:r>
          </a:p>
          <a:p>
            <a:pPr lvl="1" eaLnBrk="1" latinLnBrk="0" hangingPunct="1"/>
            <a:r>
              <a:rPr lang="en-US" dirty="0" smtClean="0"/>
              <a:t>Second level</a:t>
            </a:r>
          </a:p>
          <a:p>
            <a:pPr lvl="2" eaLnBrk="1" latinLnBrk="0" hangingPunct="1"/>
            <a:r>
              <a:rPr lang="en-US" dirty="0" smtClean="0"/>
              <a:t>Third level</a:t>
            </a:r>
          </a:p>
          <a:p>
            <a:pPr lvl="3" eaLnBrk="1" latinLnBrk="0" hangingPunct="1"/>
            <a:r>
              <a:rPr lang="en-US" dirty="0" smtClean="0"/>
              <a:t>Fourth level</a:t>
            </a:r>
          </a:p>
          <a:p>
            <a:pPr lvl="4" eaLnBrk="1" latinLnBrk="0" hangingPunct="1"/>
            <a:r>
              <a:rPr lang="en-US" dirty="0" smtClean="0"/>
              <a:t>Fifth level</a:t>
            </a:r>
            <a:endParaRPr kumimoji="0"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50C7453-5EB7-426C-953A-B1BEE0DC2850}" type="datetime1">
              <a:rPr lang="en-US" smtClean="0"/>
              <a:pPr/>
              <a:t>5/2/2017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165C4C3B-E9F6-4B3F-BFA4-47000192CD50}" type="datetime1">
              <a:rPr lang="en-US" smtClean="0"/>
              <a:pPr/>
              <a:t>5/2/2017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764E5-3D11-41A1-A8FF-4233BBCB609C}" type="datetime1">
              <a:rPr lang="en-US" smtClean="0"/>
              <a:pPr/>
              <a:t>5/2/2017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B279-38B0-44CD-87B6-270BEE6682AE}" type="datetime1">
              <a:rPr lang="en-US" smtClean="0"/>
              <a:pPr/>
              <a:t>5/2/2017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23B1E256-9A78-47EF-BC62-13EC55DEEF32}" type="datetime1">
              <a:rPr lang="en-US" smtClean="0"/>
              <a:pPr/>
              <a:t>5/2/2017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87023-EB44-4A49-8D1E-CA226DFA12E4}" type="datetime1">
              <a:rPr lang="en-US" smtClean="0"/>
              <a:pPr/>
              <a:t>5/2/2017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5FF60033-61F6-4F32-B158-8B7BF2CCC4F4}" type="datetime1">
              <a:rPr lang="en-US" smtClean="0"/>
              <a:pPr/>
              <a:t>5/2/2017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8C326B57-48FE-4F89-9485-22981ED8D38D}" type="datetime1">
              <a:rPr lang="en-US" smtClean="0"/>
              <a:pPr/>
              <a:t>5/2/2017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8DB20-CB48-4E1E-B9D9-60D119054EBB}" type="datetime1">
              <a:rPr lang="en-US" smtClean="0"/>
              <a:pPr/>
              <a:t>5/2/2017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99063-3249-449C-AA5F-8FF72848E7CE}" type="datetime1">
              <a:rPr lang="en-US" smtClean="0"/>
              <a:pPr/>
              <a:t>5/2/2017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0" y="188913"/>
            <a:ext cx="7921625" cy="4746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11188" y="1089025"/>
            <a:ext cx="4064000" cy="3128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27588" y="1089025"/>
            <a:ext cx="4064000" cy="3128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0825" y="6489700"/>
            <a:ext cx="2520950" cy="288925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32138" y="6489700"/>
            <a:ext cx="3311525" cy="288925"/>
          </a:xfrm>
        </p:spPr>
        <p:txBody>
          <a:bodyPr/>
          <a:lstStyle>
            <a:lvl1pPr>
              <a:defRPr/>
            </a:lvl1pPr>
          </a:lstStyle>
          <a:p>
            <a:r>
              <a:rPr lang="tr-TR"/>
              <a:t>Eastern Mediterranean University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45438" y="6489700"/>
            <a:ext cx="1198562" cy="288925"/>
          </a:xfrm>
        </p:spPr>
        <p:txBody>
          <a:bodyPr/>
          <a:lstStyle>
            <a:lvl1pPr>
              <a:defRPr/>
            </a:lvl1pPr>
          </a:lstStyle>
          <a:p>
            <a:fld id="{EB0DE911-B086-4411-AE62-0FD5385CEB8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60A57B3C-C493-4246-9095-3DD941B09960}" type="datetime1">
              <a:rPr lang="en-US" smtClean="0"/>
              <a:pPr/>
              <a:t>5/2/2017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  <p:sldLayoutId id="2147483864" r:id="rId12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2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3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4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5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6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7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8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6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5.emf"/><Relationship Id="rId4" Type="http://schemas.openxmlformats.org/officeDocument/2006/relationships/oleObject" Target="../embeddings/oleObject9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7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5.emf"/><Relationship Id="rId4" Type="http://schemas.openxmlformats.org/officeDocument/2006/relationships/oleObject" Target="../embeddings/oleObject11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9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8.emf"/><Relationship Id="rId4" Type="http://schemas.openxmlformats.org/officeDocument/2006/relationships/oleObject" Target="../embeddings/oleObject13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15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16.bin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7.bin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18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16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15.emf"/><Relationship Id="rId4" Type="http://schemas.openxmlformats.org/officeDocument/2006/relationships/oleObject" Target="../embeddings/oleObject19.bin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17.emf"/><Relationship Id="rId4" Type="http://schemas.openxmlformats.org/officeDocument/2006/relationships/oleObject" Target="../embeddings/oleObject21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22.bin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20.emf"/><Relationship Id="rId4" Type="http://schemas.openxmlformats.org/officeDocument/2006/relationships/oleObject" Target="../embeddings/oleObject23.bin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20.emf"/><Relationship Id="rId4" Type="http://schemas.openxmlformats.org/officeDocument/2006/relationships/oleObject" Target="../embeddings/oleObject24.bin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5" Type="http://schemas.openxmlformats.org/officeDocument/2006/relationships/image" Target="../media/image20.emf"/><Relationship Id="rId4" Type="http://schemas.openxmlformats.org/officeDocument/2006/relationships/oleObject" Target="../embeddings/oleObject25.bin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5" Type="http://schemas.openxmlformats.org/officeDocument/2006/relationships/image" Target="../media/image20.emf"/><Relationship Id="rId4" Type="http://schemas.openxmlformats.org/officeDocument/2006/relationships/oleObject" Target="../embeddings/oleObject26.bin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3.vml"/><Relationship Id="rId5" Type="http://schemas.openxmlformats.org/officeDocument/2006/relationships/image" Target="../media/image20.emf"/><Relationship Id="rId4" Type="http://schemas.openxmlformats.org/officeDocument/2006/relationships/oleObject" Target="../embeddings/oleObject27.bin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29.bin"/><Relationship Id="rId5" Type="http://schemas.openxmlformats.org/officeDocument/2006/relationships/image" Target="../media/image18.emf"/><Relationship Id="rId4" Type="http://schemas.openxmlformats.org/officeDocument/2006/relationships/oleObject" Target="../embeddings/oleObject28.bin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5" Type="http://schemas.openxmlformats.org/officeDocument/2006/relationships/image" Target="../media/image21.emf"/><Relationship Id="rId4" Type="http://schemas.openxmlformats.org/officeDocument/2006/relationships/oleObject" Target="../embeddings/oleObject30.bin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5" Type="http://schemas.openxmlformats.org/officeDocument/2006/relationships/image" Target="../media/image21.emf"/><Relationship Id="rId4" Type="http://schemas.openxmlformats.org/officeDocument/2006/relationships/oleObject" Target="../embeddings/oleObject31.bin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5" Type="http://schemas.openxmlformats.org/officeDocument/2006/relationships/image" Target="../media/image22.emf"/><Relationship Id="rId4" Type="http://schemas.openxmlformats.org/officeDocument/2006/relationships/oleObject" Target="../embeddings/oleObject32.bin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5" Type="http://schemas.openxmlformats.org/officeDocument/2006/relationships/image" Target="../media/image22.emf"/><Relationship Id="rId4" Type="http://schemas.openxmlformats.org/officeDocument/2006/relationships/oleObject" Target="../embeddings/oleObject33.bin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gif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gif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gif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gif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5" Type="http://schemas.openxmlformats.org/officeDocument/2006/relationships/image" Target="../media/image39.emf"/><Relationship Id="rId4" Type="http://schemas.openxmlformats.org/officeDocument/2006/relationships/oleObject" Target="../embeddings/oleObject34.bin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0.vml"/><Relationship Id="rId5" Type="http://schemas.openxmlformats.org/officeDocument/2006/relationships/image" Target="../media/image40.emf"/><Relationship Id="rId4" Type="http://schemas.openxmlformats.org/officeDocument/2006/relationships/oleObject" Target="../embeddings/oleObject35.bin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1.vml"/><Relationship Id="rId5" Type="http://schemas.openxmlformats.org/officeDocument/2006/relationships/image" Target="../media/image41.emf"/><Relationship Id="rId4" Type="http://schemas.openxmlformats.org/officeDocument/2006/relationships/oleObject" Target="../embeddings/oleObject36.bin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2667000"/>
            <a:ext cx="6553200" cy="1894362"/>
          </a:xfrm>
        </p:spPr>
        <p:txBody>
          <a:bodyPr/>
          <a:lstStyle/>
          <a:p>
            <a:r>
              <a:rPr lang="en-US" dirty="0" smtClean="0"/>
              <a:t>CSE 205: Digital Logic Design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4648200"/>
            <a:ext cx="6172200" cy="137160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Dr. </a:t>
            </a:r>
            <a:r>
              <a:rPr lang="en-US" sz="2400" dirty="0" err="1" smtClean="0"/>
              <a:t>Tanzima</a:t>
            </a:r>
            <a:r>
              <a:rPr lang="en-US" sz="2400" dirty="0" smtClean="0"/>
              <a:t> </a:t>
            </a:r>
            <a:r>
              <a:rPr lang="en-US" sz="2400" dirty="0" err="1" smtClean="0"/>
              <a:t>Hashem</a:t>
            </a:r>
            <a:endParaRPr lang="en-US" sz="2400" dirty="0" smtClean="0"/>
          </a:p>
          <a:p>
            <a:r>
              <a:rPr lang="en-US" sz="2400" dirty="0" smtClean="0"/>
              <a:t>Associate Professor</a:t>
            </a:r>
          </a:p>
          <a:p>
            <a:r>
              <a:rPr lang="en-US" sz="2400" dirty="0" smtClean="0"/>
              <a:t>CSE, BUET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Textbook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Digital Design (5</a:t>
            </a:r>
            <a:r>
              <a:rPr lang="en-US" baseline="30000" dirty="0" smtClean="0"/>
              <a:t>th</a:t>
            </a:r>
            <a:r>
              <a:rPr lang="en-US" dirty="0" smtClean="0"/>
              <a:t> Edition)</a:t>
            </a:r>
          </a:p>
          <a:p>
            <a:pPr lvl="1"/>
            <a:r>
              <a:rPr lang="en-US" dirty="0" smtClean="0"/>
              <a:t>M. Morris </a:t>
            </a:r>
            <a:r>
              <a:rPr lang="en-US" dirty="0" err="1" smtClean="0"/>
              <a:t>Mano</a:t>
            </a:r>
            <a:endParaRPr lang="en-US" dirty="0" smtClean="0"/>
          </a:p>
          <a:p>
            <a:pPr lvl="1"/>
            <a:r>
              <a:rPr lang="en-US" dirty="0" smtClean="0"/>
              <a:t>Michael D. </a:t>
            </a:r>
            <a:r>
              <a:rPr lang="en-US" dirty="0" err="1" smtClean="0"/>
              <a:t>Ciletti</a:t>
            </a:r>
            <a:endParaRPr lang="en-US" dirty="0" smtClean="0"/>
          </a:p>
          <a:p>
            <a:pPr lvl="1"/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Combinational Logic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Combinational Logic:</a:t>
            </a:r>
          </a:p>
          <a:p>
            <a:pPr lvl="1" eaLnBrk="1" hangingPunct="1"/>
            <a:r>
              <a:rPr lang="en-US" altLang="zh-CN" smtClean="0"/>
              <a:t>Output depends only on current input</a:t>
            </a:r>
          </a:p>
          <a:p>
            <a:pPr lvl="1" eaLnBrk="1" hangingPunct="1"/>
            <a:r>
              <a:rPr lang="en-US" altLang="zh-CN" smtClean="0"/>
              <a:t>Has no memory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Sequential Logic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Sequential Logic:</a:t>
            </a:r>
          </a:p>
          <a:p>
            <a:pPr lvl="1" eaLnBrk="1" hangingPunct="1"/>
            <a:r>
              <a:rPr lang="en-US" altLang="zh-CN" smtClean="0"/>
              <a:t>Output depends not only on current input but also on past input values, e.g., design a counter</a:t>
            </a:r>
          </a:p>
          <a:p>
            <a:pPr lvl="1" eaLnBrk="1" hangingPunct="1"/>
            <a:r>
              <a:rPr lang="en-US" altLang="zh-CN" smtClean="0"/>
              <a:t>Need some type of memory to remember the past input values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Alarm control system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AU" dirty="0" smtClean="0"/>
              <a:t>Suppose we wish to construct an alarm circuit such that the output remains active (on) even after the sensor output that triggered the alarm goes off</a:t>
            </a:r>
          </a:p>
          <a:p>
            <a:r>
              <a:rPr lang="en-AU" dirty="0" smtClean="0"/>
              <a:t>The circuit requires a memory element to remember that the alarm has to be active until a reset signal arrives</a:t>
            </a:r>
            <a:endParaRPr lang="en-AU" dirty="0"/>
          </a:p>
        </p:txBody>
      </p:sp>
      <p:pic>
        <p:nvPicPr>
          <p:cNvPr id="16691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3388" y="4090988"/>
            <a:ext cx="7629525" cy="195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4734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Sequential Circuits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AU" dirty="0" smtClean="0"/>
              <a:t>Consist of a combinational circuit to which storage elements are connected to form a feedback path</a:t>
            </a:r>
          </a:p>
          <a:p>
            <a:r>
              <a:rPr lang="en-AU" dirty="0" smtClean="0"/>
              <a:t>State:  the state of the memory devices now, also called current state</a:t>
            </a:r>
          </a:p>
          <a:p>
            <a:r>
              <a:rPr lang="en-AU" dirty="0" smtClean="0"/>
              <a:t>Next states and outputs are functions of inputs and present states of storage elements</a:t>
            </a:r>
            <a:endParaRPr lang="en-AU" dirty="0"/>
          </a:p>
        </p:txBody>
      </p:sp>
      <p:pic>
        <p:nvPicPr>
          <p:cNvPr id="4" name="Picture 2" descr="C:\jobs\Marries\ch05\tiff\AACFLPV0.t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00150" y="4171950"/>
            <a:ext cx="6399213" cy="194786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Two Types of Sequential Circuits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Synchronous sequential circuit</a:t>
            </a:r>
          </a:p>
          <a:p>
            <a:pPr lvl="1"/>
            <a:r>
              <a:rPr lang="en-US" altLang="zh-CN" dirty="0" smtClean="0"/>
              <a:t>circuit output changes only at some discrete instants of time. </a:t>
            </a:r>
          </a:p>
          <a:p>
            <a:pPr lvl="1"/>
            <a:r>
              <a:rPr lang="en-AU" dirty="0" smtClean="0"/>
              <a:t>Synchronized by a periodic train of clock pulses</a:t>
            </a:r>
            <a:endParaRPr lang="en-US" altLang="zh-CN" dirty="0" smtClean="0"/>
          </a:p>
          <a:p>
            <a:pPr lvl="1"/>
            <a:r>
              <a:rPr lang="en-AU" dirty="0" smtClean="0"/>
              <a:t>Much easier to design (preferred design style)</a:t>
            </a:r>
          </a:p>
          <a:p>
            <a:pPr lvl="1"/>
            <a:endParaRPr lang="en-AU" dirty="0" smtClean="0"/>
          </a:p>
          <a:p>
            <a:r>
              <a:rPr lang="en-AU" dirty="0" smtClean="0"/>
              <a:t>Asynchronous sequential circuit</a:t>
            </a:r>
          </a:p>
          <a:p>
            <a:pPr lvl="1"/>
            <a:r>
              <a:rPr lang="en-US" altLang="zh-CN" dirty="0" smtClean="0"/>
              <a:t>circuit output can change at </a:t>
            </a:r>
            <a:r>
              <a:rPr lang="en-US" altLang="zh-CN" b="1" dirty="0" smtClean="0"/>
              <a:t>any</a:t>
            </a:r>
            <a:r>
              <a:rPr lang="en-US" altLang="zh-CN" dirty="0" smtClean="0"/>
              <a:t> time (</a:t>
            </a:r>
            <a:r>
              <a:rPr lang="en-US" altLang="zh-CN" dirty="0" err="1" smtClean="0"/>
              <a:t>clockless</a:t>
            </a:r>
            <a:r>
              <a:rPr lang="en-US" altLang="zh-CN" dirty="0" smtClean="0"/>
              <a:t>)</a:t>
            </a:r>
          </a:p>
          <a:p>
            <a:pPr lvl="1"/>
            <a:r>
              <a:rPr lang="en-AU" dirty="0" smtClean="0"/>
              <a:t>May have better performance but hard to design</a:t>
            </a:r>
          </a:p>
          <a:p>
            <a:pPr lvl="1"/>
            <a:endParaRPr lang="en-AU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jobs\Marries\ch05\tiff\AACFLPW0.t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00150" y="2400300"/>
            <a:ext cx="6399213" cy="4124325"/>
          </a:xfrm>
          <a:prstGeom prst="rect">
            <a:avLst/>
          </a:prstGeom>
          <a:noFill/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457200" y="274638"/>
            <a:ext cx="76962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3000" b="0" i="0" u="none" strike="noStrike" kern="1200" cap="small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3000" b="0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Synchronous Sequential Circuits</a:t>
            </a:r>
            <a:endParaRPr kumimoji="0" lang="en-AU" sz="3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Memory elements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AU" dirty="0" smtClean="0"/>
              <a:t>A digital circuit that can maintain a binary state indefinitely, until directed by an input signal to switch states</a:t>
            </a:r>
          </a:p>
          <a:p>
            <a:endParaRPr lang="en-AU" dirty="0" smtClean="0"/>
          </a:p>
          <a:p>
            <a:r>
              <a:rPr lang="en-AU" dirty="0" smtClean="0"/>
              <a:t>Differences among different types of storage elements depends on</a:t>
            </a:r>
          </a:p>
          <a:p>
            <a:pPr lvl="1"/>
            <a:r>
              <a:rPr lang="en-AU" dirty="0" smtClean="0"/>
              <a:t>The number of inputs they possess</a:t>
            </a:r>
          </a:p>
          <a:p>
            <a:pPr lvl="1"/>
            <a:r>
              <a:rPr lang="en-AU" dirty="0" smtClean="0"/>
              <a:t>The manner in which the inputs affect the </a:t>
            </a:r>
            <a:r>
              <a:rPr lang="en-AU" smtClean="0"/>
              <a:t>binary state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Memory elements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AU" dirty="0" smtClean="0"/>
              <a:t>Latch  - a level-sensitive memory element</a:t>
            </a:r>
          </a:p>
          <a:p>
            <a:pPr lvl="1"/>
            <a:r>
              <a:rPr lang="en-AU" dirty="0" smtClean="0"/>
              <a:t>SR latches</a:t>
            </a:r>
          </a:p>
          <a:p>
            <a:pPr lvl="1"/>
            <a:r>
              <a:rPr lang="en-AU" dirty="0" smtClean="0"/>
              <a:t>D latches</a:t>
            </a:r>
          </a:p>
          <a:p>
            <a:r>
              <a:rPr lang="en-AU" dirty="0" smtClean="0"/>
              <a:t>Flip-Flop - an edge-triggered memory element</a:t>
            </a:r>
          </a:p>
          <a:p>
            <a:pPr lvl="1"/>
            <a:r>
              <a:rPr lang="en-AU" dirty="0" smtClean="0"/>
              <a:t>Master-slave flip-flop</a:t>
            </a:r>
          </a:p>
          <a:p>
            <a:pPr lvl="1"/>
            <a:r>
              <a:rPr lang="en-AU" dirty="0" smtClean="0"/>
              <a:t>Edge-triggered flip-flop</a:t>
            </a:r>
          </a:p>
          <a:p>
            <a:r>
              <a:rPr lang="en-AU" dirty="0" smtClean="0"/>
              <a:t>RAM and ROM  a mass memory element</a:t>
            </a:r>
            <a:endParaRPr lang="en-AU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Latches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AU" dirty="0" smtClean="0"/>
              <a:t>A latch is binary storage element</a:t>
            </a:r>
          </a:p>
          <a:p>
            <a:r>
              <a:rPr lang="en-AU" dirty="0" smtClean="0"/>
              <a:t>Can store a 0 or 1</a:t>
            </a:r>
          </a:p>
          <a:p>
            <a:r>
              <a:rPr lang="en-AU" dirty="0" smtClean="0"/>
              <a:t>The most basic memory</a:t>
            </a:r>
          </a:p>
          <a:p>
            <a:r>
              <a:rPr lang="en-AU" dirty="0" smtClean="0"/>
              <a:t>Easy to build </a:t>
            </a:r>
          </a:p>
          <a:p>
            <a:r>
              <a:rPr lang="en-AU" dirty="0" smtClean="0"/>
              <a:t>Built with gates (NORs, NANDs, NOT)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Latches</a:t>
            </a:r>
          </a:p>
        </p:txBody>
      </p:sp>
      <p:graphicFrame>
        <p:nvGraphicFramePr>
          <p:cNvPr id="751620" name="Object 4"/>
          <p:cNvGraphicFramePr>
            <a:graphicFrameLocks noChangeAspect="1"/>
          </p:cNvGraphicFramePr>
          <p:nvPr/>
        </p:nvGraphicFramePr>
        <p:xfrm>
          <a:off x="971550" y="2528888"/>
          <a:ext cx="3305175" cy="212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566" name="Visio" r:id="rId4" imgW="1209203" imgH="776143" progId="">
                  <p:embed/>
                </p:oleObj>
              </mc:Choice>
              <mc:Fallback>
                <p:oleObj name="Visio" r:id="rId4" imgW="1209203" imgH="776143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528888"/>
                        <a:ext cx="3305175" cy="212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1621" name="Group 5"/>
          <p:cNvGraphicFramePr>
            <a:graphicFrameLocks noGrp="1"/>
          </p:cNvGraphicFramePr>
          <p:nvPr/>
        </p:nvGraphicFramePr>
        <p:xfrm>
          <a:off x="5651500" y="1449388"/>
          <a:ext cx="2160588" cy="2700342"/>
        </p:xfrm>
        <a:graphic>
          <a:graphicData uri="http://schemas.openxmlformats.org/drawingml/2006/table">
            <a:tbl>
              <a:tblPr/>
              <a:tblGrid>
                <a:gridCol w="1081088"/>
                <a:gridCol w="539750"/>
                <a:gridCol w="539750"/>
              </a:tblGrid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  R  Q</a:t>
                      </a:r>
                      <a:r>
                        <a:rPr kumimoji="0" lang="en-US" sz="1800" b="1" i="1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endParaRPr kumimoji="0" lang="en-US" sz="1800" b="1" i="1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Q’</a:t>
                      </a:r>
                      <a:endParaRPr kumimoji="0" lang="en-US" sz="1800" b="1" i="1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</a:t>
                      </a: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51663" name="Rectangle 47"/>
          <p:cNvSpPr>
            <a:spLocks noChangeArrowheads="1"/>
          </p:cNvSpPr>
          <p:nvPr/>
        </p:nvSpPr>
        <p:spPr bwMode="auto">
          <a:xfrm>
            <a:off x="3490913" y="2528888"/>
            <a:ext cx="177800" cy="3841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800" b="1"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751664" name="Rectangle 48"/>
          <p:cNvSpPr>
            <a:spLocks noChangeArrowheads="1"/>
          </p:cNvSpPr>
          <p:nvPr/>
        </p:nvSpPr>
        <p:spPr bwMode="auto">
          <a:xfrm>
            <a:off x="3490913" y="4329113"/>
            <a:ext cx="177800" cy="3841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800" b="1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751665" name="Rectangle 49"/>
          <p:cNvSpPr>
            <a:spLocks noChangeArrowheads="1"/>
          </p:cNvSpPr>
          <p:nvPr/>
        </p:nvSpPr>
        <p:spPr bwMode="auto">
          <a:xfrm>
            <a:off x="1511300" y="2451100"/>
            <a:ext cx="177800" cy="3841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8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751666" name="Rectangle 50"/>
          <p:cNvSpPr>
            <a:spLocks noChangeArrowheads="1"/>
          </p:cNvSpPr>
          <p:nvPr/>
        </p:nvSpPr>
        <p:spPr bwMode="auto">
          <a:xfrm>
            <a:off x="1511300" y="4395788"/>
            <a:ext cx="177800" cy="3841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8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graphicFrame>
        <p:nvGraphicFramePr>
          <p:cNvPr id="751667" name="Group 51"/>
          <p:cNvGraphicFramePr>
            <a:graphicFrameLocks noGrp="1"/>
          </p:cNvGraphicFramePr>
          <p:nvPr/>
        </p:nvGraphicFramePr>
        <p:xfrm>
          <a:off x="6732588" y="1714500"/>
          <a:ext cx="1079500" cy="329184"/>
        </p:xfrm>
        <a:graphic>
          <a:graphicData uri="http://schemas.openxmlformats.org/drawingml/2006/table">
            <a:tbl>
              <a:tblPr/>
              <a:tblGrid>
                <a:gridCol w="539750"/>
                <a:gridCol w="539750"/>
              </a:tblGrid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51676" name="Rectangle 60"/>
          <p:cNvSpPr>
            <a:spLocks noChangeArrowheads="1"/>
          </p:cNvSpPr>
          <p:nvPr/>
        </p:nvSpPr>
        <p:spPr bwMode="auto">
          <a:xfrm>
            <a:off x="7935913" y="1751013"/>
            <a:ext cx="776287" cy="274637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CC3300"/>
              </a:buClr>
              <a:buSzPct val="100000"/>
              <a:buFont typeface="Wingdings" pitchFamily="2" charset="2"/>
              <a:buNone/>
            </a:pPr>
            <a:r>
              <a:rPr lang="en-US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b="1" i="1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b="1" i="1" baseline="-250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751677" name="AutoShape 61"/>
          <p:cNvSpPr>
            <a:spLocks/>
          </p:cNvSpPr>
          <p:nvPr/>
        </p:nvSpPr>
        <p:spPr bwMode="auto">
          <a:xfrm>
            <a:off x="4137025" y="5229225"/>
            <a:ext cx="1903413" cy="609600"/>
          </a:xfrm>
          <a:prstGeom prst="borderCallout1">
            <a:avLst>
              <a:gd name="adj1" fmla="val 18750"/>
              <a:gd name="adj2" fmla="val 104005"/>
              <a:gd name="adj3" fmla="val -520051"/>
              <a:gd name="adj4" fmla="val 121935"/>
            </a:avLst>
          </a:prstGeom>
          <a:noFill/>
          <a:ln w="38100" algn="ctr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Initial Value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AU" dirty="0" smtClean="0"/>
              <a:t>SR Latch</a:t>
            </a:r>
          </a:p>
          <a:p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1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51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51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516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516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516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516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51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51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51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751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1663" grpId="0"/>
      <p:bldP spid="751664" grpId="0"/>
      <p:bldP spid="751665" grpId="0"/>
      <p:bldP spid="751666" grpId="0"/>
      <p:bldP spid="751676" grpId="0"/>
      <p:bldP spid="75167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Latches</a:t>
            </a:r>
          </a:p>
        </p:txBody>
      </p:sp>
      <p:graphicFrame>
        <p:nvGraphicFramePr>
          <p:cNvPr id="753668" name="Object 4"/>
          <p:cNvGraphicFramePr>
            <a:graphicFrameLocks noChangeAspect="1"/>
          </p:cNvGraphicFramePr>
          <p:nvPr/>
        </p:nvGraphicFramePr>
        <p:xfrm>
          <a:off x="971550" y="2528888"/>
          <a:ext cx="3305175" cy="212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590" name="Visio" r:id="rId4" imgW="1209203" imgH="776143" progId="">
                  <p:embed/>
                </p:oleObj>
              </mc:Choice>
              <mc:Fallback>
                <p:oleObj name="Visio" r:id="rId4" imgW="1209203" imgH="776143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528888"/>
                        <a:ext cx="3305175" cy="212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3669" name="Group 5"/>
          <p:cNvGraphicFramePr>
            <a:graphicFrameLocks noGrp="1"/>
          </p:cNvGraphicFramePr>
          <p:nvPr/>
        </p:nvGraphicFramePr>
        <p:xfrm>
          <a:off x="5651500" y="1449388"/>
          <a:ext cx="2160588" cy="2700342"/>
        </p:xfrm>
        <a:graphic>
          <a:graphicData uri="http://schemas.openxmlformats.org/drawingml/2006/table">
            <a:tbl>
              <a:tblPr/>
              <a:tblGrid>
                <a:gridCol w="1081088"/>
                <a:gridCol w="539750"/>
                <a:gridCol w="539750"/>
              </a:tblGrid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  R  Q</a:t>
                      </a:r>
                      <a:r>
                        <a:rPr kumimoji="0" lang="en-US" sz="1800" b="1" i="1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endParaRPr kumimoji="0" lang="en-US" sz="1800" b="1" i="1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Q’</a:t>
                      </a:r>
                      <a:endParaRPr kumimoji="0" lang="en-US" sz="1800" b="1" i="1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</a:t>
                      </a: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</a:t>
                      </a: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53711" name="Rectangle 47"/>
          <p:cNvSpPr>
            <a:spLocks noChangeArrowheads="1"/>
          </p:cNvSpPr>
          <p:nvPr/>
        </p:nvSpPr>
        <p:spPr bwMode="auto">
          <a:xfrm>
            <a:off x="3490913" y="2528888"/>
            <a:ext cx="177800" cy="3841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800" b="1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753712" name="Rectangle 48"/>
          <p:cNvSpPr>
            <a:spLocks noChangeArrowheads="1"/>
          </p:cNvSpPr>
          <p:nvPr/>
        </p:nvSpPr>
        <p:spPr bwMode="auto">
          <a:xfrm>
            <a:off x="3490913" y="4329113"/>
            <a:ext cx="177800" cy="3841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800" b="1"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753713" name="Rectangle 49"/>
          <p:cNvSpPr>
            <a:spLocks noChangeArrowheads="1"/>
          </p:cNvSpPr>
          <p:nvPr/>
        </p:nvSpPr>
        <p:spPr bwMode="auto">
          <a:xfrm>
            <a:off x="1511300" y="2451100"/>
            <a:ext cx="177800" cy="3841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8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753714" name="Rectangle 50"/>
          <p:cNvSpPr>
            <a:spLocks noChangeArrowheads="1"/>
          </p:cNvSpPr>
          <p:nvPr/>
        </p:nvSpPr>
        <p:spPr bwMode="auto">
          <a:xfrm>
            <a:off x="1511300" y="4395788"/>
            <a:ext cx="177800" cy="3841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8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graphicFrame>
        <p:nvGraphicFramePr>
          <p:cNvPr id="753715" name="Group 51"/>
          <p:cNvGraphicFramePr>
            <a:graphicFrameLocks noGrp="1"/>
          </p:cNvGraphicFramePr>
          <p:nvPr/>
        </p:nvGraphicFramePr>
        <p:xfrm>
          <a:off x="6732588" y="2074863"/>
          <a:ext cx="1079500" cy="274320"/>
        </p:xfrm>
        <a:graphic>
          <a:graphicData uri="http://schemas.openxmlformats.org/drawingml/2006/table">
            <a:tbl>
              <a:tblPr/>
              <a:tblGrid>
                <a:gridCol w="539750"/>
                <a:gridCol w="539750"/>
              </a:tblGrid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53724" name="Rectangle 60"/>
          <p:cNvSpPr>
            <a:spLocks noChangeArrowheads="1"/>
          </p:cNvSpPr>
          <p:nvPr/>
        </p:nvSpPr>
        <p:spPr bwMode="auto">
          <a:xfrm>
            <a:off x="7935913" y="2074863"/>
            <a:ext cx="776287" cy="274637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CC3300"/>
              </a:buClr>
              <a:buSzPct val="100000"/>
              <a:buFont typeface="Wingdings" pitchFamily="2" charset="2"/>
              <a:buNone/>
            </a:pPr>
            <a:r>
              <a:rPr lang="en-US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b="1" i="1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b="1" i="1" baseline="-250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753725" name="Rectangle 61"/>
          <p:cNvSpPr>
            <a:spLocks noChangeArrowheads="1"/>
          </p:cNvSpPr>
          <p:nvPr/>
        </p:nvSpPr>
        <p:spPr bwMode="auto">
          <a:xfrm>
            <a:off x="7940675" y="1771650"/>
            <a:ext cx="776288" cy="274638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CC3300"/>
              </a:buClr>
              <a:buSzPct val="100000"/>
              <a:buFont typeface="Wingdings" pitchFamily="2" charset="2"/>
              <a:buNone/>
            </a:pPr>
            <a:r>
              <a:rPr lang="en-US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b="1" i="1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b="1" i="1" baseline="-250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AU" dirty="0" smtClean="0"/>
              <a:t>SR Latch</a:t>
            </a:r>
          </a:p>
          <a:p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3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53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53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53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3711" grpId="0"/>
      <p:bldP spid="753712" grpId="0"/>
      <p:bldP spid="75372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Latches</a:t>
            </a:r>
          </a:p>
        </p:txBody>
      </p:sp>
      <p:graphicFrame>
        <p:nvGraphicFramePr>
          <p:cNvPr id="755716" name="Object 4"/>
          <p:cNvGraphicFramePr>
            <a:graphicFrameLocks noChangeAspect="1"/>
          </p:cNvGraphicFramePr>
          <p:nvPr/>
        </p:nvGraphicFramePr>
        <p:xfrm>
          <a:off x="971550" y="2528888"/>
          <a:ext cx="3305175" cy="212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14" name="Visio" r:id="rId4" imgW="1209203" imgH="776143" progId="">
                  <p:embed/>
                </p:oleObj>
              </mc:Choice>
              <mc:Fallback>
                <p:oleObj name="Visio" r:id="rId4" imgW="1209203" imgH="776143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528888"/>
                        <a:ext cx="3305175" cy="212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5717" name="Group 5"/>
          <p:cNvGraphicFramePr>
            <a:graphicFrameLocks noGrp="1"/>
          </p:cNvGraphicFramePr>
          <p:nvPr/>
        </p:nvGraphicFramePr>
        <p:xfrm>
          <a:off x="5651500" y="1449388"/>
          <a:ext cx="2160588" cy="2700342"/>
        </p:xfrm>
        <a:graphic>
          <a:graphicData uri="http://schemas.openxmlformats.org/drawingml/2006/table">
            <a:tbl>
              <a:tblPr/>
              <a:tblGrid>
                <a:gridCol w="1081088"/>
                <a:gridCol w="539750"/>
                <a:gridCol w="539750"/>
              </a:tblGrid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  R  Q</a:t>
                      </a:r>
                      <a:r>
                        <a:rPr kumimoji="0" lang="en-US" sz="1800" b="1" i="1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endParaRPr kumimoji="0" lang="en-US" sz="1800" b="1" i="1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Q’</a:t>
                      </a:r>
                      <a:endParaRPr kumimoji="0" lang="en-US" sz="1800" b="1" i="1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</a:t>
                      </a: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</a:t>
                      </a: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0   1   </a:t>
                      </a: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55759" name="Rectangle 47"/>
          <p:cNvSpPr>
            <a:spLocks noChangeArrowheads="1"/>
          </p:cNvSpPr>
          <p:nvPr/>
        </p:nvSpPr>
        <p:spPr bwMode="auto">
          <a:xfrm>
            <a:off x="3490913" y="2528888"/>
            <a:ext cx="177800" cy="3841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800" b="1"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755760" name="Rectangle 48"/>
          <p:cNvSpPr>
            <a:spLocks noChangeArrowheads="1"/>
          </p:cNvSpPr>
          <p:nvPr/>
        </p:nvSpPr>
        <p:spPr bwMode="auto">
          <a:xfrm>
            <a:off x="3490913" y="4329113"/>
            <a:ext cx="177800" cy="3841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800" b="1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755761" name="Rectangle 49"/>
          <p:cNvSpPr>
            <a:spLocks noChangeArrowheads="1"/>
          </p:cNvSpPr>
          <p:nvPr/>
        </p:nvSpPr>
        <p:spPr bwMode="auto">
          <a:xfrm>
            <a:off x="1511300" y="2451100"/>
            <a:ext cx="177800" cy="3841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8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755762" name="Rectangle 50"/>
          <p:cNvSpPr>
            <a:spLocks noChangeArrowheads="1"/>
          </p:cNvSpPr>
          <p:nvPr/>
        </p:nvSpPr>
        <p:spPr bwMode="auto">
          <a:xfrm>
            <a:off x="1511300" y="4395788"/>
            <a:ext cx="177800" cy="3841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8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graphicFrame>
        <p:nvGraphicFramePr>
          <p:cNvPr id="755763" name="Group 51"/>
          <p:cNvGraphicFramePr>
            <a:graphicFrameLocks noGrp="1"/>
          </p:cNvGraphicFramePr>
          <p:nvPr/>
        </p:nvGraphicFramePr>
        <p:xfrm>
          <a:off x="6732588" y="2347913"/>
          <a:ext cx="1079500" cy="274320"/>
        </p:xfrm>
        <a:graphic>
          <a:graphicData uri="http://schemas.openxmlformats.org/drawingml/2006/table">
            <a:tbl>
              <a:tblPr/>
              <a:tblGrid>
                <a:gridCol w="539750"/>
                <a:gridCol w="539750"/>
              </a:tblGrid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55772" name="Rectangle 60"/>
          <p:cNvSpPr>
            <a:spLocks noChangeArrowheads="1"/>
          </p:cNvSpPr>
          <p:nvPr/>
        </p:nvSpPr>
        <p:spPr bwMode="auto">
          <a:xfrm>
            <a:off x="7935913" y="2362200"/>
            <a:ext cx="776287" cy="274638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CC3300"/>
              </a:buClr>
              <a:buSzPct val="100000"/>
              <a:buFont typeface="Wingdings" pitchFamily="2" charset="2"/>
              <a:buNone/>
            </a:pPr>
            <a:r>
              <a:rPr lang="en-US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en-US" b="1" baseline="-25000" dirty="0">
              <a:solidFill>
                <a:schemeClr val="accent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55773" name="AutoShape 61"/>
          <p:cNvSpPr>
            <a:spLocks/>
          </p:cNvSpPr>
          <p:nvPr/>
        </p:nvSpPr>
        <p:spPr bwMode="auto">
          <a:xfrm>
            <a:off x="7869238" y="1865313"/>
            <a:ext cx="180975" cy="360362"/>
          </a:xfrm>
          <a:prstGeom prst="rightBrace">
            <a:avLst>
              <a:gd name="adj1" fmla="val 16594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55774" name="Rectangle 62"/>
          <p:cNvSpPr>
            <a:spLocks noChangeArrowheads="1"/>
          </p:cNvSpPr>
          <p:nvPr/>
        </p:nvSpPr>
        <p:spPr bwMode="auto">
          <a:xfrm>
            <a:off x="8064500" y="1893888"/>
            <a:ext cx="776288" cy="274637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CC3300"/>
              </a:buClr>
              <a:buSzPct val="100000"/>
              <a:buFont typeface="Wingdings" pitchFamily="2" charset="2"/>
              <a:buNone/>
            </a:pPr>
            <a:r>
              <a:rPr lang="en-US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b="1" i="1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b="1" i="1" baseline="-250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AU" dirty="0" smtClean="0"/>
              <a:t>SR Latch</a:t>
            </a:r>
          </a:p>
          <a:p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5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55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55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55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5759" grpId="0"/>
      <p:bldP spid="755760" grpId="0"/>
      <p:bldP spid="75577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Latches</a:t>
            </a:r>
          </a:p>
        </p:txBody>
      </p:sp>
      <p:graphicFrame>
        <p:nvGraphicFramePr>
          <p:cNvPr id="757764" name="Object 4"/>
          <p:cNvGraphicFramePr>
            <a:graphicFrameLocks noChangeAspect="1"/>
          </p:cNvGraphicFramePr>
          <p:nvPr/>
        </p:nvGraphicFramePr>
        <p:xfrm>
          <a:off x="971550" y="2528888"/>
          <a:ext cx="3305175" cy="212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638" name="Visio" r:id="rId4" imgW="1209203" imgH="776143" progId="">
                  <p:embed/>
                </p:oleObj>
              </mc:Choice>
              <mc:Fallback>
                <p:oleObj name="Visio" r:id="rId4" imgW="1209203" imgH="776143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528888"/>
                        <a:ext cx="3305175" cy="212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765" name="Group 5"/>
          <p:cNvGraphicFramePr>
            <a:graphicFrameLocks noGrp="1"/>
          </p:cNvGraphicFramePr>
          <p:nvPr/>
        </p:nvGraphicFramePr>
        <p:xfrm>
          <a:off x="5651500" y="1449388"/>
          <a:ext cx="2160588" cy="2700342"/>
        </p:xfrm>
        <a:graphic>
          <a:graphicData uri="http://schemas.openxmlformats.org/drawingml/2006/table">
            <a:tbl>
              <a:tblPr/>
              <a:tblGrid>
                <a:gridCol w="1081088"/>
                <a:gridCol w="539750"/>
                <a:gridCol w="539750"/>
              </a:tblGrid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  R  Q</a:t>
                      </a:r>
                      <a:r>
                        <a:rPr kumimoji="0" lang="en-US" sz="1800" b="1" i="1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endParaRPr kumimoji="0" lang="en-US" sz="1800" b="1" i="1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Q’</a:t>
                      </a:r>
                      <a:endParaRPr kumimoji="0" lang="en-US" sz="1800" b="1" i="1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</a:t>
                      </a: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</a:t>
                      </a: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0   1   </a:t>
                      </a: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0   1   1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57807" name="Rectangle 47"/>
          <p:cNvSpPr>
            <a:spLocks noChangeArrowheads="1"/>
          </p:cNvSpPr>
          <p:nvPr/>
        </p:nvSpPr>
        <p:spPr bwMode="auto">
          <a:xfrm>
            <a:off x="3490913" y="2528888"/>
            <a:ext cx="177800" cy="3841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800" b="1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757808" name="Rectangle 48"/>
          <p:cNvSpPr>
            <a:spLocks noChangeArrowheads="1"/>
          </p:cNvSpPr>
          <p:nvPr/>
        </p:nvSpPr>
        <p:spPr bwMode="auto">
          <a:xfrm>
            <a:off x="3490913" y="4329113"/>
            <a:ext cx="177800" cy="3841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800" b="1"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757809" name="Rectangle 49"/>
          <p:cNvSpPr>
            <a:spLocks noChangeArrowheads="1"/>
          </p:cNvSpPr>
          <p:nvPr/>
        </p:nvSpPr>
        <p:spPr bwMode="auto">
          <a:xfrm>
            <a:off x="1511300" y="2451100"/>
            <a:ext cx="177800" cy="3841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8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757810" name="Rectangle 50"/>
          <p:cNvSpPr>
            <a:spLocks noChangeArrowheads="1"/>
          </p:cNvSpPr>
          <p:nvPr/>
        </p:nvSpPr>
        <p:spPr bwMode="auto">
          <a:xfrm>
            <a:off x="1511300" y="4395788"/>
            <a:ext cx="177800" cy="3841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8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graphicFrame>
        <p:nvGraphicFramePr>
          <p:cNvPr id="757811" name="Group 51"/>
          <p:cNvGraphicFramePr>
            <a:graphicFrameLocks noGrp="1"/>
          </p:cNvGraphicFramePr>
          <p:nvPr/>
        </p:nvGraphicFramePr>
        <p:xfrm>
          <a:off x="6732588" y="2644775"/>
          <a:ext cx="1079500" cy="274320"/>
        </p:xfrm>
        <a:graphic>
          <a:graphicData uri="http://schemas.openxmlformats.org/drawingml/2006/table">
            <a:tbl>
              <a:tblPr/>
              <a:tblGrid>
                <a:gridCol w="539750"/>
                <a:gridCol w="539750"/>
              </a:tblGrid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57820" name="Rectangle 60"/>
          <p:cNvSpPr>
            <a:spLocks noChangeArrowheads="1"/>
          </p:cNvSpPr>
          <p:nvPr/>
        </p:nvSpPr>
        <p:spPr bwMode="auto">
          <a:xfrm>
            <a:off x="7935913" y="2362200"/>
            <a:ext cx="776287" cy="274638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CC3300"/>
              </a:buClr>
              <a:buSzPct val="100000"/>
              <a:buFont typeface="Wingdings" pitchFamily="2" charset="2"/>
              <a:buNone/>
            </a:pPr>
            <a:r>
              <a:rPr lang="en-US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b="1" i="1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en-US" b="1" baseline="-25000">
              <a:solidFill>
                <a:schemeClr val="accent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57821" name="AutoShape 61"/>
          <p:cNvSpPr>
            <a:spLocks/>
          </p:cNvSpPr>
          <p:nvPr/>
        </p:nvSpPr>
        <p:spPr bwMode="auto">
          <a:xfrm>
            <a:off x="7869238" y="1865313"/>
            <a:ext cx="180975" cy="360362"/>
          </a:xfrm>
          <a:prstGeom prst="rightBrace">
            <a:avLst>
              <a:gd name="adj1" fmla="val 16594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57822" name="Rectangle 62"/>
          <p:cNvSpPr>
            <a:spLocks noChangeArrowheads="1"/>
          </p:cNvSpPr>
          <p:nvPr/>
        </p:nvSpPr>
        <p:spPr bwMode="auto">
          <a:xfrm>
            <a:off x="8064500" y="1893888"/>
            <a:ext cx="776288" cy="274637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CC3300"/>
              </a:buClr>
              <a:buSzPct val="100000"/>
              <a:buFont typeface="Wingdings" pitchFamily="2" charset="2"/>
              <a:buNone/>
            </a:pPr>
            <a:r>
              <a:rPr lang="en-US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b="1" i="1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b="1" i="1" baseline="-250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757823" name="Rectangle 63"/>
          <p:cNvSpPr>
            <a:spLocks noChangeArrowheads="1"/>
          </p:cNvSpPr>
          <p:nvPr/>
        </p:nvSpPr>
        <p:spPr bwMode="auto">
          <a:xfrm>
            <a:off x="7937500" y="2640013"/>
            <a:ext cx="776288" cy="274637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CC3300"/>
              </a:buClr>
              <a:buSzPct val="100000"/>
              <a:buFont typeface="Wingdings" pitchFamily="2" charset="2"/>
              <a:buNone/>
            </a:pPr>
            <a:r>
              <a:rPr lang="en-US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b="1" i="1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en-US" b="1" baseline="-25000">
              <a:solidFill>
                <a:schemeClr val="accent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AU" dirty="0" smtClean="0"/>
              <a:t>SR Latch</a:t>
            </a:r>
          </a:p>
          <a:p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7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57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0.00278 L -2.22222E-6 -0.2625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7578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3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7.40741E-7 L -3.05556E-6 0.26458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7578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57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57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07" grpId="0"/>
      <p:bldP spid="757807" grpId="1"/>
      <p:bldP spid="757808" grpId="0"/>
      <p:bldP spid="757808" grpId="1"/>
      <p:bldP spid="75782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Latches</a:t>
            </a:r>
          </a:p>
        </p:txBody>
      </p:sp>
      <p:graphicFrame>
        <p:nvGraphicFramePr>
          <p:cNvPr id="759812" name="Object 4"/>
          <p:cNvGraphicFramePr>
            <a:graphicFrameLocks noChangeAspect="1"/>
          </p:cNvGraphicFramePr>
          <p:nvPr/>
        </p:nvGraphicFramePr>
        <p:xfrm>
          <a:off x="971550" y="2528888"/>
          <a:ext cx="3305175" cy="212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662" name="Visio" r:id="rId4" imgW="1209203" imgH="776143" progId="">
                  <p:embed/>
                </p:oleObj>
              </mc:Choice>
              <mc:Fallback>
                <p:oleObj name="Visio" r:id="rId4" imgW="1209203" imgH="776143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528888"/>
                        <a:ext cx="3305175" cy="212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9813" name="Group 5"/>
          <p:cNvGraphicFramePr>
            <a:graphicFrameLocks noGrp="1"/>
          </p:cNvGraphicFramePr>
          <p:nvPr/>
        </p:nvGraphicFramePr>
        <p:xfrm>
          <a:off x="5651500" y="1449388"/>
          <a:ext cx="2160588" cy="2700342"/>
        </p:xfrm>
        <a:graphic>
          <a:graphicData uri="http://schemas.openxmlformats.org/drawingml/2006/table">
            <a:tbl>
              <a:tblPr/>
              <a:tblGrid>
                <a:gridCol w="1081088"/>
                <a:gridCol w="539750"/>
                <a:gridCol w="539750"/>
              </a:tblGrid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  R  Q</a:t>
                      </a:r>
                      <a:r>
                        <a:rPr kumimoji="0" lang="en-US" sz="1800" b="1" i="1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endParaRPr kumimoji="0" lang="en-US" sz="1800" b="1" i="1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Q’</a:t>
                      </a:r>
                      <a:endParaRPr kumimoji="0" lang="en-US" sz="1800" b="1" i="1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</a:t>
                      </a: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</a:t>
                      </a: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0   1   </a:t>
                      </a: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0   1   1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1   0   0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59855" name="Rectangle 47"/>
          <p:cNvSpPr>
            <a:spLocks noChangeArrowheads="1"/>
          </p:cNvSpPr>
          <p:nvPr/>
        </p:nvSpPr>
        <p:spPr bwMode="auto">
          <a:xfrm>
            <a:off x="3490913" y="2528888"/>
            <a:ext cx="177800" cy="3841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800" b="1"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759856" name="Rectangle 48"/>
          <p:cNvSpPr>
            <a:spLocks noChangeArrowheads="1"/>
          </p:cNvSpPr>
          <p:nvPr/>
        </p:nvSpPr>
        <p:spPr bwMode="auto">
          <a:xfrm>
            <a:off x="3490913" y="4329113"/>
            <a:ext cx="177800" cy="3841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800" b="1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759857" name="Rectangle 49"/>
          <p:cNvSpPr>
            <a:spLocks noChangeArrowheads="1"/>
          </p:cNvSpPr>
          <p:nvPr/>
        </p:nvSpPr>
        <p:spPr bwMode="auto">
          <a:xfrm>
            <a:off x="1511300" y="2451100"/>
            <a:ext cx="177800" cy="3841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8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759858" name="Rectangle 50"/>
          <p:cNvSpPr>
            <a:spLocks noChangeArrowheads="1"/>
          </p:cNvSpPr>
          <p:nvPr/>
        </p:nvSpPr>
        <p:spPr bwMode="auto">
          <a:xfrm>
            <a:off x="1511300" y="4395788"/>
            <a:ext cx="177800" cy="3841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8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graphicFrame>
        <p:nvGraphicFramePr>
          <p:cNvPr id="759859" name="Group 51"/>
          <p:cNvGraphicFramePr>
            <a:graphicFrameLocks noGrp="1"/>
          </p:cNvGraphicFramePr>
          <p:nvPr/>
        </p:nvGraphicFramePr>
        <p:xfrm>
          <a:off x="6732588" y="2962275"/>
          <a:ext cx="1079500" cy="274320"/>
        </p:xfrm>
        <a:graphic>
          <a:graphicData uri="http://schemas.openxmlformats.org/drawingml/2006/table">
            <a:tbl>
              <a:tblPr/>
              <a:tblGrid>
                <a:gridCol w="539750"/>
                <a:gridCol w="539750"/>
              </a:tblGrid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59868" name="Rectangle 60"/>
          <p:cNvSpPr>
            <a:spLocks noChangeArrowheads="1"/>
          </p:cNvSpPr>
          <p:nvPr/>
        </p:nvSpPr>
        <p:spPr bwMode="auto">
          <a:xfrm>
            <a:off x="7999413" y="2497138"/>
            <a:ext cx="776287" cy="274637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CC3300"/>
              </a:buClr>
              <a:buSzPct val="100000"/>
              <a:buFont typeface="Wingdings" pitchFamily="2" charset="2"/>
              <a:buNone/>
            </a:pPr>
            <a:r>
              <a:rPr lang="en-US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b="1" i="1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en-US" b="1" baseline="-25000">
              <a:solidFill>
                <a:schemeClr val="accent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59869" name="AutoShape 61"/>
          <p:cNvSpPr>
            <a:spLocks/>
          </p:cNvSpPr>
          <p:nvPr/>
        </p:nvSpPr>
        <p:spPr bwMode="auto">
          <a:xfrm>
            <a:off x="7869238" y="1865313"/>
            <a:ext cx="180975" cy="360362"/>
          </a:xfrm>
          <a:prstGeom prst="rightBrace">
            <a:avLst>
              <a:gd name="adj1" fmla="val 16594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59870" name="Rectangle 62"/>
          <p:cNvSpPr>
            <a:spLocks noChangeArrowheads="1"/>
          </p:cNvSpPr>
          <p:nvPr/>
        </p:nvSpPr>
        <p:spPr bwMode="auto">
          <a:xfrm>
            <a:off x="8064500" y="1893888"/>
            <a:ext cx="776288" cy="274637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CC3300"/>
              </a:buClr>
              <a:buSzPct val="100000"/>
              <a:buFont typeface="Wingdings" pitchFamily="2" charset="2"/>
              <a:buNone/>
            </a:pPr>
            <a:r>
              <a:rPr lang="en-US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b="1" i="1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b="1" i="1" baseline="-250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759871" name="Rectangle 63"/>
          <p:cNvSpPr>
            <a:spLocks noChangeArrowheads="1"/>
          </p:cNvSpPr>
          <p:nvPr/>
        </p:nvSpPr>
        <p:spPr bwMode="auto">
          <a:xfrm>
            <a:off x="7937500" y="2949575"/>
            <a:ext cx="776288" cy="274638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CC3300"/>
              </a:buClr>
              <a:buSzPct val="100000"/>
              <a:buFont typeface="Wingdings" pitchFamily="2" charset="2"/>
              <a:buNone/>
            </a:pPr>
            <a:r>
              <a:rPr lang="en-US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b="1" i="1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lang="en-US" b="1" baseline="-25000">
              <a:solidFill>
                <a:schemeClr val="accent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59872" name="AutoShape 64"/>
          <p:cNvSpPr>
            <a:spLocks/>
          </p:cNvSpPr>
          <p:nvPr/>
        </p:nvSpPr>
        <p:spPr bwMode="auto">
          <a:xfrm>
            <a:off x="7862888" y="2465388"/>
            <a:ext cx="180975" cy="360362"/>
          </a:xfrm>
          <a:prstGeom prst="rightBrace">
            <a:avLst>
              <a:gd name="adj1" fmla="val 16594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AU" dirty="0" smtClean="0"/>
              <a:t>SR Latch</a:t>
            </a:r>
          </a:p>
          <a:p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9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59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0.00278 L -2.22222E-6 -0.2625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7598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3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7.40741E-7 L -3.05556E-6 0.26458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7598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59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59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9855" grpId="0"/>
      <p:bldP spid="759855" grpId="1"/>
      <p:bldP spid="759856" grpId="0"/>
      <p:bldP spid="759856" grpId="1"/>
      <p:bldP spid="75987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Latches</a:t>
            </a:r>
          </a:p>
        </p:txBody>
      </p:sp>
      <p:graphicFrame>
        <p:nvGraphicFramePr>
          <p:cNvPr id="761860" name="Object 4"/>
          <p:cNvGraphicFramePr>
            <a:graphicFrameLocks noChangeAspect="1"/>
          </p:cNvGraphicFramePr>
          <p:nvPr/>
        </p:nvGraphicFramePr>
        <p:xfrm>
          <a:off x="971550" y="2528888"/>
          <a:ext cx="3305175" cy="212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806" name="Visio" r:id="rId4" imgW="1209203" imgH="776143" progId="">
                  <p:embed/>
                </p:oleObj>
              </mc:Choice>
              <mc:Fallback>
                <p:oleObj name="Visio" r:id="rId4" imgW="1209203" imgH="776143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528888"/>
                        <a:ext cx="3305175" cy="212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1861" name="Group 5"/>
          <p:cNvGraphicFramePr>
            <a:graphicFrameLocks noGrp="1"/>
          </p:cNvGraphicFramePr>
          <p:nvPr/>
        </p:nvGraphicFramePr>
        <p:xfrm>
          <a:off x="5651500" y="1449388"/>
          <a:ext cx="2160588" cy="2700342"/>
        </p:xfrm>
        <a:graphic>
          <a:graphicData uri="http://schemas.openxmlformats.org/drawingml/2006/table">
            <a:tbl>
              <a:tblPr/>
              <a:tblGrid>
                <a:gridCol w="1081088"/>
                <a:gridCol w="539750"/>
                <a:gridCol w="539750"/>
              </a:tblGrid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  R  Q</a:t>
                      </a:r>
                      <a:r>
                        <a:rPr kumimoji="0" lang="en-US" sz="1800" b="1" i="1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endParaRPr kumimoji="0" lang="en-US" sz="1800" b="1" i="1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Q’</a:t>
                      </a:r>
                      <a:endParaRPr kumimoji="0" lang="en-US" sz="1800" b="1" i="1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</a:t>
                      </a: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</a:t>
                      </a: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0   1   </a:t>
                      </a: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0   1   1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1   0   0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1   0   1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61903" name="Rectangle 47"/>
          <p:cNvSpPr>
            <a:spLocks noChangeArrowheads="1"/>
          </p:cNvSpPr>
          <p:nvPr/>
        </p:nvSpPr>
        <p:spPr bwMode="auto">
          <a:xfrm>
            <a:off x="3490913" y="2528888"/>
            <a:ext cx="177800" cy="3841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800" b="1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761904" name="Rectangle 48"/>
          <p:cNvSpPr>
            <a:spLocks noChangeArrowheads="1"/>
          </p:cNvSpPr>
          <p:nvPr/>
        </p:nvSpPr>
        <p:spPr bwMode="auto">
          <a:xfrm>
            <a:off x="3490913" y="4329113"/>
            <a:ext cx="177800" cy="3841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800" b="1"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761905" name="Rectangle 49"/>
          <p:cNvSpPr>
            <a:spLocks noChangeArrowheads="1"/>
          </p:cNvSpPr>
          <p:nvPr/>
        </p:nvSpPr>
        <p:spPr bwMode="auto">
          <a:xfrm>
            <a:off x="1511300" y="2451100"/>
            <a:ext cx="177800" cy="3841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8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761906" name="Rectangle 50"/>
          <p:cNvSpPr>
            <a:spLocks noChangeArrowheads="1"/>
          </p:cNvSpPr>
          <p:nvPr/>
        </p:nvSpPr>
        <p:spPr bwMode="auto">
          <a:xfrm>
            <a:off x="1511300" y="4395788"/>
            <a:ext cx="177800" cy="3841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8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graphicFrame>
        <p:nvGraphicFramePr>
          <p:cNvPr id="761907" name="Group 51"/>
          <p:cNvGraphicFramePr>
            <a:graphicFrameLocks noGrp="1"/>
          </p:cNvGraphicFramePr>
          <p:nvPr/>
        </p:nvGraphicFramePr>
        <p:xfrm>
          <a:off x="6732588" y="3248025"/>
          <a:ext cx="1079500" cy="274320"/>
        </p:xfrm>
        <a:graphic>
          <a:graphicData uri="http://schemas.openxmlformats.org/drawingml/2006/table">
            <a:tbl>
              <a:tblPr/>
              <a:tblGrid>
                <a:gridCol w="539750"/>
                <a:gridCol w="539750"/>
              </a:tblGrid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61916" name="Rectangle 60"/>
          <p:cNvSpPr>
            <a:spLocks noChangeArrowheads="1"/>
          </p:cNvSpPr>
          <p:nvPr/>
        </p:nvSpPr>
        <p:spPr bwMode="auto">
          <a:xfrm>
            <a:off x="7999413" y="2497138"/>
            <a:ext cx="776287" cy="274637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CC3300"/>
              </a:buClr>
              <a:buSzPct val="100000"/>
              <a:buFont typeface="Wingdings" pitchFamily="2" charset="2"/>
              <a:buNone/>
            </a:pPr>
            <a:r>
              <a:rPr lang="en-US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b="1" i="1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en-US" b="1" baseline="-25000">
              <a:solidFill>
                <a:schemeClr val="accent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61917" name="AutoShape 61"/>
          <p:cNvSpPr>
            <a:spLocks/>
          </p:cNvSpPr>
          <p:nvPr/>
        </p:nvSpPr>
        <p:spPr bwMode="auto">
          <a:xfrm>
            <a:off x="7869238" y="1865313"/>
            <a:ext cx="180975" cy="360362"/>
          </a:xfrm>
          <a:prstGeom prst="rightBrace">
            <a:avLst>
              <a:gd name="adj1" fmla="val 16594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61918" name="Rectangle 62"/>
          <p:cNvSpPr>
            <a:spLocks noChangeArrowheads="1"/>
          </p:cNvSpPr>
          <p:nvPr/>
        </p:nvSpPr>
        <p:spPr bwMode="auto">
          <a:xfrm>
            <a:off x="8064500" y="1893888"/>
            <a:ext cx="776288" cy="274637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CC3300"/>
              </a:buClr>
              <a:buSzPct val="100000"/>
              <a:buFont typeface="Wingdings" pitchFamily="2" charset="2"/>
              <a:buNone/>
            </a:pPr>
            <a:r>
              <a:rPr lang="en-US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b="1" i="1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b="1" i="1" baseline="-250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761919" name="Rectangle 63"/>
          <p:cNvSpPr>
            <a:spLocks noChangeArrowheads="1"/>
          </p:cNvSpPr>
          <p:nvPr/>
        </p:nvSpPr>
        <p:spPr bwMode="auto">
          <a:xfrm>
            <a:off x="7937500" y="2949575"/>
            <a:ext cx="776288" cy="274638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CC3300"/>
              </a:buClr>
              <a:buSzPct val="100000"/>
              <a:buFont typeface="Wingdings" pitchFamily="2" charset="2"/>
              <a:buNone/>
            </a:pPr>
            <a:r>
              <a:rPr lang="en-US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b="1" i="1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lang="en-US" b="1" baseline="-25000">
              <a:solidFill>
                <a:schemeClr val="accent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61920" name="AutoShape 64"/>
          <p:cNvSpPr>
            <a:spLocks/>
          </p:cNvSpPr>
          <p:nvPr/>
        </p:nvSpPr>
        <p:spPr bwMode="auto">
          <a:xfrm>
            <a:off x="7862888" y="2465388"/>
            <a:ext cx="180975" cy="360362"/>
          </a:xfrm>
          <a:prstGeom prst="rightBrace">
            <a:avLst>
              <a:gd name="adj1" fmla="val 16594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61921" name="Rectangle 65"/>
          <p:cNvSpPr>
            <a:spLocks noChangeArrowheads="1"/>
          </p:cNvSpPr>
          <p:nvPr/>
        </p:nvSpPr>
        <p:spPr bwMode="auto">
          <a:xfrm>
            <a:off x="7931150" y="3271838"/>
            <a:ext cx="776288" cy="274637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CC3300"/>
              </a:buClr>
              <a:buSzPct val="100000"/>
              <a:buFont typeface="Wingdings" pitchFamily="2" charset="2"/>
              <a:buNone/>
            </a:pPr>
            <a:r>
              <a:rPr lang="en-US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b="1" i="1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lang="en-US" b="1" baseline="-25000">
              <a:solidFill>
                <a:schemeClr val="accent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AU" dirty="0" smtClean="0"/>
              <a:t>SR Latch</a:t>
            </a:r>
          </a:p>
          <a:p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61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61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61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61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1903" grpId="0"/>
      <p:bldP spid="761904" grpId="0"/>
      <p:bldP spid="7619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Latches</a:t>
            </a:r>
          </a:p>
        </p:txBody>
      </p:sp>
      <p:graphicFrame>
        <p:nvGraphicFramePr>
          <p:cNvPr id="763908" name="Object 4"/>
          <p:cNvGraphicFramePr>
            <a:graphicFrameLocks noChangeAspect="1"/>
          </p:cNvGraphicFramePr>
          <p:nvPr/>
        </p:nvGraphicFramePr>
        <p:xfrm>
          <a:off x="971550" y="2528888"/>
          <a:ext cx="3305175" cy="212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830" name="Visio" r:id="rId4" imgW="1209203" imgH="776143" progId="">
                  <p:embed/>
                </p:oleObj>
              </mc:Choice>
              <mc:Fallback>
                <p:oleObj name="Visio" r:id="rId4" imgW="1209203" imgH="776143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528888"/>
                        <a:ext cx="3305175" cy="212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3909" name="Group 5"/>
          <p:cNvGraphicFramePr>
            <a:graphicFrameLocks noGrp="1"/>
          </p:cNvGraphicFramePr>
          <p:nvPr/>
        </p:nvGraphicFramePr>
        <p:xfrm>
          <a:off x="5651500" y="1449388"/>
          <a:ext cx="2160588" cy="2700342"/>
        </p:xfrm>
        <a:graphic>
          <a:graphicData uri="http://schemas.openxmlformats.org/drawingml/2006/table">
            <a:tbl>
              <a:tblPr/>
              <a:tblGrid>
                <a:gridCol w="1081088"/>
                <a:gridCol w="539750"/>
                <a:gridCol w="539750"/>
              </a:tblGrid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  R  Q</a:t>
                      </a:r>
                      <a:r>
                        <a:rPr kumimoji="0" lang="en-US" sz="1800" b="1" i="1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endParaRPr kumimoji="0" lang="en-US" sz="1800" b="1" i="1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Q’</a:t>
                      </a:r>
                      <a:endParaRPr kumimoji="0" lang="en-US" sz="1800" b="1" i="1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</a:t>
                      </a: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</a:t>
                      </a: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0   1   </a:t>
                      </a: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0   1   1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1   0   0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1   0   1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1   1   0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63951" name="Rectangle 47"/>
          <p:cNvSpPr>
            <a:spLocks noChangeArrowheads="1"/>
          </p:cNvSpPr>
          <p:nvPr/>
        </p:nvSpPr>
        <p:spPr bwMode="auto">
          <a:xfrm>
            <a:off x="3490913" y="2528888"/>
            <a:ext cx="177800" cy="3841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800" b="1"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763952" name="Rectangle 48"/>
          <p:cNvSpPr>
            <a:spLocks noChangeArrowheads="1"/>
          </p:cNvSpPr>
          <p:nvPr/>
        </p:nvSpPr>
        <p:spPr bwMode="auto">
          <a:xfrm>
            <a:off x="3490913" y="4329113"/>
            <a:ext cx="177800" cy="3841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800" b="1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763953" name="Rectangle 49"/>
          <p:cNvSpPr>
            <a:spLocks noChangeArrowheads="1"/>
          </p:cNvSpPr>
          <p:nvPr/>
        </p:nvSpPr>
        <p:spPr bwMode="auto">
          <a:xfrm>
            <a:off x="1511300" y="2451100"/>
            <a:ext cx="177800" cy="3841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8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763954" name="Rectangle 50"/>
          <p:cNvSpPr>
            <a:spLocks noChangeArrowheads="1"/>
          </p:cNvSpPr>
          <p:nvPr/>
        </p:nvSpPr>
        <p:spPr bwMode="auto">
          <a:xfrm>
            <a:off x="1511300" y="4395788"/>
            <a:ext cx="177800" cy="3841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8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graphicFrame>
        <p:nvGraphicFramePr>
          <p:cNvPr id="763955" name="Group 51"/>
          <p:cNvGraphicFramePr>
            <a:graphicFrameLocks noGrp="1"/>
          </p:cNvGraphicFramePr>
          <p:nvPr/>
        </p:nvGraphicFramePr>
        <p:xfrm>
          <a:off x="6732588" y="3586163"/>
          <a:ext cx="1079500" cy="274320"/>
        </p:xfrm>
        <a:graphic>
          <a:graphicData uri="http://schemas.openxmlformats.org/drawingml/2006/table">
            <a:tbl>
              <a:tblPr/>
              <a:tblGrid>
                <a:gridCol w="539750"/>
                <a:gridCol w="539750"/>
              </a:tblGrid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63964" name="Rectangle 60"/>
          <p:cNvSpPr>
            <a:spLocks noChangeArrowheads="1"/>
          </p:cNvSpPr>
          <p:nvPr/>
        </p:nvSpPr>
        <p:spPr bwMode="auto">
          <a:xfrm>
            <a:off x="7999413" y="2497138"/>
            <a:ext cx="776287" cy="274637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CC3300"/>
              </a:buClr>
              <a:buSzPct val="100000"/>
              <a:buFont typeface="Wingdings" pitchFamily="2" charset="2"/>
              <a:buNone/>
            </a:pPr>
            <a:r>
              <a:rPr lang="en-US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b="1" i="1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en-US" b="1" baseline="-25000">
              <a:solidFill>
                <a:schemeClr val="accent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63965" name="AutoShape 61"/>
          <p:cNvSpPr>
            <a:spLocks/>
          </p:cNvSpPr>
          <p:nvPr/>
        </p:nvSpPr>
        <p:spPr bwMode="auto">
          <a:xfrm>
            <a:off x="7869238" y="1865313"/>
            <a:ext cx="180975" cy="360362"/>
          </a:xfrm>
          <a:prstGeom prst="rightBrace">
            <a:avLst>
              <a:gd name="adj1" fmla="val 16594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63966" name="Rectangle 62"/>
          <p:cNvSpPr>
            <a:spLocks noChangeArrowheads="1"/>
          </p:cNvSpPr>
          <p:nvPr/>
        </p:nvSpPr>
        <p:spPr bwMode="auto">
          <a:xfrm>
            <a:off x="8064500" y="1893888"/>
            <a:ext cx="776288" cy="274637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CC3300"/>
              </a:buClr>
              <a:buSzPct val="100000"/>
              <a:buFont typeface="Wingdings" pitchFamily="2" charset="2"/>
              <a:buNone/>
            </a:pPr>
            <a:r>
              <a:rPr lang="en-US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b="1" i="1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b="1" i="1" baseline="-250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763967" name="Rectangle 63"/>
          <p:cNvSpPr>
            <a:spLocks noChangeArrowheads="1"/>
          </p:cNvSpPr>
          <p:nvPr/>
        </p:nvSpPr>
        <p:spPr bwMode="auto">
          <a:xfrm>
            <a:off x="7988300" y="3089275"/>
            <a:ext cx="776288" cy="274638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CC3300"/>
              </a:buClr>
              <a:buSzPct val="100000"/>
              <a:buFont typeface="Wingdings" pitchFamily="2" charset="2"/>
              <a:buNone/>
            </a:pPr>
            <a:r>
              <a:rPr lang="en-US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b="1" i="1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lang="en-US" b="1" baseline="-25000">
              <a:solidFill>
                <a:schemeClr val="accent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63968" name="AutoShape 64"/>
          <p:cNvSpPr>
            <a:spLocks/>
          </p:cNvSpPr>
          <p:nvPr/>
        </p:nvSpPr>
        <p:spPr bwMode="auto">
          <a:xfrm>
            <a:off x="7862888" y="2465388"/>
            <a:ext cx="180975" cy="360362"/>
          </a:xfrm>
          <a:prstGeom prst="rightBrace">
            <a:avLst>
              <a:gd name="adj1" fmla="val 16594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63969" name="Rectangle 65"/>
          <p:cNvSpPr>
            <a:spLocks noChangeArrowheads="1"/>
          </p:cNvSpPr>
          <p:nvPr/>
        </p:nvSpPr>
        <p:spPr bwMode="auto">
          <a:xfrm>
            <a:off x="7931150" y="3557588"/>
            <a:ext cx="776288" cy="274637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CC3300"/>
              </a:buClr>
              <a:buSzPct val="100000"/>
              <a:buFont typeface="Wingdings" pitchFamily="2" charset="2"/>
              <a:buNone/>
            </a:pPr>
            <a:r>
              <a:rPr lang="en-US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b="1" i="1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’</a:t>
            </a:r>
            <a:endParaRPr lang="en-US" b="1" baseline="-25000">
              <a:solidFill>
                <a:schemeClr val="accent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63970" name="AutoShape 66"/>
          <p:cNvSpPr>
            <a:spLocks/>
          </p:cNvSpPr>
          <p:nvPr/>
        </p:nvSpPr>
        <p:spPr bwMode="auto">
          <a:xfrm>
            <a:off x="7870825" y="3054350"/>
            <a:ext cx="180975" cy="360363"/>
          </a:xfrm>
          <a:prstGeom prst="rightBrace">
            <a:avLst>
              <a:gd name="adj1" fmla="val 16594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63971" name="Rectangle 67"/>
          <p:cNvSpPr>
            <a:spLocks noChangeArrowheads="1"/>
          </p:cNvSpPr>
          <p:nvPr/>
        </p:nvSpPr>
        <p:spPr bwMode="auto">
          <a:xfrm>
            <a:off x="3492500" y="4329113"/>
            <a:ext cx="177800" cy="3841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800" b="1"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21" name="Content Placeholder 20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AU" dirty="0" smtClean="0"/>
              <a:t>SR Latch</a:t>
            </a:r>
          </a:p>
          <a:p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63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63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7639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7639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3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639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639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63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63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3951" grpId="0"/>
      <p:bldP spid="763952" grpId="0"/>
      <p:bldP spid="763952" grpId="1"/>
      <p:bldP spid="763969" grpId="0"/>
      <p:bldP spid="76397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Latches</a:t>
            </a:r>
          </a:p>
        </p:txBody>
      </p:sp>
      <p:graphicFrame>
        <p:nvGraphicFramePr>
          <p:cNvPr id="765956" name="Object 4"/>
          <p:cNvGraphicFramePr>
            <a:graphicFrameLocks noChangeAspect="1"/>
          </p:cNvGraphicFramePr>
          <p:nvPr/>
        </p:nvGraphicFramePr>
        <p:xfrm>
          <a:off x="971550" y="2528888"/>
          <a:ext cx="3305175" cy="212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734" name="Visio" r:id="rId4" imgW="1209203" imgH="776143" progId="">
                  <p:embed/>
                </p:oleObj>
              </mc:Choice>
              <mc:Fallback>
                <p:oleObj name="Visio" r:id="rId4" imgW="1209203" imgH="776143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528888"/>
                        <a:ext cx="3305175" cy="212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5957" name="Group 5"/>
          <p:cNvGraphicFramePr>
            <a:graphicFrameLocks noGrp="1"/>
          </p:cNvGraphicFramePr>
          <p:nvPr/>
        </p:nvGraphicFramePr>
        <p:xfrm>
          <a:off x="5651500" y="1449388"/>
          <a:ext cx="2160588" cy="2700342"/>
        </p:xfrm>
        <a:graphic>
          <a:graphicData uri="http://schemas.openxmlformats.org/drawingml/2006/table">
            <a:tbl>
              <a:tblPr/>
              <a:tblGrid>
                <a:gridCol w="1081088"/>
                <a:gridCol w="539750"/>
                <a:gridCol w="539750"/>
              </a:tblGrid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  R  Q</a:t>
                      </a:r>
                      <a:r>
                        <a:rPr kumimoji="0" lang="en-US" sz="1800" b="1" i="1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endParaRPr kumimoji="0" lang="en-US" sz="1800" b="1" i="1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Q’</a:t>
                      </a:r>
                      <a:endParaRPr kumimoji="0" lang="en-US" sz="1800" b="1" i="1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</a:t>
                      </a: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</a:t>
                      </a: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0   1   </a:t>
                      </a: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0   1   1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1   0   0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1   0   1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1   1   0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1   1   1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65999" name="Rectangle 47"/>
          <p:cNvSpPr>
            <a:spLocks noChangeArrowheads="1"/>
          </p:cNvSpPr>
          <p:nvPr/>
        </p:nvSpPr>
        <p:spPr bwMode="auto">
          <a:xfrm>
            <a:off x="3490913" y="2528888"/>
            <a:ext cx="177800" cy="3841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800" b="1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766000" name="Rectangle 48"/>
          <p:cNvSpPr>
            <a:spLocks noChangeArrowheads="1"/>
          </p:cNvSpPr>
          <p:nvPr/>
        </p:nvSpPr>
        <p:spPr bwMode="auto">
          <a:xfrm>
            <a:off x="3490913" y="4329113"/>
            <a:ext cx="177800" cy="3841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800" b="1"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766001" name="Rectangle 49"/>
          <p:cNvSpPr>
            <a:spLocks noChangeArrowheads="1"/>
          </p:cNvSpPr>
          <p:nvPr/>
        </p:nvSpPr>
        <p:spPr bwMode="auto">
          <a:xfrm>
            <a:off x="1511300" y="2451100"/>
            <a:ext cx="177800" cy="3841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8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766002" name="Rectangle 50"/>
          <p:cNvSpPr>
            <a:spLocks noChangeArrowheads="1"/>
          </p:cNvSpPr>
          <p:nvPr/>
        </p:nvSpPr>
        <p:spPr bwMode="auto">
          <a:xfrm>
            <a:off x="1511300" y="4395788"/>
            <a:ext cx="177800" cy="3841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8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graphicFrame>
        <p:nvGraphicFramePr>
          <p:cNvPr id="766003" name="Group 51"/>
          <p:cNvGraphicFramePr>
            <a:graphicFrameLocks noGrp="1"/>
          </p:cNvGraphicFramePr>
          <p:nvPr/>
        </p:nvGraphicFramePr>
        <p:xfrm>
          <a:off x="6732588" y="3860800"/>
          <a:ext cx="1079500" cy="274320"/>
        </p:xfrm>
        <a:graphic>
          <a:graphicData uri="http://schemas.openxmlformats.org/drawingml/2006/table">
            <a:tbl>
              <a:tblPr/>
              <a:tblGrid>
                <a:gridCol w="539750"/>
                <a:gridCol w="539750"/>
              </a:tblGrid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66012" name="Rectangle 60"/>
          <p:cNvSpPr>
            <a:spLocks noChangeArrowheads="1"/>
          </p:cNvSpPr>
          <p:nvPr/>
        </p:nvSpPr>
        <p:spPr bwMode="auto">
          <a:xfrm>
            <a:off x="7999413" y="2497138"/>
            <a:ext cx="776287" cy="274637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CC3300"/>
              </a:buClr>
              <a:buSzPct val="100000"/>
              <a:buFont typeface="Wingdings" pitchFamily="2" charset="2"/>
              <a:buNone/>
            </a:pPr>
            <a:r>
              <a:rPr lang="en-US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b="1" i="1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en-US" b="1" baseline="-25000">
              <a:solidFill>
                <a:schemeClr val="accent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66013" name="AutoShape 61"/>
          <p:cNvSpPr>
            <a:spLocks/>
          </p:cNvSpPr>
          <p:nvPr/>
        </p:nvSpPr>
        <p:spPr bwMode="auto">
          <a:xfrm>
            <a:off x="7869238" y="1865313"/>
            <a:ext cx="180975" cy="360362"/>
          </a:xfrm>
          <a:prstGeom prst="rightBrace">
            <a:avLst>
              <a:gd name="adj1" fmla="val 16594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66014" name="Rectangle 62"/>
          <p:cNvSpPr>
            <a:spLocks noChangeArrowheads="1"/>
          </p:cNvSpPr>
          <p:nvPr/>
        </p:nvSpPr>
        <p:spPr bwMode="auto">
          <a:xfrm>
            <a:off x="8064500" y="1893888"/>
            <a:ext cx="776288" cy="274637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CC3300"/>
              </a:buClr>
              <a:buSzPct val="100000"/>
              <a:buFont typeface="Wingdings" pitchFamily="2" charset="2"/>
              <a:buNone/>
            </a:pPr>
            <a:r>
              <a:rPr lang="en-US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b="1" i="1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b="1" i="1" baseline="-250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766015" name="Rectangle 63"/>
          <p:cNvSpPr>
            <a:spLocks noChangeArrowheads="1"/>
          </p:cNvSpPr>
          <p:nvPr/>
        </p:nvSpPr>
        <p:spPr bwMode="auto">
          <a:xfrm>
            <a:off x="7988300" y="3089275"/>
            <a:ext cx="776288" cy="274638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CC3300"/>
              </a:buClr>
              <a:buSzPct val="100000"/>
              <a:buFont typeface="Wingdings" pitchFamily="2" charset="2"/>
              <a:buNone/>
            </a:pPr>
            <a:r>
              <a:rPr lang="en-US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b="1" i="1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lang="en-US" b="1" baseline="-25000">
              <a:solidFill>
                <a:schemeClr val="accent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66016" name="AutoShape 64"/>
          <p:cNvSpPr>
            <a:spLocks/>
          </p:cNvSpPr>
          <p:nvPr/>
        </p:nvSpPr>
        <p:spPr bwMode="auto">
          <a:xfrm>
            <a:off x="7862888" y="2465388"/>
            <a:ext cx="180975" cy="360362"/>
          </a:xfrm>
          <a:prstGeom prst="rightBrace">
            <a:avLst>
              <a:gd name="adj1" fmla="val 16594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66017" name="Rectangle 65"/>
          <p:cNvSpPr>
            <a:spLocks noChangeArrowheads="1"/>
          </p:cNvSpPr>
          <p:nvPr/>
        </p:nvSpPr>
        <p:spPr bwMode="auto">
          <a:xfrm>
            <a:off x="7931150" y="3557588"/>
            <a:ext cx="776288" cy="274637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CC3300"/>
              </a:buClr>
              <a:buSzPct val="100000"/>
              <a:buFont typeface="Wingdings" pitchFamily="2" charset="2"/>
              <a:buNone/>
            </a:pPr>
            <a:r>
              <a:rPr lang="en-US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b="1" i="1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’</a:t>
            </a:r>
            <a:endParaRPr lang="en-US" b="1" baseline="-25000">
              <a:solidFill>
                <a:schemeClr val="accent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66018" name="AutoShape 66"/>
          <p:cNvSpPr>
            <a:spLocks/>
          </p:cNvSpPr>
          <p:nvPr/>
        </p:nvSpPr>
        <p:spPr bwMode="auto">
          <a:xfrm>
            <a:off x="7870825" y="3054350"/>
            <a:ext cx="180975" cy="360363"/>
          </a:xfrm>
          <a:prstGeom prst="rightBrace">
            <a:avLst>
              <a:gd name="adj1" fmla="val 16594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66019" name="Rectangle 67"/>
          <p:cNvSpPr>
            <a:spLocks noChangeArrowheads="1"/>
          </p:cNvSpPr>
          <p:nvPr/>
        </p:nvSpPr>
        <p:spPr bwMode="auto">
          <a:xfrm>
            <a:off x="3492500" y="2528888"/>
            <a:ext cx="177800" cy="3841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800" b="1"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766020" name="Rectangle 68"/>
          <p:cNvSpPr>
            <a:spLocks noChangeArrowheads="1"/>
          </p:cNvSpPr>
          <p:nvPr/>
        </p:nvSpPr>
        <p:spPr bwMode="auto">
          <a:xfrm>
            <a:off x="7942263" y="3852863"/>
            <a:ext cx="776287" cy="274637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CC3300"/>
              </a:buClr>
              <a:buSzPct val="100000"/>
              <a:buFont typeface="Wingdings" pitchFamily="2" charset="2"/>
              <a:buNone/>
            </a:pPr>
            <a:r>
              <a:rPr lang="en-US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b="1" i="1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’</a:t>
            </a:r>
            <a:endParaRPr lang="en-US" b="1" baseline="-25000">
              <a:solidFill>
                <a:schemeClr val="accent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Content Placeholder 2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AU" dirty="0" smtClean="0"/>
              <a:t>SR Latch</a:t>
            </a:r>
          </a:p>
          <a:p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65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66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7659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7659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5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660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660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66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6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5999" grpId="0"/>
      <p:bldP spid="765999" grpId="1"/>
      <p:bldP spid="766000" grpId="0"/>
      <p:bldP spid="766019" grpId="0"/>
      <p:bldP spid="76602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SR Latch</a:t>
            </a:r>
            <a:endParaRPr lang="en-US" dirty="0"/>
          </a:p>
        </p:txBody>
      </p:sp>
      <p:graphicFrame>
        <p:nvGraphicFramePr>
          <p:cNvPr id="768004" name="Object 4"/>
          <p:cNvGraphicFramePr>
            <a:graphicFrameLocks noChangeAspect="1"/>
          </p:cNvGraphicFramePr>
          <p:nvPr/>
        </p:nvGraphicFramePr>
        <p:xfrm>
          <a:off x="971550" y="1628775"/>
          <a:ext cx="3305175" cy="212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770" name="Visio" r:id="rId4" imgW="1209203" imgH="776143" progId="">
                  <p:embed/>
                </p:oleObj>
              </mc:Choice>
              <mc:Fallback>
                <p:oleObj name="Visio" r:id="rId4" imgW="1209203" imgH="776143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1628775"/>
                        <a:ext cx="3305175" cy="212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05" name="Group 5"/>
          <p:cNvGraphicFramePr>
            <a:graphicFrameLocks noGrp="1"/>
          </p:cNvGraphicFramePr>
          <p:nvPr/>
        </p:nvGraphicFramePr>
        <p:xfrm>
          <a:off x="4932363" y="1449388"/>
          <a:ext cx="2160587" cy="2159000"/>
        </p:xfrm>
        <a:graphic>
          <a:graphicData uri="http://schemas.openxmlformats.org/drawingml/2006/table">
            <a:tbl>
              <a:tblPr/>
              <a:tblGrid>
                <a:gridCol w="900112"/>
                <a:gridCol w="1260475"/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S  R</a:t>
                      </a:r>
                      <a:endParaRPr kumimoji="0" lang="en-US" sz="2400" b="1" i="1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endParaRPr kumimoji="0" lang="en-US" sz="2400" b="1" i="1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r>
                        <a:rPr kumimoji="0" lang="en-US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</a:t>
                      </a:r>
                      <a:r>
                        <a:rPr kumimoji="0" lang="en-US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r>
                        <a:rPr kumimoji="0" lang="en-US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/>
                          <a:cs typeface="Times New Roman" pitchFamily="18" charset="0"/>
                        </a:rPr>
                        <a:t>’</a:t>
                      </a: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68029" name="Rectangle 29"/>
          <p:cNvSpPr>
            <a:spLocks noChangeArrowheads="1"/>
          </p:cNvSpPr>
          <p:nvPr/>
        </p:nvSpPr>
        <p:spPr bwMode="auto">
          <a:xfrm>
            <a:off x="7115175" y="1817688"/>
            <a:ext cx="1620838" cy="175260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sz="2400" b="1">
                <a:latin typeface="Times New Roman" pitchFamily="18" charset="0"/>
                <a:cs typeface="Times New Roman" pitchFamily="18" charset="0"/>
              </a:rPr>
              <a:t>No change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Reset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sz="2400" b="1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Set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Invalid</a:t>
            </a:r>
          </a:p>
        </p:txBody>
      </p:sp>
      <p:graphicFrame>
        <p:nvGraphicFramePr>
          <p:cNvPr id="768030" name="Object 30"/>
          <p:cNvGraphicFramePr>
            <a:graphicFrameLocks noChangeAspect="1"/>
          </p:cNvGraphicFramePr>
          <p:nvPr/>
        </p:nvGraphicFramePr>
        <p:xfrm>
          <a:off x="971550" y="4149725"/>
          <a:ext cx="3240088" cy="207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771" name="Visio" r:id="rId6" imgW="1209203" imgH="776143" progId="">
                  <p:embed/>
                </p:oleObj>
              </mc:Choice>
              <mc:Fallback>
                <p:oleObj name="Visio" r:id="rId6" imgW="1209203" imgH="776143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4149725"/>
                        <a:ext cx="3240088" cy="207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31" name="Group 31"/>
          <p:cNvGraphicFramePr>
            <a:graphicFrameLocks noGrp="1"/>
          </p:cNvGraphicFramePr>
          <p:nvPr/>
        </p:nvGraphicFramePr>
        <p:xfrm>
          <a:off x="4932363" y="4149725"/>
          <a:ext cx="2160587" cy="2159000"/>
        </p:xfrm>
        <a:graphic>
          <a:graphicData uri="http://schemas.openxmlformats.org/drawingml/2006/table">
            <a:tbl>
              <a:tblPr/>
              <a:tblGrid>
                <a:gridCol w="900112"/>
                <a:gridCol w="1260475"/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S  R</a:t>
                      </a:r>
                      <a:endParaRPr kumimoji="0" lang="en-US" sz="2400" b="1" i="1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endParaRPr kumimoji="0" lang="en-US" sz="2400" b="1" i="1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</a:t>
                      </a:r>
                      <a:r>
                        <a:rPr kumimoji="0" lang="en-US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r>
                        <a:rPr kumimoji="0" lang="en-US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/>
                          <a:cs typeface="Times New Roman" pitchFamily="18" charset="0"/>
                        </a:rPr>
                        <a:t>’</a:t>
                      </a: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r>
                        <a:rPr kumimoji="0" lang="en-US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68055" name="Rectangle 55"/>
          <p:cNvSpPr>
            <a:spLocks noChangeArrowheads="1"/>
          </p:cNvSpPr>
          <p:nvPr/>
        </p:nvSpPr>
        <p:spPr bwMode="auto">
          <a:xfrm>
            <a:off x="7129463" y="4527550"/>
            <a:ext cx="1620837" cy="175260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Invalid</a:t>
            </a:r>
            <a:endParaRPr lang="en-US" sz="2400" b="1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sz="2400" b="1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Set</a:t>
            </a:r>
            <a:endParaRPr lang="en-US" sz="2400" b="1">
              <a:solidFill>
                <a:srgbClr val="9966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Reset</a:t>
            </a:r>
            <a:endParaRPr lang="en-US" sz="2400" b="1">
              <a:solidFill>
                <a:srgbClr val="0099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sz="2400" b="1">
                <a:latin typeface="Times New Roman" pitchFamily="18" charset="0"/>
                <a:cs typeface="Times New Roman" pitchFamily="18" charset="0"/>
              </a:rPr>
              <a:t>No change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68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680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680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680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680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68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68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768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5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SR Latch</a:t>
            </a:r>
            <a:endParaRPr lang="en-US" dirty="0"/>
          </a:p>
        </p:txBody>
      </p:sp>
      <p:graphicFrame>
        <p:nvGraphicFramePr>
          <p:cNvPr id="770052" name="Object 4"/>
          <p:cNvGraphicFramePr>
            <a:graphicFrameLocks noChangeAspect="1"/>
          </p:cNvGraphicFramePr>
          <p:nvPr/>
        </p:nvGraphicFramePr>
        <p:xfrm>
          <a:off x="971550" y="1628775"/>
          <a:ext cx="3305175" cy="212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794" name="Visio" r:id="rId4" imgW="1209203" imgH="776143" progId="">
                  <p:embed/>
                </p:oleObj>
              </mc:Choice>
              <mc:Fallback>
                <p:oleObj name="Visio" r:id="rId4" imgW="1209203" imgH="776143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1628775"/>
                        <a:ext cx="3305175" cy="212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0053" name="Group 5"/>
          <p:cNvGraphicFramePr>
            <a:graphicFrameLocks noGrp="1"/>
          </p:cNvGraphicFramePr>
          <p:nvPr/>
        </p:nvGraphicFramePr>
        <p:xfrm>
          <a:off x="4932363" y="1449388"/>
          <a:ext cx="2159000" cy="2159000"/>
        </p:xfrm>
        <a:graphic>
          <a:graphicData uri="http://schemas.openxmlformats.org/drawingml/2006/table">
            <a:tbl>
              <a:tblPr/>
              <a:tblGrid>
                <a:gridCol w="900112"/>
                <a:gridCol w="1258888"/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S  R</a:t>
                      </a:r>
                      <a:endParaRPr kumimoji="0" lang="en-US" sz="2400" b="1" i="1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endParaRPr kumimoji="0" lang="en-US" sz="2400" b="1" i="1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r>
                        <a:rPr kumimoji="0" lang="en-US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</a:t>
                      </a:r>
                      <a:r>
                        <a:rPr kumimoji="0" lang="en-US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r>
                        <a:rPr kumimoji="0" lang="en-US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/>
                          <a:cs typeface="Times New Roman" pitchFamily="18" charset="0"/>
                        </a:rPr>
                        <a:t>’</a:t>
                      </a: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70077" name="Rectangle 29"/>
          <p:cNvSpPr>
            <a:spLocks noChangeArrowheads="1"/>
          </p:cNvSpPr>
          <p:nvPr/>
        </p:nvSpPr>
        <p:spPr bwMode="auto">
          <a:xfrm>
            <a:off x="7115175" y="1817688"/>
            <a:ext cx="1620838" cy="175260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sz="2400" b="1">
                <a:latin typeface="Times New Roman" pitchFamily="18" charset="0"/>
                <a:cs typeface="Times New Roman" pitchFamily="18" charset="0"/>
              </a:rPr>
              <a:t>No change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Reset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sz="2400" b="1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Set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Invalid</a:t>
            </a:r>
          </a:p>
        </p:txBody>
      </p:sp>
      <p:graphicFrame>
        <p:nvGraphicFramePr>
          <p:cNvPr id="770078" name="Group 30"/>
          <p:cNvGraphicFramePr>
            <a:graphicFrameLocks noGrp="1"/>
          </p:cNvGraphicFramePr>
          <p:nvPr/>
        </p:nvGraphicFramePr>
        <p:xfrm>
          <a:off x="4932363" y="4149725"/>
          <a:ext cx="2159000" cy="2159000"/>
        </p:xfrm>
        <a:graphic>
          <a:graphicData uri="http://schemas.openxmlformats.org/drawingml/2006/table">
            <a:tbl>
              <a:tblPr/>
              <a:tblGrid>
                <a:gridCol w="900112"/>
                <a:gridCol w="1258888"/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S’  R’</a:t>
                      </a:r>
                      <a:endParaRPr kumimoji="0" lang="en-US" sz="2400" b="1" i="1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endParaRPr kumimoji="0" lang="en-US" sz="2400" b="1" i="1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</a:t>
                      </a:r>
                      <a:r>
                        <a:rPr kumimoji="0" lang="en-US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r>
                        <a:rPr kumimoji="0" lang="en-US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/>
                          <a:cs typeface="Times New Roman" pitchFamily="18" charset="0"/>
                        </a:rPr>
                        <a:t>’</a:t>
                      </a: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r>
                        <a:rPr kumimoji="0" lang="en-US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70102" name="Rectangle 54"/>
          <p:cNvSpPr>
            <a:spLocks noChangeArrowheads="1"/>
          </p:cNvSpPr>
          <p:nvPr/>
        </p:nvSpPr>
        <p:spPr bwMode="auto">
          <a:xfrm>
            <a:off x="7129463" y="4527550"/>
            <a:ext cx="1620837" cy="175260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Invalid</a:t>
            </a:r>
            <a:endParaRPr lang="en-US" sz="2400" b="1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sz="2400" b="1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Set</a:t>
            </a:r>
            <a:endParaRPr lang="en-US" sz="2400" b="1">
              <a:solidFill>
                <a:srgbClr val="9966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Reset</a:t>
            </a:r>
            <a:endParaRPr lang="en-US" sz="2400" b="1">
              <a:solidFill>
                <a:srgbClr val="0099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sz="2400" b="1">
                <a:latin typeface="Times New Roman" pitchFamily="18" charset="0"/>
                <a:cs typeface="Times New Roman" pitchFamily="18" charset="0"/>
              </a:rPr>
              <a:t>No change</a:t>
            </a:r>
          </a:p>
        </p:txBody>
      </p:sp>
      <p:graphicFrame>
        <p:nvGraphicFramePr>
          <p:cNvPr id="770103" name="Object 55"/>
          <p:cNvGraphicFramePr>
            <a:graphicFrameLocks noChangeAspect="1"/>
          </p:cNvGraphicFramePr>
          <p:nvPr/>
        </p:nvGraphicFramePr>
        <p:xfrm>
          <a:off x="971550" y="4149725"/>
          <a:ext cx="3240088" cy="204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795" name="Visio" r:id="rId6" imgW="1228222" imgH="776143" progId="">
                  <p:embed/>
                </p:oleObj>
              </mc:Choice>
              <mc:Fallback>
                <p:oleObj name="Visio" r:id="rId6" imgW="1228222" imgH="776143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4149725"/>
                        <a:ext cx="3240088" cy="2046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Controlled Latches</a:t>
            </a:r>
          </a:p>
        </p:txBody>
      </p:sp>
      <p:graphicFrame>
        <p:nvGraphicFramePr>
          <p:cNvPr id="772100" name="Group 4"/>
          <p:cNvGraphicFramePr>
            <a:graphicFrameLocks noGrp="1"/>
          </p:cNvGraphicFramePr>
          <p:nvPr/>
        </p:nvGraphicFramePr>
        <p:xfrm>
          <a:off x="2592388" y="3968750"/>
          <a:ext cx="2519362" cy="2590800"/>
        </p:xfrm>
        <a:graphic>
          <a:graphicData uri="http://schemas.openxmlformats.org/drawingml/2006/table">
            <a:tbl>
              <a:tblPr/>
              <a:tblGrid>
                <a:gridCol w="1260475"/>
                <a:gridCol w="1258887"/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  S  R</a:t>
                      </a:r>
                      <a:endParaRPr kumimoji="0" lang="en-US" sz="2400" b="1" i="1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endParaRPr kumimoji="0" lang="en-US" sz="2400" b="1" i="1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x  x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r>
                        <a:rPr kumimoji="0" lang="en-US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0  0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r>
                        <a:rPr kumimoji="0" lang="en-US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0  1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1  0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1  1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</a:t>
                      </a: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/>
                          <a:cs typeface="Times New Roman" pitchFamily="18" charset="0"/>
                        </a:rPr>
                        <a:t>’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72127" name="Rectangle 31"/>
          <p:cNvSpPr>
            <a:spLocks noChangeArrowheads="1"/>
          </p:cNvSpPr>
          <p:nvPr/>
        </p:nvSpPr>
        <p:spPr bwMode="auto">
          <a:xfrm>
            <a:off x="5202238" y="4329113"/>
            <a:ext cx="1620837" cy="21907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sz="2400" b="1">
                <a:latin typeface="Times New Roman" pitchFamily="18" charset="0"/>
                <a:cs typeface="Times New Roman" pitchFamily="18" charset="0"/>
              </a:rPr>
              <a:t>No change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sz="2400" b="1">
                <a:latin typeface="Times New Roman" pitchFamily="18" charset="0"/>
                <a:cs typeface="Times New Roman" pitchFamily="18" charset="0"/>
              </a:rPr>
              <a:t>No change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Reset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sz="2400" b="1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Set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Invalid</a:t>
            </a:r>
          </a:p>
        </p:txBody>
      </p:sp>
      <p:graphicFrame>
        <p:nvGraphicFramePr>
          <p:cNvPr id="772128" name="Object 32"/>
          <p:cNvGraphicFramePr>
            <a:graphicFrameLocks noChangeAspect="1"/>
          </p:cNvGraphicFramePr>
          <p:nvPr/>
        </p:nvGraphicFramePr>
        <p:xfrm>
          <a:off x="5111750" y="2071688"/>
          <a:ext cx="3600450" cy="171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66" name="Visio" r:id="rId4" imgW="1850258" imgH="883920" progId="">
                  <p:embed/>
                </p:oleObj>
              </mc:Choice>
              <mc:Fallback>
                <p:oleObj name="Visio" r:id="rId4" imgW="1850258" imgH="88392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1750" y="2071688"/>
                        <a:ext cx="3600450" cy="171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2129" name="Object 33"/>
          <p:cNvGraphicFramePr>
            <a:graphicFrameLocks noChangeAspect="1"/>
          </p:cNvGraphicFramePr>
          <p:nvPr/>
        </p:nvGraphicFramePr>
        <p:xfrm>
          <a:off x="611188" y="2071688"/>
          <a:ext cx="3600450" cy="171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67" name="Visio" r:id="rId6" imgW="1850258" imgH="883920" progId="">
                  <p:embed/>
                </p:oleObj>
              </mc:Choice>
              <mc:Fallback>
                <p:oleObj name="Visio" r:id="rId6" imgW="1850258" imgH="88392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2071688"/>
                        <a:ext cx="3600450" cy="171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Content Placeholder 9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AU" dirty="0" smtClean="0"/>
              <a:t>SR Latch with Control Input</a:t>
            </a:r>
          </a:p>
          <a:p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72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72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72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72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212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Controlled Latches</a:t>
            </a:r>
          </a:p>
        </p:txBody>
      </p:sp>
      <p:graphicFrame>
        <p:nvGraphicFramePr>
          <p:cNvPr id="774148" name="Group 4"/>
          <p:cNvGraphicFramePr>
            <a:graphicFrameLocks noGrp="1"/>
          </p:cNvGraphicFramePr>
          <p:nvPr/>
        </p:nvGraphicFramePr>
        <p:xfrm>
          <a:off x="1873250" y="4291013"/>
          <a:ext cx="2159000" cy="1727200"/>
        </p:xfrm>
        <a:graphic>
          <a:graphicData uri="http://schemas.openxmlformats.org/drawingml/2006/table">
            <a:tbl>
              <a:tblPr/>
              <a:tblGrid>
                <a:gridCol w="1260475"/>
                <a:gridCol w="898525"/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  D</a:t>
                      </a:r>
                      <a:endParaRPr kumimoji="0" lang="en-US" sz="2400" b="1" i="1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endParaRPr kumimoji="0" lang="en-US" sz="2400" b="1" i="1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x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r>
                        <a:rPr kumimoji="0" lang="en-US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74167" name="Rectangle 23"/>
          <p:cNvSpPr>
            <a:spLocks noChangeArrowheads="1"/>
          </p:cNvSpPr>
          <p:nvPr/>
        </p:nvSpPr>
        <p:spPr bwMode="auto">
          <a:xfrm>
            <a:off x="4032250" y="4689475"/>
            <a:ext cx="1620838" cy="13144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sz="2400" b="1">
                <a:latin typeface="Times New Roman" pitchFamily="18" charset="0"/>
                <a:cs typeface="Times New Roman" pitchFamily="18" charset="0"/>
              </a:rPr>
              <a:t>No change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Reset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sz="2400" b="1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Set</a:t>
            </a:r>
          </a:p>
        </p:txBody>
      </p:sp>
      <p:graphicFrame>
        <p:nvGraphicFramePr>
          <p:cNvPr id="774168" name="Object 24"/>
          <p:cNvGraphicFramePr>
            <a:graphicFrameLocks noChangeAspect="1"/>
          </p:cNvGraphicFramePr>
          <p:nvPr/>
        </p:nvGraphicFramePr>
        <p:xfrm>
          <a:off x="695325" y="1970088"/>
          <a:ext cx="4694238" cy="202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878" name="Visio" r:id="rId4" imgW="2343546" imgH="1013155" progId="">
                  <p:embed/>
                </p:oleObj>
              </mc:Choice>
              <mc:Fallback>
                <p:oleObj name="Visio" r:id="rId4" imgW="2343546" imgH="1013155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325" y="1970088"/>
                        <a:ext cx="4694238" cy="202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4169" name="Line 25"/>
          <p:cNvSpPr>
            <a:spLocks noChangeShapeType="1"/>
          </p:cNvSpPr>
          <p:nvPr/>
        </p:nvSpPr>
        <p:spPr bwMode="auto">
          <a:xfrm>
            <a:off x="6372225" y="2168525"/>
            <a:ext cx="360363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4170" name="Line 26"/>
          <p:cNvSpPr>
            <a:spLocks noChangeShapeType="1"/>
          </p:cNvSpPr>
          <p:nvPr/>
        </p:nvSpPr>
        <p:spPr bwMode="auto">
          <a:xfrm rot="-5400000">
            <a:off x="6552407" y="1988344"/>
            <a:ext cx="3603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4171" name="Line 27"/>
          <p:cNvSpPr>
            <a:spLocks noChangeShapeType="1"/>
          </p:cNvSpPr>
          <p:nvPr/>
        </p:nvSpPr>
        <p:spPr bwMode="auto">
          <a:xfrm>
            <a:off x="6732588" y="1808163"/>
            <a:ext cx="360362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4172" name="Line 28"/>
          <p:cNvSpPr>
            <a:spLocks noChangeShapeType="1"/>
          </p:cNvSpPr>
          <p:nvPr/>
        </p:nvSpPr>
        <p:spPr bwMode="auto">
          <a:xfrm rot="-5400000">
            <a:off x="6912769" y="1988344"/>
            <a:ext cx="3603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4173" name="Line 29"/>
          <p:cNvSpPr>
            <a:spLocks noChangeShapeType="1"/>
          </p:cNvSpPr>
          <p:nvPr/>
        </p:nvSpPr>
        <p:spPr bwMode="auto">
          <a:xfrm>
            <a:off x="7092950" y="2168525"/>
            <a:ext cx="360363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4174" name="Line 30"/>
          <p:cNvSpPr>
            <a:spLocks noChangeShapeType="1"/>
          </p:cNvSpPr>
          <p:nvPr/>
        </p:nvSpPr>
        <p:spPr bwMode="auto">
          <a:xfrm rot="-5400000">
            <a:off x="7273132" y="1988344"/>
            <a:ext cx="3603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4175" name="Line 31"/>
          <p:cNvSpPr>
            <a:spLocks noChangeShapeType="1"/>
          </p:cNvSpPr>
          <p:nvPr/>
        </p:nvSpPr>
        <p:spPr bwMode="auto">
          <a:xfrm>
            <a:off x="7453313" y="1808163"/>
            <a:ext cx="360362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4176" name="Line 32"/>
          <p:cNvSpPr>
            <a:spLocks noChangeShapeType="1"/>
          </p:cNvSpPr>
          <p:nvPr/>
        </p:nvSpPr>
        <p:spPr bwMode="auto">
          <a:xfrm rot="-5400000">
            <a:off x="7633494" y="1988344"/>
            <a:ext cx="3603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4177" name="Line 33"/>
          <p:cNvSpPr>
            <a:spLocks noChangeShapeType="1"/>
          </p:cNvSpPr>
          <p:nvPr/>
        </p:nvSpPr>
        <p:spPr bwMode="auto">
          <a:xfrm>
            <a:off x="7813675" y="2168525"/>
            <a:ext cx="360363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4178" name="Line 34"/>
          <p:cNvSpPr>
            <a:spLocks noChangeShapeType="1"/>
          </p:cNvSpPr>
          <p:nvPr/>
        </p:nvSpPr>
        <p:spPr bwMode="auto">
          <a:xfrm rot="-5400000">
            <a:off x="7993857" y="1988344"/>
            <a:ext cx="3603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4179" name="Line 35"/>
          <p:cNvSpPr>
            <a:spLocks noChangeShapeType="1"/>
          </p:cNvSpPr>
          <p:nvPr/>
        </p:nvSpPr>
        <p:spPr bwMode="auto">
          <a:xfrm>
            <a:off x="8174038" y="1808163"/>
            <a:ext cx="360362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4180" name="Line 36"/>
          <p:cNvSpPr>
            <a:spLocks noChangeShapeType="1"/>
          </p:cNvSpPr>
          <p:nvPr/>
        </p:nvSpPr>
        <p:spPr bwMode="auto">
          <a:xfrm rot="-5400000">
            <a:off x="8354219" y="1988344"/>
            <a:ext cx="3603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4181" name="Line 37"/>
          <p:cNvSpPr>
            <a:spLocks noChangeShapeType="1"/>
          </p:cNvSpPr>
          <p:nvPr/>
        </p:nvSpPr>
        <p:spPr bwMode="auto">
          <a:xfrm>
            <a:off x="8532813" y="2168525"/>
            <a:ext cx="360362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4182" name="Rectangle 38"/>
          <p:cNvSpPr>
            <a:spLocks noChangeArrowheads="1"/>
          </p:cNvSpPr>
          <p:nvPr/>
        </p:nvSpPr>
        <p:spPr bwMode="auto">
          <a:xfrm>
            <a:off x="6011863" y="1808163"/>
            <a:ext cx="203200" cy="32861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774183" name="Rectangle 39"/>
          <p:cNvSpPr>
            <a:spLocks noChangeArrowheads="1"/>
          </p:cNvSpPr>
          <p:nvPr/>
        </p:nvSpPr>
        <p:spPr bwMode="auto">
          <a:xfrm>
            <a:off x="6372225" y="1268413"/>
            <a:ext cx="2339975" cy="32861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Timing Diagram</a:t>
            </a:r>
          </a:p>
        </p:txBody>
      </p:sp>
      <p:sp>
        <p:nvSpPr>
          <p:cNvPr id="774184" name="Rectangle 40"/>
          <p:cNvSpPr>
            <a:spLocks noChangeArrowheads="1"/>
          </p:cNvSpPr>
          <p:nvPr/>
        </p:nvSpPr>
        <p:spPr bwMode="auto">
          <a:xfrm>
            <a:off x="6011863" y="2528888"/>
            <a:ext cx="220662" cy="32861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774185" name="Line 41"/>
          <p:cNvSpPr>
            <a:spLocks noChangeShapeType="1"/>
          </p:cNvSpPr>
          <p:nvPr/>
        </p:nvSpPr>
        <p:spPr bwMode="auto">
          <a:xfrm>
            <a:off x="6372225" y="2889250"/>
            <a:ext cx="179388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4186" name="Line 42"/>
          <p:cNvSpPr>
            <a:spLocks noChangeShapeType="1"/>
          </p:cNvSpPr>
          <p:nvPr/>
        </p:nvSpPr>
        <p:spPr bwMode="auto">
          <a:xfrm rot="-5400000">
            <a:off x="6371432" y="2709069"/>
            <a:ext cx="3603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4187" name="Line 43"/>
          <p:cNvSpPr>
            <a:spLocks noChangeShapeType="1"/>
          </p:cNvSpPr>
          <p:nvPr/>
        </p:nvSpPr>
        <p:spPr bwMode="auto">
          <a:xfrm>
            <a:off x="6551613" y="2528888"/>
            <a:ext cx="720725" cy="0"/>
          </a:xfrm>
          <a:prstGeom prst="line">
            <a:avLst/>
          </a:prstGeom>
          <a:noFill/>
          <a:ln w="38100">
            <a:solidFill>
              <a:srgbClr val="D60093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4188" name="Line 44"/>
          <p:cNvSpPr>
            <a:spLocks noChangeShapeType="1"/>
          </p:cNvSpPr>
          <p:nvPr/>
        </p:nvSpPr>
        <p:spPr bwMode="auto">
          <a:xfrm rot="-5400000">
            <a:off x="7092157" y="2709069"/>
            <a:ext cx="3603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4189" name="Line 45"/>
          <p:cNvSpPr>
            <a:spLocks noChangeShapeType="1"/>
          </p:cNvSpPr>
          <p:nvPr/>
        </p:nvSpPr>
        <p:spPr bwMode="auto">
          <a:xfrm>
            <a:off x="7272338" y="2889250"/>
            <a:ext cx="720725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4190" name="Line 46"/>
          <p:cNvSpPr>
            <a:spLocks noChangeShapeType="1"/>
          </p:cNvSpPr>
          <p:nvPr/>
        </p:nvSpPr>
        <p:spPr bwMode="auto">
          <a:xfrm rot="-5400000">
            <a:off x="7812882" y="2709069"/>
            <a:ext cx="3603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4191" name="Line 47"/>
          <p:cNvSpPr>
            <a:spLocks noChangeShapeType="1"/>
          </p:cNvSpPr>
          <p:nvPr/>
        </p:nvSpPr>
        <p:spPr bwMode="auto">
          <a:xfrm>
            <a:off x="7993063" y="2528888"/>
            <a:ext cx="720725" cy="0"/>
          </a:xfrm>
          <a:prstGeom prst="line">
            <a:avLst/>
          </a:prstGeom>
          <a:noFill/>
          <a:ln w="38100">
            <a:solidFill>
              <a:srgbClr val="D60093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4192" name="Line 48"/>
          <p:cNvSpPr>
            <a:spLocks noChangeShapeType="1"/>
          </p:cNvSpPr>
          <p:nvPr/>
        </p:nvSpPr>
        <p:spPr bwMode="auto">
          <a:xfrm rot="-5400000">
            <a:off x="8533607" y="2709069"/>
            <a:ext cx="3603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4193" name="Line 49"/>
          <p:cNvSpPr>
            <a:spLocks noChangeShapeType="1"/>
          </p:cNvSpPr>
          <p:nvPr/>
        </p:nvSpPr>
        <p:spPr bwMode="auto">
          <a:xfrm>
            <a:off x="8712200" y="2889250"/>
            <a:ext cx="179388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4194" name="Rectangle 50"/>
          <p:cNvSpPr>
            <a:spLocks noChangeArrowheads="1"/>
          </p:cNvSpPr>
          <p:nvPr/>
        </p:nvSpPr>
        <p:spPr bwMode="auto">
          <a:xfrm>
            <a:off x="6011863" y="3263900"/>
            <a:ext cx="220662" cy="32861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Q</a:t>
            </a:r>
          </a:p>
        </p:txBody>
      </p:sp>
      <p:sp>
        <p:nvSpPr>
          <p:cNvPr id="774195" name="Line 51"/>
          <p:cNvSpPr>
            <a:spLocks noChangeShapeType="1"/>
          </p:cNvSpPr>
          <p:nvPr/>
        </p:nvSpPr>
        <p:spPr bwMode="auto">
          <a:xfrm>
            <a:off x="6372225" y="3608388"/>
            <a:ext cx="360363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4196" name="Line 52"/>
          <p:cNvSpPr>
            <a:spLocks noChangeShapeType="1"/>
          </p:cNvSpPr>
          <p:nvPr/>
        </p:nvSpPr>
        <p:spPr bwMode="auto">
          <a:xfrm rot="-5400000">
            <a:off x="6552406" y="3428207"/>
            <a:ext cx="3603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4197" name="Line 53"/>
          <p:cNvSpPr>
            <a:spLocks noChangeShapeType="1"/>
          </p:cNvSpPr>
          <p:nvPr/>
        </p:nvSpPr>
        <p:spPr bwMode="auto">
          <a:xfrm>
            <a:off x="6732588" y="3249613"/>
            <a:ext cx="360362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4198" name="Line 54"/>
          <p:cNvSpPr>
            <a:spLocks noChangeShapeType="1"/>
          </p:cNvSpPr>
          <p:nvPr/>
        </p:nvSpPr>
        <p:spPr bwMode="auto">
          <a:xfrm rot="-5400000">
            <a:off x="7271543" y="3428207"/>
            <a:ext cx="3603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4199" name="Line 55"/>
          <p:cNvSpPr>
            <a:spLocks noChangeShapeType="1"/>
          </p:cNvSpPr>
          <p:nvPr/>
        </p:nvSpPr>
        <p:spPr bwMode="auto">
          <a:xfrm>
            <a:off x="7451725" y="3608388"/>
            <a:ext cx="720725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4200" name="Line 56"/>
          <p:cNvSpPr>
            <a:spLocks noChangeShapeType="1"/>
          </p:cNvSpPr>
          <p:nvPr/>
        </p:nvSpPr>
        <p:spPr bwMode="auto">
          <a:xfrm rot="-5400000">
            <a:off x="7992268" y="3428207"/>
            <a:ext cx="3603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4201" name="Line 57"/>
          <p:cNvSpPr>
            <a:spLocks noChangeShapeType="1"/>
          </p:cNvSpPr>
          <p:nvPr/>
        </p:nvSpPr>
        <p:spPr bwMode="auto">
          <a:xfrm>
            <a:off x="8172450" y="3249613"/>
            <a:ext cx="719138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4202" name="Line 58"/>
          <p:cNvSpPr>
            <a:spLocks noChangeShapeType="1"/>
          </p:cNvSpPr>
          <p:nvPr/>
        </p:nvSpPr>
        <p:spPr bwMode="auto">
          <a:xfrm flipV="1">
            <a:off x="6372225" y="1808163"/>
            <a:ext cx="0" cy="2160587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ysDot"/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4203" name="Rectangle 59"/>
          <p:cNvSpPr>
            <a:spLocks noChangeArrowheads="1"/>
          </p:cNvSpPr>
          <p:nvPr/>
        </p:nvSpPr>
        <p:spPr bwMode="auto">
          <a:xfrm>
            <a:off x="6311900" y="3968750"/>
            <a:ext cx="84138" cy="32861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t</a:t>
            </a:r>
          </a:p>
        </p:txBody>
      </p:sp>
      <p:sp>
        <p:nvSpPr>
          <p:cNvPr id="774204" name="Line 60"/>
          <p:cNvSpPr>
            <a:spLocks noChangeShapeType="1"/>
          </p:cNvSpPr>
          <p:nvPr/>
        </p:nvSpPr>
        <p:spPr bwMode="auto">
          <a:xfrm>
            <a:off x="7092950" y="3249613"/>
            <a:ext cx="360363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4205" name="Line 61"/>
          <p:cNvSpPr>
            <a:spLocks noChangeShapeType="1"/>
          </p:cNvSpPr>
          <p:nvPr/>
        </p:nvSpPr>
        <p:spPr bwMode="auto">
          <a:xfrm flipV="1">
            <a:off x="6732588" y="2168525"/>
            <a:ext cx="0" cy="1800225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4206" name="Line 62"/>
          <p:cNvSpPr>
            <a:spLocks noChangeShapeType="1"/>
          </p:cNvSpPr>
          <p:nvPr/>
        </p:nvSpPr>
        <p:spPr bwMode="auto">
          <a:xfrm flipV="1">
            <a:off x="7092950" y="2168525"/>
            <a:ext cx="0" cy="1800225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4207" name="Line 63"/>
          <p:cNvSpPr>
            <a:spLocks noChangeShapeType="1"/>
          </p:cNvSpPr>
          <p:nvPr/>
        </p:nvSpPr>
        <p:spPr bwMode="auto">
          <a:xfrm flipV="1">
            <a:off x="7453313" y="2168525"/>
            <a:ext cx="0" cy="1800225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4208" name="Line 64"/>
          <p:cNvSpPr>
            <a:spLocks noChangeShapeType="1"/>
          </p:cNvSpPr>
          <p:nvPr/>
        </p:nvSpPr>
        <p:spPr bwMode="auto">
          <a:xfrm flipV="1">
            <a:off x="7813675" y="2168525"/>
            <a:ext cx="0" cy="1800225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4209" name="Line 65"/>
          <p:cNvSpPr>
            <a:spLocks noChangeShapeType="1"/>
          </p:cNvSpPr>
          <p:nvPr/>
        </p:nvSpPr>
        <p:spPr bwMode="auto">
          <a:xfrm flipV="1">
            <a:off x="8174038" y="2168525"/>
            <a:ext cx="0" cy="1800225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4210" name="Line 66"/>
          <p:cNvSpPr>
            <a:spLocks noChangeShapeType="1"/>
          </p:cNvSpPr>
          <p:nvPr/>
        </p:nvSpPr>
        <p:spPr bwMode="auto">
          <a:xfrm flipV="1">
            <a:off x="8534400" y="2168525"/>
            <a:ext cx="0" cy="1800225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4211" name="Line 67"/>
          <p:cNvSpPr>
            <a:spLocks noChangeShapeType="1"/>
          </p:cNvSpPr>
          <p:nvPr/>
        </p:nvSpPr>
        <p:spPr bwMode="auto">
          <a:xfrm>
            <a:off x="6732588" y="3889375"/>
            <a:ext cx="360362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4212" name="Line 68"/>
          <p:cNvSpPr>
            <a:spLocks noChangeShapeType="1"/>
          </p:cNvSpPr>
          <p:nvPr/>
        </p:nvSpPr>
        <p:spPr bwMode="auto">
          <a:xfrm>
            <a:off x="7451725" y="3889375"/>
            <a:ext cx="360363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4213" name="Line 69"/>
          <p:cNvSpPr>
            <a:spLocks noChangeShapeType="1"/>
          </p:cNvSpPr>
          <p:nvPr/>
        </p:nvSpPr>
        <p:spPr bwMode="auto">
          <a:xfrm>
            <a:off x="8170863" y="3889375"/>
            <a:ext cx="360362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4214" name="AutoShape 70"/>
          <p:cNvSpPr>
            <a:spLocks noChangeArrowheads="1"/>
          </p:cNvSpPr>
          <p:nvPr/>
        </p:nvSpPr>
        <p:spPr bwMode="auto">
          <a:xfrm>
            <a:off x="6732588" y="4508500"/>
            <a:ext cx="1800225" cy="766763"/>
          </a:xfrm>
          <a:prstGeom prst="roundRect">
            <a:avLst>
              <a:gd name="adj" fmla="val 16667"/>
            </a:avLst>
          </a:prstGeom>
          <a:noFill/>
          <a:ln w="38100" algn="ctr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sz="2400" b="1" i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Output may change</a:t>
            </a:r>
          </a:p>
        </p:txBody>
      </p:sp>
      <p:sp>
        <p:nvSpPr>
          <p:cNvPr id="774215" name="Freeform 71"/>
          <p:cNvSpPr>
            <a:spLocks/>
          </p:cNvSpPr>
          <p:nvPr/>
        </p:nvSpPr>
        <p:spPr bwMode="auto">
          <a:xfrm>
            <a:off x="6889750" y="3968750"/>
            <a:ext cx="314325" cy="468313"/>
          </a:xfrm>
          <a:custGeom>
            <a:avLst/>
            <a:gdLst/>
            <a:ahLst/>
            <a:cxnLst>
              <a:cxn ang="0">
                <a:pos x="198" y="295"/>
              </a:cxn>
              <a:cxn ang="0">
                <a:pos x="31" y="169"/>
              </a:cxn>
              <a:cxn ang="0">
                <a:pos x="14" y="0"/>
              </a:cxn>
            </a:cxnLst>
            <a:rect l="0" t="0" r="r" b="b"/>
            <a:pathLst>
              <a:path w="198" h="295">
                <a:moveTo>
                  <a:pt x="198" y="295"/>
                </a:moveTo>
                <a:cubicBezTo>
                  <a:pt x="170" y="274"/>
                  <a:pt x="62" y="218"/>
                  <a:pt x="31" y="169"/>
                </a:cubicBezTo>
                <a:cubicBezTo>
                  <a:pt x="0" y="120"/>
                  <a:pt x="18" y="35"/>
                  <a:pt x="14" y="0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4216" name="Freeform 72"/>
          <p:cNvSpPr>
            <a:spLocks/>
          </p:cNvSpPr>
          <p:nvPr/>
        </p:nvSpPr>
        <p:spPr bwMode="auto">
          <a:xfrm flipH="1">
            <a:off x="8064500" y="3968750"/>
            <a:ext cx="314325" cy="468313"/>
          </a:xfrm>
          <a:custGeom>
            <a:avLst/>
            <a:gdLst/>
            <a:ahLst/>
            <a:cxnLst>
              <a:cxn ang="0">
                <a:pos x="198" y="295"/>
              </a:cxn>
              <a:cxn ang="0">
                <a:pos x="31" y="169"/>
              </a:cxn>
              <a:cxn ang="0">
                <a:pos x="14" y="0"/>
              </a:cxn>
            </a:cxnLst>
            <a:rect l="0" t="0" r="r" b="b"/>
            <a:pathLst>
              <a:path w="198" h="295">
                <a:moveTo>
                  <a:pt x="198" y="295"/>
                </a:moveTo>
                <a:cubicBezTo>
                  <a:pt x="170" y="274"/>
                  <a:pt x="62" y="218"/>
                  <a:pt x="31" y="169"/>
                </a:cubicBezTo>
                <a:cubicBezTo>
                  <a:pt x="0" y="120"/>
                  <a:pt x="18" y="35"/>
                  <a:pt x="14" y="0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4217" name="Line 73"/>
          <p:cNvSpPr>
            <a:spLocks noChangeShapeType="1"/>
          </p:cNvSpPr>
          <p:nvPr/>
        </p:nvSpPr>
        <p:spPr bwMode="auto">
          <a:xfrm flipV="1">
            <a:off x="7632700" y="3968750"/>
            <a:ext cx="0" cy="482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58" name="Content Placeholder 57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AU" dirty="0" smtClean="0"/>
              <a:t>D Latch (D = Data)</a:t>
            </a:r>
          </a:p>
          <a:p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74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74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74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74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74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74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74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74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774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774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500"/>
                            </p:stCondLst>
                            <p:childTnLst>
                              <p:par>
                                <p:cTn id="4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774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74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774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774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500"/>
                            </p:stCondLst>
                            <p:childTnLst>
                              <p:par>
                                <p:cTn id="6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774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60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774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500"/>
                            </p:stCondLst>
                            <p:childTnLst>
                              <p:par>
                                <p:cTn id="7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774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70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774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774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774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00"/>
                            </p:stCondLst>
                            <p:childTnLst>
                              <p:par>
                                <p:cTn id="8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774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500"/>
                            </p:stCondLst>
                            <p:childTnLst>
                              <p:par>
                                <p:cTn id="9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774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000"/>
                            </p:stCondLst>
                            <p:childTnLst>
                              <p:par>
                                <p:cTn id="9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774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2500"/>
                            </p:stCondLst>
                            <p:childTnLst>
                              <p:par>
                                <p:cTn id="9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774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3000"/>
                            </p:stCondLst>
                            <p:childTnLst>
                              <p:par>
                                <p:cTn id="10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774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3500"/>
                            </p:stCondLst>
                            <p:childTnLst>
                              <p:par>
                                <p:cTn id="10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774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4000"/>
                            </p:stCondLst>
                            <p:childTnLst>
                              <p:par>
                                <p:cTn id="1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774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4500"/>
                            </p:stCondLst>
                            <p:childTnLst>
                              <p:par>
                                <p:cTn id="1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774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0"/>
                            </p:stCondLst>
                            <p:childTnLst>
                              <p:par>
                                <p:cTn id="1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774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774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0.00024 L 0.03941 0.00024 " pathEditMode="relative" rAng="0" ptsTypes="AA">
                                      <p:cBhvr>
                                        <p:cTn id="133" dur="2000" fill="hold"/>
                                        <p:tgtEl>
                                          <p:spTgt spid="7742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" y="0"/>
                                    </p:animMotion>
                                  </p:childTnLst>
                                </p:cTn>
                              </p:par>
                              <p:par>
                                <p:cTn id="134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09 0.00254 L 0.04149 0.00254 " pathEditMode="relative" rAng="0" ptsTypes="AA">
                                      <p:cBhvr>
                                        <p:cTn id="135" dur="2000" fill="hold"/>
                                        <p:tgtEl>
                                          <p:spTgt spid="7742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" y="0"/>
                                    </p:animMotion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2000"/>
                                        <p:tgtEl>
                                          <p:spTgt spid="774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63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941 0.00024 L 0.07882 0.00024 " pathEditMode="relative" rAng="0" ptsTypes="AA">
                                      <p:cBhvr>
                                        <p:cTn id="142" dur="2000" fill="hold"/>
                                        <p:tgtEl>
                                          <p:spTgt spid="7742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" y="0"/>
                                    </p:animMotion>
                                  </p:childTnLst>
                                </p:cTn>
                              </p:par>
                              <p:par>
                                <p:cTn id="143" presetID="63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49 0.00254 L 0.0809 0.00254 " pathEditMode="relative" rAng="0" ptsTypes="AA">
                                      <p:cBhvr>
                                        <p:cTn id="144" dur="2000" fill="hold"/>
                                        <p:tgtEl>
                                          <p:spTgt spid="7742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" y="0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2000"/>
                                        <p:tgtEl>
                                          <p:spTgt spid="774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63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882 0.00024 L 0.11806 0.00024 " pathEditMode="relative" rAng="0" ptsTypes="AA">
                                      <p:cBhvr>
                                        <p:cTn id="153" dur="2000" fill="hold"/>
                                        <p:tgtEl>
                                          <p:spTgt spid="7742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" y="0"/>
                                    </p:animMotion>
                                  </p:childTnLst>
                                </p:cTn>
                              </p:par>
                              <p:par>
                                <p:cTn id="154" presetID="63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09 0.00254 L 0.12014 0.00254 " pathEditMode="relative" rAng="0" ptsTypes="AA">
                                      <p:cBhvr>
                                        <p:cTn id="155" dur="2000" fill="hold"/>
                                        <p:tgtEl>
                                          <p:spTgt spid="7742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" y="0"/>
                                    </p:animMotion>
                                  </p:childTnLst>
                                </p:cTn>
                              </p:par>
                              <p:par>
                                <p:cTn id="1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2000"/>
                                        <p:tgtEl>
                                          <p:spTgt spid="774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63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806 0.00024 L 0.19688 0.00024 " pathEditMode="relative" rAng="0" ptsTypes="AA">
                                      <p:cBhvr>
                                        <p:cTn id="162" dur="2000" fill="hold"/>
                                        <p:tgtEl>
                                          <p:spTgt spid="7742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0"/>
                                    </p:animMotion>
                                  </p:childTnLst>
                                </p:cTn>
                              </p:par>
                              <p:par>
                                <p:cTn id="163" presetID="63" presetClass="pat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014 0.00254 L 0.19896 0.00254 " pathEditMode="relative" rAng="0" ptsTypes="AA">
                                      <p:cBhvr>
                                        <p:cTn id="164" dur="2000" fill="hold"/>
                                        <p:tgtEl>
                                          <p:spTgt spid="7742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0"/>
                                    </p:animMotion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2000"/>
                                        <p:tgtEl>
                                          <p:spTgt spid="774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63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688 0.00024 L 0.2757 0.00024 " pathEditMode="relative" rAng="0" ptsTypes="AA">
                                      <p:cBhvr>
                                        <p:cTn id="173" dur="2000" fill="hold"/>
                                        <p:tgtEl>
                                          <p:spTgt spid="7742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0"/>
                                    </p:animMotion>
                                  </p:childTnLst>
                                </p:cTn>
                              </p:par>
                              <p:par>
                                <p:cTn id="174" presetID="63" presetClass="pat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896 0.00254 L 0.27778 0.00254 " pathEditMode="relative" rAng="0" ptsTypes="AA">
                                      <p:cBhvr>
                                        <p:cTn id="175" dur="2000" fill="hold"/>
                                        <p:tgtEl>
                                          <p:spTgt spid="7742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0"/>
                                    </p:animMotion>
                                  </p:childTnLst>
                                </p:cTn>
                              </p:par>
                              <p:par>
                                <p:cTn id="1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2000"/>
                                        <p:tgtEl>
                                          <p:spTgt spid="774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5" dur="500"/>
                                        <p:tgtEl>
                                          <p:spTgt spid="774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500"/>
                            </p:stCondLst>
                            <p:childTnLst>
                              <p:par>
                                <p:cTn id="18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9" dur="500"/>
                                        <p:tgtEl>
                                          <p:spTgt spid="774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1000"/>
                            </p:stCondLst>
                            <p:childTnLst>
                              <p:par>
                                <p:cTn id="19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3" dur="500"/>
                                        <p:tgtEl>
                                          <p:spTgt spid="774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1500"/>
                            </p:stCondLst>
                            <p:childTnLst>
                              <p:par>
                                <p:cTn id="19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7" dur="500"/>
                                        <p:tgtEl>
                                          <p:spTgt spid="774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1" dur="500"/>
                                        <p:tgtEl>
                                          <p:spTgt spid="774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2500"/>
                            </p:stCondLst>
                            <p:childTnLst>
                              <p:par>
                                <p:cTn id="20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5" dur="500"/>
                                        <p:tgtEl>
                                          <p:spTgt spid="774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3000"/>
                            </p:stCondLst>
                            <p:childTnLst>
                              <p:par>
                                <p:cTn id="20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3000"/>
                            </p:stCondLst>
                            <p:childTnLst>
                              <p:par>
                                <p:cTn id="2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3000"/>
                            </p:stCondLst>
                            <p:childTnLst>
                              <p:par>
                                <p:cTn id="2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3000"/>
                            </p:stCondLst>
                            <p:childTnLst>
                              <p:par>
                                <p:cTn id="2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8" dur="500"/>
                                        <p:tgtEl>
                                          <p:spTgt spid="774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1" dur="500"/>
                                        <p:tgtEl>
                                          <p:spTgt spid="774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4" dur="500"/>
                                        <p:tgtEl>
                                          <p:spTgt spid="774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8" dur="500"/>
                                        <p:tgtEl>
                                          <p:spTgt spid="774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4167" grpId="0"/>
      <p:bldP spid="774169" grpId="0" animBg="1"/>
      <p:bldP spid="774170" grpId="0" animBg="1"/>
      <p:bldP spid="774171" grpId="0" animBg="1"/>
      <p:bldP spid="774172" grpId="0" animBg="1"/>
      <p:bldP spid="774173" grpId="0" animBg="1"/>
      <p:bldP spid="774174" grpId="0" animBg="1"/>
      <p:bldP spid="774175" grpId="0" animBg="1"/>
      <p:bldP spid="774176" grpId="0" animBg="1"/>
      <p:bldP spid="774177" grpId="0" animBg="1"/>
      <p:bldP spid="774178" grpId="0" animBg="1"/>
      <p:bldP spid="774179" grpId="0" animBg="1"/>
      <p:bldP spid="774180" grpId="0" animBg="1"/>
      <p:bldP spid="774181" grpId="0" animBg="1"/>
      <p:bldP spid="774182" grpId="0"/>
      <p:bldP spid="774183" grpId="0"/>
      <p:bldP spid="774184" grpId="0"/>
      <p:bldP spid="774185" grpId="0" animBg="1"/>
      <p:bldP spid="774186" grpId="0" animBg="1"/>
      <p:bldP spid="774187" grpId="0" animBg="1"/>
      <p:bldP spid="774188" grpId="0" animBg="1"/>
      <p:bldP spid="774189" grpId="0" animBg="1"/>
      <p:bldP spid="774190" grpId="0" animBg="1"/>
      <p:bldP spid="774191" grpId="0" animBg="1"/>
      <p:bldP spid="774192" grpId="0" animBg="1"/>
      <p:bldP spid="774193" grpId="0" animBg="1"/>
      <p:bldP spid="774194" grpId="0"/>
      <p:bldP spid="774195" grpId="0" animBg="1"/>
      <p:bldP spid="774196" grpId="0" animBg="1"/>
      <p:bldP spid="774197" grpId="0" animBg="1"/>
      <p:bldP spid="774198" grpId="0" animBg="1"/>
      <p:bldP spid="774199" grpId="0" animBg="1"/>
      <p:bldP spid="774200" grpId="0" animBg="1"/>
      <p:bldP spid="774201" grpId="0" animBg="1"/>
      <p:bldP spid="774202" grpId="0" animBg="1"/>
      <p:bldP spid="774202" grpId="1" animBg="1"/>
      <p:bldP spid="774202" grpId="2" animBg="1"/>
      <p:bldP spid="774202" grpId="3" animBg="1"/>
      <p:bldP spid="774202" grpId="4" animBg="1"/>
      <p:bldP spid="774202" grpId="5" animBg="1"/>
      <p:bldP spid="774203" grpId="0"/>
      <p:bldP spid="774203" grpId="1"/>
      <p:bldP spid="774203" grpId="2"/>
      <p:bldP spid="774203" grpId="3"/>
      <p:bldP spid="774203" grpId="4"/>
      <p:bldP spid="774203" grpId="5"/>
      <p:bldP spid="774204" grpId="0" animBg="1"/>
      <p:bldP spid="774205" grpId="0" animBg="1"/>
      <p:bldP spid="774206" grpId="0" animBg="1"/>
      <p:bldP spid="774207" grpId="0" animBg="1"/>
      <p:bldP spid="774208" grpId="0" animBg="1"/>
      <p:bldP spid="774209" grpId="0" animBg="1"/>
      <p:bldP spid="774210" grpId="0" animBg="1"/>
      <p:bldP spid="774211" grpId="0" animBg="1"/>
      <p:bldP spid="774212" grpId="0" animBg="1"/>
      <p:bldP spid="774213" grpId="0" animBg="1"/>
      <p:bldP spid="774214" grpId="0" animBg="1"/>
      <p:bldP spid="774215" grpId="0" animBg="1"/>
      <p:bldP spid="774216" grpId="0" animBg="1"/>
      <p:bldP spid="77421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Controlled Latches</a:t>
            </a:r>
          </a:p>
        </p:txBody>
      </p:sp>
      <p:graphicFrame>
        <p:nvGraphicFramePr>
          <p:cNvPr id="776196" name="Group 4"/>
          <p:cNvGraphicFramePr>
            <a:graphicFrameLocks noGrp="1"/>
          </p:cNvGraphicFramePr>
          <p:nvPr/>
        </p:nvGraphicFramePr>
        <p:xfrm>
          <a:off x="1873250" y="4291013"/>
          <a:ext cx="2159000" cy="1727200"/>
        </p:xfrm>
        <a:graphic>
          <a:graphicData uri="http://schemas.openxmlformats.org/drawingml/2006/table">
            <a:tbl>
              <a:tblPr/>
              <a:tblGrid>
                <a:gridCol w="1260475"/>
                <a:gridCol w="898525"/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  D</a:t>
                      </a:r>
                      <a:endParaRPr kumimoji="0" lang="en-US" sz="2400" b="1" i="1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endParaRPr kumimoji="0" lang="en-US" sz="2400" b="1" i="1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x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r>
                        <a:rPr kumimoji="0" lang="en-US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76215" name="Rectangle 23"/>
          <p:cNvSpPr>
            <a:spLocks noChangeArrowheads="1"/>
          </p:cNvSpPr>
          <p:nvPr/>
        </p:nvSpPr>
        <p:spPr bwMode="auto">
          <a:xfrm>
            <a:off x="4032250" y="4689475"/>
            <a:ext cx="1620838" cy="13144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sz="2400" b="1">
                <a:latin typeface="Times New Roman" pitchFamily="18" charset="0"/>
                <a:cs typeface="Times New Roman" pitchFamily="18" charset="0"/>
              </a:rPr>
              <a:t>No change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Reset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sz="2400" b="1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Set</a:t>
            </a:r>
          </a:p>
        </p:txBody>
      </p:sp>
      <p:sp>
        <p:nvSpPr>
          <p:cNvPr id="776216" name="Line 24"/>
          <p:cNvSpPr>
            <a:spLocks noChangeShapeType="1"/>
          </p:cNvSpPr>
          <p:nvPr/>
        </p:nvSpPr>
        <p:spPr bwMode="auto">
          <a:xfrm>
            <a:off x="6372225" y="2168525"/>
            <a:ext cx="360363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6217" name="Line 25"/>
          <p:cNvSpPr>
            <a:spLocks noChangeShapeType="1"/>
          </p:cNvSpPr>
          <p:nvPr/>
        </p:nvSpPr>
        <p:spPr bwMode="auto">
          <a:xfrm rot="-5400000">
            <a:off x="6552407" y="1988344"/>
            <a:ext cx="3603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6218" name="Line 26"/>
          <p:cNvSpPr>
            <a:spLocks noChangeShapeType="1"/>
          </p:cNvSpPr>
          <p:nvPr/>
        </p:nvSpPr>
        <p:spPr bwMode="auto">
          <a:xfrm>
            <a:off x="6732588" y="1808163"/>
            <a:ext cx="1439862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6219" name="Line 27"/>
          <p:cNvSpPr>
            <a:spLocks noChangeShapeType="1"/>
          </p:cNvSpPr>
          <p:nvPr/>
        </p:nvSpPr>
        <p:spPr bwMode="auto">
          <a:xfrm rot="-5400000">
            <a:off x="7992269" y="1988344"/>
            <a:ext cx="3603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6220" name="Line 28"/>
          <p:cNvSpPr>
            <a:spLocks noChangeShapeType="1"/>
          </p:cNvSpPr>
          <p:nvPr/>
        </p:nvSpPr>
        <p:spPr bwMode="auto">
          <a:xfrm>
            <a:off x="8172450" y="2168525"/>
            <a:ext cx="360363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6221" name="Rectangle 29"/>
          <p:cNvSpPr>
            <a:spLocks noChangeArrowheads="1"/>
          </p:cNvSpPr>
          <p:nvPr/>
        </p:nvSpPr>
        <p:spPr bwMode="auto">
          <a:xfrm>
            <a:off x="6011863" y="1808163"/>
            <a:ext cx="203200" cy="32861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776222" name="Rectangle 30"/>
          <p:cNvSpPr>
            <a:spLocks noChangeArrowheads="1"/>
          </p:cNvSpPr>
          <p:nvPr/>
        </p:nvSpPr>
        <p:spPr bwMode="auto">
          <a:xfrm>
            <a:off x="6372225" y="1268413"/>
            <a:ext cx="2339975" cy="32861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Timing Diagram</a:t>
            </a:r>
          </a:p>
        </p:txBody>
      </p:sp>
      <p:sp>
        <p:nvSpPr>
          <p:cNvPr id="776223" name="Rectangle 31"/>
          <p:cNvSpPr>
            <a:spLocks noChangeArrowheads="1"/>
          </p:cNvSpPr>
          <p:nvPr/>
        </p:nvSpPr>
        <p:spPr bwMode="auto">
          <a:xfrm>
            <a:off x="6011863" y="2528888"/>
            <a:ext cx="220662" cy="32861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776224" name="Line 32"/>
          <p:cNvSpPr>
            <a:spLocks noChangeShapeType="1"/>
          </p:cNvSpPr>
          <p:nvPr/>
        </p:nvSpPr>
        <p:spPr bwMode="auto">
          <a:xfrm>
            <a:off x="6372225" y="2889250"/>
            <a:ext cx="179388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6225" name="Line 33"/>
          <p:cNvSpPr>
            <a:spLocks noChangeShapeType="1"/>
          </p:cNvSpPr>
          <p:nvPr/>
        </p:nvSpPr>
        <p:spPr bwMode="auto">
          <a:xfrm rot="-5400000">
            <a:off x="6371432" y="2709069"/>
            <a:ext cx="3603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6226" name="Line 34"/>
          <p:cNvSpPr>
            <a:spLocks noChangeShapeType="1"/>
          </p:cNvSpPr>
          <p:nvPr/>
        </p:nvSpPr>
        <p:spPr bwMode="auto">
          <a:xfrm>
            <a:off x="6551613" y="2528888"/>
            <a:ext cx="720725" cy="0"/>
          </a:xfrm>
          <a:prstGeom prst="line">
            <a:avLst/>
          </a:prstGeom>
          <a:noFill/>
          <a:ln w="38100">
            <a:solidFill>
              <a:srgbClr val="D60093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6227" name="Line 35"/>
          <p:cNvSpPr>
            <a:spLocks noChangeShapeType="1"/>
          </p:cNvSpPr>
          <p:nvPr/>
        </p:nvSpPr>
        <p:spPr bwMode="auto">
          <a:xfrm rot="-5400000">
            <a:off x="7092157" y="2709069"/>
            <a:ext cx="3603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6228" name="Line 36"/>
          <p:cNvSpPr>
            <a:spLocks noChangeShapeType="1"/>
          </p:cNvSpPr>
          <p:nvPr/>
        </p:nvSpPr>
        <p:spPr bwMode="auto">
          <a:xfrm>
            <a:off x="7272338" y="2889250"/>
            <a:ext cx="720725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6229" name="Line 37"/>
          <p:cNvSpPr>
            <a:spLocks noChangeShapeType="1"/>
          </p:cNvSpPr>
          <p:nvPr/>
        </p:nvSpPr>
        <p:spPr bwMode="auto">
          <a:xfrm rot="-5400000">
            <a:off x="7812882" y="2709069"/>
            <a:ext cx="3603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6230" name="Line 38"/>
          <p:cNvSpPr>
            <a:spLocks noChangeShapeType="1"/>
          </p:cNvSpPr>
          <p:nvPr/>
        </p:nvSpPr>
        <p:spPr bwMode="auto">
          <a:xfrm>
            <a:off x="7993063" y="2528888"/>
            <a:ext cx="358775" cy="0"/>
          </a:xfrm>
          <a:prstGeom prst="line">
            <a:avLst/>
          </a:prstGeom>
          <a:noFill/>
          <a:ln w="38100">
            <a:solidFill>
              <a:srgbClr val="D60093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6231" name="Rectangle 39"/>
          <p:cNvSpPr>
            <a:spLocks noChangeArrowheads="1"/>
          </p:cNvSpPr>
          <p:nvPr/>
        </p:nvSpPr>
        <p:spPr bwMode="auto">
          <a:xfrm>
            <a:off x="6011863" y="3263900"/>
            <a:ext cx="220662" cy="32861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Q</a:t>
            </a:r>
          </a:p>
        </p:txBody>
      </p:sp>
      <p:sp>
        <p:nvSpPr>
          <p:cNvPr id="776232" name="Line 40"/>
          <p:cNvSpPr>
            <a:spLocks noChangeShapeType="1"/>
          </p:cNvSpPr>
          <p:nvPr/>
        </p:nvSpPr>
        <p:spPr bwMode="auto">
          <a:xfrm>
            <a:off x="6372225" y="3608388"/>
            <a:ext cx="360363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6233" name="Line 41"/>
          <p:cNvSpPr>
            <a:spLocks noChangeShapeType="1"/>
          </p:cNvSpPr>
          <p:nvPr/>
        </p:nvSpPr>
        <p:spPr bwMode="auto">
          <a:xfrm rot="-5400000">
            <a:off x="6552406" y="3428207"/>
            <a:ext cx="3603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6234" name="Line 42"/>
          <p:cNvSpPr>
            <a:spLocks noChangeShapeType="1"/>
          </p:cNvSpPr>
          <p:nvPr/>
        </p:nvSpPr>
        <p:spPr bwMode="auto">
          <a:xfrm>
            <a:off x="6732588" y="3249613"/>
            <a:ext cx="539750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6235" name="Line 43"/>
          <p:cNvSpPr>
            <a:spLocks noChangeShapeType="1"/>
          </p:cNvSpPr>
          <p:nvPr/>
        </p:nvSpPr>
        <p:spPr bwMode="auto">
          <a:xfrm rot="-5400000">
            <a:off x="7092156" y="3437732"/>
            <a:ext cx="3603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6236" name="Line 44"/>
          <p:cNvSpPr>
            <a:spLocks noChangeShapeType="1"/>
          </p:cNvSpPr>
          <p:nvPr/>
        </p:nvSpPr>
        <p:spPr bwMode="auto">
          <a:xfrm>
            <a:off x="7272338" y="3608388"/>
            <a:ext cx="720725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6237" name="Line 45"/>
          <p:cNvSpPr>
            <a:spLocks noChangeShapeType="1"/>
          </p:cNvSpPr>
          <p:nvPr/>
        </p:nvSpPr>
        <p:spPr bwMode="auto">
          <a:xfrm rot="-5400000">
            <a:off x="7812881" y="3428207"/>
            <a:ext cx="3603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6238" name="Line 46"/>
          <p:cNvSpPr>
            <a:spLocks noChangeShapeType="1"/>
          </p:cNvSpPr>
          <p:nvPr/>
        </p:nvSpPr>
        <p:spPr bwMode="auto">
          <a:xfrm>
            <a:off x="7993063" y="3249613"/>
            <a:ext cx="539750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6239" name="Line 47"/>
          <p:cNvSpPr>
            <a:spLocks noChangeShapeType="1"/>
          </p:cNvSpPr>
          <p:nvPr/>
        </p:nvSpPr>
        <p:spPr bwMode="auto">
          <a:xfrm flipV="1">
            <a:off x="6732588" y="2168525"/>
            <a:ext cx="0" cy="1800225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6240" name="Line 48"/>
          <p:cNvSpPr>
            <a:spLocks noChangeShapeType="1"/>
          </p:cNvSpPr>
          <p:nvPr/>
        </p:nvSpPr>
        <p:spPr bwMode="auto">
          <a:xfrm flipV="1">
            <a:off x="7272338" y="2889250"/>
            <a:ext cx="0" cy="107950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6241" name="Line 49"/>
          <p:cNvSpPr>
            <a:spLocks noChangeShapeType="1"/>
          </p:cNvSpPr>
          <p:nvPr/>
        </p:nvSpPr>
        <p:spPr bwMode="auto">
          <a:xfrm flipV="1">
            <a:off x="7993063" y="2889250"/>
            <a:ext cx="0" cy="107950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6242" name="Line 50"/>
          <p:cNvSpPr>
            <a:spLocks noChangeShapeType="1"/>
          </p:cNvSpPr>
          <p:nvPr/>
        </p:nvSpPr>
        <p:spPr bwMode="auto">
          <a:xfrm flipV="1">
            <a:off x="8172450" y="2165350"/>
            <a:ext cx="0" cy="1800225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6243" name="Line 51"/>
          <p:cNvSpPr>
            <a:spLocks noChangeShapeType="1"/>
          </p:cNvSpPr>
          <p:nvPr/>
        </p:nvSpPr>
        <p:spPr bwMode="auto">
          <a:xfrm>
            <a:off x="6732588" y="4083050"/>
            <a:ext cx="1439862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 type="triangle" w="med" len="med"/>
            <a:tailEnd type="triangle" w="med" len="med"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6244" name="AutoShape 52"/>
          <p:cNvSpPr>
            <a:spLocks noChangeArrowheads="1"/>
          </p:cNvSpPr>
          <p:nvPr/>
        </p:nvSpPr>
        <p:spPr bwMode="auto">
          <a:xfrm>
            <a:off x="6580188" y="4329113"/>
            <a:ext cx="1800225" cy="766762"/>
          </a:xfrm>
          <a:prstGeom prst="roundRect">
            <a:avLst>
              <a:gd name="adj" fmla="val 16667"/>
            </a:avLst>
          </a:prstGeom>
          <a:noFill/>
          <a:ln w="38100" algn="ctr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sz="2400" b="1" i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Output may change</a:t>
            </a:r>
          </a:p>
        </p:txBody>
      </p:sp>
      <p:sp>
        <p:nvSpPr>
          <p:cNvPr id="776245" name="Line 53"/>
          <p:cNvSpPr>
            <a:spLocks noChangeShapeType="1"/>
          </p:cNvSpPr>
          <p:nvPr/>
        </p:nvSpPr>
        <p:spPr bwMode="auto">
          <a:xfrm rot="-5400000">
            <a:off x="8171657" y="2709069"/>
            <a:ext cx="3603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6246" name="Line 54"/>
          <p:cNvSpPr>
            <a:spLocks noChangeShapeType="1"/>
          </p:cNvSpPr>
          <p:nvPr/>
        </p:nvSpPr>
        <p:spPr bwMode="auto">
          <a:xfrm>
            <a:off x="8351838" y="2889250"/>
            <a:ext cx="179387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graphicFrame>
        <p:nvGraphicFramePr>
          <p:cNvPr id="776248" name="Object 56"/>
          <p:cNvGraphicFramePr>
            <a:graphicFrameLocks noChangeAspect="1"/>
          </p:cNvGraphicFramePr>
          <p:nvPr/>
        </p:nvGraphicFramePr>
        <p:xfrm>
          <a:off x="695325" y="1760538"/>
          <a:ext cx="4694238" cy="202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902" name="Visio" r:id="rId4" imgW="2343546" imgH="1013155" progId="">
                  <p:embed/>
                </p:oleObj>
              </mc:Choice>
              <mc:Fallback>
                <p:oleObj name="Visio" r:id="rId4" imgW="2343546" imgH="1013155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325" y="1760538"/>
                        <a:ext cx="4694238" cy="202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Content Placeholder 39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AU" dirty="0" smtClean="0"/>
              <a:t>D Latch (D = Data)</a:t>
            </a:r>
          </a:p>
          <a:p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76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76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76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76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76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76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76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76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76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76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0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776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776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776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776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500"/>
                            </p:stCondLst>
                            <p:childTnLst>
                              <p:par>
                                <p:cTn id="7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776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000"/>
                            </p:stCondLst>
                            <p:childTnLst>
                              <p:par>
                                <p:cTn id="8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000"/>
                            </p:stCondLst>
                            <p:childTnLst>
                              <p:par>
                                <p:cTn id="8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776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776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776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000"/>
                            </p:stCondLst>
                            <p:childTnLst>
                              <p:par>
                                <p:cTn id="10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000"/>
                            </p:stCondLst>
                            <p:childTnLst>
                              <p:par>
                                <p:cTn id="10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776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500"/>
                            </p:stCondLst>
                            <p:childTnLst>
                              <p:par>
                                <p:cTn id="10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776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6216" grpId="0" animBg="1"/>
      <p:bldP spid="776217" grpId="0" animBg="1"/>
      <p:bldP spid="776218" grpId="0" animBg="1"/>
      <p:bldP spid="776219" grpId="0" animBg="1"/>
      <p:bldP spid="776220" grpId="0" animBg="1"/>
      <p:bldP spid="776221" grpId="0"/>
      <p:bldP spid="776223" grpId="0"/>
      <p:bldP spid="776224" grpId="0" animBg="1"/>
      <p:bldP spid="776225" grpId="0" animBg="1"/>
      <p:bldP spid="776226" grpId="0" animBg="1"/>
      <p:bldP spid="776227" grpId="0" animBg="1"/>
      <p:bldP spid="776228" grpId="0" animBg="1"/>
      <p:bldP spid="776229" grpId="0" animBg="1"/>
      <p:bldP spid="776230" grpId="0" animBg="1"/>
      <p:bldP spid="776231" grpId="0"/>
      <p:bldP spid="776232" grpId="0" animBg="1"/>
      <p:bldP spid="776233" grpId="0" animBg="1"/>
      <p:bldP spid="776234" grpId="0" animBg="1"/>
      <p:bldP spid="776235" grpId="0" animBg="1"/>
      <p:bldP spid="776236" grpId="0" animBg="1"/>
      <p:bldP spid="776237" grpId="0" animBg="1"/>
      <p:bldP spid="776238" grpId="0" animBg="1"/>
      <p:bldP spid="776239" grpId="0" animBg="1"/>
      <p:bldP spid="776240" grpId="0" animBg="1"/>
      <p:bldP spid="776241" grpId="0" animBg="1"/>
      <p:bldP spid="776242" grpId="0" animBg="1"/>
      <p:bldP spid="776243" grpId="0" animBg="1"/>
      <p:bldP spid="776244" grpId="0" animBg="1"/>
      <p:bldP spid="776245" grpId="0" animBg="1"/>
      <p:bldP spid="77624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Graphic symbols for latches</a:t>
            </a:r>
            <a:endParaRPr lang="en-AU" dirty="0"/>
          </a:p>
        </p:txBody>
      </p:sp>
      <p:pic>
        <p:nvPicPr>
          <p:cNvPr id="4" name="Picture 2" descr="C:\jobs\Marries\ch05\tiff\AACFLQB0.tif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687038"/>
            <a:ext cx="7696200" cy="269994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Level versus edge sensitivity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Since the output of the D latch is controlled by the level (0 or 1) of the clock input</a:t>
            </a:r>
            <a:r>
              <a:rPr lang="en-AU" smtClean="0"/>
              <a:t>, the latch </a:t>
            </a:r>
            <a:r>
              <a:rPr lang="en-AU" dirty="0" smtClean="0"/>
              <a:t>is said to be </a:t>
            </a:r>
            <a:r>
              <a:rPr lang="en-AU" b="1" i="1" dirty="0" smtClean="0"/>
              <a:t>level sensitive</a:t>
            </a:r>
          </a:p>
          <a:p>
            <a:pPr lvl="1"/>
            <a:r>
              <a:rPr lang="en-AU" dirty="0" smtClean="0"/>
              <a:t>All of the latches we have seen have been level sensitive</a:t>
            </a:r>
          </a:p>
          <a:p>
            <a:pPr lvl="1"/>
            <a:endParaRPr lang="en-AU" dirty="0" smtClean="0"/>
          </a:p>
          <a:p>
            <a:r>
              <a:rPr lang="en-AU" dirty="0" smtClean="0"/>
              <a:t>It is possible to design a storage element for which the output only changes at the point in time when the clock changes from one value to another</a:t>
            </a:r>
          </a:p>
          <a:p>
            <a:pPr lvl="1"/>
            <a:r>
              <a:rPr lang="en-AU" dirty="0" smtClean="0"/>
              <a:t>Such circuits are said to be </a:t>
            </a:r>
            <a:r>
              <a:rPr lang="en-AU" b="1" i="1" dirty="0" smtClean="0"/>
              <a:t>edge triggered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Content Placeholder 57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Controlled latches are </a:t>
            </a:r>
            <a:r>
              <a:rPr lang="en-US" dirty="0" smtClean="0">
                <a:solidFill>
                  <a:srgbClr val="D60093"/>
                </a:solidFill>
              </a:rPr>
              <a:t>level</a:t>
            </a:r>
            <a:r>
              <a:rPr lang="en-US" dirty="0" smtClean="0"/>
              <a:t>-triggered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Flip-Flops are </a:t>
            </a:r>
            <a:r>
              <a:rPr lang="en-US" dirty="0" smtClean="0">
                <a:solidFill>
                  <a:srgbClr val="D60093"/>
                </a:solidFill>
              </a:rPr>
              <a:t>edge</a:t>
            </a:r>
            <a:r>
              <a:rPr lang="en-US" dirty="0" smtClean="0"/>
              <a:t>-triggered</a:t>
            </a:r>
          </a:p>
          <a:p>
            <a:endParaRPr lang="en-AU" dirty="0"/>
          </a:p>
        </p:txBody>
      </p:sp>
      <p:sp>
        <p:nvSpPr>
          <p:cNvPr id="778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Flip-Flops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044700" y="2778125"/>
            <a:ext cx="2881313" cy="360363"/>
            <a:chOff x="1973" y="1479"/>
            <a:chExt cx="1815" cy="227"/>
          </a:xfrm>
        </p:grpSpPr>
        <p:sp>
          <p:nvSpPr>
            <p:cNvPr id="778245" name="Line 5"/>
            <p:cNvSpPr>
              <a:spLocks noChangeShapeType="1"/>
            </p:cNvSpPr>
            <p:nvPr/>
          </p:nvSpPr>
          <p:spPr bwMode="auto">
            <a:xfrm>
              <a:off x="2200" y="1706"/>
              <a:ext cx="22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78246" name="Line 6"/>
            <p:cNvSpPr>
              <a:spLocks noChangeShapeType="1"/>
            </p:cNvSpPr>
            <p:nvPr/>
          </p:nvSpPr>
          <p:spPr bwMode="auto">
            <a:xfrm rot="-5400000">
              <a:off x="2313" y="1593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78247" name="Line 7"/>
            <p:cNvSpPr>
              <a:spLocks noChangeShapeType="1"/>
            </p:cNvSpPr>
            <p:nvPr/>
          </p:nvSpPr>
          <p:spPr bwMode="auto">
            <a:xfrm>
              <a:off x="2427" y="1479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78248" name="Line 8"/>
            <p:cNvSpPr>
              <a:spLocks noChangeShapeType="1"/>
            </p:cNvSpPr>
            <p:nvPr/>
          </p:nvSpPr>
          <p:spPr bwMode="auto">
            <a:xfrm rot="-5400000">
              <a:off x="2540" y="1593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78249" name="Line 9"/>
            <p:cNvSpPr>
              <a:spLocks noChangeShapeType="1"/>
            </p:cNvSpPr>
            <p:nvPr/>
          </p:nvSpPr>
          <p:spPr bwMode="auto">
            <a:xfrm>
              <a:off x="2654" y="1706"/>
              <a:ext cx="22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78250" name="Line 10"/>
            <p:cNvSpPr>
              <a:spLocks noChangeShapeType="1"/>
            </p:cNvSpPr>
            <p:nvPr/>
          </p:nvSpPr>
          <p:spPr bwMode="auto">
            <a:xfrm rot="-5400000">
              <a:off x="2767" y="1593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78251" name="Line 11"/>
            <p:cNvSpPr>
              <a:spLocks noChangeShapeType="1"/>
            </p:cNvSpPr>
            <p:nvPr/>
          </p:nvSpPr>
          <p:spPr bwMode="auto">
            <a:xfrm>
              <a:off x="2881" y="1479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78252" name="Line 12"/>
            <p:cNvSpPr>
              <a:spLocks noChangeShapeType="1"/>
            </p:cNvSpPr>
            <p:nvPr/>
          </p:nvSpPr>
          <p:spPr bwMode="auto">
            <a:xfrm rot="-5400000">
              <a:off x="2994" y="1593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78253" name="Line 13"/>
            <p:cNvSpPr>
              <a:spLocks noChangeShapeType="1"/>
            </p:cNvSpPr>
            <p:nvPr/>
          </p:nvSpPr>
          <p:spPr bwMode="auto">
            <a:xfrm>
              <a:off x="3108" y="1706"/>
              <a:ext cx="22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78254" name="Line 14"/>
            <p:cNvSpPr>
              <a:spLocks noChangeShapeType="1"/>
            </p:cNvSpPr>
            <p:nvPr/>
          </p:nvSpPr>
          <p:spPr bwMode="auto">
            <a:xfrm rot="-5400000">
              <a:off x="3221" y="1593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78255" name="Line 15"/>
            <p:cNvSpPr>
              <a:spLocks noChangeShapeType="1"/>
            </p:cNvSpPr>
            <p:nvPr/>
          </p:nvSpPr>
          <p:spPr bwMode="auto">
            <a:xfrm>
              <a:off x="3335" y="1479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78256" name="Line 16"/>
            <p:cNvSpPr>
              <a:spLocks noChangeShapeType="1"/>
            </p:cNvSpPr>
            <p:nvPr/>
          </p:nvSpPr>
          <p:spPr bwMode="auto">
            <a:xfrm rot="-5400000">
              <a:off x="3448" y="1593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78257" name="Line 17"/>
            <p:cNvSpPr>
              <a:spLocks noChangeShapeType="1"/>
            </p:cNvSpPr>
            <p:nvPr/>
          </p:nvSpPr>
          <p:spPr bwMode="auto">
            <a:xfrm>
              <a:off x="3561" y="1706"/>
              <a:ext cx="22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78258" name="Rectangle 18"/>
            <p:cNvSpPr>
              <a:spLocks noChangeArrowheads="1"/>
            </p:cNvSpPr>
            <p:nvPr/>
          </p:nvSpPr>
          <p:spPr bwMode="auto">
            <a:xfrm>
              <a:off x="1973" y="1479"/>
              <a:ext cx="128" cy="207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C</a:t>
              </a:r>
            </a:p>
          </p:txBody>
        </p:sp>
      </p:grpSp>
      <p:sp>
        <p:nvSpPr>
          <p:cNvPr id="778259" name="Line 19"/>
          <p:cNvSpPr>
            <a:spLocks noChangeShapeType="1"/>
          </p:cNvSpPr>
          <p:nvPr/>
        </p:nvSpPr>
        <p:spPr bwMode="auto">
          <a:xfrm flipH="1">
            <a:off x="2946400" y="2238375"/>
            <a:ext cx="539750" cy="360363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8260" name="Line 20"/>
          <p:cNvSpPr>
            <a:spLocks noChangeShapeType="1"/>
          </p:cNvSpPr>
          <p:nvPr/>
        </p:nvSpPr>
        <p:spPr bwMode="auto">
          <a:xfrm>
            <a:off x="3486150" y="2238375"/>
            <a:ext cx="179388" cy="360363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8261" name="Line 21"/>
          <p:cNvSpPr>
            <a:spLocks noChangeShapeType="1"/>
          </p:cNvSpPr>
          <p:nvPr/>
        </p:nvSpPr>
        <p:spPr bwMode="auto">
          <a:xfrm>
            <a:off x="3486150" y="2238375"/>
            <a:ext cx="900113" cy="360363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78262" name="Line 22"/>
          <p:cNvSpPr>
            <a:spLocks noChangeShapeType="1"/>
          </p:cNvSpPr>
          <p:nvPr/>
        </p:nvSpPr>
        <p:spPr bwMode="auto">
          <a:xfrm>
            <a:off x="3227388" y="2152650"/>
            <a:ext cx="644525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grpSp>
        <p:nvGrpSpPr>
          <p:cNvPr id="3" name="Group 24"/>
          <p:cNvGrpSpPr>
            <a:grpSpLocks/>
          </p:cNvGrpSpPr>
          <p:nvPr/>
        </p:nvGrpSpPr>
        <p:grpSpPr bwMode="auto">
          <a:xfrm>
            <a:off x="1671638" y="4464050"/>
            <a:ext cx="5414962" cy="360363"/>
            <a:chOff x="1737" y="2500"/>
            <a:chExt cx="3411" cy="227"/>
          </a:xfrm>
        </p:grpSpPr>
        <p:sp>
          <p:nvSpPr>
            <p:cNvPr id="778265" name="Line 25"/>
            <p:cNvSpPr>
              <a:spLocks noChangeShapeType="1"/>
            </p:cNvSpPr>
            <p:nvPr/>
          </p:nvSpPr>
          <p:spPr bwMode="auto">
            <a:xfrm>
              <a:off x="2199" y="2727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78266" name="Line 26"/>
            <p:cNvSpPr>
              <a:spLocks noChangeShapeType="1"/>
            </p:cNvSpPr>
            <p:nvPr/>
          </p:nvSpPr>
          <p:spPr bwMode="auto">
            <a:xfrm rot="-5400000">
              <a:off x="2312" y="2614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78267" name="Line 27"/>
            <p:cNvSpPr>
              <a:spLocks noChangeShapeType="1"/>
            </p:cNvSpPr>
            <p:nvPr/>
          </p:nvSpPr>
          <p:spPr bwMode="auto">
            <a:xfrm>
              <a:off x="2426" y="2500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78268" name="Line 28"/>
            <p:cNvSpPr>
              <a:spLocks noChangeShapeType="1"/>
            </p:cNvSpPr>
            <p:nvPr/>
          </p:nvSpPr>
          <p:spPr bwMode="auto">
            <a:xfrm rot="-5400000">
              <a:off x="2539" y="2614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78269" name="Line 29"/>
            <p:cNvSpPr>
              <a:spLocks noChangeShapeType="1"/>
            </p:cNvSpPr>
            <p:nvPr/>
          </p:nvSpPr>
          <p:spPr bwMode="auto">
            <a:xfrm>
              <a:off x="2653" y="2727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78270" name="Line 30"/>
            <p:cNvSpPr>
              <a:spLocks noChangeShapeType="1"/>
            </p:cNvSpPr>
            <p:nvPr/>
          </p:nvSpPr>
          <p:spPr bwMode="auto">
            <a:xfrm rot="-5400000">
              <a:off x="2766" y="2614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78271" name="Line 31"/>
            <p:cNvSpPr>
              <a:spLocks noChangeShapeType="1"/>
            </p:cNvSpPr>
            <p:nvPr/>
          </p:nvSpPr>
          <p:spPr bwMode="auto">
            <a:xfrm>
              <a:off x="2880" y="2500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78272" name="Line 32"/>
            <p:cNvSpPr>
              <a:spLocks noChangeShapeType="1"/>
            </p:cNvSpPr>
            <p:nvPr/>
          </p:nvSpPr>
          <p:spPr bwMode="auto">
            <a:xfrm rot="-5400000">
              <a:off x="2993" y="2614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78273" name="Line 33"/>
            <p:cNvSpPr>
              <a:spLocks noChangeShapeType="1"/>
            </p:cNvSpPr>
            <p:nvPr/>
          </p:nvSpPr>
          <p:spPr bwMode="auto">
            <a:xfrm>
              <a:off x="3107" y="2727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78274" name="Line 34"/>
            <p:cNvSpPr>
              <a:spLocks noChangeShapeType="1"/>
            </p:cNvSpPr>
            <p:nvPr/>
          </p:nvSpPr>
          <p:spPr bwMode="auto">
            <a:xfrm rot="-5400000">
              <a:off x="3220" y="2614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78275" name="Line 35"/>
            <p:cNvSpPr>
              <a:spLocks noChangeShapeType="1"/>
            </p:cNvSpPr>
            <p:nvPr/>
          </p:nvSpPr>
          <p:spPr bwMode="auto">
            <a:xfrm>
              <a:off x="3334" y="2500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78276" name="Line 36"/>
            <p:cNvSpPr>
              <a:spLocks noChangeShapeType="1"/>
            </p:cNvSpPr>
            <p:nvPr/>
          </p:nvSpPr>
          <p:spPr bwMode="auto">
            <a:xfrm rot="-5400000">
              <a:off x="3447" y="2614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78277" name="Line 37"/>
            <p:cNvSpPr>
              <a:spLocks noChangeShapeType="1"/>
            </p:cNvSpPr>
            <p:nvPr/>
          </p:nvSpPr>
          <p:spPr bwMode="auto">
            <a:xfrm>
              <a:off x="3560" y="2727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78278" name="Rectangle 38"/>
            <p:cNvSpPr>
              <a:spLocks noChangeArrowheads="1"/>
            </p:cNvSpPr>
            <p:nvPr/>
          </p:nvSpPr>
          <p:spPr bwMode="auto">
            <a:xfrm>
              <a:off x="1737" y="2500"/>
              <a:ext cx="373" cy="207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CLK</a:t>
              </a:r>
            </a:p>
          </p:txBody>
        </p:sp>
        <p:sp>
          <p:nvSpPr>
            <p:cNvPr id="778279" name="Rectangle 39"/>
            <p:cNvSpPr>
              <a:spLocks noChangeArrowheads="1"/>
            </p:cNvSpPr>
            <p:nvPr/>
          </p:nvSpPr>
          <p:spPr bwMode="auto">
            <a:xfrm>
              <a:off x="4014" y="2500"/>
              <a:ext cx="1134" cy="207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Positive Edge</a:t>
              </a:r>
            </a:p>
          </p:txBody>
        </p:sp>
      </p:grpSp>
      <p:grpSp>
        <p:nvGrpSpPr>
          <p:cNvPr id="4" name="Group 40"/>
          <p:cNvGrpSpPr>
            <a:grpSpLocks/>
          </p:cNvGrpSpPr>
          <p:nvPr/>
        </p:nvGrpSpPr>
        <p:grpSpPr bwMode="auto">
          <a:xfrm>
            <a:off x="1671638" y="5364163"/>
            <a:ext cx="5424487" cy="360362"/>
            <a:chOff x="1737" y="3067"/>
            <a:chExt cx="3417" cy="227"/>
          </a:xfrm>
        </p:grpSpPr>
        <p:sp>
          <p:nvSpPr>
            <p:cNvPr id="778281" name="Line 41"/>
            <p:cNvSpPr>
              <a:spLocks noChangeShapeType="1"/>
            </p:cNvSpPr>
            <p:nvPr/>
          </p:nvSpPr>
          <p:spPr bwMode="auto">
            <a:xfrm>
              <a:off x="2199" y="3294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78282" name="Line 42"/>
            <p:cNvSpPr>
              <a:spLocks noChangeShapeType="1"/>
            </p:cNvSpPr>
            <p:nvPr/>
          </p:nvSpPr>
          <p:spPr bwMode="auto">
            <a:xfrm rot="-5400000">
              <a:off x="2312" y="3181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78283" name="Line 43"/>
            <p:cNvSpPr>
              <a:spLocks noChangeShapeType="1"/>
            </p:cNvSpPr>
            <p:nvPr/>
          </p:nvSpPr>
          <p:spPr bwMode="auto">
            <a:xfrm>
              <a:off x="2426" y="3067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78284" name="Line 44"/>
            <p:cNvSpPr>
              <a:spLocks noChangeShapeType="1"/>
            </p:cNvSpPr>
            <p:nvPr/>
          </p:nvSpPr>
          <p:spPr bwMode="auto">
            <a:xfrm rot="-5400000">
              <a:off x="2539" y="3181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 type="triangle" w="med" len="med"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78285" name="Line 45"/>
            <p:cNvSpPr>
              <a:spLocks noChangeShapeType="1"/>
            </p:cNvSpPr>
            <p:nvPr/>
          </p:nvSpPr>
          <p:spPr bwMode="auto">
            <a:xfrm>
              <a:off x="2653" y="3294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78286" name="Line 46"/>
            <p:cNvSpPr>
              <a:spLocks noChangeShapeType="1"/>
            </p:cNvSpPr>
            <p:nvPr/>
          </p:nvSpPr>
          <p:spPr bwMode="auto">
            <a:xfrm rot="-5400000">
              <a:off x="2766" y="3181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78287" name="Line 47"/>
            <p:cNvSpPr>
              <a:spLocks noChangeShapeType="1"/>
            </p:cNvSpPr>
            <p:nvPr/>
          </p:nvSpPr>
          <p:spPr bwMode="auto">
            <a:xfrm>
              <a:off x="2880" y="3067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78288" name="Line 48"/>
            <p:cNvSpPr>
              <a:spLocks noChangeShapeType="1"/>
            </p:cNvSpPr>
            <p:nvPr/>
          </p:nvSpPr>
          <p:spPr bwMode="auto">
            <a:xfrm rot="-5400000">
              <a:off x="2993" y="3181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 type="triangle" w="med" len="med"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78289" name="Line 49"/>
            <p:cNvSpPr>
              <a:spLocks noChangeShapeType="1"/>
            </p:cNvSpPr>
            <p:nvPr/>
          </p:nvSpPr>
          <p:spPr bwMode="auto">
            <a:xfrm>
              <a:off x="3107" y="3294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78290" name="Line 50"/>
            <p:cNvSpPr>
              <a:spLocks noChangeShapeType="1"/>
            </p:cNvSpPr>
            <p:nvPr/>
          </p:nvSpPr>
          <p:spPr bwMode="auto">
            <a:xfrm rot="-5400000">
              <a:off x="3220" y="3181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78291" name="Line 51"/>
            <p:cNvSpPr>
              <a:spLocks noChangeShapeType="1"/>
            </p:cNvSpPr>
            <p:nvPr/>
          </p:nvSpPr>
          <p:spPr bwMode="auto">
            <a:xfrm>
              <a:off x="3334" y="3067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78292" name="Line 52"/>
            <p:cNvSpPr>
              <a:spLocks noChangeShapeType="1"/>
            </p:cNvSpPr>
            <p:nvPr/>
          </p:nvSpPr>
          <p:spPr bwMode="auto">
            <a:xfrm rot="-5400000">
              <a:off x="3447" y="3181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 type="triangle" w="med" len="med"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78293" name="Line 53"/>
            <p:cNvSpPr>
              <a:spLocks noChangeShapeType="1"/>
            </p:cNvSpPr>
            <p:nvPr/>
          </p:nvSpPr>
          <p:spPr bwMode="auto">
            <a:xfrm>
              <a:off x="3560" y="3294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78294" name="Rectangle 54"/>
            <p:cNvSpPr>
              <a:spLocks noChangeArrowheads="1"/>
            </p:cNvSpPr>
            <p:nvPr/>
          </p:nvSpPr>
          <p:spPr bwMode="auto">
            <a:xfrm>
              <a:off x="1737" y="3067"/>
              <a:ext cx="373" cy="207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CLK</a:t>
              </a:r>
            </a:p>
          </p:txBody>
        </p:sp>
        <p:sp>
          <p:nvSpPr>
            <p:cNvPr id="778295" name="Rectangle 55"/>
            <p:cNvSpPr>
              <a:spLocks noChangeArrowheads="1"/>
            </p:cNvSpPr>
            <p:nvPr/>
          </p:nvSpPr>
          <p:spPr bwMode="auto">
            <a:xfrm>
              <a:off x="4009" y="3067"/>
              <a:ext cx="1145" cy="207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Negative Edge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Flip-Flops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27000" y="2106613"/>
            <a:ext cx="7742238" cy="2481262"/>
            <a:chOff x="385" y="1253"/>
            <a:chExt cx="4877" cy="1563"/>
          </a:xfrm>
        </p:grpSpPr>
        <p:sp>
          <p:nvSpPr>
            <p:cNvPr id="780293" name="Line 5"/>
            <p:cNvSpPr>
              <a:spLocks noChangeShapeType="1"/>
            </p:cNvSpPr>
            <p:nvPr/>
          </p:nvSpPr>
          <p:spPr bwMode="auto">
            <a:xfrm>
              <a:off x="839" y="1480"/>
              <a:ext cx="453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/>
              <a:endParaRPr lang="en-AU"/>
            </a:p>
          </p:txBody>
        </p:sp>
        <p:grpSp>
          <p:nvGrpSpPr>
            <p:cNvPr id="3" name="Group 6"/>
            <p:cNvGrpSpPr>
              <a:grpSpLocks/>
            </p:cNvGrpSpPr>
            <p:nvPr/>
          </p:nvGrpSpPr>
          <p:grpSpPr bwMode="auto">
            <a:xfrm>
              <a:off x="1292" y="1253"/>
              <a:ext cx="1475" cy="907"/>
              <a:chOff x="1292" y="1253"/>
              <a:chExt cx="1475" cy="907"/>
            </a:xfrm>
          </p:grpSpPr>
          <p:sp>
            <p:nvSpPr>
              <p:cNvPr id="780295" name="AutoShape 7"/>
              <p:cNvSpPr>
                <a:spLocks noChangeArrowheads="1"/>
              </p:cNvSpPr>
              <p:nvPr/>
            </p:nvSpPr>
            <p:spPr bwMode="auto">
              <a:xfrm>
                <a:off x="1292" y="1253"/>
                <a:ext cx="1475" cy="907"/>
              </a:xfrm>
              <a:prstGeom prst="roundRect">
                <a:avLst>
                  <a:gd name="adj" fmla="val 16667"/>
                </a:avLst>
              </a:prstGeom>
              <a:noFill/>
              <a:ln w="2857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sz="2400" b="1" i="1"/>
                  <a:t>D</a:t>
                </a:r>
                <a:r>
                  <a:rPr lang="en-US" sz="2400" b="1"/>
                  <a:t> Latch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sz="2400" b="1"/>
                  <a:t>(</a:t>
                </a:r>
                <a:r>
                  <a:rPr lang="en-US" sz="2400" b="1">
                    <a:solidFill>
                      <a:schemeClr val="accent1"/>
                    </a:solidFill>
                  </a:rPr>
                  <a:t>Master</a:t>
                </a:r>
                <a:r>
                  <a:rPr lang="en-US" sz="2400" b="1"/>
                  <a:t>)</a:t>
                </a:r>
              </a:p>
            </p:txBody>
          </p:sp>
          <p:sp>
            <p:nvSpPr>
              <p:cNvPr id="780296" name="Rectangle 8"/>
              <p:cNvSpPr>
                <a:spLocks noChangeArrowheads="1"/>
              </p:cNvSpPr>
              <p:nvPr/>
            </p:nvSpPr>
            <p:spPr bwMode="auto">
              <a:xfrm>
                <a:off x="1292" y="1366"/>
                <a:ext cx="227" cy="698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sz="2400" b="1" i="1">
                    <a:solidFill>
                      <a:srgbClr val="008000"/>
                    </a:solidFill>
                  </a:rPr>
                  <a:t>D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</a:pPr>
                <a:endParaRPr lang="en-US" sz="2400" b="1" i="1">
                  <a:solidFill>
                    <a:srgbClr val="008000"/>
                  </a:solidFill>
                </a:endParaRP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sz="2400" b="1" i="1">
                    <a:solidFill>
                      <a:srgbClr val="008000"/>
                    </a:solidFill>
                  </a:rPr>
                  <a:t>C</a:t>
                </a:r>
              </a:p>
            </p:txBody>
          </p:sp>
          <p:sp>
            <p:nvSpPr>
              <p:cNvPr id="780297" name="Rectangle 9"/>
              <p:cNvSpPr>
                <a:spLocks noChangeArrowheads="1"/>
              </p:cNvSpPr>
              <p:nvPr/>
            </p:nvSpPr>
            <p:spPr bwMode="auto">
              <a:xfrm>
                <a:off x="2540" y="1366"/>
                <a:ext cx="227" cy="23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sz="2400" b="1" i="1">
                    <a:solidFill>
                      <a:srgbClr val="008000"/>
                    </a:solidFill>
                  </a:rPr>
                  <a:t>Q</a:t>
                </a:r>
              </a:p>
            </p:txBody>
          </p:sp>
        </p:grpSp>
        <p:grpSp>
          <p:nvGrpSpPr>
            <p:cNvPr id="4" name="Group 10"/>
            <p:cNvGrpSpPr>
              <a:grpSpLocks/>
            </p:cNvGrpSpPr>
            <p:nvPr/>
          </p:nvGrpSpPr>
          <p:grpSpPr bwMode="auto">
            <a:xfrm>
              <a:off x="3220" y="1253"/>
              <a:ext cx="1475" cy="907"/>
              <a:chOff x="3220" y="1253"/>
              <a:chExt cx="1475" cy="907"/>
            </a:xfrm>
          </p:grpSpPr>
          <p:sp>
            <p:nvSpPr>
              <p:cNvPr id="780299" name="AutoShape 11"/>
              <p:cNvSpPr>
                <a:spLocks noChangeArrowheads="1"/>
              </p:cNvSpPr>
              <p:nvPr/>
            </p:nvSpPr>
            <p:spPr bwMode="auto">
              <a:xfrm>
                <a:off x="3220" y="1253"/>
                <a:ext cx="1475" cy="907"/>
              </a:xfrm>
              <a:prstGeom prst="roundRect">
                <a:avLst>
                  <a:gd name="adj" fmla="val 16667"/>
                </a:avLst>
              </a:prstGeom>
              <a:noFill/>
              <a:ln w="2857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sz="2400" b="1" i="1"/>
                  <a:t>D</a:t>
                </a:r>
                <a:r>
                  <a:rPr lang="en-US" sz="2400" b="1"/>
                  <a:t> Latch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sz="2400" b="1"/>
                  <a:t>(</a:t>
                </a:r>
                <a:r>
                  <a:rPr lang="en-US" sz="2400" b="1">
                    <a:solidFill>
                      <a:srgbClr val="D60093"/>
                    </a:solidFill>
                  </a:rPr>
                  <a:t>Slave</a:t>
                </a:r>
                <a:r>
                  <a:rPr lang="en-US" sz="2400" b="1"/>
                  <a:t>)</a:t>
                </a:r>
              </a:p>
            </p:txBody>
          </p:sp>
          <p:sp>
            <p:nvSpPr>
              <p:cNvPr id="780300" name="Rectangle 12"/>
              <p:cNvSpPr>
                <a:spLocks noChangeArrowheads="1"/>
              </p:cNvSpPr>
              <p:nvPr/>
            </p:nvSpPr>
            <p:spPr bwMode="auto">
              <a:xfrm>
                <a:off x="3220" y="1366"/>
                <a:ext cx="227" cy="698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sz="2400" b="1" i="1">
                    <a:solidFill>
                      <a:srgbClr val="008000"/>
                    </a:solidFill>
                  </a:rPr>
                  <a:t>D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</a:pPr>
                <a:endParaRPr lang="en-US" sz="2400" b="1" i="1">
                  <a:solidFill>
                    <a:srgbClr val="008000"/>
                  </a:solidFill>
                </a:endParaRP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sz="2400" b="1" i="1">
                    <a:solidFill>
                      <a:srgbClr val="008000"/>
                    </a:solidFill>
                  </a:rPr>
                  <a:t>C</a:t>
                </a:r>
              </a:p>
            </p:txBody>
          </p:sp>
          <p:sp>
            <p:nvSpPr>
              <p:cNvPr id="780301" name="Rectangle 13"/>
              <p:cNvSpPr>
                <a:spLocks noChangeArrowheads="1"/>
              </p:cNvSpPr>
              <p:nvPr/>
            </p:nvSpPr>
            <p:spPr bwMode="auto">
              <a:xfrm>
                <a:off x="4468" y="1366"/>
                <a:ext cx="227" cy="23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sz="2400" b="1" i="1">
                    <a:solidFill>
                      <a:srgbClr val="008000"/>
                    </a:solidFill>
                  </a:rPr>
                  <a:t>Q</a:t>
                </a:r>
              </a:p>
            </p:txBody>
          </p:sp>
        </p:grpSp>
        <p:sp>
          <p:nvSpPr>
            <p:cNvPr id="780302" name="Line 14"/>
            <p:cNvSpPr>
              <a:spLocks noChangeShapeType="1"/>
            </p:cNvSpPr>
            <p:nvPr/>
          </p:nvSpPr>
          <p:spPr bwMode="auto">
            <a:xfrm>
              <a:off x="2767" y="1480"/>
              <a:ext cx="453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/>
              <a:endParaRPr lang="en-AU"/>
            </a:p>
          </p:txBody>
        </p:sp>
        <p:sp>
          <p:nvSpPr>
            <p:cNvPr id="780303" name="Line 15"/>
            <p:cNvSpPr>
              <a:spLocks noChangeShapeType="1"/>
            </p:cNvSpPr>
            <p:nvPr/>
          </p:nvSpPr>
          <p:spPr bwMode="auto">
            <a:xfrm>
              <a:off x="4694" y="1480"/>
              <a:ext cx="341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/>
              <a:endParaRPr lang="en-AU"/>
            </a:p>
          </p:txBody>
        </p:sp>
        <p:sp>
          <p:nvSpPr>
            <p:cNvPr id="780304" name="Rectangle 16"/>
            <p:cNvSpPr>
              <a:spLocks noChangeArrowheads="1"/>
            </p:cNvSpPr>
            <p:nvPr/>
          </p:nvSpPr>
          <p:spPr bwMode="auto">
            <a:xfrm>
              <a:off x="5035" y="1366"/>
              <a:ext cx="227" cy="23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solidFill>
                    <a:schemeClr val="accent2"/>
                  </a:solidFill>
                </a:rPr>
                <a:t>Q</a:t>
              </a:r>
            </a:p>
          </p:txBody>
        </p:sp>
        <p:sp>
          <p:nvSpPr>
            <p:cNvPr id="780305" name="Rectangle 17"/>
            <p:cNvSpPr>
              <a:spLocks noChangeArrowheads="1"/>
            </p:cNvSpPr>
            <p:nvPr/>
          </p:nvSpPr>
          <p:spPr bwMode="auto">
            <a:xfrm>
              <a:off x="612" y="1366"/>
              <a:ext cx="227" cy="23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solidFill>
                    <a:schemeClr val="accent2"/>
                  </a:solidFill>
                </a:rPr>
                <a:t>D</a:t>
              </a:r>
            </a:p>
          </p:txBody>
        </p:sp>
        <p:sp>
          <p:nvSpPr>
            <p:cNvPr id="780306" name="Rectangle 18"/>
            <p:cNvSpPr>
              <a:spLocks noChangeArrowheads="1"/>
            </p:cNvSpPr>
            <p:nvPr/>
          </p:nvSpPr>
          <p:spPr bwMode="auto">
            <a:xfrm>
              <a:off x="385" y="2460"/>
              <a:ext cx="454" cy="23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solidFill>
                    <a:schemeClr val="accent2"/>
                  </a:solidFill>
                  <a:latin typeface="Times New Roman" pitchFamily="18" charset="0"/>
                  <a:cs typeface="Times New Roman" pitchFamily="18" charset="0"/>
                </a:rPr>
                <a:t>CLK</a:t>
              </a:r>
            </a:p>
          </p:txBody>
        </p:sp>
        <p:sp>
          <p:nvSpPr>
            <p:cNvPr id="780307" name="Line 19"/>
            <p:cNvSpPr>
              <a:spLocks noChangeShapeType="1"/>
            </p:cNvSpPr>
            <p:nvPr/>
          </p:nvSpPr>
          <p:spPr bwMode="auto">
            <a:xfrm>
              <a:off x="839" y="2614"/>
              <a:ext cx="1474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/>
              <a:endParaRPr lang="en-AU"/>
            </a:p>
          </p:txBody>
        </p:sp>
        <p:sp>
          <p:nvSpPr>
            <p:cNvPr id="780308" name="Line 20"/>
            <p:cNvSpPr>
              <a:spLocks noChangeShapeType="1"/>
            </p:cNvSpPr>
            <p:nvPr/>
          </p:nvSpPr>
          <p:spPr bwMode="auto">
            <a:xfrm>
              <a:off x="2653" y="2614"/>
              <a:ext cx="34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/>
              <a:endParaRPr lang="en-AU"/>
            </a:p>
          </p:txBody>
        </p:sp>
        <p:sp>
          <p:nvSpPr>
            <p:cNvPr id="780309" name="Line 21"/>
            <p:cNvSpPr>
              <a:spLocks noChangeShapeType="1"/>
            </p:cNvSpPr>
            <p:nvPr/>
          </p:nvSpPr>
          <p:spPr bwMode="auto">
            <a:xfrm rot="-5400000">
              <a:off x="2652" y="2274"/>
              <a:ext cx="681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/>
              <a:endParaRPr lang="en-AU"/>
            </a:p>
          </p:txBody>
        </p:sp>
        <p:sp>
          <p:nvSpPr>
            <p:cNvPr id="780310" name="Line 22"/>
            <p:cNvSpPr>
              <a:spLocks noChangeShapeType="1"/>
            </p:cNvSpPr>
            <p:nvPr/>
          </p:nvSpPr>
          <p:spPr bwMode="auto">
            <a:xfrm>
              <a:off x="2993" y="1933"/>
              <a:ext cx="228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/>
              <a:endParaRPr lang="en-AU"/>
            </a:p>
          </p:txBody>
        </p:sp>
        <p:sp>
          <p:nvSpPr>
            <p:cNvPr id="780311" name="Line 23"/>
            <p:cNvSpPr>
              <a:spLocks noChangeShapeType="1"/>
            </p:cNvSpPr>
            <p:nvPr/>
          </p:nvSpPr>
          <p:spPr bwMode="auto">
            <a:xfrm rot="-5400000">
              <a:off x="725" y="2274"/>
              <a:ext cx="681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/>
              <a:endParaRPr lang="en-AU"/>
            </a:p>
          </p:txBody>
        </p:sp>
        <p:sp>
          <p:nvSpPr>
            <p:cNvPr id="780312" name="Line 24"/>
            <p:cNvSpPr>
              <a:spLocks noChangeShapeType="1"/>
            </p:cNvSpPr>
            <p:nvPr/>
          </p:nvSpPr>
          <p:spPr bwMode="auto">
            <a:xfrm>
              <a:off x="1066" y="1933"/>
              <a:ext cx="228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/>
              <a:endParaRPr lang="en-AU"/>
            </a:p>
          </p:txBody>
        </p:sp>
        <p:graphicFrame>
          <p:nvGraphicFramePr>
            <p:cNvPr id="780313" name="Object 25"/>
            <p:cNvGraphicFramePr>
              <a:graphicFrameLocks noChangeAspect="1"/>
            </p:cNvGraphicFramePr>
            <p:nvPr/>
          </p:nvGraphicFramePr>
          <p:xfrm>
            <a:off x="2257" y="2411"/>
            <a:ext cx="454" cy="4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718" name="Visio" r:id="rId4" imgW="250911" imgH="223845" progId="">
                    <p:embed/>
                  </p:oleObj>
                </mc:Choice>
                <mc:Fallback>
                  <p:oleObj name="Visio" r:id="rId4" imgW="250911" imgH="223845" progId="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7" y="2411"/>
                          <a:ext cx="454" cy="4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80314" name="Rectangle 26"/>
          <p:cNvSpPr>
            <a:spLocks noChangeArrowheads="1"/>
          </p:cNvSpPr>
          <p:nvPr/>
        </p:nvSpPr>
        <p:spPr bwMode="auto">
          <a:xfrm>
            <a:off x="4429409" y="4075113"/>
            <a:ext cx="597921" cy="36933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CLK</a:t>
            </a:r>
          </a:p>
        </p:txBody>
      </p:sp>
      <p:sp>
        <p:nvSpPr>
          <p:cNvPr id="780315" name="Rectangle 27"/>
          <p:cNvSpPr>
            <a:spLocks noChangeArrowheads="1"/>
          </p:cNvSpPr>
          <p:nvPr/>
        </p:nvSpPr>
        <p:spPr bwMode="auto">
          <a:xfrm>
            <a:off x="4648710" y="4795838"/>
            <a:ext cx="222818" cy="36933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780316" name="Rectangle 28"/>
          <p:cNvSpPr>
            <a:spLocks noChangeArrowheads="1"/>
          </p:cNvSpPr>
          <p:nvPr/>
        </p:nvSpPr>
        <p:spPr bwMode="auto">
          <a:xfrm>
            <a:off x="4267200" y="5514975"/>
            <a:ext cx="939800" cy="36933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/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Master</a:t>
            </a:r>
          </a:p>
        </p:txBody>
      </p:sp>
      <p:sp>
        <p:nvSpPr>
          <p:cNvPr id="780317" name="Line 29"/>
          <p:cNvSpPr>
            <a:spLocks noChangeShapeType="1"/>
          </p:cNvSpPr>
          <p:nvPr/>
        </p:nvSpPr>
        <p:spPr bwMode="auto">
          <a:xfrm>
            <a:off x="5167313" y="5875338"/>
            <a:ext cx="360362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endParaRPr lang="en-AU"/>
          </a:p>
        </p:txBody>
      </p:sp>
      <p:sp>
        <p:nvSpPr>
          <p:cNvPr id="780318" name="Line 30"/>
          <p:cNvSpPr>
            <a:spLocks noChangeShapeType="1"/>
          </p:cNvSpPr>
          <p:nvPr/>
        </p:nvSpPr>
        <p:spPr bwMode="auto">
          <a:xfrm rot="-5400000">
            <a:off x="5347493" y="5695157"/>
            <a:ext cx="3603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endParaRPr lang="en-AU"/>
          </a:p>
        </p:txBody>
      </p:sp>
      <p:sp>
        <p:nvSpPr>
          <p:cNvPr id="780319" name="Line 31"/>
          <p:cNvSpPr>
            <a:spLocks noChangeShapeType="1"/>
          </p:cNvSpPr>
          <p:nvPr/>
        </p:nvSpPr>
        <p:spPr bwMode="auto">
          <a:xfrm>
            <a:off x="5527675" y="5516563"/>
            <a:ext cx="539750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pPr algn="ctr"/>
            <a:endParaRPr lang="en-AU"/>
          </a:p>
        </p:txBody>
      </p:sp>
      <p:sp>
        <p:nvSpPr>
          <p:cNvPr id="780320" name="Line 32"/>
          <p:cNvSpPr>
            <a:spLocks noChangeShapeType="1"/>
          </p:cNvSpPr>
          <p:nvPr/>
        </p:nvSpPr>
        <p:spPr bwMode="auto">
          <a:xfrm rot="-5400000">
            <a:off x="5887243" y="5704682"/>
            <a:ext cx="3603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endParaRPr lang="en-AU"/>
          </a:p>
        </p:txBody>
      </p:sp>
      <p:sp>
        <p:nvSpPr>
          <p:cNvPr id="780321" name="Line 33"/>
          <p:cNvSpPr>
            <a:spLocks noChangeShapeType="1"/>
          </p:cNvSpPr>
          <p:nvPr/>
        </p:nvSpPr>
        <p:spPr bwMode="auto">
          <a:xfrm>
            <a:off x="6067425" y="5875338"/>
            <a:ext cx="720725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pPr algn="ctr"/>
            <a:endParaRPr lang="en-AU"/>
          </a:p>
        </p:txBody>
      </p:sp>
      <p:sp>
        <p:nvSpPr>
          <p:cNvPr id="780322" name="Line 34"/>
          <p:cNvSpPr>
            <a:spLocks noChangeShapeType="1"/>
          </p:cNvSpPr>
          <p:nvPr/>
        </p:nvSpPr>
        <p:spPr bwMode="auto">
          <a:xfrm rot="-5400000">
            <a:off x="6607968" y="5695157"/>
            <a:ext cx="3603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endParaRPr lang="en-AU"/>
          </a:p>
        </p:txBody>
      </p:sp>
      <p:sp>
        <p:nvSpPr>
          <p:cNvPr id="780323" name="Line 35"/>
          <p:cNvSpPr>
            <a:spLocks noChangeShapeType="1"/>
          </p:cNvSpPr>
          <p:nvPr/>
        </p:nvSpPr>
        <p:spPr bwMode="auto">
          <a:xfrm flipV="1">
            <a:off x="6788150" y="5514975"/>
            <a:ext cx="1620838" cy="1588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pPr algn="ctr"/>
            <a:endParaRPr lang="en-AU"/>
          </a:p>
        </p:txBody>
      </p:sp>
      <p:sp>
        <p:nvSpPr>
          <p:cNvPr id="780324" name="Line 36"/>
          <p:cNvSpPr>
            <a:spLocks noChangeShapeType="1"/>
          </p:cNvSpPr>
          <p:nvPr/>
        </p:nvSpPr>
        <p:spPr bwMode="auto">
          <a:xfrm flipV="1">
            <a:off x="5527675" y="4435475"/>
            <a:ext cx="0" cy="2170113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pPr algn="ctr"/>
            <a:endParaRPr lang="en-AU"/>
          </a:p>
        </p:txBody>
      </p:sp>
      <p:sp>
        <p:nvSpPr>
          <p:cNvPr id="780325" name="Line 37"/>
          <p:cNvSpPr>
            <a:spLocks noChangeShapeType="1"/>
          </p:cNvSpPr>
          <p:nvPr/>
        </p:nvSpPr>
        <p:spPr bwMode="auto">
          <a:xfrm flipV="1">
            <a:off x="6067425" y="5154613"/>
            <a:ext cx="0" cy="1439862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pPr algn="ctr"/>
            <a:endParaRPr lang="en-AU"/>
          </a:p>
        </p:txBody>
      </p:sp>
      <p:sp>
        <p:nvSpPr>
          <p:cNvPr id="780326" name="Line 38"/>
          <p:cNvSpPr>
            <a:spLocks noChangeShapeType="1"/>
          </p:cNvSpPr>
          <p:nvPr/>
        </p:nvSpPr>
        <p:spPr bwMode="auto">
          <a:xfrm flipV="1">
            <a:off x="6788150" y="5154613"/>
            <a:ext cx="0" cy="1439862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pPr algn="ctr"/>
            <a:endParaRPr lang="en-AU"/>
          </a:p>
        </p:txBody>
      </p:sp>
      <p:sp>
        <p:nvSpPr>
          <p:cNvPr id="780327" name="Line 39"/>
          <p:cNvSpPr>
            <a:spLocks noChangeShapeType="1"/>
          </p:cNvSpPr>
          <p:nvPr/>
        </p:nvSpPr>
        <p:spPr bwMode="auto">
          <a:xfrm flipV="1">
            <a:off x="6967538" y="4435475"/>
            <a:ext cx="0" cy="215900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pPr algn="ctr"/>
            <a:endParaRPr lang="en-AU"/>
          </a:p>
        </p:txBody>
      </p:sp>
      <p:grpSp>
        <p:nvGrpSpPr>
          <p:cNvPr id="5" name="Group 40"/>
          <p:cNvGrpSpPr>
            <a:grpSpLocks/>
          </p:cNvGrpSpPr>
          <p:nvPr/>
        </p:nvGrpSpPr>
        <p:grpSpPr bwMode="auto">
          <a:xfrm>
            <a:off x="5167313" y="4075113"/>
            <a:ext cx="3240087" cy="369887"/>
            <a:chOff x="3447" y="2387"/>
            <a:chExt cx="2041" cy="233"/>
          </a:xfrm>
        </p:grpSpPr>
        <p:sp>
          <p:nvSpPr>
            <p:cNvPr id="780329" name="Line 41"/>
            <p:cNvSpPr>
              <a:spLocks noChangeShapeType="1"/>
            </p:cNvSpPr>
            <p:nvPr/>
          </p:nvSpPr>
          <p:spPr bwMode="auto">
            <a:xfrm>
              <a:off x="3447" y="2614"/>
              <a:ext cx="22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/>
              <a:endParaRPr lang="en-AU"/>
            </a:p>
          </p:txBody>
        </p:sp>
        <p:sp>
          <p:nvSpPr>
            <p:cNvPr id="780330" name="Line 42"/>
            <p:cNvSpPr>
              <a:spLocks noChangeShapeType="1"/>
            </p:cNvSpPr>
            <p:nvPr/>
          </p:nvSpPr>
          <p:spPr bwMode="auto">
            <a:xfrm rot="-5400000">
              <a:off x="3560" y="2501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/>
              <a:endParaRPr lang="en-AU"/>
            </a:p>
          </p:txBody>
        </p:sp>
        <p:sp>
          <p:nvSpPr>
            <p:cNvPr id="780331" name="Line 43"/>
            <p:cNvSpPr>
              <a:spLocks noChangeShapeType="1"/>
            </p:cNvSpPr>
            <p:nvPr/>
          </p:nvSpPr>
          <p:spPr bwMode="auto">
            <a:xfrm>
              <a:off x="3674" y="2387"/>
              <a:ext cx="90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/>
              <a:endParaRPr lang="en-AU"/>
            </a:p>
          </p:txBody>
        </p:sp>
        <p:sp>
          <p:nvSpPr>
            <p:cNvPr id="780332" name="Line 44"/>
            <p:cNvSpPr>
              <a:spLocks noChangeShapeType="1"/>
            </p:cNvSpPr>
            <p:nvPr/>
          </p:nvSpPr>
          <p:spPr bwMode="auto">
            <a:xfrm rot="-5400000">
              <a:off x="4467" y="2501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/>
              <a:endParaRPr lang="en-AU"/>
            </a:p>
          </p:txBody>
        </p:sp>
        <p:sp>
          <p:nvSpPr>
            <p:cNvPr id="780333" name="Line 45"/>
            <p:cNvSpPr>
              <a:spLocks noChangeShapeType="1"/>
            </p:cNvSpPr>
            <p:nvPr/>
          </p:nvSpPr>
          <p:spPr bwMode="auto">
            <a:xfrm>
              <a:off x="4581" y="2620"/>
              <a:ext cx="90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/>
              <a:endParaRPr lang="en-AU"/>
            </a:p>
          </p:txBody>
        </p:sp>
        <p:sp>
          <p:nvSpPr>
            <p:cNvPr id="780334" name="Line 46"/>
            <p:cNvSpPr>
              <a:spLocks noChangeShapeType="1"/>
            </p:cNvSpPr>
            <p:nvPr/>
          </p:nvSpPr>
          <p:spPr bwMode="auto">
            <a:xfrm rot="-5400000">
              <a:off x="5374" y="2507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/>
              <a:endParaRPr lang="en-AU"/>
            </a:p>
          </p:txBody>
        </p:sp>
      </p:grpSp>
      <p:grpSp>
        <p:nvGrpSpPr>
          <p:cNvPr id="6" name="Group 47"/>
          <p:cNvGrpSpPr>
            <a:grpSpLocks/>
          </p:cNvGrpSpPr>
          <p:nvPr/>
        </p:nvGrpSpPr>
        <p:grpSpPr bwMode="auto">
          <a:xfrm>
            <a:off x="5167313" y="4794250"/>
            <a:ext cx="3241675" cy="361950"/>
            <a:chOff x="3447" y="2840"/>
            <a:chExt cx="2042" cy="228"/>
          </a:xfrm>
        </p:grpSpPr>
        <p:sp>
          <p:nvSpPr>
            <p:cNvPr id="780336" name="Line 48"/>
            <p:cNvSpPr>
              <a:spLocks noChangeShapeType="1"/>
            </p:cNvSpPr>
            <p:nvPr/>
          </p:nvSpPr>
          <p:spPr bwMode="auto">
            <a:xfrm>
              <a:off x="3447" y="3068"/>
              <a:ext cx="113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/>
              <a:endParaRPr lang="en-AU"/>
            </a:p>
          </p:txBody>
        </p:sp>
        <p:sp>
          <p:nvSpPr>
            <p:cNvPr id="780337" name="Line 49"/>
            <p:cNvSpPr>
              <a:spLocks noChangeShapeType="1"/>
            </p:cNvSpPr>
            <p:nvPr/>
          </p:nvSpPr>
          <p:spPr bwMode="auto">
            <a:xfrm rot="-5400000">
              <a:off x="3446" y="2955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/>
              <a:endParaRPr lang="en-AU"/>
            </a:p>
          </p:txBody>
        </p:sp>
        <p:sp>
          <p:nvSpPr>
            <p:cNvPr id="780338" name="Line 50"/>
            <p:cNvSpPr>
              <a:spLocks noChangeShapeType="1"/>
            </p:cNvSpPr>
            <p:nvPr/>
          </p:nvSpPr>
          <p:spPr bwMode="auto">
            <a:xfrm>
              <a:off x="3560" y="2841"/>
              <a:ext cx="454" cy="0"/>
            </a:xfrm>
            <a:prstGeom prst="line">
              <a:avLst/>
            </a:prstGeom>
            <a:noFill/>
            <a:ln w="38100">
              <a:solidFill>
                <a:srgbClr val="D60093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/>
              <a:endParaRPr lang="en-AU"/>
            </a:p>
          </p:txBody>
        </p:sp>
        <p:sp>
          <p:nvSpPr>
            <p:cNvPr id="780339" name="Line 51"/>
            <p:cNvSpPr>
              <a:spLocks noChangeShapeType="1"/>
            </p:cNvSpPr>
            <p:nvPr/>
          </p:nvSpPr>
          <p:spPr bwMode="auto">
            <a:xfrm rot="-5400000">
              <a:off x="3900" y="2955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/>
              <a:endParaRPr lang="en-AU"/>
            </a:p>
          </p:txBody>
        </p:sp>
        <p:sp>
          <p:nvSpPr>
            <p:cNvPr id="780340" name="Line 52"/>
            <p:cNvSpPr>
              <a:spLocks noChangeShapeType="1"/>
            </p:cNvSpPr>
            <p:nvPr/>
          </p:nvSpPr>
          <p:spPr bwMode="auto">
            <a:xfrm>
              <a:off x="4014" y="3068"/>
              <a:ext cx="454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/>
              <a:endParaRPr lang="en-AU"/>
            </a:p>
          </p:txBody>
        </p:sp>
        <p:sp>
          <p:nvSpPr>
            <p:cNvPr id="780341" name="Line 53"/>
            <p:cNvSpPr>
              <a:spLocks noChangeShapeType="1"/>
            </p:cNvSpPr>
            <p:nvPr/>
          </p:nvSpPr>
          <p:spPr bwMode="auto">
            <a:xfrm rot="-5400000">
              <a:off x="4354" y="2955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/>
              <a:endParaRPr lang="en-AU"/>
            </a:p>
          </p:txBody>
        </p:sp>
        <p:sp>
          <p:nvSpPr>
            <p:cNvPr id="780342" name="Line 54"/>
            <p:cNvSpPr>
              <a:spLocks noChangeShapeType="1"/>
            </p:cNvSpPr>
            <p:nvPr/>
          </p:nvSpPr>
          <p:spPr bwMode="auto">
            <a:xfrm>
              <a:off x="4468" y="2841"/>
              <a:ext cx="226" cy="0"/>
            </a:xfrm>
            <a:prstGeom prst="line">
              <a:avLst/>
            </a:prstGeom>
            <a:noFill/>
            <a:ln w="38100">
              <a:solidFill>
                <a:srgbClr val="D60093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/>
              <a:endParaRPr lang="en-AU"/>
            </a:p>
          </p:txBody>
        </p:sp>
        <p:sp>
          <p:nvSpPr>
            <p:cNvPr id="780343" name="Line 55"/>
            <p:cNvSpPr>
              <a:spLocks noChangeShapeType="1"/>
            </p:cNvSpPr>
            <p:nvPr/>
          </p:nvSpPr>
          <p:spPr bwMode="auto">
            <a:xfrm rot="-5400000">
              <a:off x="4580" y="2955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/>
              <a:endParaRPr lang="en-AU"/>
            </a:p>
          </p:txBody>
        </p:sp>
        <p:sp>
          <p:nvSpPr>
            <p:cNvPr id="780344" name="Line 56"/>
            <p:cNvSpPr>
              <a:spLocks noChangeShapeType="1"/>
            </p:cNvSpPr>
            <p:nvPr/>
          </p:nvSpPr>
          <p:spPr bwMode="auto">
            <a:xfrm flipV="1">
              <a:off x="4694" y="3067"/>
              <a:ext cx="228" cy="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/>
              <a:endParaRPr lang="en-AU"/>
            </a:p>
          </p:txBody>
        </p:sp>
        <p:sp>
          <p:nvSpPr>
            <p:cNvPr id="780345" name="Line 57"/>
            <p:cNvSpPr>
              <a:spLocks noChangeShapeType="1"/>
            </p:cNvSpPr>
            <p:nvPr/>
          </p:nvSpPr>
          <p:spPr bwMode="auto">
            <a:xfrm rot="-5400000">
              <a:off x="4808" y="2954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/>
              <a:endParaRPr lang="en-AU"/>
            </a:p>
          </p:txBody>
        </p:sp>
        <p:sp>
          <p:nvSpPr>
            <p:cNvPr id="780346" name="Line 58"/>
            <p:cNvSpPr>
              <a:spLocks noChangeShapeType="1"/>
            </p:cNvSpPr>
            <p:nvPr/>
          </p:nvSpPr>
          <p:spPr bwMode="auto">
            <a:xfrm>
              <a:off x="4922" y="2840"/>
              <a:ext cx="226" cy="0"/>
            </a:xfrm>
            <a:prstGeom prst="line">
              <a:avLst/>
            </a:prstGeom>
            <a:noFill/>
            <a:ln w="38100">
              <a:solidFill>
                <a:srgbClr val="D60093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/>
              <a:endParaRPr lang="en-AU"/>
            </a:p>
          </p:txBody>
        </p:sp>
        <p:sp>
          <p:nvSpPr>
            <p:cNvPr id="780347" name="Line 59"/>
            <p:cNvSpPr>
              <a:spLocks noChangeShapeType="1"/>
            </p:cNvSpPr>
            <p:nvPr/>
          </p:nvSpPr>
          <p:spPr bwMode="auto">
            <a:xfrm rot="-5400000">
              <a:off x="5034" y="2954"/>
              <a:ext cx="2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/>
              <a:endParaRPr lang="en-AU"/>
            </a:p>
          </p:txBody>
        </p:sp>
        <p:sp>
          <p:nvSpPr>
            <p:cNvPr id="780348" name="Line 60"/>
            <p:cNvSpPr>
              <a:spLocks noChangeShapeType="1"/>
            </p:cNvSpPr>
            <p:nvPr/>
          </p:nvSpPr>
          <p:spPr bwMode="auto">
            <a:xfrm flipV="1">
              <a:off x="5148" y="3067"/>
              <a:ext cx="341" cy="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/>
              <a:endParaRPr lang="en-AU"/>
            </a:p>
          </p:txBody>
        </p:sp>
      </p:grpSp>
      <p:sp>
        <p:nvSpPr>
          <p:cNvPr id="780349" name="Rectangle 61"/>
          <p:cNvSpPr>
            <a:spLocks noChangeArrowheads="1"/>
          </p:cNvSpPr>
          <p:nvPr/>
        </p:nvSpPr>
        <p:spPr bwMode="auto">
          <a:xfrm>
            <a:off x="4267200" y="6235700"/>
            <a:ext cx="939800" cy="36933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/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Slave</a:t>
            </a:r>
          </a:p>
        </p:txBody>
      </p:sp>
      <p:sp>
        <p:nvSpPr>
          <p:cNvPr id="780350" name="Line 62"/>
          <p:cNvSpPr>
            <a:spLocks noChangeShapeType="1"/>
          </p:cNvSpPr>
          <p:nvPr/>
        </p:nvSpPr>
        <p:spPr bwMode="auto">
          <a:xfrm>
            <a:off x="5167313" y="6594475"/>
            <a:ext cx="1800225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pPr algn="ctr"/>
            <a:endParaRPr lang="en-AU"/>
          </a:p>
        </p:txBody>
      </p:sp>
      <p:sp>
        <p:nvSpPr>
          <p:cNvPr id="780351" name="Line 63"/>
          <p:cNvSpPr>
            <a:spLocks noChangeShapeType="1"/>
          </p:cNvSpPr>
          <p:nvPr/>
        </p:nvSpPr>
        <p:spPr bwMode="auto">
          <a:xfrm rot="-5400000">
            <a:off x="6788150" y="6415088"/>
            <a:ext cx="3587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pPr algn="ctr"/>
            <a:endParaRPr lang="en-AU"/>
          </a:p>
        </p:txBody>
      </p:sp>
      <p:sp>
        <p:nvSpPr>
          <p:cNvPr id="780352" name="Line 64"/>
          <p:cNvSpPr>
            <a:spLocks noChangeShapeType="1"/>
          </p:cNvSpPr>
          <p:nvPr/>
        </p:nvSpPr>
        <p:spPr bwMode="auto">
          <a:xfrm>
            <a:off x="6967538" y="6235700"/>
            <a:ext cx="1441450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pPr algn="ctr"/>
            <a:endParaRPr lang="en-AU"/>
          </a:p>
        </p:txBody>
      </p:sp>
      <p:sp>
        <p:nvSpPr>
          <p:cNvPr id="780353" name="AutoShape 65"/>
          <p:cNvSpPr>
            <a:spLocks noChangeArrowheads="1"/>
          </p:cNvSpPr>
          <p:nvPr/>
        </p:nvSpPr>
        <p:spPr bwMode="auto">
          <a:xfrm>
            <a:off x="487363" y="5154613"/>
            <a:ext cx="3421062" cy="900112"/>
          </a:xfrm>
          <a:prstGeom prst="wedgeRoundRectCallout">
            <a:avLst>
              <a:gd name="adj1" fmla="val 57889"/>
              <a:gd name="adj2" fmla="val 81218"/>
              <a:gd name="adj3" fmla="val 16667"/>
            </a:avLst>
          </a:prstGeom>
          <a:noFill/>
          <a:ln w="38100" algn="ctr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Looks like it is negative edge-triggered</a:t>
            </a:r>
          </a:p>
        </p:txBody>
      </p:sp>
      <p:sp>
        <p:nvSpPr>
          <p:cNvPr id="780354" name="Line 66"/>
          <p:cNvSpPr>
            <a:spLocks noChangeShapeType="1"/>
          </p:cNvSpPr>
          <p:nvPr/>
        </p:nvSpPr>
        <p:spPr bwMode="auto">
          <a:xfrm>
            <a:off x="5527675" y="3894138"/>
            <a:ext cx="1439863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 type="triangle" w="med" len="med"/>
            <a:tailEnd type="triangle" w="med" len="med"/>
          </a:ln>
          <a:effectLst/>
        </p:spPr>
        <p:txBody>
          <a:bodyPr lIns="0" tIns="0" rIns="0" bIns="0" anchor="ctr">
            <a:spAutoFit/>
          </a:bodyPr>
          <a:lstStyle/>
          <a:p>
            <a:pPr algn="ctr"/>
            <a:endParaRPr lang="en-AU"/>
          </a:p>
        </p:txBody>
      </p:sp>
      <p:sp>
        <p:nvSpPr>
          <p:cNvPr id="780355" name="Line 67"/>
          <p:cNvSpPr>
            <a:spLocks noChangeShapeType="1"/>
          </p:cNvSpPr>
          <p:nvPr/>
        </p:nvSpPr>
        <p:spPr bwMode="auto">
          <a:xfrm>
            <a:off x="6967538" y="3894138"/>
            <a:ext cx="1439862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 type="triangle" w="med" len="med"/>
            <a:tailEnd type="triangle" w="med" len="med"/>
          </a:ln>
          <a:effectLst/>
        </p:spPr>
        <p:txBody>
          <a:bodyPr lIns="0" tIns="0" rIns="0" bIns="0" anchor="ctr">
            <a:spAutoFit/>
          </a:bodyPr>
          <a:lstStyle/>
          <a:p>
            <a:pPr algn="ctr"/>
            <a:endParaRPr lang="en-AU"/>
          </a:p>
        </p:txBody>
      </p:sp>
      <p:sp>
        <p:nvSpPr>
          <p:cNvPr id="780356" name="Rectangle 68"/>
          <p:cNvSpPr>
            <a:spLocks noChangeArrowheads="1"/>
          </p:cNvSpPr>
          <p:nvPr/>
        </p:nvSpPr>
        <p:spPr bwMode="auto">
          <a:xfrm>
            <a:off x="5707063" y="3590925"/>
            <a:ext cx="939800" cy="276999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/>
            <a:r>
              <a:rPr lang="en-US" b="1" i="1">
                <a:latin typeface="Times New Roman" pitchFamily="18" charset="0"/>
                <a:cs typeface="Times New Roman" pitchFamily="18" charset="0"/>
              </a:rPr>
              <a:t>Master</a:t>
            </a:r>
          </a:p>
        </p:txBody>
      </p:sp>
      <p:sp>
        <p:nvSpPr>
          <p:cNvPr id="780357" name="Rectangle 69"/>
          <p:cNvSpPr>
            <a:spLocks noChangeArrowheads="1"/>
          </p:cNvSpPr>
          <p:nvPr/>
        </p:nvSpPr>
        <p:spPr bwMode="auto">
          <a:xfrm>
            <a:off x="7146925" y="3590925"/>
            <a:ext cx="939800" cy="276999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/>
            <a:r>
              <a:rPr lang="en-US" b="1" i="1">
                <a:latin typeface="Times New Roman" pitchFamily="18" charset="0"/>
                <a:cs typeface="Times New Roman" pitchFamily="18" charset="0"/>
              </a:rPr>
              <a:t>Slave</a:t>
            </a:r>
          </a:p>
        </p:txBody>
      </p:sp>
      <p:sp>
        <p:nvSpPr>
          <p:cNvPr id="72" name="Content Placeholder 7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Master-Slave </a:t>
            </a:r>
            <a:r>
              <a:rPr lang="en-US" i="1" dirty="0" smtClean="0"/>
              <a:t>D</a:t>
            </a:r>
            <a:r>
              <a:rPr lang="en-US" dirty="0" smtClean="0"/>
              <a:t> Flip-Flop</a:t>
            </a:r>
          </a:p>
          <a:p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80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780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80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80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80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780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780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500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780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80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54" dur="500" tmFilter="0, 0; .2, .5; .8, .5; 1, 0"/>
                                        <p:tgtEl>
                                          <p:spTgt spid="78035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5" dur="250" autoRev="1" fill="hold"/>
                                        <p:tgtEl>
                                          <p:spTgt spid="78035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780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780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5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5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780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000"/>
                            </p:stCondLst>
                            <p:childTnLst>
                              <p:par>
                                <p:cTn id="7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00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780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780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95" dur="500" tmFilter="0, 0; .2, .5; .8, .5; 1, 0"/>
                                        <p:tgtEl>
                                          <p:spTgt spid="78035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6" dur="250" autoRev="1" fill="hold"/>
                                        <p:tgtEl>
                                          <p:spTgt spid="78035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000"/>
                            </p:stCondLst>
                            <p:childTnLst>
                              <p:par>
                                <p:cTn id="9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780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500"/>
                            </p:stCondLst>
                            <p:childTnLst>
                              <p:par>
                                <p:cTn id="10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500"/>
                            </p:stCondLst>
                            <p:childTnLst>
                              <p:par>
                                <p:cTn id="10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780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7" dur="500"/>
                                        <p:tgtEl>
                                          <p:spTgt spid="780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0314" grpId="0"/>
      <p:bldP spid="780315" grpId="0"/>
      <p:bldP spid="780316" grpId="0"/>
      <p:bldP spid="780317" grpId="0" animBg="1"/>
      <p:bldP spid="780318" grpId="0" animBg="1"/>
      <p:bldP spid="780319" grpId="0" animBg="1"/>
      <p:bldP spid="780320" grpId="0" animBg="1"/>
      <p:bldP spid="780321" grpId="0" animBg="1"/>
      <p:bldP spid="780322" grpId="0" animBg="1"/>
      <p:bldP spid="780323" grpId="0" animBg="1"/>
      <p:bldP spid="780324" grpId="0" animBg="1"/>
      <p:bldP spid="780325" grpId="0" animBg="1"/>
      <p:bldP spid="780326" grpId="0" animBg="1"/>
      <p:bldP spid="780327" grpId="0" animBg="1"/>
      <p:bldP spid="780349" grpId="0"/>
      <p:bldP spid="780350" grpId="0" animBg="1"/>
      <p:bldP spid="780351" grpId="0" animBg="1"/>
      <p:bldP spid="780352" grpId="0" animBg="1"/>
      <p:bldP spid="780353" grpId="0" animBg="1"/>
      <p:bldP spid="780354" grpId="0" animBg="1"/>
      <p:bldP spid="780354" grpId="1" animBg="1"/>
      <p:bldP spid="780354" grpId="2" animBg="1"/>
      <p:bldP spid="780355" grpId="0" animBg="1"/>
      <p:bldP spid="780355" grpId="1" animBg="1"/>
      <p:bldP spid="780355" grpId="2" animBg="1"/>
      <p:bldP spid="780356" grpId="0"/>
      <p:bldP spid="780356" grpId="1"/>
      <p:bldP spid="780357" grpId="0"/>
      <p:bldP spid="780357" grpId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Flip-Flops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The circuit samples the </a:t>
            </a:r>
            <a:r>
              <a:rPr lang="en-AU" i="1" dirty="0" smtClean="0"/>
              <a:t>D</a:t>
            </a:r>
            <a:r>
              <a:rPr lang="en-AU" dirty="0" smtClean="0"/>
              <a:t> input and changes its output at the negative edge of the clock, </a:t>
            </a:r>
            <a:r>
              <a:rPr lang="en-AU" i="1" dirty="0" smtClean="0"/>
              <a:t>CLK</a:t>
            </a:r>
            <a:r>
              <a:rPr lang="en-AU" dirty="0" smtClean="0"/>
              <a:t>.</a:t>
            </a:r>
          </a:p>
          <a:p>
            <a:r>
              <a:rPr lang="en-AU" dirty="0" smtClean="0"/>
              <a:t>When the clock is 0, the output of the inverter is 1. The slave latch is enabled and its output </a:t>
            </a:r>
            <a:r>
              <a:rPr lang="en-AU" i="1" dirty="0" smtClean="0"/>
              <a:t>Q</a:t>
            </a:r>
            <a:r>
              <a:rPr lang="en-AU" dirty="0" smtClean="0"/>
              <a:t> is equal to the master output </a:t>
            </a:r>
            <a:r>
              <a:rPr lang="en-AU" i="1" dirty="0" smtClean="0"/>
              <a:t>Y</a:t>
            </a:r>
            <a:r>
              <a:rPr lang="en-AU" dirty="0" smtClean="0"/>
              <a:t>. The master latch is disabled (</a:t>
            </a:r>
            <a:r>
              <a:rPr lang="en-AU" i="1" dirty="0" smtClean="0"/>
              <a:t>CLK</a:t>
            </a:r>
            <a:r>
              <a:rPr lang="en-AU" dirty="0" smtClean="0"/>
              <a:t> = 0).</a:t>
            </a:r>
          </a:p>
          <a:p>
            <a:r>
              <a:rPr lang="en-AU" dirty="0" smtClean="0"/>
              <a:t>When the </a:t>
            </a:r>
            <a:r>
              <a:rPr lang="en-AU" i="1" dirty="0" smtClean="0"/>
              <a:t>CLK</a:t>
            </a:r>
            <a:r>
              <a:rPr lang="en-AU" dirty="0" smtClean="0"/>
              <a:t> changes to high, </a:t>
            </a:r>
            <a:r>
              <a:rPr lang="en-AU" i="1" dirty="0" smtClean="0"/>
              <a:t>D</a:t>
            </a:r>
            <a:r>
              <a:rPr lang="en-AU" dirty="0" smtClean="0"/>
              <a:t> input is transferred to the master latch. The slave remains disabled as long as </a:t>
            </a:r>
            <a:r>
              <a:rPr lang="en-AU" i="1" dirty="0" smtClean="0"/>
              <a:t>CLK</a:t>
            </a:r>
            <a:r>
              <a:rPr lang="en-AU" dirty="0" smtClean="0"/>
              <a:t> is low. Any change in the input changes </a:t>
            </a:r>
            <a:r>
              <a:rPr lang="en-AU" dirty="0" err="1" smtClean="0"/>
              <a:t>Y,but</a:t>
            </a:r>
            <a:r>
              <a:rPr lang="en-AU" dirty="0" smtClean="0"/>
              <a:t> not </a:t>
            </a:r>
            <a:r>
              <a:rPr lang="en-AU" i="1" dirty="0" smtClean="0"/>
              <a:t>Q</a:t>
            </a:r>
            <a:r>
              <a:rPr lang="en-AU" dirty="0" smtClean="0"/>
              <a:t>.</a:t>
            </a:r>
          </a:p>
          <a:p>
            <a:r>
              <a:rPr lang="en-AU" dirty="0" smtClean="0"/>
              <a:t>The output of the flip-flop can change when </a:t>
            </a:r>
            <a:r>
              <a:rPr lang="en-AU" i="1" dirty="0" smtClean="0"/>
              <a:t>CLK</a:t>
            </a:r>
            <a:r>
              <a:rPr lang="en-AU" dirty="0" smtClean="0"/>
              <a:t> makes a transition 1 → 0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Flip-Flops</a:t>
            </a:r>
          </a:p>
        </p:txBody>
      </p:sp>
      <p:graphicFrame>
        <p:nvGraphicFramePr>
          <p:cNvPr id="782340" name="Object 4"/>
          <p:cNvGraphicFramePr>
            <a:graphicFrameLocks noChangeAspect="1"/>
          </p:cNvGraphicFramePr>
          <p:nvPr/>
        </p:nvGraphicFramePr>
        <p:xfrm>
          <a:off x="258763" y="2208213"/>
          <a:ext cx="5580062" cy="424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742" name="Visio" r:id="rId4" imgW="2424257" imgH="1843918" progId="">
                  <p:embed/>
                </p:oleObj>
              </mc:Choice>
              <mc:Fallback>
                <p:oleObj name="Visio" r:id="rId4" imgW="2424257" imgH="1843918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763" y="2208213"/>
                        <a:ext cx="5580062" cy="424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6272213" y="2344738"/>
            <a:ext cx="1619250" cy="1439862"/>
            <a:chOff x="4467" y="913"/>
            <a:chExt cx="1020" cy="907"/>
          </a:xfrm>
        </p:grpSpPr>
        <p:sp>
          <p:nvSpPr>
            <p:cNvPr id="782342" name="Rectangle 6"/>
            <p:cNvSpPr>
              <a:spLocks noChangeArrowheads="1"/>
            </p:cNvSpPr>
            <p:nvPr/>
          </p:nvSpPr>
          <p:spPr bwMode="auto">
            <a:xfrm>
              <a:off x="4694" y="913"/>
              <a:ext cx="567" cy="907"/>
            </a:xfrm>
            <a:prstGeom prst="rect">
              <a:avLst/>
            </a:prstGeom>
            <a:solidFill>
              <a:srgbClr val="FFFF00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82343" name="Rectangle 7"/>
            <p:cNvSpPr>
              <a:spLocks noChangeArrowheads="1"/>
            </p:cNvSpPr>
            <p:nvPr/>
          </p:nvSpPr>
          <p:spPr bwMode="auto">
            <a:xfrm>
              <a:off x="4694" y="1026"/>
              <a:ext cx="227" cy="207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r>
                <a:rPr lang="en-US" sz="2400" b="1" i="1">
                  <a:solidFill>
                    <a:schemeClr val="accent2"/>
                  </a:solidFill>
                  <a:latin typeface="Times New Roman" pitchFamily="18" charset="0"/>
                  <a:cs typeface="Times New Roman" pitchFamily="18" charset="0"/>
                </a:rPr>
                <a:t>D</a:t>
              </a:r>
            </a:p>
          </p:txBody>
        </p:sp>
        <p:sp>
          <p:nvSpPr>
            <p:cNvPr id="782344" name="Line 8"/>
            <p:cNvSpPr>
              <a:spLocks noChangeShapeType="1"/>
            </p:cNvSpPr>
            <p:nvPr/>
          </p:nvSpPr>
          <p:spPr bwMode="auto">
            <a:xfrm>
              <a:off x="4694" y="1480"/>
              <a:ext cx="113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82345" name="Line 9"/>
            <p:cNvSpPr>
              <a:spLocks noChangeShapeType="1"/>
            </p:cNvSpPr>
            <p:nvPr/>
          </p:nvSpPr>
          <p:spPr bwMode="auto">
            <a:xfrm flipH="1">
              <a:off x="4694" y="1593"/>
              <a:ext cx="113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82346" name="Line 10"/>
            <p:cNvSpPr>
              <a:spLocks noChangeShapeType="1"/>
            </p:cNvSpPr>
            <p:nvPr/>
          </p:nvSpPr>
          <p:spPr bwMode="auto">
            <a:xfrm flipH="1">
              <a:off x="4467" y="1139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82347" name="Line 11"/>
            <p:cNvSpPr>
              <a:spLocks noChangeShapeType="1"/>
            </p:cNvSpPr>
            <p:nvPr/>
          </p:nvSpPr>
          <p:spPr bwMode="auto">
            <a:xfrm flipH="1">
              <a:off x="4467" y="1593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82348" name="Line 12"/>
            <p:cNvSpPr>
              <a:spLocks noChangeShapeType="1"/>
            </p:cNvSpPr>
            <p:nvPr/>
          </p:nvSpPr>
          <p:spPr bwMode="auto">
            <a:xfrm flipH="1">
              <a:off x="5261" y="1139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82349" name="Line 13"/>
            <p:cNvSpPr>
              <a:spLocks noChangeShapeType="1"/>
            </p:cNvSpPr>
            <p:nvPr/>
          </p:nvSpPr>
          <p:spPr bwMode="auto">
            <a:xfrm flipH="1">
              <a:off x="5261" y="1593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82350" name="Rectangle 14"/>
            <p:cNvSpPr>
              <a:spLocks noChangeArrowheads="1"/>
            </p:cNvSpPr>
            <p:nvPr/>
          </p:nvSpPr>
          <p:spPr bwMode="auto">
            <a:xfrm>
              <a:off x="5034" y="1026"/>
              <a:ext cx="227" cy="207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r>
                <a:rPr lang="en-US" sz="2400" b="1" i="1">
                  <a:solidFill>
                    <a:schemeClr val="accent2"/>
                  </a:solidFill>
                  <a:latin typeface="Times New Roman" pitchFamily="18" charset="0"/>
                  <a:cs typeface="Times New Roman" pitchFamily="18" charset="0"/>
                </a:rPr>
                <a:t>Q</a:t>
              </a:r>
            </a:p>
          </p:txBody>
        </p:sp>
        <p:sp>
          <p:nvSpPr>
            <p:cNvPr id="782351" name="Oval 15"/>
            <p:cNvSpPr>
              <a:spLocks noChangeAspect="1" noChangeArrowheads="1"/>
            </p:cNvSpPr>
            <p:nvPr/>
          </p:nvSpPr>
          <p:spPr bwMode="auto">
            <a:xfrm>
              <a:off x="5261" y="1551"/>
              <a:ext cx="79" cy="79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grpSp>
          <p:nvGrpSpPr>
            <p:cNvPr id="3" name="Group 16"/>
            <p:cNvGrpSpPr>
              <a:grpSpLocks/>
            </p:cNvGrpSpPr>
            <p:nvPr/>
          </p:nvGrpSpPr>
          <p:grpSpPr bwMode="auto">
            <a:xfrm>
              <a:off x="5034" y="1492"/>
              <a:ext cx="227" cy="214"/>
              <a:chOff x="5034" y="1492"/>
              <a:chExt cx="227" cy="214"/>
            </a:xfrm>
          </p:grpSpPr>
          <p:sp>
            <p:nvSpPr>
              <p:cNvPr id="782353" name="Rectangle 17"/>
              <p:cNvSpPr>
                <a:spLocks noChangeArrowheads="1"/>
              </p:cNvSpPr>
              <p:nvPr/>
            </p:nvSpPr>
            <p:spPr bwMode="auto">
              <a:xfrm>
                <a:off x="5034" y="1499"/>
                <a:ext cx="227" cy="207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r>
                  <a:rPr lang="en-US" sz="2400" b="1" i="1">
                    <a:solidFill>
                      <a:schemeClr val="accent2"/>
                    </a:solidFill>
                    <a:latin typeface="Times New Roman" pitchFamily="18" charset="0"/>
                    <a:cs typeface="Times New Roman" pitchFamily="18" charset="0"/>
                  </a:rPr>
                  <a:t>Q</a:t>
                </a:r>
              </a:p>
            </p:txBody>
          </p:sp>
          <p:sp>
            <p:nvSpPr>
              <p:cNvPr id="782354" name="Line 18"/>
              <p:cNvSpPr>
                <a:spLocks noChangeShapeType="1"/>
              </p:cNvSpPr>
              <p:nvPr/>
            </p:nvSpPr>
            <p:spPr bwMode="auto">
              <a:xfrm flipH="1">
                <a:off x="5099" y="1492"/>
                <a:ext cx="114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endParaRPr lang="en-AU"/>
              </a:p>
            </p:txBody>
          </p:sp>
        </p:grpSp>
      </p:grpSp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6273800" y="4684713"/>
            <a:ext cx="1619250" cy="1439862"/>
            <a:chOff x="4468" y="2387"/>
            <a:chExt cx="1020" cy="907"/>
          </a:xfrm>
        </p:grpSpPr>
        <p:sp>
          <p:nvSpPr>
            <p:cNvPr id="782356" name="Rectangle 20"/>
            <p:cNvSpPr>
              <a:spLocks noChangeArrowheads="1"/>
            </p:cNvSpPr>
            <p:nvPr/>
          </p:nvSpPr>
          <p:spPr bwMode="auto">
            <a:xfrm>
              <a:off x="4695" y="2387"/>
              <a:ext cx="567" cy="907"/>
            </a:xfrm>
            <a:prstGeom prst="rect">
              <a:avLst/>
            </a:prstGeom>
            <a:solidFill>
              <a:srgbClr val="FFFF00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82357" name="Rectangle 21"/>
            <p:cNvSpPr>
              <a:spLocks noChangeArrowheads="1"/>
            </p:cNvSpPr>
            <p:nvPr/>
          </p:nvSpPr>
          <p:spPr bwMode="auto">
            <a:xfrm>
              <a:off x="4695" y="2500"/>
              <a:ext cx="227" cy="207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r>
                <a:rPr lang="en-US" sz="2400" b="1" i="1">
                  <a:solidFill>
                    <a:schemeClr val="accent2"/>
                  </a:solidFill>
                  <a:latin typeface="Times New Roman" pitchFamily="18" charset="0"/>
                  <a:cs typeface="Times New Roman" pitchFamily="18" charset="0"/>
                </a:rPr>
                <a:t>D</a:t>
              </a:r>
            </a:p>
          </p:txBody>
        </p:sp>
        <p:sp>
          <p:nvSpPr>
            <p:cNvPr id="782358" name="Line 22"/>
            <p:cNvSpPr>
              <a:spLocks noChangeShapeType="1"/>
            </p:cNvSpPr>
            <p:nvPr/>
          </p:nvSpPr>
          <p:spPr bwMode="auto">
            <a:xfrm>
              <a:off x="4695" y="2954"/>
              <a:ext cx="113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82359" name="Line 23"/>
            <p:cNvSpPr>
              <a:spLocks noChangeShapeType="1"/>
            </p:cNvSpPr>
            <p:nvPr/>
          </p:nvSpPr>
          <p:spPr bwMode="auto">
            <a:xfrm flipH="1">
              <a:off x="4695" y="3067"/>
              <a:ext cx="113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82360" name="Line 24"/>
            <p:cNvSpPr>
              <a:spLocks noChangeShapeType="1"/>
            </p:cNvSpPr>
            <p:nvPr/>
          </p:nvSpPr>
          <p:spPr bwMode="auto">
            <a:xfrm flipH="1">
              <a:off x="4468" y="2613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82361" name="Line 25"/>
            <p:cNvSpPr>
              <a:spLocks noChangeShapeType="1"/>
            </p:cNvSpPr>
            <p:nvPr/>
          </p:nvSpPr>
          <p:spPr bwMode="auto">
            <a:xfrm flipH="1">
              <a:off x="4468" y="3067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82362" name="Line 26"/>
            <p:cNvSpPr>
              <a:spLocks noChangeShapeType="1"/>
            </p:cNvSpPr>
            <p:nvPr/>
          </p:nvSpPr>
          <p:spPr bwMode="auto">
            <a:xfrm flipH="1">
              <a:off x="5262" y="2613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82363" name="Line 27"/>
            <p:cNvSpPr>
              <a:spLocks noChangeShapeType="1"/>
            </p:cNvSpPr>
            <p:nvPr/>
          </p:nvSpPr>
          <p:spPr bwMode="auto">
            <a:xfrm flipH="1">
              <a:off x="5262" y="3067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82364" name="Rectangle 28"/>
            <p:cNvSpPr>
              <a:spLocks noChangeArrowheads="1"/>
            </p:cNvSpPr>
            <p:nvPr/>
          </p:nvSpPr>
          <p:spPr bwMode="auto">
            <a:xfrm>
              <a:off x="5035" y="2500"/>
              <a:ext cx="227" cy="207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r>
                <a:rPr lang="en-US" sz="2400" b="1" i="1">
                  <a:solidFill>
                    <a:schemeClr val="accent2"/>
                  </a:solidFill>
                  <a:latin typeface="Times New Roman" pitchFamily="18" charset="0"/>
                  <a:cs typeface="Times New Roman" pitchFamily="18" charset="0"/>
                </a:rPr>
                <a:t>Q</a:t>
              </a:r>
            </a:p>
          </p:txBody>
        </p:sp>
        <p:sp>
          <p:nvSpPr>
            <p:cNvPr id="782365" name="Oval 29"/>
            <p:cNvSpPr>
              <a:spLocks noChangeAspect="1" noChangeArrowheads="1"/>
            </p:cNvSpPr>
            <p:nvPr/>
          </p:nvSpPr>
          <p:spPr bwMode="auto">
            <a:xfrm>
              <a:off x="5262" y="3025"/>
              <a:ext cx="79" cy="79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grpSp>
          <p:nvGrpSpPr>
            <p:cNvPr id="5" name="Group 30"/>
            <p:cNvGrpSpPr>
              <a:grpSpLocks/>
            </p:cNvGrpSpPr>
            <p:nvPr/>
          </p:nvGrpSpPr>
          <p:grpSpPr bwMode="auto">
            <a:xfrm>
              <a:off x="5035" y="2966"/>
              <a:ext cx="227" cy="214"/>
              <a:chOff x="5034" y="1492"/>
              <a:chExt cx="227" cy="214"/>
            </a:xfrm>
          </p:grpSpPr>
          <p:sp>
            <p:nvSpPr>
              <p:cNvPr id="782367" name="Rectangle 31"/>
              <p:cNvSpPr>
                <a:spLocks noChangeArrowheads="1"/>
              </p:cNvSpPr>
              <p:nvPr/>
            </p:nvSpPr>
            <p:spPr bwMode="auto">
              <a:xfrm>
                <a:off x="5034" y="1499"/>
                <a:ext cx="227" cy="207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r>
                  <a:rPr lang="en-US" sz="2400" b="1" i="1">
                    <a:solidFill>
                      <a:schemeClr val="accent2"/>
                    </a:solidFill>
                    <a:latin typeface="Times New Roman" pitchFamily="18" charset="0"/>
                    <a:cs typeface="Times New Roman" pitchFamily="18" charset="0"/>
                  </a:rPr>
                  <a:t>Q</a:t>
                </a:r>
              </a:p>
            </p:txBody>
          </p:sp>
          <p:sp>
            <p:nvSpPr>
              <p:cNvPr id="782368" name="Line 32"/>
              <p:cNvSpPr>
                <a:spLocks noChangeShapeType="1"/>
              </p:cNvSpPr>
              <p:nvPr/>
            </p:nvSpPr>
            <p:spPr bwMode="auto">
              <a:xfrm flipH="1">
                <a:off x="5099" y="1492"/>
                <a:ext cx="114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endParaRPr lang="en-AU"/>
              </a:p>
            </p:txBody>
          </p:sp>
        </p:grpSp>
        <p:sp>
          <p:nvSpPr>
            <p:cNvPr id="782369" name="Oval 33"/>
            <p:cNvSpPr>
              <a:spLocks noChangeAspect="1" noChangeArrowheads="1"/>
            </p:cNvSpPr>
            <p:nvPr/>
          </p:nvSpPr>
          <p:spPr bwMode="auto">
            <a:xfrm>
              <a:off x="4613" y="3027"/>
              <a:ext cx="79" cy="79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</p:grpSp>
      <p:sp>
        <p:nvSpPr>
          <p:cNvPr id="782370" name="Rectangle 34"/>
          <p:cNvSpPr>
            <a:spLocks noChangeArrowheads="1"/>
          </p:cNvSpPr>
          <p:nvPr/>
        </p:nvSpPr>
        <p:spPr bwMode="auto">
          <a:xfrm>
            <a:off x="6273800" y="3870325"/>
            <a:ext cx="1698625" cy="32861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Positive Edge</a:t>
            </a:r>
          </a:p>
        </p:txBody>
      </p:sp>
      <p:sp>
        <p:nvSpPr>
          <p:cNvPr id="782371" name="Rectangle 35"/>
          <p:cNvSpPr>
            <a:spLocks noChangeArrowheads="1"/>
          </p:cNvSpPr>
          <p:nvPr/>
        </p:nvSpPr>
        <p:spPr bwMode="auto">
          <a:xfrm>
            <a:off x="6092825" y="6213475"/>
            <a:ext cx="1879600" cy="32861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Negative Edge</a:t>
            </a:r>
          </a:p>
        </p:txBody>
      </p:sp>
      <p:sp>
        <p:nvSpPr>
          <p:cNvPr id="782372" name="Rectangle 36"/>
          <p:cNvSpPr>
            <a:spLocks noChangeArrowheads="1"/>
          </p:cNvSpPr>
          <p:nvPr/>
        </p:nvSpPr>
        <p:spPr bwMode="auto">
          <a:xfrm>
            <a:off x="1158875" y="2093913"/>
            <a:ext cx="4203700" cy="4500562"/>
          </a:xfrm>
          <a:prstGeom prst="rect">
            <a:avLst/>
          </a:prstGeom>
          <a:noFill/>
          <a:ln w="38100" cap="rnd" algn="ctr">
            <a:solidFill>
              <a:schemeClr val="accent1"/>
            </a:solidFill>
            <a:prstDash val="sysDot"/>
            <a:miter lim="800000"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39" name="Content Placeholder 38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Edge-Triggered </a:t>
            </a:r>
            <a:r>
              <a:rPr lang="en-US" i="1" dirty="0" smtClean="0"/>
              <a:t>D</a:t>
            </a:r>
            <a:r>
              <a:rPr lang="en-US" dirty="0" smtClean="0"/>
              <a:t> Flip-Flop</a:t>
            </a:r>
          </a:p>
          <a:p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82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82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82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2370" grpId="0"/>
      <p:bldP spid="782371" grpId="0"/>
      <p:bldP spid="78237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Flip-Flops: </a:t>
            </a:r>
            <a:br>
              <a:rPr lang="en-US" dirty="0" smtClean="0"/>
            </a:br>
            <a:r>
              <a:rPr lang="en-US" dirty="0" smtClean="0"/>
              <a:t>Edge-Triggered </a:t>
            </a:r>
            <a:r>
              <a:rPr lang="en-US" i="1" dirty="0" smtClean="0"/>
              <a:t>D</a:t>
            </a:r>
            <a:r>
              <a:rPr lang="en-US" dirty="0" smtClean="0"/>
              <a:t> Flip-Flop</a:t>
            </a:r>
            <a:endParaRPr lang="en-US" dirty="0"/>
          </a:p>
        </p:txBody>
      </p:sp>
      <p:pic>
        <p:nvPicPr>
          <p:cNvPr id="257027" name="Picture 3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89878" y="1600200"/>
            <a:ext cx="4630843" cy="487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Flip-Flops</a:t>
            </a:r>
            <a:endParaRPr lang="en-AU" dirty="0"/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571500" y="1752600"/>
            <a:ext cx="81915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400" b="1" dirty="0"/>
              <a:t>Set-up time</a:t>
            </a:r>
            <a:r>
              <a:rPr lang="en-US" sz="2400" dirty="0"/>
              <a:t> and </a:t>
            </a:r>
            <a:r>
              <a:rPr lang="en-US" sz="2400" b="1" dirty="0"/>
              <a:t>hold time</a:t>
            </a:r>
            <a:r>
              <a:rPr lang="en-US" sz="2400" dirty="0"/>
              <a:t> are times required before and after the clock transition that data must be present to be reliably clocked into the flip-flop.</a:t>
            </a:r>
          </a:p>
        </p:txBody>
      </p:sp>
      <p:graphicFrame>
        <p:nvGraphicFramePr>
          <p:cNvPr id="8" name="Object 22"/>
          <p:cNvGraphicFramePr>
            <a:graphicFrameLocks noChangeAspect="1"/>
          </p:cNvGraphicFramePr>
          <p:nvPr/>
        </p:nvGraphicFramePr>
        <p:xfrm>
          <a:off x="4876800" y="3016250"/>
          <a:ext cx="3084513" cy="1179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089" name="CorelDRAW" r:id="rId4" imgW="2798280" imgH="1056240" progId="">
                  <p:embed/>
                </p:oleObj>
              </mc:Choice>
              <mc:Fallback>
                <p:oleObj name="CorelDRAW" r:id="rId4" imgW="2798280" imgH="1056240" progId="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3016250"/>
                        <a:ext cx="3084513" cy="1179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3"/>
          <p:cNvGraphicFramePr>
            <a:graphicFrameLocks noChangeAspect="1"/>
          </p:cNvGraphicFramePr>
          <p:nvPr/>
        </p:nvGraphicFramePr>
        <p:xfrm>
          <a:off x="4800600" y="4724400"/>
          <a:ext cx="3200400" cy="1252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090" name="CorelDRAW" r:id="rId6" imgW="2789280" imgH="1075320" progId="">
                  <p:embed/>
                </p:oleObj>
              </mc:Choice>
              <mc:Fallback>
                <p:oleObj name="CorelDRAW" r:id="rId6" imgW="2789280" imgH="107532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4724400"/>
                        <a:ext cx="3200400" cy="1252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24"/>
          <p:cNvSpPr txBox="1">
            <a:spLocks noChangeArrowheads="1"/>
          </p:cNvSpPr>
          <p:nvPr/>
        </p:nvSpPr>
        <p:spPr bwMode="auto">
          <a:xfrm>
            <a:off x="590550" y="3124200"/>
            <a:ext cx="39243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/>
              <a:t>Setup time</a:t>
            </a:r>
            <a:r>
              <a:rPr lang="en-US" sz="2000" dirty="0"/>
              <a:t> is the minimum time for the data to be present </a:t>
            </a:r>
            <a:r>
              <a:rPr lang="en-US" sz="2000" i="1" dirty="0"/>
              <a:t>before</a:t>
            </a:r>
            <a:r>
              <a:rPr lang="en-US" sz="2000" dirty="0"/>
              <a:t> the clock. </a:t>
            </a:r>
          </a:p>
        </p:txBody>
      </p:sp>
      <p:sp>
        <p:nvSpPr>
          <p:cNvPr id="11" name="Text Box 25"/>
          <p:cNvSpPr txBox="1">
            <a:spLocks noChangeArrowheads="1"/>
          </p:cNvSpPr>
          <p:nvPr/>
        </p:nvSpPr>
        <p:spPr bwMode="auto">
          <a:xfrm>
            <a:off x="609600" y="4708525"/>
            <a:ext cx="38481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/>
              <a:t>Hold time</a:t>
            </a:r>
            <a:r>
              <a:rPr lang="en-US" sz="2000" dirty="0"/>
              <a:t> is the minimum time for the data to </a:t>
            </a:r>
            <a:r>
              <a:rPr lang="en-US" sz="2000" i="1" dirty="0"/>
              <a:t>remain</a:t>
            </a:r>
            <a:r>
              <a:rPr lang="en-US" sz="2000" dirty="0"/>
              <a:t> after the clock. </a:t>
            </a:r>
          </a:p>
        </p:txBody>
      </p:sp>
      <p:sp>
        <p:nvSpPr>
          <p:cNvPr id="12" name="Rectangle 26"/>
          <p:cNvSpPr>
            <a:spLocks noChangeArrowheads="1"/>
          </p:cNvSpPr>
          <p:nvPr/>
        </p:nvSpPr>
        <p:spPr bwMode="auto">
          <a:xfrm>
            <a:off x="4419600" y="3625850"/>
            <a:ext cx="3365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i="1">
                <a:solidFill>
                  <a:srgbClr val="000000"/>
                </a:solidFill>
                <a:latin typeface="Times" pitchFamily="18" charset="0"/>
              </a:rPr>
              <a:t>CLK</a:t>
            </a:r>
            <a:endParaRPr lang="en-US"/>
          </a:p>
        </p:txBody>
      </p:sp>
      <p:sp>
        <p:nvSpPr>
          <p:cNvPr id="13" name="Rectangle 27"/>
          <p:cNvSpPr>
            <a:spLocks noChangeArrowheads="1"/>
          </p:cNvSpPr>
          <p:nvPr/>
        </p:nvSpPr>
        <p:spPr bwMode="auto">
          <a:xfrm>
            <a:off x="4648200" y="3092450"/>
            <a:ext cx="1285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i="1">
                <a:solidFill>
                  <a:srgbClr val="000000"/>
                </a:solidFill>
                <a:latin typeface="Times" pitchFamily="18" charset="0"/>
              </a:rPr>
              <a:t>D</a:t>
            </a:r>
            <a:endParaRPr lang="en-US"/>
          </a:p>
        </p:txBody>
      </p:sp>
      <p:sp>
        <p:nvSpPr>
          <p:cNvPr id="14" name="Rectangle 28"/>
          <p:cNvSpPr>
            <a:spLocks noChangeArrowheads="1"/>
          </p:cNvSpPr>
          <p:nvPr/>
        </p:nvSpPr>
        <p:spPr bwMode="auto">
          <a:xfrm>
            <a:off x="4419600" y="5257800"/>
            <a:ext cx="3365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i="1">
                <a:solidFill>
                  <a:srgbClr val="000000"/>
                </a:solidFill>
                <a:latin typeface="Times" pitchFamily="18" charset="0"/>
              </a:rPr>
              <a:t>CLK</a:t>
            </a:r>
            <a:endParaRPr lang="en-US"/>
          </a:p>
        </p:txBody>
      </p:sp>
      <p:sp>
        <p:nvSpPr>
          <p:cNvPr id="15" name="Rectangle 29"/>
          <p:cNvSpPr>
            <a:spLocks noChangeArrowheads="1"/>
          </p:cNvSpPr>
          <p:nvPr/>
        </p:nvSpPr>
        <p:spPr bwMode="auto">
          <a:xfrm>
            <a:off x="4648200" y="4724400"/>
            <a:ext cx="1285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i="1">
                <a:solidFill>
                  <a:srgbClr val="000000"/>
                </a:solidFill>
                <a:latin typeface="Times" pitchFamily="18" charset="0"/>
              </a:rPr>
              <a:t>D</a:t>
            </a:r>
            <a:endParaRPr lang="en-US"/>
          </a:p>
        </p:txBody>
      </p:sp>
      <p:sp>
        <p:nvSpPr>
          <p:cNvPr id="16" name="Text Box 30"/>
          <p:cNvSpPr txBox="1">
            <a:spLocks noChangeArrowheads="1"/>
          </p:cNvSpPr>
          <p:nvPr/>
        </p:nvSpPr>
        <p:spPr bwMode="auto">
          <a:xfrm>
            <a:off x="5257800" y="4159250"/>
            <a:ext cx="20002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dirty="0">
                <a:solidFill>
                  <a:srgbClr val="FF0066"/>
                </a:solidFill>
              </a:rPr>
              <a:t>Set-up time, </a:t>
            </a:r>
            <a:r>
              <a:rPr lang="en-US" sz="1600" i="1" dirty="0" err="1">
                <a:solidFill>
                  <a:srgbClr val="FF0066"/>
                </a:solidFill>
              </a:rPr>
              <a:t>t</a:t>
            </a:r>
            <a:r>
              <a:rPr lang="en-US" sz="1600" i="1" baseline="-25000" dirty="0" err="1">
                <a:solidFill>
                  <a:srgbClr val="FF0066"/>
                </a:solidFill>
              </a:rPr>
              <a:t>s</a:t>
            </a:r>
            <a:endParaRPr lang="en-US" sz="1600" i="1" baseline="-25000" dirty="0">
              <a:solidFill>
                <a:srgbClr val="FF0066"/>
              </a:solidFill>
            </a:endParaRPr>
          </a:p>
        </p:txBody>
      </p:sp>
      <p:sp>
        <p:nvSpPr>
          <p:cNvPr id="17" name="Text Box 31"/>
          <p:cNvSpPr txBox="1">
            <a:spLocks noChangeArrowheads="1"/>
          </p:cNvSpPr>
          <p:nvPr/>
        </p:nvSpPr>
        <p:spPr bwMode="auto">
          <a:xfrm>
            <a:off x="5334000" y="5911850"/>
            <a:ext cx="152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dirty="0">
                <a:solidFill>
                  <a:srgbClr val="FF0066"/>
                </a:solidFill>
              </a:rPr>
              <a:t>Hold time, </a:t>
            </a:r>
            <a:r>
              <a:rPr lang="en-US" sz="1600" i="1" dirty="0" err="1">
                <a:solidFill>
                  <a:srgbClr val="FF0066"/>
                </a:solidFill>
              </a:rPr>
              <a:t>t</a:t>
            </a:r>
            <a:r>
              <a:rPr lang="en-US" sz="1600" i="1" baseline="-25000" dirty="0" err="1">
                <a:solidFill>
                  <a:srgbClr val="FF0066"/>
                </a:solidFill>
              </a:rPr>
              <a:t>H</a:t>
            </a:r>
            <a:endParaRPr lang="en-US" sz="1600" i="1" baseline="-25000" dirty="0">
              <a:solidFill>
                <a:srgbClr val="FF006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9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00"/>
                            </p:stCondLst>
                            <p:childTnLst>
                              <p:par>
                                <p:cTn id="57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9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ontent Placeholder 2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b="1" i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i="1" dirty="0"/>
              <a:t>JK</a:t>
            </a:r>
            <a:r>
              <a:rPr lang="en-US" dirty="0"/>
              <a:t> Flip-Flop : </a:t>
            </a: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JQ’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K’Q</a:t>
            </a:r>
          </a:p>
          <a:p>
            <a:endParaRPr lang="en-AU" smtClean="0"/>
          </a:p>
          <a:p>
            <a:r>
              <a:rPr lang="en-AU" smtClean="0"/>
              <a:t>When </a:t>
            </a:r>
            <a:r>
              <a:rPr lang="en-AU" i="1" dirty="0" smtClean="0"/>
              <a:t>J</a:t>
            </a:r>
            <a:r>
              <a:rPr lang="en-AU" dirty="0" smtClean="0"/>
              <a:t> = 1 and </a:t>
            </a:r>
            <a:r>
              <a:rPr lang="en-AU" i="1" dirty="0" smtClean="0"/>
              <a:t>K</a:t>
            </a:r>
            <a:r>
              <a:rPr lang="en-AU" dirty="0" smtClean="0"/>
              <a:t> = 0, </a:t>
            </a:r>
            <a:r>
              <a:rPr lang="en-AU" i="1" dirty="0" smtClean="0"/>
              <a:t>D</a:t>
            </a:r>
            <a:r>
              <a:rPr lang="en-AU" dirty="0" smtClean="0"/>
              <a:t> = 1 → next clock edge sets output to 1.</a:t>
            </a:r>
          </a:p>
          <a:p>
            <a:r>
              <a:rPr lang="en-AU" dirty="0" smtClean="0"/>
              <a:t>When </a:t>
            </a:r>
            <a:r>
              <a:rPr lang="en-AU" i="1" dirty="0" smtClean="0"/>
              <a:t>J</a:t>
            </a:r>
            <a:r>
              <a:rPr lang="en-AU" dirty="0" smtClean="0"/>
              <a:t> = 0 and </a:t>
            </a:r>
            <a:r>
              <a:rPr lang="en-AU" i="1" dirty="0" smtClean="0"/>
              <a:t>K</a:t>
            </a:r>
            <a:r>
              <a:rPr lang="en-AU" dirty="0" smtClean="0"/>
              <a:t> = 1, </a:t>
            </a:r>
            <a:r>
              <a:rPr lang="en-AU" i="1" dirty="0" smtClean="0"/>
              <a:t>D</a:t>
            </a:r>
            <a:r>
              <a:rPr lang="en-AU" dirty="0" smtClean="0"/>
              <a:t> = 0 → next clock edge resets output to 0.</a:t>
            </a:r>
          </a:p>
          <a:p>
            <a:r>
              <a:rPr lang="en-AU" dirty="0" smtClean="0"/>
              <a:t>When </a:t>
            </a:r>
            <a:r>
              <a:rPr lang="en-AU" i="1" dirty="0" smtClean="0"/>
              <a:t>J</a:t>
            </a:r>
            <a:r>
              <a:rPr lang="en-AU" dirty="0" smtClean="0"/>
              <a:t> = 1 and </a:t>
            </a:r>
            <a:r>
              <a:rPr lang="en-AU" i="1" dirty="0" smtClean="0"/>
              <a:t>K</a:t>
            </a:r>
            <a:r>
              <a:rPr lang="en-AU" dirty="0" smtClean="0"/>
              <a:t> = 1, </a:t>
            </a:r>
            <a:r>
              <a:rPr lang="en-AU" i="1" dirty="0" smtClean="0"/>
              <a:t>D</a:t>
            </a:r>
            <a:r>
              <a:rPr lang="en-AU" dirty="0" smtClean="0"/>
              <a:t>=</a:t>
            </a:r>
            <a:r>
              <a:rPr lang="en-AU" i="1" dirty="0" smtClean="0"/>
              <a:t> Q’</a:t>
            </a:r>
            <a:r>
              <a:rPr lang="en-AU" dirty="0" smtClean="0"/>
              <a:t> → next clock edge complements output.</a:t>
            </a:r>
          </a:p>
          <a:p>
            <a:r>
              <a:rPr lang="en-AU" dirty="0" smtClean="0"/>
              <a:t>When </a:t>
            </a:r>
            <a:r>
              <a:rPr lang="en-AU" i="1" dirty="0" smtClean="0"/>
              <a:t>J</a:t>
            </a:r>
            <a:r>
              <a:rPr lang="en-AU" dirty="0" smtClean="0"/>
              <a:t> = 0 and </a:t>
            </a:r>
            <a:r>
              <a:rPr lang="en-AU" i="1" dirty="0" smtClean="0"/>
              <a:t>K</a:t>
            </a:r>
            <a:r>
              <a:rPr lang="en-AU" dirty="0" smtClean="0"/>
              <a:t> = 0, </a:t>
            </a:r>
            <a:r>
              <a:rPr lang="en-AU" i="1" dirty="0" smtClean="0"/>
              <a:t>D</a:t>
            </a:r>
            <a:r>
              <a:rPr lang="en-AU" dirty="0" smtClean="0"/>
              <a:t>= </a:t>
            </a:r>
            <a:r>
              <a:rPr lang="en-AU" i="1" dirty="0" smtClean="0"/>
              <a:t>Q</a:t>
            </a:r>
            <a:r>
              <a:rPr lang="en-AU" dirty="0" smtClean="0"/>
              <a:t> → next clock edge leaves output unchanged.</a:t>
            </a:r>
          </a:p>
          <a:p>
            <a:endParaRPr lang="en-AU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/>
          </a:p>
          <a:p>
            <a:endParaRPr lang="en-AU" dirty="0"/>
          </a:p>
        </p:txBody>
      </p:sp>
      <p:sp>
        <p:nvSpPr>
          <p:cNvPr id="784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JK Flip-Flops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84388" name="Object 4"/>
          <p:cNvGraphicFramePr>
            <a:graphicFrameLocks noChangeAspect="1"/>
          </p:cNvGraphicFramePr>
          <p:nvPr/>
        </p:nvGraphicFramePr>
        <p:xfrm>
          <a:off x="582613" y="2176463"/>
          <a:ext cx="7559675" cy="2749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766" name="Visio" r:id="rId4" imgW="2914863" imgH="1060704" progId="">
                  <p:embed/>
                </p:oleObj>
              </mc:Choice>
              <mc:Fallback>
                <p:oleObj name="Visio" r:id="rId4" imgW="2914863" imgH="1060704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613" y="2176463"/>
                        <a:ext cx="7559675" cy="2749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Content Placeholder 2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i="1" dirty="0" smtClean="0"/>
              <a:t>JK</a:t>
            </a:r>
            <a:r>
              <a:rPr lang="en-US" dirty="0" smtClean="0"/>
              <a:t> Flip-Flop</a:t>
            </a:r>
          </a:p>
          <a:p>
            <a:endParaRPr lang="en-AU" dirty="0"/>
          </a:p>
        </p:txBody>
      </p:sp>
      <p:sp>
        <p:nvSpPr>
          <p:cNvPr id="784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JK Flip-Flops</a:t>
            </a:r>
            <a:endParaRPr lang="en-US" dirty="0"/>
          </a:p>
        </p:txBody>
      </p:sp>
      <p:sp>
        <p:nvSpPr>
          <p:cNvPr id="784405" name="Rectangle 21"/>
          <p:cNvSpPr>
            <a:spLocks noChangeArrowheads="1"/>
          </p:cNvSpPr>
          <p:nvPr/>
        </p:nvSpPr>
        <p:spPr bwMode="auto">
          <a:xfrm>
            <a:off x="1301750" y="5599113"/>
            <a:ext cx="2207336" cy="430887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JQ’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K’Q</a:t>
            </a:r>
          </a:p>
        </p:txBody>
      </p:sp>
      <p:sp>
        <p:nvSpPr>
          <p:cNvPr id="784406" name="Rectangle 22"/>
          <p:cNvSpPr>
            <a:spLocks noChangeArrowheads="1"/>
          </p:cNvSpPr>
          <p:nvPr/>
        </p:nvSpPr>
        <p:spPr bwMode="auto">
          <a:xfrm>
            <a:off x="1187450" y="2114550"/>
            <a:ext cx="6300788" cy="2879725"/>
          </a:xfrm>
          <a:prstGeom prst="rect">
            <a:avLst/>
          </a:prstGeom>
          <a:noFill/>
          <a:ln w="38100" cap="rnd" algn="ctr">
            <a:solidFill>
              <a:schemeClr val="accent1"/>
            </a:solidFill>
            <a:prstDash val="sysDot"/>
            <a:miter lim="800000"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grpSp>
        <p:nvGrpSpPr>
          <p:cNvPr id="2" name="Group 25"/>
          <p:cNvGrpSpPr/>
          <p:nvPr/>
        </p:nvGrpSpPr>
        <p:grpSpPr>
          <a:xfrm>
            <a:off x="5159375" y="5059363"/>
            <a:ext cx="1619250" cy="1620837"/>
            <a:chOff x="5159375" y="5059363"/>
            <a:chExt cx="1619250" cy="1620837"/>
          </a:xfrm>
        </p:grpSpPr>
        <p:sp>
          <p:nvSpPr>
            <p:cNvPr id="784390" name="Rectangle 6"/>
            <p:cNvSpPr>
              <a:spLocks noChangeArrowheads="1"/>
            </p:cNvSpPr>
            <p:nvPr/>
          </p:nvSpPr>
          <p:spPr bwMode="auto">
            <a:xfrm>
              <a:off x="5519738" y="5059363"/>
              <a:ext cx="900113" cy="1620837"/>
            </a:xfrm>
            <a:prstGeom prst="rect">
              <a:avLst/>
            </a:prstGeom>
            <a:solidFill>
              <a:srgbClr val="66FFFF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 dirty="0"/>
            </a:p>
          </p:txBody>
        </p:sp>
        <p:sp>
          <p:nvSpPr>
            <p:cNvPr id="784391" name="Rectangle 7"/>
            <p:cNvSpPr>
              <a:spLocks noChangeArrowheads="1"/>
            </p:cNvSpPr>
            <p:nvPr/>
          </p:nvSpPr>
          <p:spPr bwMode="auto">
            <a:xfrm>
              <a:off x="5519738" y="5238750"/>
              <a:ext cx="360363" cy="36933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J</a:t>
              </a:r>
            </a:p>
          </p:txBody>
        </p:sp>
        <p:sp>
          <p:nvSpPr>
            <p:cNvPr id="784392" name="Line 8"/>
            <p:cNvSpPr>
              <a:spLocks noChangeShapeType="1"/>
            </p:cNvSpPr>
            <p:nvPr/>
          </p:nvSpPr>
          <p:spPr bwMode="auto">
            <a:xfrm>
              <a:off x="5519738" y="5692775"/>
              <a:ext cx="179388" cy="17938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84393" name="Line 9"/>
            <p:cNvSpPr>
              <a:spLocks noChangeShapeType="1"/>
            </p:cNvSpPr>
            <p:nvPr/>
          </p:nvSpPr>
          <p:spPr bwMode="auto">
            <a:xfrm flipH="1">
              <a:off x="5519738" y="5872163"/>
              <a:ext cx="179388" cy="17938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84394" name="Line 10"/>
            <p:cNvSpPr>
              <a:spLocks noChangeShapeType="1"/>
            </p:cNvSpPr>
            <p:nvPr/>
          </p:nvSpPr>
          <p:spPr bwMode="auto">
            <a:xfrm flipH="1">
              <a:off x="5159375" y="5418138"/>
              <a:ext cx="360363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84395" name="Line 11"/>
            <p:cNvSpPr>
              <a:spLocks noChangeShapeType="1"/>
            </p:cNvSpPr>
            <p:nvPr/>
          </p:nvSpPr>
          <p:spPr bwMode="auto">
            <a:xfrm flipH="1">
              <a:off x="5159375" y="5872163"/>
              <a:ext cx="360363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84396" name="Line 12"/>
            <p:cNvSpPr>
              <a:spLocks noChangeShapeType="1"/>
            </p:cNvSpPr>
            <p:nvPr/>
          </p:nvSpPr>
          <p:spPr bwMode="auto">
            <a:xfrm flipH="1">
              <a:off x="6419850" y="5418138"/>
              <a:ext cx="358775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84397" name="Line 13"/>
            <p:cNvSpPr>
              <a:spLocks noChangeShapeType="1"/>
            </p:cNvSpPr>
            <p:nvPr/>
          </p:nvSpPr>
          <p:spPr bwMode="auto">
            <a:xfrm flipH="1">
              <a:off x="6419850" y="6319838"/>
              <a:ext cx="358775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84398" name="Rectangle 14"/>
            <p:cNvSpPr>
              <a:spLocks noChangeArrowheads="1"/>
            </p:cNvSpPr>
            <p:nvPr/>
          </p:nvSpPr>
          <p:spPr bwMode="auto">
            <a:xfrm>
              <a:off x="6059488" y="5238750"/>
              <a:ext cx="360363" cy="36933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Q</a:t>
              </a:r>
            </a:p>
          </p:txBody>
        </p:sp>
        <p:sp>
          <p:nvSpPr>
            <p:cNvPr id="784399" name="Oval 15"/>
            <p:cNvSpPr>
              <a:spLocks noChangeAspect="1" noChangeArrowheads="1"/>
            </p:cNvSpPr>
            <p:nvPr/>
          </p:nvSpPr>
          <p:spPr bwMode="auto">
            <a:xfrm>
              <a:off x="6419850" y="6253163"/>
              <a:ext cx="125413" cy="125412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grpSp>
          <p:nvGrpSpPr>
            <p:cNvPr id="3" name="Group 16"/>
            <p:cNvGrpSpPr>
              <a:grpSpLocks/>
            </p:cNvGrpSpPr>
            <p:nvPr/>
          </p:nvGrpSpPr>
          <p:grpSpPr bwMode="auto">
            <a:xfrm>
              <a:off x="6059488" y="6159504"/>
              <a:ext cx="360363" cy="381000"/>
              <a:chOff x="5034" y="1492"/>
              <a:chExt cx="227" cy="240"/>
            </a:xfrm>
          </p:grpSpPr>
          <p:sp>
            <p:nvSpPr>
              <p:cNvPr id="784401" name="Rectangle 17"/>
              <p:cNvSpPr>
                <a:spLocks noChangeArrowheads="1"/>
              </p:cNvSpPr>
              <p:nvPr/>
            </p:nvSpPr>
            <p:spPr bwMode="auto">
              <a:xfrm>
                <a:off x="5034" y="1499"/>
                <a:ext cx="227" cy="23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r>
                  <a:rPr lang="en-US" sz="2400" b="1" i="1" dirty="0">
                    <a:latin typeface="Times New Roman" pitchFamily="18" charset="0"/>
                    <a:cs typeface="Times New Roman" pitchFamily="18" charset="0"/>
                  </a:rPr>
                  <a:t>Q</a:t>
                </a:r>
              </a:p>
            </p:txBody>
          </p:sp>
          <p:sp>
            <p:nvSpPr>
              <p:cNvPr id="784402" name="Line 18"/>
              <p:cNvSpPr>
                <a:spLocks noChangeShapeType="1"/>
              </p:cNvSpPr>
              <p:nvPr/>
            </p:nvSpPr>
            <p:spPr bwMode="auto">
              <a:xfrm flipH="1">
                <a:off x="5099" y="1492"/>
                <a:ext cx="11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endParaRPr lang="en-AU"/>
              </a:p>
            </p:txBody>
          </p:sp>
        </p:grpSp>
        <p:sp>
          <p:nvSpPr>
            <p:cNvPr id="784403" name="Line 19"/>
            <p:cNvSpPr>
              <a:spLocks noChangeShapeType="1"/>
            </p:cNvSpPr>
            <p:nvPr/>
          </p:nvSpPr>
          <p:spPr bwMode="auto">
            <a:xfrm flipH="1">
              <a:off x="5159375" y="6319838"/>
              <a:ext cx="360363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84404" name="Rectangle 20"/>
            <p:cNvSpPr>
              <a:spLocks noChangeArrowheads="1"/>
            </p:cNvSpPr>
            <p:nvPr/>
          </p:nvSpPr>
          <p:spPr bwMode="auto">
            <a:xfrm>
              <a:off x="5519738" y="6170613"/>
              <a:ext cx="360363" cy="36933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K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84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84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4405" grpId="0"/>
      <p:bldP spid="78440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Content Placeholder 6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i="1" dirty="0" smtClean="0"/>
              <a:t>T</a:t>
            </a:r>
            <a:r>
              <a:rPr lang="en-US" dirty="0" smtClean="0"/>
              <a:t> Flip-Flop</a:t>
            </a:r>
          </a:p>
          <a:p>
            <a:endParaRPr lang="en-AU" dirty="0"/>
          </a:p>
        </p:txBody>
      </p:sp>
      <p:sp>
        <p:nvSpPr>
          <p:cNvPr id="786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 Flip-Flops</a:t>
            </a:r>
            <a:endParaRPr lang="en-US" dirty="0"/>
          </a:p>
        </p:txBody>
      </p:sp>
      <p:sp>
        <p:nvSpPr>
          <p:cNvPr id="786436" name="Rectangle 4"/>
          <p:cNvSpPr>
            <a:spLocks noChangeArrowheads="1"/>
          </p:cNvSpPr>
          <p:nvPr/>
        </p:nvSpPr>
        <p:spPr bwMode="auto">
          <a:xfrm>
            <a:off x="868363" y="5408613"/>
            <a:ext cx="3508974" cy="430887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TQ’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T’Q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T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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Q</a:t>
            </a:r>
          </a:p>
        </p:txBody>
      </p:sp>
      <p:grpSp>
        <p:nvGrpSpPr>
          <p:cNvPr id="65" name="Group 64"/>
          <p:cNvGrpSpPr/>
          <p:nvPr/>
        </p:nvGrpSpPr>
        <p:grpSpPr>
          <a:xfrm>
            <a:off x="971550" y="2349500"/>
            <a:ext cx="2698750" cy="1620838"/>
            <a:chOff x="971550" y="2349500"/>
            <a:chExt cx="2698750" cy="1620838"/>
          </a:xfrm>
        </p:grpSpPr>
        <p:sp>
          <p:nvSpPr>
            <p:cNvPr id="786438" name="Rectangle 6"/>
            <p:cNvSpPr>
              <a:spLocks noChangeArrowheads="1"/>
            </p:cNvSpPr>
            <p:nvPr/>
          </p:nvSpPr>
          <p:spPr bwMode="auto">
            <a:xfrm>
              <a:off x="2411413" y="2349500"/>
              <a:ext cx="900113" cy="1620838"/>
            </a:xfrm>
            <a:prstGeom prst="rect">
              <a:avLst/>
            </a:prstGeom>
            <a:solidFill>
              <a:srgbClr val="66FFFF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86439" name="Rectangle 7"/>
            <p:cNvSpPr>
              <a:spLocks noChangeArrowheads="1"/>
            </p:cNvSpPr>
            <p:nvPr/>
          </p:nvSpPr>
          <p:spPr bwMode="auto">
            <a:xfrm>
              <a:off x="2411413" y="2528888"/>
              <a:ext cx="360363" cy="36933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J</a:t>
              </a:r>
            </a:p>
          </p:txBody>
        </p:sp>
        <p:sp>
          <p:nvSpPr>
            <p:cNvPr id="786440" name="Line 8"/>
            <p:cNvSpPr>
              <a:spLocks noChangeShapeType="1"/>
            </p:cNvSpPr>
            <p:nvPr/>
          </p:nvSpPr>
          <p:spPr bwMode="auto">
            <a:xfrm>
              <a:off x="2411413" y="2982913"/>
              <a:ext cx="179388" cy="1793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86441" name="Line 9"/>
            <p:cNvSpPr>
              <a:spLocks noChangeShapeType="1"/>
            </p:cNvSpPr>
            <p:nvPr/>
          </p:nvSpPr>
          <p:spPr bwMode="auto">
            <a:xfrm flipH="1">
              <a:off x="2411413" y="3162300"/>
              <a:ext cx="179388" cy="1793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86442" name="Line 10"/>
            <p:cNvSpPr>
              <a:spLocks noChangeShapeType="1"/>
            </p:cNvSpPr>
            <p:nvPr/>
          </p:nvSpPr>
          <p:spPr bwMode="auto">
            <a:xfrm flipH="1">
              <a:off x="1331913" y="2708275"/>
              <a:ext cx="107950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86443" name="Line 11"/>
            <p:cNvSpPr>
              <a:spLocks noChangeShapeType="1"/>
            </p:cNvSpPr>
            <p:nvPr/>
          </p:nvSpPr>
          <p:spPr bwMode="auto">
            <a:xfrm flipH="1">
              <a:off x="2051050" y="3162300"/>
              <a:ext cx="360363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86444" name="Line 12"/>
            <p:cNvSpPr>
              <a:spLocks noChangeShapeType="1"/>
            </p:cNvSpPr>
            <p:nvPr/>
          </p:nvSpPr>
          <p:spPr bwMode="auto">
            <a:xfrm flipH="1">
              <a:off x="3311525" y="2708275"/>
              <a:ext cx="358775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86445" name="Line 13"/>
            <p:cNvSpPr>
              <a:spLocks noChangeShapeType="1"/>
            </p:cNvSpPr>
            <p:nvPr/>
          </p:nvSpPr>
          <p:spPr bwMode="auto">
            <a:xfrm flipH="1">
              <a:off x="3311525" y="3609975"/>
              <a:ext cx="358775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86446" name="Rectangle 14"/>
            <p:cNvSpPr>
              <a:spLocks noChangeArrowheads="1"/>
            </p:cNvSpPr>
            <p:nvPr/>
          </p:nvSpPr>
          <p:spPr bwMode="auto">
            <a:xfrm>
              <a:off x="2951163" y="2528888"/>
              <a:ext cx="360363" cy="36933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Q</a:t>
              </a:r>
            </a:p>
          </p:txBody>
        </p:sp>
        <p:sp>
          <p:nvSpPr>
            <p:cNvPr id="786447" name="Oval 15"/>
            <p:cNvSpPr>
              <a:spLocks noChangeAspect="1" noChangeArrowheads="1"/>
            </p:cNvSpPr>
            <p:nvPr/>
          </p:nvSpPr>
          <p:spPr bwMode="auto">
            <a:xfrm>
              <a:off x="3311525" y="3543300"/>
              <a:ext cx="125413" cy="125413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grpSp>
          <p:nvGrpSpPr>
            <p:cNvPr id="64" name="Group 63"/>
            <p:cNvGrpSpPr/>
            <p:nvPr/>
          </p:nvGrpSpPr>
          <p:grpSpPr>
            <a:xfrm>
              <a:off x="2951163" y="3449638"/>
              <a:ext cx="360363" cy="380445"/>
              <a:chOff x="2951163" y="3449638"/>
              <a:chExt cx="360363" cy="380445"/>
            </a:xfrm>
          </p:grpSpPr>
          <p:sp>
            <p:nvSpPr>
              <p:cNvPr id="786449" name="Rectangle 17"/>
              <p:cNvSpPr>
                <a:spLocks noChangeArrowheads="1"/>
              </p:cNvSpPr>
              <p:nvPr/>
            </p:nvSpPr>
            <p:spPr bwMode="auto">
              <a:xfrm>
                <a:off x="2951163" y="3460751"/>
                <a:ext cx="360363" cy="369332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r>
                  <a:rPr lang="en-US" sz="2400" b="1" i="1">
                    <a:latin typeface="Times New Roman" pitchFamily="18" charset="0"/>
                    <a:cs typeface="Times New Roman" pitchFamily="18" charset="0"/>
                  </a:rPr>
                  <a:t>Q</a:t>
                </a:r>
              </a:p>
            </p:txBody>
          </p:sp>
          <p:sp>
            <p:nvSpPr>
              <p:cNvPr id="786450" name="Line 18"/>
              <p:cNvSpPr>
                <a:spLocks noChangeShapeType="1"/>
              </p:cNvSpPr>
              <p:nvPr/>
            </p:nvSpPr>
            <p:spPr bwMode="auto">
              <a:xfrm flipH="1">
                <a:off x="3054351" y="3449638"/>
                <a:ext cx="180975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endParaRPr lang="en-AU"/>
              </a:p>
            </p:txBody>
          </p:sp>
        </p:grpSp>
        <p:sp>
          <p:nvSpPr>
            <p:cNvPr id="786451" name="Line 19"/>
            <p:cNvSpPr>
              <a:spLocks noChangeShapeType="1"/>
            </p:cNvSpPr>
            <p:nvPr/>
          </p:nvSpPr>
          <p:spPr bwMode="auto">
            <a:xfrm flipH="1" flipV="1">
              <a:off x="1692275" y="3608388"/>
              <a:ext cx="719138" cy="1588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86452" name="Rectangle 20"/>
            <p:cNvSpPr>
              <a:spLocks noChangeArrowheads="1"/>
            </p:cNvSpPr>
            <p:nvPr/>
          </p:nvSpPr>
          <p:spPr bwMode="auto">
            <a:xfrm>
              <a:off x="2411413" y="3460750"/>
              <a:ext cx="360363" cy="36933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K</a:t>
              </a:r>
            </a:p>
          </p:txBody>
        </p:sp>
        <p:sp>
          <p:nvSpPr>
            <p:cNvPr id="786453" name="Line 21"/>
            <p:cNvSpPr>
              <a:spLocks noChangeShapeType="1"/>
            </p:cNvSpPr>
            <p:nvPr/>
          </p:nvSpPr>
          <p:spPr bwMode="auto">
            <a:xfrm rot="5400000" flipH="1" flipV="1">
              <a:off x="1241425" y="3159125"/>
              <a:ext cx="900113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86454" name="Rectangle 22"/>
            <p:cNvSpPr>
              <a:spLocks noChangeArrowheads="1"/>
            </p:cNvSpPr>
            <p:nvPr/>
          </p:nvSpPr>
          <p:spPr bwMode="auto">
            <a:xfrm>
              <a:off x="971550" y="2528888"/>
              <a:ext cx="360363" cy="36933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sz="2400" b="1" i="1" dirty="0">
                  <a:solidFill>
                    <a:schemeClr val="accent2"/>
                  </a:solidFill>
                  <a:latin typeface="Times New Roman" pitchFamily="18" charset="0"/>
                  <a:cs typeface="Times New Roman" pitchFamily="18" charset="0"/>
                </a:rPr>
                <a:t>T</a:t>
              </a:r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4562475" y="1989138"/>
            <a:ext cx="3609976" cy="1800226"/>
            <a:chOff x="4562475" y="1989138"/>
            <a:chExt cx="3609976" cy="1800226"/>
          </a:xfrm>
        </p:grpSpPr>
        <p:grpSp>
          <p:nvGrpSpPr>
            <p:cNvPr id="68" name="Group 67"/>
            <p:cNvGrpSpPr/>
            <p:nvPr/>
          </p:nvGrpSpPr>
          <p:grpSpPr>
            <a:xfrm>
              <a:off x="6076950" y="2349501"/>
              <a:ext cx="1735138" cy="1439863"/>
              <a:chOff x="6076950" y="2349501"/>
              <a:chExt cx="1735138" cy="1439863"/>
            </a:xfrm>
          </p:grpSpPr>
          <p:sp>
            <p:nvSpPr>
              <p:cNvPr id="786457" name="Rectangle 25"/>
              <p:cNvSpPr>
                <a:spLocks noChangeArrowheads="1"/>
              </p:cNvSpPr>
              <p:nvPr/>
            </p:nvSpPr>
            <p:spPr bwMode="auto">
              <a:xfrm>
                <a:off x="6553201" y="2349501"/>
                <a:ext cx="900113" cy="1439863"/>
              </a:xfrm>
              <a:prstGeom prst="rect">
                <a:avLst/>
              </a:prstGeom>
              <a:solidFill>
                <a:srgbClr val="FFFF00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endParaRPr lang="en-AU"/>
              </a:p>
            </p:txBody>
          </p:sp>
          <p:sp>
            <p:nvSpPr>
              <p:cNvPr id="786458" name="Rectangle 26"/>
              <p:cNvSpPr>
                <a:spLocks noChangeArrowheads="1"/>
              </p:cNvSpPr>
              <p:nvPr/>
            </p:nvSpPr>
            <p:spPr bwMode="auto">
              <a:xfrm>
                <a:off x="6553201" y="2528889"/>
                <a:ext cx="360363" cy="369332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r>
                  <a:rPr lang="en-US" sz="2400" b="1" i="1" dirty="0">
                    <a:latin typeface="Times New Roman" pitchFamily="18" charset="0"/>
                    <a:cs typeface="Times New Roman" pitchFamily="18" charset="0"/>
                  </a:rPr>
                  <a:t>D</a:t>
                </a:r>
              </a:p>
            </p:txBody>
          </p:sp>
          <p:sp>
            <p:nvSpPr>
              <p:cNvPr id="786459" name="Line 27"/>
              <p:cNvSpPr>
                <a:spLocks noChangeShapeType="1"/>
              </p:cNvSpPr>
              <p:nvPr/>
            </p:nvSpPr>
            <p:spPr bwMode="auto">
              <a:xfrm>
                <a:off x="6553201" y="3249614"/>
                <a:ext cx="179388" cy="1793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lIns="0" tIns="0" rIns="0" bIns="0" anchor="ctr">
                <a:spAutoFit/>
              </a:bodyPr>
              <a:lstStyle/>
              <a:p>
                <a:endParaRPr lang="en-AU"/>
              </a:p>
            </p:txBody>
          </p:sp>
          <p:sp>
            <p:nvSpPr>
              <p:cNvPr id="786460" name="Line 28"/>
              <p:cNvSpPr>
                <a:spLocks noChangeShapeType="1"/>
              </p:cNvSpPr>
              <p:nvPr/>
            </p:nvSpPr>
            <p:spPr bwMode="auto">
              <a:xfrm flipH="1">
                <a:off x="6553201" y="3429001"/>
                <a:ext cx="179388" cy="1793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lIns="0" tIns="0" rIns="0" bIns="0" anchor="ctr">
                <a:spAutoFit/>
              </a:bodyPr>
              <a:lstStyle/>
              <a:p>
                <a:endParaRPr lang="en-AU"/>
              </a:p>
            </p:txBody>
          </p:sp>
          <p:sp>
            <p:nvSpPr>
              <p:cNvPr id="786461" name="Line 29"/>
              <p:cNvSpPr>
                <a:spLocks noChangeShapeType="1"/>
              </p:cNvSpPr>
              <p:nvPr/>
            </p:nvSpPr>
            <p:spPr bwMode="auto">
              <a:xfrm flipH="1" flipV="1">
                <a:off x="6076950" y="2705100"/>
                <a:ext cx="476250" cy="3176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square" lIns="0" tIns="0" rIns="0" bIns="0" anchor="ctr">
                <a:spAutoFit/>
              </a:bodyPr>
              <a:lstStyle/>
              <a:p>
                <a:endParaRPr lang="en-AU"/>
              </a:p>
            </p:txBody>
          </p:sp>
          <p:sp>
            <p:nvSpPr>
              <p:cNvPr id="786462" name="Line 30"/>
              <p:cNvSpPr>
                <a:spLocks noChangeShapeType="1"/>
              </p:cNvSpPr>
              <p:nvPr/>
            </p:nvSpPr>
            <p:spPr bwMode="auto">
              <a:xfrm flipH="1">
                <a:off x="6192838" y="3429001"/>
                <a:ext cx="360363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endParaRPr lang="en-AU"/>
              </a:p>
            </p:txBody>
          </p:sp>
          <p:sp>
            <p:nvSpPr>
              <p:cNvPr id="786463" name="Line 31"/>
              <p:cNvSpPr>
                <a:spLocks noChangeShapeType="1"/>
              </p:cNvSpPr>
              <p:nvPr/>
            </p:nvSpPr>
            <p:spPr bwMode="auto">
              <a:xfrm flipH="1">
                <a:off x="7453313" y="2708276"/>
                <a:ext cx="358775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endParaRPr lang="en-AU"/>
              </a:p>
            </p:txBody>
          </p:sp>
          <p:sp>
            <p:nvSpPr>
              <p:cNvPr id="786464" name="Line 32"/>
              <p:cNvSpPr>
                <a:spLocks noChangeShapeType="1"/>
              </p:cNvSpPr>
              <p:nvPr/>
            </p:nvSpPr>
            <p:spPr bwMode="auto">
              <a:xfrm flipH="1">
                <a:off x="7453313" y="3429001"/>
                <a:ext cx="358775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endParaRPr lang="en-AU"/>
              </a:p>
            </p:txBody>
          </p:sp>
          <p:sp>
            <p:nvSpPr>
              <p:cNvPr id="786465" name="Rectangle 33"/>
              <p:cNvSpPr>
                <a:spLocks noChangeArrowheads="1"/>
              </p:cNvSpPr>
              <p:nvPr/>
            </p:nvSpPr>
            <p:spPr bwMode="auto">
              <a:xfrm>
                <a:off x="7092951" y="2528889"/>
                <a:ext cx="360363" cy="369332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r>
                  <a:rPr lang="en-US" sz="2400" b="1" i="1" dirty="0">
                    <a:latin typeface="Times New Roman" pitchFamily="18" charset="0"/>
                    <a:cs typeface="Times New Roman" pitchFamily="18" charset="0"/>
                  </a:rPr>
                  <a:t>Q</a:t>
                </a:r>
              </a:p>
            </p:txBody>
          </p:sp>
          <p:sp>
            <p:nvSpPr>
              <p:cNvPr id="786466" name="Oval 34"/>
              <p:cNvSpPr>
                <a:spLocks noChangeAspect="1" noChangeArrowheads="1"/>
              </p:cNvSpPr>
              <p:nvPr/>
            </p:nvSpPr>
            <p:spPr bwMode="auto">
              <a:xfrm>
                <a:off x="7453313" y="3362326"/>
                <a:ext cx="125413" cy="125413"/>
              </a:xfrm>
              <a:prstGeom prst="ellipse">
                <a:avLst/>
              </a:prstGeom>
              <a:solidFill>
                <a:schemeClr val="bg1"/>
              </a:solidFill>
              <a:ln w="38100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lIns="0" tIns="0" rIns="0" bIns="0" anchor="ctr">
                <a:spAutoFit/>
              </a:bodyPr>
              <a:lstStyle/>
              <a:p>
                <a:endParaRPr lang="en-AU"/>
              </a:p>
            </p:txBody>
          </p:sp>
          <p:grpSp>
            <p:nvGrpSpPr>
              <p:cNvPr id="67" name="Group 66"/>
              <p:cNvGrpSpPr/>
              <p:nvPr/>
            </p:nvGrpSpPr>
            <p:grpSpPr>
              <a:xfrm>
                <a:off x="7092951" y="3268664"/>
                <a:ext cx="360363" cy="380445"/>
                <a:chOff x="7092951" y="3268664"/>
                <a:chExt cx="360363" cy="380445"/>
              </a:xfrm>
            </p:grpSpPr>
            <p:sp>
              <p:nvSpPr>
                <p:cNvPr id="786468" name="Rectangle 36"/>
                <p:cNvSpPr>
                  <a:spLocks noChangeArrowheads="1"/>
                </p:cNvSpPr>
                <p:nvPr/>
              </p:nvSpPr>
              <p:spPr bwMode="auto">
                <a:xfrm>
                  <a:off x="7092951" y="3279777"/>
                  <a:ext cx="360363" cy="369332"/>
                </a:xfrm>
                <a:prstGeom prst="rect">
                  <a:avLst/>
                </a:prstGeom>
                <a:noFill/>
                <a:ln w="38100" algn="ctr">
                  <a:noFill/>
                  <a:miter lim="800000"/>
                  <a:headEnd/>
                  <a:tailEnd/>
                </a:ln>
                <a:effectLst/>
              </p:spPr>
              <p:txBody>
                <a:bodyPr lIns="0" tIns="0" rIns="0" bIns="0">
                  <a:spAutoFit/>
                </a:bodyPr>
                <a:lstStyle/>
                <a:p>
                  <a:r>
                    <a:rPr lang="en-US" sz="2400" b="1" i="1">
                      <a:latin typeface="Times New Roman" pitchFamily="18" charset="0"/>
                      <a:cs typeface="Times New Roman" pitchFamily="18" charset="0"/>
                    </a:rPr>
                    <a:t>Q</a:t>
                  </a:r>
                </a:p>
              </p:txBody>
            </p:sp>
            <p:sp>
              <p:nvSpPr>
                <p:cNvPr id="786469" name="Line 37"/>
                <p:cNvSpPr>
                  <a:spLocks noChangeShapeType="1"/>
                </p:cNvSpPr>
                <p:nvPr/>
              </p:nvSpPr>
              <p:spPr bwMode="auto">
                <a:xfrm flipH="1">
                  <a:off x="7196139" y="3268664"/>
                  <a:ext cx="180975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lIns="0" tIns="0" rIns="0" bIns="0" anchor="ctr">
                  <a:spAutoFit/>
                </a:bodyPr>
                <a:lstStyle/>
                <a:p>
                  <a:endParaRPr lang="en-AU"/>
                </a:p>
              </p:txBody>
            </p:sp>
          </p:grpSp>
        </p:grpSp>
        <p:graphicFrame>
          <p:nvGraphicFramePr>
            <p:cNvPr id="786470" name="Object 38"/>
            <p:cNvGraphicFramePr>
              <a:graphicFrameLocks noChangeAspect="1"/>
            </p:cNvGraphicFramePr>
            <p:nvPr/>
          </p:nvGraphicFramePr>
          <p:xfrm>
            <a:off x="5286375" y="2481263"/>
            <a:ext cx="900113" cy="492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3790" name="Visio" r:id="rId4" imgW="475732" imgH="259933" progId="">
                    <p:embed/>
                  </p:oleObj>
                </mc:Choice>
                <mc:Fallback>
                  <p:oleObj name="Visio" r:id="rId4" imgW="475732" imgH="259933" progId="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6375" y="2481263"/>
                          <a:ext cx="900113" cy="4921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86471" name="Line 39"/>
            <p:cNvSpPr>
              <a:spLocks noChangeShapeType="1"/>
            </p:cNvSpPr>
            <p:nvPr/>
          </p:nvSpPr>
          <p:spPr bwMode="auto">
            <a:xfrm flipH="1">
              <a:off x="5105400" y="2605088"/>
              <a:ext cx="252413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86472" name="Line 40"/>
            <p:cNvSpPr>
              <a:spLocks noChangeShapeType="1"/>
            </p:cNvSpPr>
            <p:nvPr/>
          </p:nvSpPr>
          <p:spPr bwMode="auto">
            <a:xfrm flipH="1">
              <a:off x="4932363" y="2813051"/>
              <a:ext cx="423863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86473" name="Line 41"/>
            <p:cNvSpPr>
              <a:spLocks noChangeShapeType="1"/>
            </p:cNvSpPr>
            <p:nvPr/>
          </p:nvSpPr>
          <p:spPr bwMode="auto">
            <a:xfrm flipH="1" flipV="1">
              <a:off x="5111750" y="1989138"/>
              <a:ext cx="2700338" cy="1588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86474" name="Line 42"/>
            <p:cNvSpPr>
              <a:spLocks noChangeShapeType="1"/>
            </p:cNvSpPr>
            <p:nvPr/>
          </p:nvSpPr>
          <p:spPr bwMode="auto">
            <a:xfrm rot="5400000" flipH="1" flipV="1">
              <a:off x="7451725" y="2349501"/>
              <a:ext cx="719138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86475" name="Rectangle 43"/>
            <p:cNvSpPr>
              <a:spLocks noChangeArrowheads="1"/>
            </p:cNvSpPr>
            <p:nvPr/>
          </p:nvSpPr>
          <p:spPr bwMode="auto">
            <a:xfrm>
              <a:off x="4562475" y="2593976"/>
              <a:ext cx="360363" cy="36933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T</a:t>
              </a:r>
            </a:p>
          </p:txBody>
        </p:sp>
        <p:sp>
          <p:nvSpPr>
            <p:cNvPr id="786476" name="Line 44"/>
            <p:cNvSpPr>
              <a:spLocks noChangeShapeType="1"/>
            </p:cNvSpPr>
            <p:nvPr/>
          </p:nvSpPr>
          <p:spPr bwMode="auto">
            <a:xfrm flipH="1" flipV="1">
              <a:off x="7812088" y="2708276"/>
              <a:ext cx="360363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86477" name="Line 45"/>
            <p:cNvSpPr>
              <a:spLocks noChangeShapeType="1"/>
            </p:cNvSpPr>
            <p:nvPr/>
          </p:nvSpPr>
          <p:spPr bwMode="auto">
            <a:xfrm flipH="1" flipV="1">
              <a:off x="7812088" y="3429001"/>
              <a:ext cx="360363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86478" name="Line 46"/>
            <p:cNvSpPr>
              <a:spLocks noChangeShapeType="1"/>
            </p:cNvSpPr>
            <p:nvPr/>
          </p:nvSpPr>
          <p:spPr bwMode="auto">
            <a:xfrm>
              <a:off x="5111750" y="1989138"/>
              <a:ext cx="0" cy="631825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</p:grpSp>
      <p:sp>
        <p:nvSpPr>
          <p:cNvPr id="786479" name="Rectangle 47"/>
          <p:cNvSpPr>
            <a:spLocks noChangeArrowheads="1"/>
          </p:cNvSpPr>
          <p:nvPr/>
        </p:nvSpPr>
        <p:spPr bwMode="auto">
          <a:xfrm>
            <a:off x="920750" y="4868863"/>
            <a:ext cx="2207336" cy="430887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JQ’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K’Q</a:t>
            </a:r>
          </a:p>
        </p:txBody>
      </p:sp>
      <p:grpSp>
        <p:nvGrpSpPr>
          <p:cNvPr id="71" name="Group 70"/>
          <p:cNvGrpSpPr/>
          <p:nvPr/>
        </p:nvGrpSpPr>
        <p:grpSpPr>
          <a:xfrm>
            <a:off x="5111750" y="4508500"/>
            <a:ext cx="1619250" cy="1439863"/>
            <a:chOff x="5111750" y="4508500"/>
            <a:chExt cx="1619250" cy="1439863"/>
          </a:xfrm>
        </p:grpSpPr>
        <p:sp>
          <p:nvSpPr>
            <p:cNvPr id="786481" name="Rectangle 49"/>
            <p:cNvSpPr>
              <a:spLocks noChangeArrowheads="1"/>
            </p:cNvSpPr>
            <p:nvPr/>
          </p:nvSpPr>
          <p:spPr bwMode="auto">
            <a:xfrm>
              <a:off x="5472113" y="4508500"/>
              <a:ext cx="900113" cy="1439863"/>
            </a:xfrm>
            <a:prstGeom prst="rect">
              <a:avLst/>
            </a:prstGeom>
            <a:solidFill>
              <a:srgbClr val="66FF33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86482" name="Rectangle 50"/>
            <p:cNvSpPr>
              <a:spLocks noChangeArrowheads="1"/>
            </p:cNvSpPr>
            <p:nvPr/>
          </p:nvSpPr>
          <p:spPr bwMode="auto">
            <a:xfrm>
              <a:off x="5472113" y="4687888"/>
              <a:ext cx="360363" cy="36933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T</a:t>
              </a:r>
            </a:p>
          </p:txBody>
        </p:sp>
        <p:sp>
          <p:nvSpPr>
            <p:cNvPr id="786483" name="Line 51"/>
            <p:cNvSpPr>
              <a:spLocks noChangeShapeType="1"/>
            </p:cNvSpPr>
            <p:nvPr/>
          </p:nvSpPr>
          <p:spPr bwMode="auto">
            <a:xfrm>
              <a:off x="5472113" y="5408613"/>
              <a:ext cx="179388" cy="1793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86484" name="Line 52"/>
            <p:cNvSpPr>
              <a:spLocks noChangeShapeType="1"/>
            </p:cNvSpPr>
            <p:nvPr/>
          </p:nvSpPr>
          <p:spPr bwMode="auto">
            <a:xfrm flipH="1">
              <a:off x="5472113" y="5588000"/>
              <a:ext cx="179388" cy="1793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86485" name="Line 53"/>
            <p:cNvSpPr>
              <a:spLocks noChangeShapeType="1"/>
            </p:cNvSpPr>
            <p:nvPr/>
          </p:nvSpPr>
          <p:spPr bwMode="auto">
            <a:xfrm flipH="1">
              <a:off x="5111750" y="4867275"/>
              <a:ext cx="360363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86486" name="Line 54"/>
            <p:cNvSpPr>
              <a:spLocks noChangeShapeType="1"/>
            </p:cNvSpPr>
            <p:nvPr/>
          </p:nvSpPr>
          <p:spPr bwMode="auto">
            <a:xfrm flipH="1">
              <a:off x="5111750" y="5588000"/>
              <a:ext cx="360363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86487" name="Line 55"/>
            <p:cNvSpPr>
              <a:spLocks noChangeShapeType="1"/>
            </p:cNvSpPr>
            <p:nvPr/>
          </p:nvSpPr>
          <p:spPr bwMode="auto">
            <a:xfrm flipH="1">
              <a:off x="6372225" y="4867275"/>
              <a:ext cx="358775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86488" name="Line 56"/>
            <p:cNvSpPr>
              <a:spLocks noChangeShapeType="1"/>
            </p:cNvSpPr>
            <p:nvPr/>
          </p:nvSpPr>
          <p:spPr bwMode="auto">
            <a:xfrm flipH="1">
              <a:off x="6372225" y="5588000"/>
              <a:ext cx="358775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86489" name="Rectangle 57"/>
            <p:cNvSpPr>
              <a:spLocks noChangeArrowheads="1"/>
            </p:cNvSpPr>
            <p:nvPr/>
          </p:nvSpPr>
          <p:spPr bwMode="auto">
            <a:xfrm>
              <a:off x="6011863" y="4687888"/>
              <a:ext cx="360363" cy="36933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Q</a:t>
              </a:r>
            </a:p>
          </p:txBody>
        </p:sp>
        <p:sp>
          <p:nvSpPr>
            <p:cNvPr id="786490" name="Oval 58"/>
            <p:cNvSpPr>
              <a:spLocks noChangeAspect="1" noChangeArrowheads="1"/>
            </p:cNvSpPr>
            <p:nvPr/>
          </p:nvSpPr>
          <p:spPr bwMode="auto">
            <a:xfrm>
              <a:off x="6372225" y="5521325"/>
              <a:ext cx="125413" cy="125413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grpSp>
          <p:nvGrpSpPr>
            <p:cNvPr id="70" name="Group 69"/>
            <p:cNvGrpSpPr/>
            <p:nvPr/>
          </p:nvGrpSpPr>
          <p:grpSpPr>
            <a:xfrm>
              <a:off x="6011863" y="5427663"/>
              <a:ext cx="360363" cy="380445"/>
              <a:chOff x="6011863" y="5427663"/>
              <a:chExt cx="360363" cy="380445"/>
            </a:xfrm>
          </p:grpSpPr>
          <p:sp>
            <p:nvSpPr>
              <p:cNvPr id="786492" name="Rectangle 60"/>
              <p:cNvSpPr>
                <a:spLocks noChangeArrowheads="1"/>
              </p:cNvSpPr>
              <p:nvPr/>
            </p:nvSpPr>
            <p:spPr bwMode="auto">
              <a:xfrm>
                <a:off x="6011863" y="5438776"/>
                <a:ext cx="360363" cy="369332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r>
                  <a:rPr lang="en-US" sz="2400" b="1" i="1" dirty="0">
                    <a:latin typeface="Times New Roman" pitchFamily="18" charset="0"/>
                    <a:cs typeface="Times New Roman" pitchFamily="18" charset="0"/>
                  </a:rPr>
                  <a:t>Q</a:t>
                </a:r>
              </a:p>
            </p:txBody>
          </p:sp>
          <p:sp>
            <p:nvSpPr>
              <p:cNvPr id="786493" name="Line 61"/>
              <p:cNvSpPr>
                <a:spLocks noChangeShapeType="1"/>
              </p:cNvSpPr>
              <p:nvPr/>
            </p:nvSpPr>
            <p:spPr bwMode="auto">
              <a:xfrm flipH="1">
                <a:off x="6115051" y="5427663"/>
                <a:ext cx="180975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endParaRPr lang="en-AU"/>
              </a:p>
            </p:txBody>
          </p:sp>
        </p:grpSp>
      </p:grpSp>
      <p:sp>
        <p:nvSpPr>
          <p:cNvPr id="786494" name="Rectangle 62"/>
          <p:cNvSpPr>
            <a:spLocks noChangeArrowheads="1"/>
          </p:cNvSpPr>
          <p:nvPr/>
        </p:nvSpPr>
        <p:spPr bwMode="auto">
          <a:xfrm>
            <a:off x="1511300" y="2168525"/>
            <a:ext cx="1981200" cy="1981200"/>
          </a:xfrm>
          <a:prstGeom prst="rect">
            <a:avLst/>
          </a:prstGeom>
          <a:noFill/>
          <a:ln w="38100" cap="rnd" algn="ctr">
            <a:solidFill>
              <a:srgbClr val="996600"/>
            </a:solidFill>
            <a:prstDash val="sysDot"/>
            <a:miter lim="800000"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786495" name="Rectangle 63"/>
          <p:cNvSpPr>
            <a:spLocks noChangeArrowheads="1"/>
          </p:cNvSpPr>
          <p:nvPr/>
        </p:nvSpPr>
        <p:spPr bwMode="auto">
          <a:xfrm>
            <a:off x="5018088" y="1808163"/>
            <a:ext cx="2974975" cy="2160587"/>
          </a:xfrm>
          <a:prstGeom prst="rect">
            <a:avLst/>
          </a:prstGeom>
          <a:noFill/>
          <a:ln w="38100" cap="rnd" algn="ctr">
            <a:solidFill>
              <a:srgbClr val="996600"/>
            </a:solidFill>
            <a:prstDash val="sysDot"/>
            <a:miter lim="800000"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Flip-Flop Characteristic Tables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798513" y="1497013"/>
            <a:ext cx="1619250" cy="1439862"/>
            <a:chOff x="4467" y="913"/>
            <a:chExt cx="1020" cy="907"/>
          </a:xfrm>
        </p:grpSpPr>
        <p:sp>
          <p:nvSpPr>
            <p:cNvPr id="788484" name="Rectangle 4"/>
            <p:cNvSpPr>
              <a:spLocks noChangeArrowheads="1"/>
            </p:cNvSpPr>
            <p:nvPr/>
          </p:nvSpPr>
          <p:spPr bwMode="auto">
            <a:xfrm>
              <a:off x="4694" y="913"/>
              <a:ext cx="567" cy="907"/>
            </a:xfrm>
            <a:prstGeom prst="rect">
              <a:avLst/>
            </a:prstGeom>
            <a:solidFill>
              <a:srgbClr val="FFFF00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88485" name="Rectangle 5"/>
            <p:cNvSpPr>
              <a:spLocks noChangeArrowheads="1"/>
            </p:cNvSpPr>
            <p:nvPr/>
          </p:nvSpPr>
          <p:spPr bwMode="auto">
            <a:xfrm>
              <a:off x="4694" y="1026"/>
              <a:ext cx="227" cy="23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D</a:t>
              </a:r>
            </a:p>
          </p:txBody>
        </p:sp>
        <p:sp>
          <p:nvSpPr>
            <p:cNvPr id="788486" name="Line 6"/>
            <p:cNvSpPr>
              <a:spLocks noChangeShapeType="1"/>
            </p:cNvSpPr>
            <p:nvPr/>
          </p:nvSpPr>
          <p:spPr bwMode="auto">
            <a:xfrm>
              <a:off x="4694" y="1480"/>
              <a:ext cx="113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88487" name="Line 7"/>
            <p:cNvSpPr>
              <a:spLocks noChangeShapeType="1"/>
            </p:cNvSpPr>
            <p:nvPr/>
          </p:nvSpPr>
          <p:spPr bwMode="auto">
            <a:xfrm flipH="1">
              <a:off x="4694" y="1593"/>
              <a:ext cx="113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88488" name="Line 8"/>
            <p:cNvSpPr>
              <a:spLocks noChangeShapeType="1"/>
            </p:cNvSpPr>
            <p:nvPr/>
          </p:nvSpPr>
          <p:spPr bwMode="auto">
            <a:xfrm flipH="1">
              <a:off x="4467" y="1139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88489" name="Line 9"/>
            <p:cNvSpPr>
              <a:spLocks noChangeShapeType="1"/>
            </p:cNvSpPr>
            <p:nvPr/>
          </p:nvSpPr>
          <p:spPr bwMode="auto">
            <a:xfrm flipH="1">
              <a:off x="4467" y="1593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88490" name="Line 10"/>
            <p:cNvSpPr>
              <a:spLocks noChangeShapeType="1"/>
            </p:cNvSpPr>
            <p:nvPr/>
          </p:nvSpPr>
          <p:spPr bwMode="auto">
            <a:xfrm flipH="1">
              <a:off x="5261" y="1139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88491" name="Line 11"/>
            <p:cNvSpPr>
              <a:spLocks noChangeShapeType="1"/>
            </p:cNvSpPr>
            <p:nvPr/>
          </p:nvSpPr>
          <p:spPr bwMode="auto">
            <a:xfrm flipH="1">
              <a:off x="5261" y="1593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88492" name="Rectangle 12"/>
            <p:cNvSpPr>
              <a:spLocks noChangeArrowheads="1"/>
            </p:cNvSpPr>
            <p:nvPr/>
          </p:nvSpPr>
          <p:spPr bwMode="auto">
            <a:xfrm>
              <a:off x="5034" y="1026"/>
              <a:ext cx="227" cy="23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Q</a:t>
              </a:r>
            </a:p>
          </p:txBody>
        </p:sp>
        <p:sp>
          <p:nvSpPr>
            <p:cNvPr id="788493" name="Oval 13"/>
            <p:cNvSpPr>
              <a:spLocks noChangeAspect="1" noChangeArrowheads="1"/>
            </p:cNvSpPr>
            <p:nvPr/>
          </p:nvSpPr>
          <p:spPr bwMode="auto">
            <a:xfrm>
              <a:off x="5261" y="1551"/>
              <a:ext cx="79" cy="79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grpSp>
          <p:nvGrpSpPr>
            <p:cNvPr id="3" name="Group 14"/>
            <p:cNvGrpSpPr>
              <a:grpSpLocks/>
            </p:cNvGrpSpPr>
            <p:nvPr/>
          </p:nvGrpSpPr>
          <p:grpSpPr bwMode="auto">
            <a:xfrm>
              <a:off x="5034" y="1492"/>
              <a:ext cx="227" cy="240"/>
              <a:chOff x="5034" y="1492"/>
              <a:chExt cx="227" cy="240"/>
            </a:xfrm>
          </p:grpSpPr>
          <p:sp>
            <p:nvSpPr>
              <p:cNvPr id="788495" name="Rectangle 15"/>
              <p:cNvSpPr>
                <a:spLocks noChangeArrowheads="1"/>
              </p:cNvSpPr>
              <p:nvPr/>
            </p:nvSpPr>
            <p:spPr bwMode="auto">
              <a:xfrm>
                <a:off x="5034" y="1499"/>
                <a:ext cx="227" cy="23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r>
                  <a:rPr lang="en-US" sz="2400" b="1" i="1" dirty="0">
                    <a:latin typeface="Times New Roman" pitchFamily="18" charset="0"/>
                    <a:cs typeface="Times New Roman" pitchFamily="18" charset="0"/>
                  </a:rPr>
                  <a:t>Q</a:t>
                </a:r>
              </a:p>
            </p:txBody>
          </p:sp>
          <p:sp>
            <p:nvSpPr>
              <p:cNvPr id="788496" name="Line 16"/>
              <p:cNvSpPr>
                <a:spLocks noChangeShapeType="1"/>
              </p:cNvSpPr>
              <p:nvPr/>
            </p:nvSpPr>
            <p:spPr bwMode="auto">
              <a:xfrm flipH="1">
                <a:off x="5099" y="1492"/>
                <a:ext cx="11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endParaRPr lang="en-AU"/>
              </a:p>
            </p:txBody>
          </p:sp>
        </p:grpSp>
      </p:grpSp>
      <p:graphicFrame>
        <p:nvGraphicFramePr>
          <p:cNvPr id="788497" name="Group 17"/>
          <p:cNvGraphicFramePr>
            <a:graphicFrameLocks noGrp="1"/>
          </p:cNvGraphicFramePr>
          <p:nvPr/>
        </p:nvGraphicFramePr>
        <p:xfrm>
          <a:off x="3497263" y="1538288"/>
          <a:ext cx="1800225" cy="1219200"/>
        </p:xfrm>
        <a:graphic>
          <a:graphicData uri="http://schemas.openxmlformats.org/drawingml/2006/table">
            <a:tbl>
              <a:tblPr/>
              <a:tblGrid>
                <a:gridCol w="539750"/>
                <a:gridCol w="1260475"/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+1)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88511" name="Rectangle 31"/>
          <p:cNvSpPr>
            <a:spLocks noChangeArrowheads="1"/>
          </p:cNvSpPr>
          <p:nvPr/>
        </p:nvSpPr>
        <p:spPr bwMode="auto">
          <a:xfrm>
            <a:off x="5659438" y="1881188"/>
            <a:ext cx="1620837" cy="87630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Reset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sz="2400" b="1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Set</a:t>
            </a:r>
          </a:p>
        </p:txBody>
      </p:sp>
      <p:graphicFrame>
        <p:nvGraphicFramePr>
          <p:cNvPr id="788512" name="Group 32"/>
          <p:cNvGraphicFramePr>
            <a:graphicFrameLocks noGrp="1"/>
          </p:cNvGraphicFramePr>
          <p:nvPr/>
        </p:nvGraphicFramePr>
        <p:xfrm>
          <a:off x="3317875" y="3117850"/>
          <a:ext cx="2160588" cy="2032000"/>
        </p:xfrm>
        <a:graphic>
          <a:graphicData uri="http://schemas.openxmlformats.org/drawingml/2006/table">
            <a:tbl>
              <a:tblPr/>
              <a:tblGrid>
                <a:gridCol w="539750"/>
                <a:gridCol w="539750"/>
                <a:gridCol w="1081088"/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J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+1)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Q’</a:t>
                      </a: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88537" name="Rectangle 57"/>
          <p:cNvSpPr>
            <a:spLocks noChangeArrowheads="1"/>
          </p:cNvSpPr>
          <p:nvPr/>
        </p:nvSpPr>
        <p:spPr bwMode="auto">
          <a:xfrm>
            <a:off x="5659438" y="3397250"/>
            <a:ext cx="1620837" cy="175260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sz="2400" b="1">
                <a:latin typeface="Times New Roman" pitchFamily="18" charset="0"/>
                <a:cs typeface="Times New Roman" pitchFamily="18" charset="0"/>
              </a:rPr>
              <a:t>No change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Reset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sz="2400" b="1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Set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Toggle</a:t>
            </a:r>
          </a:p>
        </p:txBody>
      </p:sp>
      <p:grpSp>
        <p:nvGrpSpPr>
          <p:cNvPr id="4" name="Group 58"/>
          <p:cNvGrpSpPr>
            <a:grpSpLocks/>
          </p:cNvGrpSpPr>
          <p:nvPr/>
        </p:nvGrpSpPr>
        <p:grpSpPr bwMode="auto">
          <a:xfrm>
            <a:off x="798513" y="3297241"/>
            <a:ext cx="1619250" cy="1620838"/>
            <a:chOff x="2653" y="3067"/>
            <a:chExt cx="1020" cy="1021"/>
          </a:xfrm>
        </p:grpSpPr>
        <p:sp>
          <p:nvSpPr>
            <p:cNvPr id="788539" name="Rectangle 59"/>
            <p:cNvSpPr>
              <a:spLocks noChangeArrowheads="1"/>
            </p:cNvSpPr>
            <p:nvPr/>
          </p:nvSpPr>
          <p:spPr bwMode="auto">
            <a:xfrm>
              <a:off x="2880" y="3067"/>
              <a:ext cx="567" cy="1021"/>
            </a:xfrm>
            <a:prstGeom prst="rect">
              <a:avLst/>
            </a:prstGeom>
            <a:solidFill>
              <a:srgbClr val="66FFFF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88540" name="Rectangle 60"/>
            <p:cNvSpPr>
              <a:spLocks noChangeArrowheads="1"/>
            </p:cNvSpPr>
            <p:nvPr/>
          </p:nvSpPr>
          <p:spPr bwMode="auto">
            <a:xfrm>
              <a:off x="2880" y="3180"/>
              <a:ext cx="227" cy="23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J</a:t>
              </a:r>
            </a:p>
          </p:txBody>
        </p:sp>
        <p:sp>
          <p:nvSpPr>
            <p:cNvPr id="788541" name="Line 61"/>
            <p:cNvSpPr>
              <a:spLocks noChangeShapeType="1"/>
            </p:cNvSpPr>
            <p:nvPr/>
          </p:nvSpPr>
          <p:spPr bwMode="auto">
            <a:xfrm>
              <a:off x="2880" y="3466"/>
              <a:ext cx="113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88542" name="Line 62"/>
            <p:cNvSpPr>
              <a:spLocks noChangeShapeType="1"/>
            </p:cNvSpPr>
            <p:nvPr/>
          </p:nvSpPr>
          <p:spPr bwMode="auto">
            <a:xfrm flipH="1">
              <a:off x="2880" y="3579"/>
              <a:ext cx="113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88543" name="Line 63"/>
            <p:cNvSpPr>
              <a:spLocks noChangeShapeType="1"/>
            </p:cNvSpPr>
            <p:nvPr/>
          </p:nvSpPr>
          <p:spPr bwMode="auto">
            <a:xfrm flipH="1">
              <a:off x="2653" y="3293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88544" name="Line 64"/>
            <p:cNvSpPr>
              <a:spLocks noChangeShapeType="1"/>
            </p:cNvSpPr>
            <p:nvPr/>
          </p:nvSpPr>
          <p:spPr bwMode="auto">
            <a:xfrm flipH="1">
              <a:off x="2653" y="3579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88545" name="Line 65"/>
            <p:cNvSpPr>
              <a:spLocks noChangeShapeType="1"/>
            </p:cNvSpPr>
            <p:nvPr/>
          </p:nvSpPr>
          <p:spPr bwMode="auto">
            <a:xfrm flipH="1">
              <a:off x="3447" y="3293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88546" name="Line 66"/>
            <p:cNvSpPr>
              <a:spLocks noChangeShapeType="1"/>
            </p:cNvSpPr>
            <p:nvPr/>
          </p:nvSpPr>
          <p:spPr bwMode="auto">
            <a:xfrm flipH="1">
              <a:off x="3447" y="3861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88547" name="Rectangle 67"/>
            <p:cNvSpPr>
              <a:spLocks noChangeArrowheads="1"/>
            </p:cNvSpPr>
            <p:nvPr/>
          </p:nvSpPr>
          <p:spPr bwMode="auto">
            <a:xfrm>
              <a:off x="3220" y="3180"/>
              <a:ext cx="227" cy="23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Q</a:t>
              </a:r>
            </a:p>
          </p:txBody>
        </p:sp>
        <p:sp>
          <p:nvSpPr>
            <p:cNvPr id="788548" name="Oval 68"/>
            <p:cNvSpPr>
              <a:spLocks noChangeAspect="1" noChangeArrowheads="1"/>
            </p:cNvSpPr>
            <p:nvPr/>
          </p:nvSpPr>
          <p:spPr bwMode="auto">
            <a:xfrm>
              <a:off x="3447" y="3819"/>
              <a:ext cx="79" cy="79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grpSp>
          <p:nvGrpSpPr>
            <p:cNvPr id="5" name="Group 69"/>
            <p:cNvGrpSpPr>
              <a:grpSpLocks/>
            </p:cNvGrpSpPr>
            <p:nvPr/>
          </p:nvGrpSpPr>
          <p:grpSpPr bwMode="auto">
            <a:xfrm>
              <a:off x="3220" y="3760"/>
              <a:ext cx="227" cy="240"/>
              <a:chOff x="5034" y="1492"/>
              <a:chExt cx="227" cy="240"/>
            </a:xfrm>
          </p:grpSpPr>
          <p:sp>
            <p:nvSpPr>
              <p:cNvPr id="788550" name="Rectangle 70"/>
              <p:cNvSpPr>
                <a:spLocks noChangeArrowheads="1"/>
              </p:cNvSpPr>
              <p:nvPr/>
            </p:nvSpPr>
            <p:spPr bwMode="auto">
              <a:xfrm>
                <a:off x="5034" y="1499"/>
                <a:ext cx="227" cy="23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r>
                  <a:rPr lang="en-US" sz="2400" b="1" i="1" dirty="0">
                    <a:latin typeface="Times New Roman" pitchFamily="18" charset="0"/>
                    <a:cs typeface="Times New Roman" pitchFamily="18" charset="0"/>
                  </a:rPr>
                  <a:t>Q</a:t>
                </a:r>
              </a:p>
            </p:txBody>
          </p:sp>
          <p:sp>
            <p:nvSpPr>
              <p:cNvPr id="788551" name="Line 71"/>
              <p:cNvSpPr>
                <a:spLocks noChangeShapeType="1"/>
              </p:cNvSpPr>
              <p:nvPr/>
            </p:nvSpPr>
            <p:spPr bwMode="auto">
              <a:xfrm flipH="1">
                <a:off x="5099" y="1492"/>
                <a:ext cx="11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endParaRPr lang="en-AU"/>
              </a:p>
            </p:txBody>
          </p:sp>
        </p:grpSp>
        <p:sp>
          <p:nvSpPr>
            <p:cNvPr id="788552" name="Line 72"/>
            <p:cNvSpPr>
              <a:spLocks noChangeShapeType="1"/>
            </p:cNvSpPr>
            <p:nvPr/>
          </p:nvSpPr>
          <p:spPr bwMode="auto">
            <a:xfrm flipH="1">
              <a:off x="2653" y="3861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88553" name="Rectangle 73"/>
            <p:cNvSpPr>
              <a:spLocks noChangeArrowheads="1"/>
            </p:cNvSpPr>
            <p:nvPr/>
          </p:nvSpPr>
          <p:spPr bwMode="auto">
            <a:xfrm>
              <a:off x="2880" y="3767"/>
              <a:ext cx="227" cy="23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K</a:t>
              </a:r>
            </a:p>
          </p:txBody>
        </p:sp>
      </p:grpSp>
      <p:grpSp>
        <p:nvGrpSpPr>
          <p:cNvPr id="6" name="Group 74"/>
          <p:cNvGrpSpPr>
            <a:grpSpLocks/>
          </p:cNvGrpSpPr>
          <p:nvPr/>
        </p:nvGrpSpPr>
        <p:grpSpPr bwMode="auto">
          <a:xfrm>
            <a:off x="798513" y="5278438"/>
            <a:ext cx="1619250" cy="1439862"/>
            <a:chOff x="4467" y="913"/>
            <a:chExt cx="1020" cy="907"/>
          </a:xfrm>
        </p:grpSpPr>
        <p:sp>
          <p:nvSpPr>
            <p:cNvPr id="788555" name="Rectangle 75"/>
            <p:cNvSpPr>
              <a:spLocks noChangeArrowheads="1"/>
            </p:cNvSpPr>
            <p:nvPr/>
          </p:nvSpPr>
          <p:spPr bwMode="auto">
            <a:xfrm>
              <a:off x="4694" y="913"/>
              <a:ext cx="567" cy="907"/>
            </a:xfrm>
            <a:prstGeom prst="rect">
              <a:avLst/>
            </a:prstGeom>
            <a:solidFill>
              <a:srgbClr val="66FF33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88556" name="Rectangle 76"/>
            <p:cNvSpPr>
              <a:spLocks noChangeArrowheads="1"/>
            </p:cNvSpPr>
            <p:nvPr/>
          </p:nvSpPr>
          <p:spPr bwMode="auto">
            <a:xfrm>
              <a:off x="4694" y="1026"/>
              <a:ext cx="227" cy="23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T</a:t>
              </a:r>
            </a:p>
          </p:txBody>
        </p:sp>
        <p:sp>
          <p:nvSpPr>
            <p:cNvPr id="788557" name="Line 77"/>
            <p:cNvSpPr>
              <a:spLocks noChangeShapeType="1"/>
            </p:cNvSpPr>
            <p:nvPr/>
          </p:nvSpPr>
          <p:spPr bwMode="auto">
            <a:xfrm>
              <a:off x="4694" y="1480"/>
              <a:ext cx="113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88558" name="Line 78"/>
            <p:cNvSpPr>
              <a:spLocks noChangeShapeType="1"/>
            </p:cNvSpPr>
            <p:nvPr/>
          </p:nvSpPr>
          <p:spPr bwMode="auto">
            <a:xfrm flipH="1">
              <a:off x="4694" y="1593"/>
              <a:ext cx="113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88559" name="Line 79"/>
            <p:cNvSpPr>
              <a:spLocks noChangeShapeType="1"/>
            </p:cNvSpPr>
            <p:nvPr/>
          </p:nvSpPr>
          <p:spPr bwMode="auto">
            <a:xfrm flipH="1">
              <a:off x="4467" y="1139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88560" name="Line 80"/>
            <p:cNvSpPr>
              <a:spLocks noChangeShapeType="1"/>
            </p:cNvSpPr>
            <p:nvPr/>
          </p:nvSpPr>
          <p:spPr bwMode="auto">
            <a:xfrm flipH="1">
              <a:off x="4467" y="1593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88561" name="Line 81"/>
            <p:cNvSpPr>
              <a:spLocks noChangeShapeType="1"/>
            </p:cNvSpPr>
            <p:nvPr/>
          </p:nvSpPr>
          <p:spPr bwMode="auto">
            <a:xfrm flipH="1">
              <a:off x="5261" y="1139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88562" name="Line 82"/>
            <p:cNvSpPr>
              <a:spLocks noChangeShapeType="1"/>
            </p:cNvSpPr>
            <p:nvPr/>
          </p:nvSpPr>
          <p:spPr bwMode="auto">
            <a:xfrm flipH="1">
              <a:off x="5261" y="1593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88563" name="Rectangle 83"/>
            <p:cNvSpPr>
              <a:spLocks noChangeArrowheads="1"/>
            </p:cNvSpPr>
            <p:nvPr/>
          </p:nvSpPr>
          <p:spPr bwMode="auto">
            <a:xfrm>
              <a:off x="5034" y="1026"/>
              <a:ext cx="227" cy="23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Q</a:t>
              </a:r>
            </a:p>
          </p:txBody>
        </p:sp>
        <p:sp>
          <p:nvSpPr>
            <p:cNvPr id="788564" name="Oval 84"/>
            <p:cNvSpPr>
              <a:spLocks noChangeAspect="1" noChangeArrowheads="1"/>
            </p:cNvSpPr>
            <p:nvPr/>
          </p:nvSpPr>
          <p:spPr bwMode="auto">
            <a:xfrm>
              <a:off x="5261" y="1551"/>
              <a:ext cx="79" cy="79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grpSp>
          <p:nvGrpSpPr>
            <p:cNvPr id="7" name="Group 85"/>
            <p:cNvGrpSpPr>
              <a:grpSpLocks/>
            </p:cNvGrpSpPr>
            <p:nvPr/>
          </p:nvGrpSpPr>
          <p:grpSpPr bwMode="auto">
            <a:xfrm>
              <a:off x="5034" y="1492"/>
              <a:ext cx="227" cy="240"/>
              <a:chOff x="5034" y="1492"/>
              <a:chExt cx="227" cy="240"/>
            </a:xfrm>
          </p:grpSpPr>
          <p:sp>
            <p:nvSpPr>
              <p:cNvPr id="788566" name="Rectangle 86"/>
              <p:cNvSpPr>
                <a:spLocks noChangeArrowheads="1"/>
              </p:cNvSpPr>
              <p:nvPr/>
            </p:nvSpPr>
            <p:spPr bwMode="auto">
              <a:xfrm>
                <a:off x="5034" y="1499"/>
                <a:ext cx="227" cy="23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r>
                  <a:rPr lang="en-US" sz="2400" b="1" i="1" dirty="0">
                    <a:latin typeface="Times New Roman" pitchFamily="18" charset="0"/>
                    <a:cs typeface="Times New Roman" pitchFamily="18" charset="0"/>
                  </a:rPr>
                  <a:t>Q</a:t>
                </a:r>
              </a:p>
            </p:txBody>
          </p:sp>
          <p:sp>
            <p:nvSpPr>
              <p:cNvPr id="788567" name="Line 87"/>
              <p:cNvSpPr>
                <a:spLocks noChangeShapeType="1"/>
              </p:cNvSpPr>
              <p:nvPr/>
            </p:nvSpPr>
            <p:spPr bwMode="auto">
              <a:xfrm flipH="1">
                <a:off x="5099" y="1492"/>
                <a:ext cx="11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endParaRPr lang="en-AU"/>
              </a:p>
            </p:txBody>
          </p:sp>
        </p:grpSp>
      </p:grpSp>
      <p:graphicFrame>
        <p:nvGraphicFramePr>
          <p:cNvPr id="788568" name="Group 88"/>
          <p:cNvGraphicFramePr>
            <a:graphicFrameLocks noGrp="1"/>
          </p:cNvGraphicFramePr>
          <p:nvPr/>
        </p:nvGraphicFramePr>
        <p:xfrm>
          <a:off x="3497263" y="5499100"/>
          <a:ext cx="1800225" cy="1219200"/>
        </p:xfrm>
        <a:graphic>
          <a:graphicData uri="http://schemas.openxmlformats.org/drawingml/2006/table">
            <a:tbl>
              <a:tblPr/>
              <a:tblGrid>
                <a:gridCol w="539750"/>
                <a:gridCol w="1260475"/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+1)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Q’</a:t>
                      </a: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88582" name="Rectangle 102"/>
          <p:cNvSpPr>
            <a:spLocks noChangeArrowheads="1"/>
          </p:cNvSpPr>
          <p:nvPr/>
        </p:nvSpPr>
        <p:spPr bwMode="auto">
          <a:xfrm>
            <a:off x="5659438" y="5842000"/>
            <a:ext cx="1620837" cy="87630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No change</a:t>
            </a:r>
            <a:endParaRPr lang="en-US" sz="2400" b="1" dirty="0">
              <a:solidFill>
                <a:srgbClr val="9966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sz="24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Toggle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Flip-Flop Characteristic Equations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798513" y="1477963"/>
            <a:ext cx="1619250" cy="1439862"/>
            <a:chOff x="4467" y="913"/>
            <a:chExt cx="1020" cy="907"/>
          </a:xfrm>
        </p:grpSpPr>
        <p:sp>
          <p:nvSpPr>
            <p:cNvPr id="790532" name="Rectangle 4"/>
            <p:cNvSpPr>
              <a:spLocks noChangeArrowheads="1"/>
            </p:cNvSpPr>
            <p:nvPr/>
          </p:nvSpPr>
          <p:spPr bwMode="auto">
            <a:xfrm>
              <a:off x="4694" y="913"/>
              <a:ext cx="567" cy="907"/>
            </a:xfrm>
            <a:prstGeom prst="rect">
              <a:avLst/>
            </a:prstGeom>
            <a:solidFill>
              <a:srgbClr val="FFFF00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90533" name="Rectangle 5"/>
            <p:cNvSpPr>
              <a:spLocks noChangeArrowheads="1"/>
            </p:cNvSpPr>
            <p:nvPr/>
          </p:nvSpPr>
          <p:spPr bwMode="auto">
            <a:xfrm>
              <a:off x="4694" y="1026"/>
              <a:ext cx="227" cy="23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D</a:t>
              </a:r>
            </a:p>
          </p:txBody>
        </p:sp>
        <p:sp>
          <p:nvSpPr>
            <p:cNvPr id="790534" name="Line 6"/>
            <p:cNvSpPr>
              <a:spLocks noChangeShapeType="1"/>
            </p:cNvSpPr>
            <p:nvPr/>
          </p:nvSpPr>
          <p:spPr bwMode="auto">
            <a:xfrm>
              <a:off x="4694" y="1480"/>
              <a:ext cx="113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90535" name="Line 7"/>
            <p:cNvSpPr>
              <a:spLocks noChangeShapeType="1"/>
            </p:cNvSpPr>
            <p:nvPr/>
          </p:nvSpPr>
          <p:spPr bwMode="auto">
            <a:xfrm flipH="1">
              <a:off x="4694" y="1593"/>
              <a:ext cx="113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90536" name="Line 8"/>
            <p:cNvSpPr>
              <a:spLocks noChangeShapeType="1"/>
            </p:cNvSpPr>
            <p:nvPr/>
          </p:nvSpPr>
          <p:spPr bwMode="auto">
            <a:xfrm flipH="1">
              <a:off x="4467" y="1139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90537" name="Line 9"/>
            <p:cNvSpPr>
              <a:spLocks noChangeShapeType="1"/>
            </p:cNvSpPr>
            <p:nvPr/>
          </p:nvSpPr>
          <p:spPr bwMode="auto">
            <a:xfrm flipH="1">
              <a:off x="4467" y="1593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90538" name="Line 10"/>
            <p:cNvSpPr>
              <a:spLocks noChangeShapeType="1"/>
            </p:cNvSpPr>
            <p:nvPr/>
          </p:nvSpPr>
          <p:spPr bwMode="auto">
            <a:xfrm flipH="1">
              <a:off x="5261" y="1139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90539" name="Line 11"/>
            <p:cNvSpPr>
              <a:spLocks noChangeShapeType="1"/>
            </p:cNvSpPr>
            <p:nvPr/>
          </p:nvSpPr>
          <p:spPr bwMode="auto">
            <a:xfrm flipH="1">
              <a:off x="5261" y="1593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90540" name="Rectangle 12"/>
            <p:cNvSpPr>
              <a:spLocks noChangeArrowheads="1"/>
            </p:cNvSpPr>
            <p:nvPr/>
          </p:nvSpPr>
          <p:spPr bwMode="auto">
            <a:xfrm>
              <a:off x="5034" y="1026"/>
              <a:ext cx="227" cy="23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Q</a:t>
              </a:r>
            </a:p>
          </p:txBody>
        </p:sp>
        <p:sp>
          <p:nvSpPr>
            <p:cNvPr id="790541" name="Oval 13"/>
            <p:cNvSpPr>
              <a:spLocks noChangeAspect="1" noChangeArrowheads="1"/>
            </p:cNvSpPr>
            <p:nvPr/>
          </p:nvSpPr>
          <p:spPr bwMode="auto">
            <a:xfrm>
              <a:off x="5261" y="1551"/>
              <a:ext cx="79" cy="79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grpSp>
          <p:nvGrpSpPr>
            <p:cNvPr id="3" name="Group 14"/>
            <p:cNvGrpSpPr>
              <a:grpSpLocks/>
            </p:cNvGrpSpPr>
            <p:nvPr/>
          </p:nvGrpSpPr>
          <p:grpSpPr bwMode="auto">
            <a:xfrm>
              <a:off x="5034" y="1492"/>
              <a:ext cx="227" cy="240"/>
              <a:chOff x="5034" y="1492"/>
              <a:chExt cx="227" cy="240"/>
            </a:xfrm>
          </p:grpSpPr>
          <p:sp>
            <p:nvSpPr>
              <p:cNvPr id="790543" name="Rectangle 15"/>
              <p:cNvSpPr>
                <a:spLocks noChangeArrowheads="1"/>
              </p:cNvSpPr>
              <p:nvPr/>
            </p:nvSpPr>
            <p:spPr bwMode="auto">
              <a:xfrm>
                <a:off x="5034" y="1499"/>
                <a:ext cx="227" cy="23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r>
                  <a:rPr lang="en-US" sz="2400" b="1" i="1">
                    <a:latin typeface="Times New Roman" pitchFamily="18" charset="0"/>
                    <a:cs typeface="Times New Roman" pitchFamily="18" charset="0"/>
                  </a:rPr>
                  <a:t>Q</a:t>
                </a:r>
              </a:p>
            </p:txBody>
          </p:sp>
          <p:sp>
            <p:nvSpPr>
              <p:cNvPr id="790544" name="Line 16"/>
              <p:cNvSpPr>
                <a:spLocks noChangeShapeType="1"/>
              </p:cNvSpPr>
              <p:nvPr/>
            </p:nvSpPr>
            <p:spPr bwMode="auto">
              <a:xfrm flipH="1">
                <a:off x="5099" y="1492"/>
                <a:ext cx="11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endParaRPr lang="en-AU"/>
              </a:p>
            </p:txBody>
          </p:sp>
        </p:grpSp>
      </p:grpSp>
      <p:graphicFrame>
        <p:nvGraphicFramePr>
          <p:cNvPr id="790545" name="Group 17"/>
          <p:cNvGraphicFramePr>
            <a:graphicFrameLocks noGrp="1"/>
          </p:cNvGraphicFramePr>
          <p:nvPr/>
        </p:nvGraphicFramePr>
        <p:xfrm>
          <a:off x="3497263" y="1519238"/>
          <a:ext cx="1800225" cy="1219200"/>
        </p:xfrm>
        <a:graphic>
          <a:graphicData uri="http://schemas.openxmlformats.org/drawingml/2006/table">
            <a:tbl>
              <a:tblPr/>
              <a:tblGrid>
                <a:gridCol w="539750"/>
                <a:gridCol w="1260475"/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+1)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90559" name="Rectangle 31"/>
          <p:cNvSpPr>
            <a:spLocks noChangeArrowheads="1"/>
          </p:cNvSpPr>
          <p:nvPr/>
        </p:nvSpPr>
        <p:spPr bwMode="auto">
          <a:xfrm>
            <a:off x="5838825" y="2017713"/>
            <a:ext cx="1620838" cy="4381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+1) </a:t>
            </a:r>
            <a: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graphicFrame>
        <p:nvGraphicFramePr>
          <p:cNvPr id="790560" name="Group 32"/>
          <p:cNvGraphicFramePr>
            <a:graphicFrameLocks noGrp="1"/>
          </p:cNvGraphicFramePr>
          <p:nvPr/>
        </p:nvGraphicFramePr>
        <p:xfrm>
          <a:off x="3317875" y="3098800"/>
          <a:ext cx="2160588" cy="2032000"/>
        </p:xfrm>
        <a:graphic>
          <a:graphicData uri="http://schemas.openxmlformats.org/drawingml/2006/table">
            <a:tbl>
              <a:tblPr/>
              <a:tblGrid>
                <a:gridCol w="539750"/>
                <a:gridCol w="539750"/>
                <a:gridCol w="1081088"/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J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+1)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Q’</a:t>
                      </a: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90585" name="Rectangle 57"/>
          <p:cNvSpPr>
            <a:spLocks noChangeArrowheads="1"/>
          </p:cNvSpPr>
          <p:nvPr/>
        </p:nvSpPr>
        <p:spPr bwMode="auto">
          <a:xfrm>
            <a:off x="5838825" y="3817938"/>
            <a:ext cx="2520950" cy="4381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+1) </a:t>
            </a:r>
            <a: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JQ’ 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K’Q</a:t>
            </a:r>
          </a:p>
        </p:txBody>
      </p:sp>
      <p:grpSp>
        <p:nvGrpSpPr>
          <p:cNvPr id="4" name="Group 58"/>
          <p:cNvGrpSpPr>
            <a:grpSpLocks/>
          </p:cNvGrpSpPr>
          <p:nvPr/>
        </p:nvGrpSpPr>
        <p:grpSpPr bwMode="auto">
          <a:xfrm>
            <a:off x="798513" y="3278188"/>
            <a:ext cx="1619250" cy="1620837"/>
            <a:chOff x="2653" y="3067"/>
            <a:chExt cx="1020" cy="1021"/>
          </a:xfrm>
        </p:grpSpPr>
        <p:sp>
          <p:nvSpPr>
            <p:cNvPr id="790587" name="Rectangle 59"/>
            <p:cNvSpPr>
              <a:spLocks noChangeArrowheads="1"/>
            </p:cNvSpPr>
            <p:nvPr/>
          </p:nvSpPr>
          <p:spPr bwMode="auto">
            <a:xfrm>
              <a:off x="2880" y="3067"/>
              <a:ext cx="567" cy="1021"/>
            </a:xfrm>
            <a:prstGeom prst="rect">
              <a:avLst/>
            </a:prstGeom>
            <a:solidFill>
              <a:srgbClr val="66FFFF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90588" name="Rectangle 60"/>
            <p:cNvSpPr>
              <a:spLocks noChangeArrowheads="1"/>
            </p:cNvSpPr>
            <p:nvPr/>
          </p:nvSpPr>
          <p:spPr bwMode="auto">
            <a:xfrm>
              <a:off x="2880" y="3180"/>
              <a:ext cx="227" cy="23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J</a:t>
              </a:r>
            </a:p>
          </p:txBody>
        </p:sp>
        <p:sp>
          <p:nvSpPr>
            <p:cNvPr id="790589" name="Line 61"/>
            <p:cNvSpPr>
              <a:spLocks noChangeShapeType="1"/>
            </p:cNvSpPr>
            <p:nvPr/>
          </p:nvSpPr>
          <p:spPr bwMode="auto">
            <a:xfrm>
              <a:off x="2880" y="3466"/>
              <a:ext cx="113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90590" name="Line 62"/>
            <p:cNvSpPr>
              <a:spLocks noChangeShapeType="1"/>
            </p:cNvSpPr>
            <p:nvPr/>
          </p:nvSpPr>
          <p:spPr bwMode="auto">
            <a:xfrm flipH="1">
              <a:off x="2880" y="3579"/>
              <a:ext cx="113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90591" name="Line 63"/>
            <p:cNvSpPr>
              <a:spLocks noChangeShapeType="1"/>
            </p:cNvSpPr>
            <p:nvPr/>
          </p:nvSpPr>
          <p:spPr bwMode="auto">
            <a:xfrm flipH="1">
              <a:off x="2653" y="3293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90592" name="Line 64"/>
            <p:cNvSpPr>
              <a:spLocks noChangeShapeType="1"/>
            </p:cNvSpPr>
            <p:nvPr/>
          </p:nvSpPr>
          <p:spPr bwMode="auto">
            <a:xfrm flipH="1">
              <a:off x="2653" y="3579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90593" name="Line 65"/>
            <p:cNvSpPr>
              <a:spLocks noChangeShapeType="1"/>
            </p:cNvSpPr>
            <p:nvPr/>
          </p:nvSpPr>
          <p:spPr bwMode="auto">
            <a:xfrm flipH="1">
              <a:off x="3447" y="3293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90594" name="Line 66"/>
            <p:cNvSpPr>
              <a:spLocks noChangeShapeType="1"/>
            </p:cNvSpPr>
            <p:nvPr/>
          </p:nvSpPr>
          <p:spPr bwMode="auto">
            <a:xfrm flipH="1">
              <a:off x="3447" y="3861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90595" name="Rectangle 67"/>
            <p:cNvSpPr>
              <a:spLocks noChangeArrowheads="1"/>
            </p:cNvSpPr>
            <p:nvPr/>
          </p:nvSpPr>
          <p:spPr bwMode="auto">
            <a:xfrm>
              <a:off x="3220" y="3180"/>
              <a:ext cx="227" cy="23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Q</a:t>
              </a:r>
            </a:p>
          </p:txBody>
        </p:sp>
        <p:sp>
          <p:nvSpPr>
            <p:cNvPr id="790596" name="Oval 68"/>
            <p:cNvSpPr>
              <a:spLocks noChangeAspect="1" noChangeArrowheads="1"/>
            </p:cNvSpPr>
            <p:nvPr/>
          </p:nvSpPr>
          <p:spPr bwMode="auto">
            <a:xfrm>
              <a:off x="3447" y="3819"/>
              <a:ext cx="79" cy="79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grpSp>
          <p:nvGrpSpPr>
            <p:cNvPr id="5" name="Group 69"/>
            <p:cNvGrpSpPr>
              <a:grpSpLocks/>
            </p:cNvGrpSpPr>
            <p:nvPr/>
          </p:nvGrpSpPr>
          <p:grpSpPr bwMode="auto">
            <a:xfrm>
              <a:off x="3220" y="3760"/>
              <a:ext cx="227" cy="240"/>
              <a:chOff x="5034" y="1492"/>
              <a:chExt cx="227" cy="240"/>
            </a:xfrm>
          </p:grpSpPr>
          <p:sp>
            <p:nvSpPr>
              <p:cNvPr id="790598" name="Rectangle 70"/>
              <p:cNvSpPr>
                <a:spLocks noChangeArrowheads="1"/>
              </p:cNvSpPr>
              <p:nvPr/>
            </p:nvSpPr>
            <p:spPr bwMode="auto">
              <a:xfrm>
                <a:off x="5034" y="1499"/>
                <a:ext cx="227" cy="23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r>
                  <a:rPr lang="en-US" sz="2400" b="1" i="1" dirty="0">
                    <a:latin typeface="Times New Roman" pitchFamily="18" charset="0"/>
                    <a:cs typeface="Times New Roman" pitchFamily="18" charset="0"/>
                  </a:rPr>
                  <a:t>Q</a:t>
                </a:r>
              </a:p>
            </p:txBody>
          </p:sp>
          <p:sp>
            <p:nvSpPr>
              <p:cNvPr id="790599" name="Line 71"/>
              <p:cNvSpPr>
                <a:spLocks noChangeShapeType="1"/>
              </p:cNvSpPr>
              <p:nvPr/>
            </p:nvSpPr>
            <p:spPr bwMode="auto">
              <a:xfrm flipH="1">
                <a:off x="5099" y="1492"/>
                <a:ext cx="11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endParaRPr lang="en-AU"/>
              </a:p>
            </p:txBody>
          </p:sp>
        </p:grpSp>
        <p:sp>
          <p:nvSpPr>
            <p:cNvPr id="790600" name="Line 72"/>
            <p:cNvSpPr>
              <a:spLocks noChangeShapeType="1"/>
            </p:cNvSpPr>
            <p:nvPr/>
          </p:nvSpPr>
          <p:spPr bwMode="auto">
            <a:xfrm flipH="1">
              <a:off x="2653" y="3861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90601" name="Rectangle 73"/>
            <p:cNvSpPr>
              <a:spLocks noChangeArrowheads="1"/>
            </p:cNvSpPr>
            <p:nvPr/>
          </p:nvSpPr>
          <p:spPr bwMode="auto">
            <a:xfrm>
              <a:off x="2880" y="3767"/>
              <a:ext cx="227" cy="23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K</a:t>
              </a:r>
            </a:p>
          </p:txBody>
        </p:sp>
      </p:grpSp>
      <p:grpSp>
        <p:nvGrpSpPr>
          <p:cNvPr id="6" name="Group 74"/>
          <p:cNvGrpSpPr>
            <a:grpSpLocks/>
          </p:cNvGrpSpPr>
          <p:nvPr/>
        </p:nvGrpSpPr>
        <p:grpSpPr bwMode="auto">
          <a:xfrm>
            <a:off x="798513" y="5259388"/>
            <a:ext cx="1619250" cy="1439862"/>
            <a:chOff x="4467" y="913"/>
            <a:chExt cx="1020" cy="907"/>
          </a:xfrm>
        </p:grpSpPr>
        <p:sp>
          <p:nvSpPr>
            <p:cNvPr id="790603" name="Rectangle 75"/>
            <p:cNvSpPr>
              <a:spLocks noChangeArrowheads="1"/>
            </p:cNvSpPr>
            <p:nvPr/>
          </p:nvSpPr>
          <p:spPr bwMode="auto">
            <a:xfrm>
              <a:off x="4694" y="913"/>
              <a:ext cx="567" cy="907"/>
            </a:xfrm>
            <a:prstGeom prst="rect">
              <a:avLst/>
            </a:prstGeom>
            <a:solidFill>
              <a:srgbClr val="66FF33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90604" name="Rectangle 76"/>
            <p:cNvSpPr>
              <a:spLocks noChangeArrowheads="1"/>
            </p:cNvSpPr>
            <p:nvPr/>
          </p:nvSpPr>
          <p:spPr bwMode="auto">
            <a:xfrm>
              <a:off x="4694" y="1026"/>
              <a:ext cx="227" cy="23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T</a:t>
              </a:r>
            </a:p>
          </p:txBody>
        </p:sp>
        <p:sp>
          <p:nvSpPr>
            <p:cNvPr id="790605" name="Line 77"/>
            <p:cNvSpPr>
              <a:spLocks noChangeShapeType="1"/>
            </p:cNvSpPr>
            <p:nvPr/>
          </p:nvSpPr>
          <p:spPr bwMode="auto">
            <a:xfrm>
              <a:off x="4694" y="1480"/>
              <a:ext cx="113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90606" name="Line 78"/>
            <p:cNvSpPr>
              <a:spLocks noChangeShapeType="1"/>
            </p:cNvSpPr>
            <p:nvPr/>
          </p:nvSpPr>
          <p:spPr bwMode="auto">
            <a:xfrm flipH="1">
              <a:off x="4694" y="1593"/>
              <a:ext cx="113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90607" name="Line 79"/>
            <p:cNvSpPr>
              <a:spLocks noChangeShapeType="1"/>
            </p:cNvSpPr>
            <p:nvPr/>
          </p:nvSpPr>
          <p:spPr bwMode="auto">
            <a:xfrm flipH="1">
              <a:off x="4467" y="1139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90608" name="Line 80"/>
            <p:cNvSpPr>
              <a:spLocks noChangeShapeType="1"/>
            </p:cNvSpPr>
            <p:nvPr/>
          </p:nvSpPr>
          <p:spPr bwMode="auto">
            <a:xfrm flipH="1">
              <a:off x="4467" y="1593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90609" name="Line 81"/>
            <p:cNvSpPr>
              <a:spLocks noChangeShapeType="1"/>
            </p:cNvSpPr>
            <p:nvPr/>
          </p:nvSpPr>
          <p:spPr bwMode="auto">
            <a:xfrm flipH="1">
              <a:off x="5261" y="1139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90610" name="Line 82"/>
            <p:cNvSpPr>
              <a:spLocks noChangeShapeType="1"/>
            </p:cNvSpPr>
            <p:nvPr/>
          </p:nvSpPr>
          <p:spPr bwMode="auto">
            <a:xfrm flipH="1">
              <a:off x="5261" y="1593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790611" name="Rectangle 83"/>
            <p:cNvSpPr>
              <a:spLocks noChangeArrowheads="1"/>
            </p:cNvSpPr>
            <p:nvPr/>
          </p:nvSpPr>
          <p:spPr bwMode="auto">
            <a:xfrm>
              <a:off x="5034" y="1026"/>
              <a:ext cx="227" cy="23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Q</a:t>
              </a:r>
            </a:p>
          </p:txBody>
        </p:sp>
        <p:sp>
          <p:nvSpPr>
            <p:cNvPr id="790612" name="Oval 84"/>
            <p:cNvSpPr>
              <a:spLocks noChangeAspect="1" noChangeArrowheads="1"/>
            </p:cNvSpPr>
            <p:nvPr/>
          </p:nvSpPr>
          <p:spPr bwMode="auto">
            <a:xfrm>
              <a:off x="5261" y="1551"/>
              <a:ext cx="79" cy="79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grpSp>
          <p:nvGrpSpPr>
            <p:cNvPr id="7" name="Group 85"/>
            <p:cNvGrpSpPr>
              <a:grpSpLocks/>
            </p:cNvGrpSpPr>
            <p:nvPr/>
          </p:nvGrpSpPr>
          <p:grpSpPr bwMode="auto">
            <a:xfrm>
              <a:off x="5034" y="1492"/>
              <a:ext cx="227" cy="240"/>
              <a:chOff x="5034" y="1492"/>
              <a:chExt cx="227" cy="240"/>
            </a:xfrm>
          </p:grpSpPr>
          <p:sp>
            <p:nvSpPr>
              <p:cNvPr id="790614" name="Rectangle 86"/>
              <p:cNvSpPr>
                <a:spLocks noChangeArrowheads="1"/>
              </p:cNvSpPr>
              <p:nvPr/>
            </p:nvSpPr>
            <p:spPr bwMode="auto">
              <a:xfrm>
                <a:off x="5034" y="1499"/>
                <a:ext cx="227" cy="23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r>
                  <a:rPr lang="en-US" sz="2400" b="1" i="1">
                    <a:latin typeface="Times New Roman" pitchFamily="18" charset="0"/>
                    <a:cs typeface="Times New Roman" pitchFamily="18" charset="0"/>
                  </a:rPr>
                  <a:t>Q</a:t>
                </a:r>
              </a:p>
            </p:txBody>
          </p:sp>
          <p:sp>
            <p:nvSpPr>
              <p:cNvPr id="790615" name="Line 87"/>
              <p:cNvSpPr>
                <a:spLocks noChangeShapeType="1"/>
              </p:cNvSpPr>
              <p:nvPr/>
            </p:nvSpPr>
            <p:spPr bwMode="auto">
              <a:xfrm flipH="1">
                <a:off x="5099" y="1492"/>
                <a:ext cx="11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endParaRPr lang="en-AU"/>
              </a:p>
            </p:txBody>
          </p:sp>
        </p:grpSp>
      </p:grpSp>
      <p:graphicFrame>
        <p:nvGraphicFramePr>
          <p:cNvPr id="790616" name="Group 88"/>
          <p:cNvGraphicFramePr>
            <a:graphicFrameLocks noGrp="1"/>
          </p:cNvGraphicFramePr>
          <p:nvPr/>
        </p:nvGraphicFramePr>
        <p:xfrm>
          <a:off x="3497263" y="5480050"/>
          <a:ext cx="1800225" cy="1219200"/>
        </p:xfrm>
        <a:graphic>
          <a:graphicData uri="http://schemas.openxmlformats.org/drawingml/2006/table">
            <a:tbl>
              <a:tblPr/>
              <a:tblGrid>
                <a:gridCol w="539750"/>
                <a:gridCol w="1260475"/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+1)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Q’</a:t>
                      </a: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90630" name="Rectangle 102"/>
          <p:cNvSpPr>
            <a:spLocks noChangeArrowheads="1"/>
          </p:cNvSpPr>
          <p:nvPr/>
        </p:nvSpPr>
        <p:spPr bwMode="auto">
          <a:xfrm>
            <a:off x="5838825" y="5978525"/>
            <a:ext cx="2339975" cy="4381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+1) </a:t>
            </a:r>
            <a: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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Q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Content Placeholder 29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Asynchronous Reset</a:t>
            </a:r>
          </a:p>
          <a:p>
            <a:endParaRPr lang="en-AU" dirty="0"/>
          </a:p>
        </p:txBody>
      </p:sp>
      <p:sp>
        <p:nvSpPr>
          <p:cNvPr id="804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Flip-Flops with </a:t>
            </a:r>
            <a:r>
              <a:rPr lang="en-US" dirty="0" smtClean="0"/>
              <a:t>Asynchronous/Direct </a:t>
            </a:r>
            <a:r>
              <a:rPr lang="en-US" dirty="0"/>
              <a:t>Inputs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903288" y="2528888"/>
            <a:ext cx="2767012" cy="2319337"/>
            <a:chOff x="569" y="1593"/>
            <a:chExt cx="1743" cy="1461"/>
          </a:xfrm>
        </p:grpSpPr>
        <p:sp>
          <p:nvSpPr>
            <p:cNvPr id="804869" name="Line 5"/>
            <p:cNvSpPr>
              <a:spLocks noChangeShapeType="1"/>
            </p:cNvSpPr>
            <p:nvPr/>
          </p:nvSpPr>
          <p:spPr bwMode="auto">
            <a:xfrm flipH="1" flipV="1">
              <a:off x="1786" y="2727"/>
              <a:ext cx="0" cy="227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04870" name="Rectangle 6"/>
            <p:cNvSpPr>
              <a:spLocks noChangeArrowheads="1"/>
            </p:cNvSpPr>
            <p:nvPr/>
          </p:nvSpPr>
          <p:spPr bwMode="auto">
            <a:xfrm>
              <a:off x="1519" y="1593"/>
              <a:ext cx="567" cy="1134"/>
            </a:xfrm>
            <a:prstGeom prst="rect">
              <a:avLst/>
            </a:prstGeom>
            <a:solidFill>
              <a:srgbClr val="FFFF00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04871" name="Rectangle 7"/>
            <p:cNvSpPr>
              <a:spLocks noChangeArrowheads="1"/>
            </p:cNvSpPr>
            <p:nvPr/>
          </p:nvSpPr>
          <p:spPr bwMode="auto">
            <a:xfrm>
              <a:off x="1519" y="1706"/>
              <a:ext cx="227" cy="23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r>
                <a:rPr lang="en-US" sz="2400" b="1" i="1" dirty="0">
                  <a:solidFill>
                    <a:srgbClr val="002060"/>
                  </a:solidFill>
                  <a:latin typeface="Times New Roman" pitchFamily="18" charset="0"/>
                  <a:cs typeface="Times New Roman" pitchFamily="18" charset="0"/>
                </a:rPr>
                <a:t>D</a:t>
              </a:r>
            </a:p>
          </p:txBody>
        </p:sp>
        <p:sp>
          <p:nvSpPr>
            <p:cNvPr id="804872" name="Line 8"/>
            <p:cNvSpPr>
              <a:spLocks noChangeShapeType="1"/>
            </p:cNvSpPr>
            <p:nvPr/>
          </p:nvSpPr>
          <p:spPr bwMode="auto">
            <a:xfrm>
              <a:off x="1519" y="2160"/>
              <a:ext cx="113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04873" name="Line 9"/>
            <p:cNvSpPr>
              <a:spLocks noChangeShapeType="1"/>
            </p:cNvSpPr>
            <p:nvPr/>
          </p:nvSpPr>
          <p:spPr bwMode="auto">
            <a:xfrm flipH="1">
              <a:off x="1519" y="2273"/>
              <a:ext cx="113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04874" name="Line 10"/>
            <p:cNvSpPr>
              <a:spLocks noChangeShapeType="1"/>
            </p:cNvSpPr>
            <p:nvPr/>
          </p:nvSpPr>
          <p:spPr bwMode="auto">
            <a:xfrm flipH="1">
              <a:off x="1292" y="1819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04875" name="Line 11"/>
            <p:cNvSpPr>
              <a:spLocks noChangeShapeType="1"/>
            </p:cNvSpPr>
            <p:nvPr/>
          </p:nvSpPr>
          <p:spPr bwMode="auto">
            <a:xfrm flipH="1">
              <a:off x="1292" y="2273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04876" name="Line 12"/>
            <p:cNvSpPr>
              <a:spLocks noChangeShapeType="1"/>
            </p:cNvSpPr>
            <p:nvPr/>
          </p:nvSpPr>
          <p:spPr bwMode="auto">
            <a:xfrm flipH="1">
              <a:off x="2086" y="1819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04877" name="Line 13"/>
            <p:cNvSpPr>
              <a:spLocks noChangeShapeType="1"/>
            </p:cNvSpPr>
            <p:nvPr/>
          </p:nvSpPr>
          <p:spPr bwMode="auto">
            <a:xfrm flipH="1">
              <a:off x="2086" y="2273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04878" name="Rectangle 14"/>
            <p:cNvSpPr>
              <a:spLocks noChangeArrowheads="1"/>
            </p:cNvSpPr>
            <p:nvPr/>
          </p:nvSpPr>
          <p:spPr bwMode="auto">
            <a:xfrm>
              <a:off x="1859" y="1706"/>
              <a:ext cx="227" cy="23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sz="2400" b="1" i="1" dirty="0">
                  <a:solidFill>
                    <a:srgbClr val="002060"/>
                  </a:solidFill>
                  <a:latin typeface="Times New Roman" pitchFamily="18" charset="0"/>
                  <a:cs typeface="Times New Roman" pitchFamily="18" charset="0"/>
                </a:rPr>
                <a:t>Q</a:t>
              </a:r>
            </a:p>
          </p:txBody>
        </p:sp>
        <p:sp>
          <p:nvSpPr>
            <p:cNvPr id="804879" name="Oval 15"/>
            <p:cNvSpPr>
              <a:spLocks noChangeAspect="1" noChangeArrowheads="1"/>
            </p:cNvSpPr>
            <p:nvPr/>
          </p:nvSpPr>
          <p:spPr bwMode="auto">
            <a:xfrm>
              <a:off x="2086" y="2231"/>
              <a:ext cx="79" cy="79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grpSp>
          <p:nvGrpSpPr>
            <p:cNvPr id="3" name="Group 16"/>
            <p:cNvGrpSpPr>
              <a:grpSpLocks/>
            </p:cNvGrpSpPr>
            <p:nvPr/>
          </p:nvGrpSpPr>
          <p:grpSpPr bwMode="auto">
            <a:xfrm>
              <a:off x="1859" y="2172"/>
              <a:ext cx="227" cy="240"/>
              <a:chOff x="5034" y="1492"/>
              <a:chExt cx="227" cy="240"/>
            </a:xfrm>
          </p:grpSpPr>
          <p:sp>
            <p:nvSpPr>
              <p:cNvPr id="804881" name="Rectangle 17"/>
              <p:cNvSpPr>
                <a:spLocks noChangeArrowheads="1"/>
              </p:cNvSpPr>
              <p:nvPr/>
            </p:nvSpPr>
            <p:spPr bwMode="auto">
              <a:xfrm>
                <a:off x="5034" y="1499"/>
                <a:ext cx="227" cy="23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 algn="ctr"/>
                <a:r>
                  <a:rPr lang="en-US" sz="2400" b="1" i="1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Q</a:t>
                </a:r>
              </a:p>
            </p:txBody>
          </p:sp>
          <p:sp>
            <p:nvSpPr>
              <p:cNvPr id="804882" name="Line 18"/>
              <p:cNvSpPr>
                <a:spLocks noChangeShapeType="1"/>
              </p:cNvSpPr>
              <p:nvPr/>
            </p:nvSpPr>
            <p:spPr bwMode="auto">
              <a:xfrm flipH="1">
                <a:off x="5099" y="1492"/>
                <a:ext cx="114" cy="0"/>
              </a:xfrm>
              <a:prstGeom prst="line">
                <a:avLst/>
              </a:prstGeom>
              <a:noFill/>
              <a:ln w="38100">
                <a:solidFill>
                  <a:srgbClr val="002060"/>
                </a:solidFill>
                <a:round/>
                <a:headEnd/>
                <a:tailE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pPr algn="ctr"/>
                <a:endParaRPr lang="en-AU">
                  <a:solidFill>
                    <a:srgbClr val="002060"/>
                  </a:solidFill>
                </a:endParaRPr>
              </a:p>
            </p:txBody>
          </p:sp>
        </p:grpSp>
        <p:sp>
          <p:nvSpPr>
            <p:cNvPr id="804883" name="Oval 19"/>
            <p:cNvSpPr>
              <a:spLocks noChangeAspect="1" noChangeArrowheads="1"/>
            </p:cNvSpPr>
            <p:nvPr/>
          </p:nvSpPr>
          <p:spPr bwMode="auto">
            <a:xfrm>
              <a:off x="1746" y="2727"/>
              <a:ext cx="79" cy="79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grpSp>
          <p:nvGrpSpPr>
            <p:cNvPr id="4" name="Group 20"/>
            <p:cNvGrpSpPr>
              <a:grpSpLocks/>
            </p:cNvGrpSpPr>
            <p:nvPr/>
          </p:nvGrpSpPr>
          <p:grpSpPr bwMode="auto">
            <a:xfrm>
              <a:off x="1689" y="2500"/>
              <a:ext cx="226" cy="240"/>
              <a:chOff x="5034" y="1492"/>
              <a:chExt cx="227" cy="240"/>
            </a:xfrm>
          </p:grpSpPr>
          <p:sp>
            <p:nvSpPr>
              <p:cNvPr id="804885" name="Rectangle 21"/>
              <p:cNvSpPr>
                <a:spLocks noChangeArrowheads="1"/>
              </p:cNvSpPr>
              <p:nvPr/>
            </p:nvSpPr>
            <p:spPr bwMode="auto">
              <a:xfrm>
                <a:off x="5034" y="1499"/>
                <a:ext cx="227" cy="23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 algn="ctr"/>
                <a:r>
                  <a:rPr lang="en-US" sz="2400" b="1" i="1" dirty="0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R</a:t>
                </a:r>
              </a:p>
            </p:txBody>
          </p:sp>
          <p:sp>
            <p:nvSpPr>
              <p:cNvPr id="804886" name="Line 22"/>
              <p:cNvSpPr>
                <a:spLocks noChangeShapeType="1"/>
              </p:cNvSpPr>
              <p:nvPr/>
            </p:nvSpPr>
            <p:spPr bwMode="auto">
              <a:xfrm flipH="1">
                <a:off x="5099" y="1492"/>
                <a:ext cx="114" cy="0"/>
              </a:xfrm>
              <a:prstGeom prst="line">
                <a:avLst/>
              </a:prstGeom>
              <a:noFill/>
              <a:ln w="38100">
                <a:solidFill>
                  <a:srgbClr val="002060"/>
                </a:solidFill>
                <a:round/>
                <a:headEnd/>
                <a:tailE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endParaRPr lang="en-AU"/>
              </a:p>
            </p:txBody>
          </p:sp>
        </p:grpSp>
        <p:sp>
          <p:nvSpPr>
            <p:cNvPr id="804887" name="Line 23"/>
            <p:cNvSpPr>
              <a:spLocks noChangeShapeType="1"/>
            </p:cNvSpPr>
            <p:nvPr/>
          </p:nvSpPr>
          <p:spPr bwMode="auto">
            <a:xfrm flipH="1">
              <a:off x="1292" y="2954"/>
              <a:ext cx="494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grpSp>
          <p:nvGrpSpPr>
            <p:cNvPr id="5" name="Group 24"/>
            <p:cNvGrpSpPr>
              <a:grpSpLocks/>
            </p:cNvGrpSpPr>
            <p:nvPr/>
          </p:nvGrpSpPr>
          <p:grpSpPr bwMode="auto">
            <a:xfrm>
              <a:off x="569" y="2840"/>
              <a:ext cx="449" cy="214"/>
              <a:chOff x="569" y="2500"/>
              <a:chExt cx="449" cy="214"/>
            </a:xfrm>
          </p:grpSpPr>
          <p:sp>
            <p:nvSpPr>
              <p:cNvPr id="804889" name="Rectangle 25"/>
              <p:cNvSpPr>
                <a:spLocks noChangeArrowheads="1"/>
              </p:cNvSpPr>
              <p:nvPr/>
            </p:nvSpPr>
            <p:spPr bwMode="auto">
              <a:xfrm>
                <a:off x="569" y="2507"/>
                <a:ext cx="426" cy="207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/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400" b="1" i="1">
                    <a:solidFill>
                      <a:schemeClr val="accent2"/>
                    </a:solidFill>
                    <a:latin typeface="Times New Roman" pitchFamily="18" charset="0"/>
                    <a:cs typeface="Times New Roman" pitchFamily="18" charset="0"/>
                  </a:rPr>
                  <a:t>Reset</a:t>
                </a:r>
              </a:p>
            </p:txBody>
          </p:sp>
          <p:sp>
            <p:nvSpPr>
              <p:cNvPr id="804890" name="Line 26"/>
              <p:cNvSpPr>
                <a:spLocks noChangeShapeType="1"/>
              </p:cNvSpPr>
              <p:nvPr/>
            </p:nvSpPr>
            <p:spPr bwMode="auto">
              <a:xfrm flipH="1">
                <a:off x="612" y="2500"/>
                <a:ext cx="406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endParaRPr lang="en-AU"/>
              </a:p>
            </p:txBody>
          </p:sp>
        </p:grpSp>
      </p:grpSp>
      <p:graphicFrame>
        <p:nvGraphicFramePr>
          <p:cNvPr id="804891" name="Group 27"/>
          <p:cNvGraphicFramePr>
            <a:graphicFrameLocks noGrp="1"/>
          </p:cNvGraphicFramePr>
          <p:nvPr/>
        </p:nvGraphicFramePr>
        <p:xfrm>
          <a:off x="4932363" y="2528888"/>
          <a:ext cx="3060700" cy="1800226"/>
        </p:xfrm>
        <a:graphic>
          <a:graphicData uri="http://schemas.openxmlformats.org/drawingml/2006/table">
            <a:tbl>
              <a:tblPr/>
              <a:tblGrid>
                <a:gridCol w="611187"/>
                <a:gridCol w="611188"/>
                <a:gridCol w="757237"/>
                <a:gridCol w="1081088"/>
              </a:tblGrid>
              <a:tr h="4508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R’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CLK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+1)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4492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↑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92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↑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Content Placeholder 29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Asynchronous Reset</a:t>
            </a:r>
          </a:p>
          <a:p>
            <a:endParaRPr lang="en-AU" dirty="0"/>
          </a:p>
        </p:txBody>
      </p:sp>
      <p:sp>
        <p:nvSpPr>
          <p:cNvPr id="804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Flip-Flops with Direct Inputs</a:t>
            </a:r>
          </a:p>
        </p:txBody>
      </p:sp>
      <p:pic>
        <p:nvPicPr>
          <p:cNvPr id="29" name="Picture 2" descr="C:\jobs\Marries\ch05\tiff\AACFLQI0.t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90951" y="1536930"/>
            <a:ext cx="3695700" cy="49164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ontent Placeholder 38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Asynchronous Preset and Clear</a:t>
            </a:r>
          </a:p>
          <a:p>
            <a:endParaRPr lang="en-AU" dirty="0"/>
          </a:p>
        </p:txBody>
      </p:sp>
      <p:sp>
        <p:nvSpPr>
          <p:cNvPr id="811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Flip-Flops with Direct Inputs</a:t>
            </a:r>
          </a:p>
        </p:txBody>
      </p:sp>
      <p:graphicFrame>
        <p:nvGraphicFramePr>
          <p:cNvPr id="811012" name="Group 4"/>
          <p:cNvGraphicFramePr>
            <a:graphicFrameLocks noGrp="1"/>
          </p:cNvGraphicFramePr>
          <p:nvPr/>
        </p:nvGraphicFramePr>
        <p:xfrm>
          <a:off x="4751388" y="2528888"/>
          <a:ext cx="3852862" cy="2251076"/>
        </p:xfrm>
        <a:graphic>
          <a:graphicData uri="http://schemas.openxmlformats.org/drawingml/2006/table">
            <a:tbl>
              <a:tblPr/>
              <a:tblGrid>
                <a:gridCol w="641350"/>
                <a:gridCol w="800100"/>
                <a:gridCol w="482600"/>
                <a:gridCol w="793750"/>
                <a:gridCol w="1135062"/>
              </a:tblGrid>
              <a:tr h="4508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PR’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CLR’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CLK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+1)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4492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↑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92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↑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2" name="Group 39"/>
          <p:cNvGrpSpPr>
            <a:grpSpLocks/>
          </p:cNvGrpSpPr>
          <p:nvPr/>
        </p:nvGrpSpPr>
        <p:grpSpPr bwMode="auto">
          <a:xfrm>
            <a:off x="1150938" y="2009775"/>
            <a:ext cx="2519362" cy="3260725"/>
            <a:chOff x="725" y="1026"/>
            <a:chExt cx="1587" cy="2054"/>
          </a:xfrm>
        </p:grpSpPr>
        <p:sp>
          <p:nvSpPr>
            <p:cNvPr id="811048" name="Line 40"/>
            <p:cNvSpPr>
              <a:spLocks noChangeShapeType="1"/>
            </p:cNvSpPr>
            <p:nvPr/>
          </p:nvSpPr>
          <p:spPr bwMode="auto">
            <a:xfrm flipH="1" flipV="1">
              <a:off x="1811" y="1139"/>
              <a:ext cx="0" cy="227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11049" name="Line 41"/>
            <p:cNvSpPr>
              <a:spLocks noChangeShapeType="1"/>
            </p:cNvSpPr>
            <p:nvPr/>
          </p:nvSpPr>
          <p:spPr bwMode="auto">
            <a:xfrm flipH="1" flipV="1">
              <a:off x="1786" y="2727"/>
              <a:ext cx="0" cy="227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11050" name="Rectangle 42"/>
            <p:cNvSpPr>
              <a:spLocks noChangeArrowheads="1"/>
            </p:cNvSpPr>
            <p:nvPr/>
          </p:nvSpPr>
          <p:spPr bwMode="auto">
            <a:xfrm>
              <a:off x="1519" y="1366"/>
              <a:ext cx="567" cy="1361"/>
            </a:xfrm>
            <a:prstGeom prst="rect">
              <a:avLst/>
            </a:prstGeom>
            <a:solidFill>
              <a:srgbClr val="FFFF00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11051" name="Rectangle 43"/>
            <p:cNvSpPr>
              <a:spLocks noChangeArrowheads="1"/>
            </p:cNvSpPr>
            <p:nvPr/>
          </p:nvSpPr>
          <p:spPr bwMode="auto">
            <a:xfrm>
              <a:off x="1519" y="1706"/>
              <a:ext cx="227" cy="23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r>
                <a:rPr lang="en-US" sz="2400" b="1" i="1" dirty="0">
                  <a:solidFill>
                    <a:srgbClr val="002060"/>
                  </a:solidFill>
                  <a:latin typeface="Times New Roman" pitchFamily="18" charset="0"/>
                  <a:cs typeface="Times New Roman" pitchFamily="18" charset="0"/>
                </a:rPr>
                <a:t>D</a:t>
              </a:r>
            </a:p>
          </p:txBody>
        </p:sp>
        <p:sp>
          <p:nvSpPr>
            <p:cNvPr id="811052" name="Line 44"/>
            <p:cNvSpPr>
              <a:spLocks noChangeShapeType="1"/>
            </p:cNvSpPr>
            <p:nvPr/>
          </p:nvSpPr>
          <p:spPr bwMode="auto">
            <a:xfrm>
              <a:off x="1519" y="2160"/>
              <a:ext cx="113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11053" name="Line 45"/>
            <p:cNvSpPr>
              <a:spLocks noChangeShapeType="1"/>
            </p:cNvSpPr>
            <p:nvPr/>
          </p:nvSpPr>
          <p:spPr bwMode="auto">
            <a:xfrm flipH="1">
              <a:off x="1519" y="2273"/>
              <a:ext cx="113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11054" name="Line 46"/>
            <p:cNvSpPr>
              <a:spLocks noChangeShapeType="1"/>
            </p:cNvSpPr>
            <p:nvPr/>
          </p:nvSpPr>
          <p:spPr bwMode="auto">
            <a:xfrm flipH="1">
              <a:off x="1292" y="1819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11055" name="Line 47"/>
            <p:cNvSpPr>
              <a:spLocks noChangeShapeType="1"/>
            </p:cNvSpPr>
            <p:nvPr/>
          </p:nvSpPr>
          <p:spPr bwMode="auto">
            <a:xfrm flipH="1">
              <a:off x="1292" y="2273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11056" name="Line 48"/>
            <p:cNvSpPr>
              <a:spLocks noChangeShapeType="1"/>
            </p:cNvSpPr>
            <p:nvPr/>
          </p:nvSpPr>
          <p:spPr bwMode="auto">
            <a:xfrm flipH="1">
              <a:off x="2086" y="1819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11057" name="Line 49"/>
            <p:cNvSpPr>
              <a:spLocks noChangeShapeType="1"/>
            </p:cNvSpPr>
            <p:nvPr/>
          </p:nvSpPr>
          <p:spPr bwMode="auto">
            <a:xfrm flipH="1">
              <a:off x="2086" y="2273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11058" name="Rectangle 50"/>
            <p:cNvSpPr>
              <a:spLocks noChangeArrowheads="1"/>
            </p:cNvSpPr>
            <p:nvPr/>
          </p:nvSpPr>
          <p:spPr bwMode="auto">
            <a:xfrm>
              <a:off x="1859" y="1706"/>
              <a:ext cx="227" cy="23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r>
                <a:rPr lang="en-US" sz="2400" b="1" i="1">
                  <a:solidFill>
                    <a:srgbClr val="002060"/>
                  </a:solidFill>
                  <a:latin typeface="Times New Roman" pitchFamily="18" charset="0"/>
                  <a:cs typeface="Times New Roman" pitchFamily="18" charset="0"/>
                </a:rPr>
                <a:t>Q</a:t>
              </a:r>
            </a:p>
          </p:txBody>
        </p:sp>
        <p:sp>
          <p:nvSpPr>
            <p:cNvPr id="811059" name="Oval 51"/>
            <p:cNvSpPr>
              <a:spLocks noChangeAspect="1" noChangeArrowheads="1"/>
            </p:cNvSpPr>
            <p:nvPr/>
          </p:nvSpPr>
          <p:spPr bwMode="auto">
            <a:xfrm>
              <a:off x="2086" y="2231"/>
              <a:ext cx="79" cy="79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grpSp>
          <p:nvGrpSpPr>
            <p:cNvPr id="3" name="Group 52"/>
            <p:cNvGrpSpPr>
              <a:grpSpLocks/>
            </p:cNvGrpSpPr>
            <p:nvPr/>
          </p:nvGrpSpPr>
          <p:grpSpPr bwMode="auto">
            <a:xfrm>
              <a:off x="1859" y="2172"/>
              <a:ext cx="227" cy="240"/>
              <a:chOff x="5034" y="1492"/>
              <a:chExt cx="227" cy="240"/>
            </a:xfrm>
          </p:grpSpPr>
          <p:sp>
            <p:nvSpPr>
              <p:cNvPr id="811061" name="Rectangle 53"/>
              <p:cNvSpPr>
                <a:spLocks noChangeArrowheads="1"/>
              </p:cNvSpPr>
              <p:nvPr/>
            </p:nvSpPr>
            <p:spPr bwMode="auto">
              <a:xfrm>
                <a:off x="5034" y="1499"/>
                <a:ext cx="227" cy="23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r>
                  <a:rPr lang="en-US" sz="2400" b="1" i="1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Q</a:t>
                </a:r>
              </a:p>
            </p:txBody>
          </p:sp>
          <p:sp>
            <p:nvSpPr>
              <p:cNvPr id="811062" name="Line 54"/>
              <p:cNvSpPr>
                <a:spLocks noChangeShapeType="1"/>
              </p:cNvSpPr>
              <p:nvPr/>
            </p:nvSpPr>
            <p:spPr bwMode="auto">
              <a:xfrm flipH="1">
                <a:off x="5099" y="1492"/>
                <a:ext cx="114" cy="0"/>
              </a:xfrm>
              <a:prstGeom prst="line">
                <a:avLst/>
              </a:prstGeom>
              <a:noFill/>
              <a:ln w="38100">
                <a:solidFill>
                  <a:srgbClr val="002060"/>
                </a:solidFill>
                <a:round/>
                <a:headEnd/>
                <a:tailE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endParaRPr lang="en-AU"/>
              </a:p>
            </p:txBody>
          </p:sp>
        </p:grpSp>
        <p:sp>
          <p:nvSpPr>
            <p:cNvPr id="811063" name="Oval 55"/>
            <p:cNvSpPr>
              <a:spLocks noChangeAspect="1" noChangeArrowheads="1"/>
            </p:cNvSpPr>
            <p:nvPr/>
          </p:nvSpPr>
          <p:spPr bwMode="auto">
            <a:xfrm>
              <a:off x="1746" y="2727"/>
              <a:ext cx="79" cy="79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grpSp>
          <p:nvGrpSpPr>
            <p:cNvPr id="4" name="Group 56"/>
            <p:cNvGrpSpPr>
              <a:grpSpLocks/>
            </p:cNvGrpSpPr>
            <p:nvPr/>
          </p:nvGrpSpPr>
          <p:grpSpPr bwMode="auto">
            <a:xfrm>
              <a:off x="1608" y="2500"/>
              <a:ext cx="377" cy="240"/>
              <a:chOff x="1608" y="2500"/>
              <a:chExt cx="377" cy="240"/>
            </a:xfrm>
          </p:grpSpPr>
          <p:sp>
            <p:nvSpPr>
              <p:cNvPr id="811065" name="Rectangle 57"/>
              <p:cNvSpPr>
                <a:spLocks noChangeArrowheads="1"/>
              </p:cNvSpPr>
              <p:nvPr/>
            </p:nvSpPr>
            <p:spPr bwMode="auto">
              <a:xfrm>
                <a:off x="1608" y="2507"/>
                <a:ext cx="377" cy="23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/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400" b="1" i="1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CLR</a:t>
                </a:r>
              </a:p>
            </p:txBody>
          </p:sp>
          <p:sp>
            <p:nvSpPr>
              <p:cNvPr id="811066" name="Line 58"/>
              <p:cNvSpPr>
                <a:spLocks noChangeShapeType="1"/>
              </p:cNvSpPr>
              <p:nvPr/>
            </p:nvSpPr>
            <p:spPr bwMode="auto">
              <a:xfrm flipH="1">
                <a:off x="1633" y="2500"/>
                <a:ext cx="340" cy="0"/>
              </a:xfrm>
              <a:prstGeom prst="line">
                <a:avLst/>
              </a:prstGeom>
              <a:noFill/>
              <a:ln w="38100">
                <a:solidFill>
                  <a:srgbClr val="002060"/>
                </a:solidFill>
                <a:round/>
                <a:headEnd/>
                <a:tailE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endParaRPr lang="en-AU"/>
              </a:p>
            </p:txBody>
          </p:sp>
        </p:grpSp>
        <p:sp>
          <p:nvSpPr>
            <p:cNvPr id="811067" name="Line 59"/>
            <p:cNvSpPr>
              <a:spLocks noChangeShapeType="1"/>
            </p:cNvSpPr>
            <p:nvPr/>
          </p:nvSpPr>
          <p:spPr bwMode="auto">
            <a:xfrm flipH="1">
              <a:off x="1292" y="2954"/>
              <a:ext cx="494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grpSp>
          <p:nvGrpSpPr>
            <p:cNvPr id="5" name="Group 60"/>
            <p:cNvGrpSpPr>
              <a:grpSpLocks/>
            </p:cNvGrpSpPr>
            <p:nvPr/>
          </p:nvGrpSpPr>
          <p:grpSpPr bwMode="auto">
            <a:xfrm>
              <a:off x="725" y="2840"/>
              <a:ext cx="449" cy="240"/>
              <a:chOff x="569" y="2500"/>
              <a:chExt cx="449" cy="240"/>
            </a:xfrm>
          </p:grpSpPr>
          <p:sp>
            <p:nvSpPr>
              <p:cNvPr id="811069" name="Rectangle 61"/>
              <p:cNvSpPr>
                <a:spLocks noChangeArrowheads="1"/>
              </p:cNvSpPr>
              <p:nvPr/>
            </p:nvSpPr>
            <p:spPr bwMode="auto">
              <a:xfrm>
                <a:off x="569" y="2507"/>
                <a:ext cx="430" cy="23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/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400" b="1" i="1" dirty="0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Reset</a:t>
                </a:r>
              </a:p>
            </p:txBody>
          </p:sp>
          <p:sp>
            <p:nvSpPr>
              <p:cNvPr id="811070" name="Line 62"/>
              <p:cNvSpPr>
                <a:spLocks noChangeShapeType="1"/>
              </p:cNvSpPr>
              <p:nvPr/>
            </p:nvSpPr>
            <p:spPr bwMode="auto">
              <a:xfrm flipH="1">
                <a:off x="612" y="2500"/>
                <a:ext cx="406" cy="0"/>
              </a:xfrm>
              <a:prstGeom prst="line">
                <a:avLst/>
              </a:prstGeom>
              <a:noFill/>
              <a:ln w="38100">
                <a:solidFill>
                  <a:srgbClr val="002060"/>
                </a:solidFill>
                <a:round/>
                <a:headEnd/>
                <a:tailE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endParaRPr lang="en-AU"/>
              </a:p>
            </p:txBody>
          </p:sp>
        </p:grpSp>
        <p:grpSp>
          <p:nvGrpSpPr>
            <p:cNvPr id="6" name="Group 63"/>
            <p:cNvGrpSpPr>
              <a:grpSpLocks/>
            </p:cNvGrpSpPr>
            <p:nvPr/>
          </p:nvGrpSpPr>
          <p:grpSpPr bwMode="auto">
            <a:xfrm>
              <a:off x="1677" y="1436"/>
              <a:ext cx="250" cy="240"/>
              <a:chOff x="1697" y="1366"/>
              <a:chExt cx="250" cy="240"/>
            </a:xfrm>
          </p:grpSpPr>
          <p:sp>
            <p:nvSpPr>
              <p:cNvPr id="811072" name="Rectangle 64"/>
              <p:cNvSpPr>
                <a:spLocks noChangeArrowheads="1"/>
              </p:cNvSpPr>
              <p:nvPr/>
            </p:nvSpPr>
            <p:spPr bwMode="auto">
              <a:xfrm>
                <a:off x="1697" y="1373"/>
                <a:ext cx="247" cy="23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/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400" b="1" i="1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PR</a:t>
                </a:r>
              </a:p>
            </p:txBody>
          </p:sp>
          <p:sp>
            <p:nvSpPr>
              <p:cNvPr id="811073" name="Line 65"/>
              <p:cNvSpPr>
                <a:spLocks noChangeShapeType="1"/>
              </p:cNvSpPr>
              <p:nvPr/>
            </p:nvSpPr>
            <p:spPr bwMode="auto">
              <a:xfrm flipH="1">
                <a:off x="1720" y="1366"/>
                <a:ext cx="227" cy="0"/>
              </a:xfrm>
              <a:prstGeom prst="line">
                <a:avLst/>
              </a:prstGeom>
              <a:noFill/>
              <a:ln w="38100">
                <a:solidFill>
                  <a:srgbClr val="002060"/>
                </a:solidFill>
                <a:round/>
                <a:headEnd/>
                <a:tailE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endParaRPr lang="en-AU"/>
              </a:p>
            </p:txBody>
          </p:sp>
        </p:grpSp>
        <p:sp>
          <p:nvSpPr>
            <p:cNvPr id="811074" name="Oval 66"/>
            <p:cNvSpPr>
              <a:spLocks noChangeAspect="1" noChangeArrowheads="1"/>
            </p:cNvSpPr>
            <p:nvPr/>
          </p:nvSpPr>
          <p:spPr bwMode="auto">
            <a:xfrm>
              <a:off x="1770" y="1281"/>
              <a:ext cx="79" cy="79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11075" name="Line 67"/>
            <p:cNvSpPr>
              <a:spLocks noChangeShapeType="1"/>
            </p:cNvSpPr>
            <p:nvPr/>
          </p:nvSpPr>
          <p:spPr bwMode="auto">
            <a:xfrm flipH="1">
              <a:off x="1316" y="1139"/>
              <a:ext cx="494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grpSp>
          <p:nvGrpSpPr>
            <p:cNvPr id="7" name="Group 68"/>
            <p:cNvGrpSpPr>
              <a:grpSpLocks/>
            </p:cNvGrpSpPr>
            <p:nvPr/>
          </p:nvGrpSpPr>
          <p:grpSpPr bwMode="auto">
            <a:xfrm>
              <a:off x="725" y="1026"/>
              <a:ext cx="495" cy="240"/>
              <a:chOff x="538" y="2500"/>
              <a:chExt cx="495" cy="240"/>
            </a:xfrm>
          </p:grpSpPr>
          <p:sp>
            <p:nvSpPr>
              <p:cNvPr id="811077" name="Rectangle 69"/>
              <p:cNvSpPr>
                <a:spLocks noChangeArrowheads="1"/>
              </p:cNvSpPr>
              <p:nvPr/>
            </p:nvSpPr>
            <p:spPr bwMode="auto">
              <a:xfrm>
                <a:off x="538" y="2507"/>
                <a:ext cx="495" cy="23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/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400" b="1" i="1" dirty="0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Preset</a:t>
                </a:r>
              </a:p>
            </p:txBody>
          </p:sp>
          <p:sp>
            <p:nvSpPr>
              <p:cNvPr id="811078" name="Line 70"/>
              <p:cNvSpPr>
                <a:spLocks noChangeShapeType="1"/>
              </p:cNvSpPr>
              <p:nvPr/>
            </p:nvSpPr>
            <p:spPr bwMode="auto">
              <a:xfrm flipH="1">
                <a:off x="612" y="2500"/>
                <a:ext cx="406" cy="0"/>
              </a:xfrm>
              <a:prstGeom prst="line">
                <a:avLst/>
              </a:prstGeom>
              <a:noFill/>
              <a:ln w="38100">
                <a:solidFill>
                  <a:srgbClr val="002060"/>
                </a:solidFill>
                <a:round/>
                <a:headEnd/>
                <a:tailE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endParaRPr lang="en-AU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0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Analysis of Clocked Sequential </a:t>
            </a:r>
            <a:r>
              <a:rPr lang="en-US" dirty="0" smtClean="0"/>
              <a:t>Circuits: The State</a:t>
            </a:r>
            <a:endParaRPr lang="en-US" dirty="0"/>
          </a:p>
        </p:txBody>
      </p:sp>
      <p:graphicFrame>
        <p:nvGraphicFramePr>
          <p:cNvPr id="813060" name="Object 4"/>
          <p:cNvGraphicFramePr>
            <a:graphicFrameLocks noChangeAspect="1"/>
          </p:cNvGraphicFramePr>
          <p:nvPr/>
        </p:nvGraphicFramePr>
        <p:xfrm>
          <a:off x="3311525" y="2540000"/>
          <a:ext cx="4775200" cy="413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126" name="Visio" r:id="rId4" imgW="2975580" imgH="2572756" progId="">
                  <p:embed/>
                </p:oleObj>
              </mc:Choice>
              <mc:Fallback>
                <p:oleObj name="Visio" r:id="rId4" imgW="2975580" imgH="2572756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1525" y="2540000"/>
                        <a:ext cx="4775200" cy="413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3061" name="Oval 5"/>
          <p:cNvSpPr>
            <a:spLocks noChangeArrowheads="1"/>
          </p:cNvSpPr>
          <p:nvPr/>
        </p:nvSpPr>
        <p:spPr bwMode="auto">
          <a:xfrm>
            <a:off x="7812088" y="2708275"/>
            <a:ext cx="358775" cy="2160588"/>
          </a:xfrm>
          <a:prstGeom prst="ellipse">
            <a:avLst/>
          </a:prstGeom>
          <a:noFill/>
          <a:ln w="28575" algn="ctr">
            <a:solidFill>
              <a:schemeClr val="accent1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State = Values of all Flip-Flops</a:t>
            </a:r>
          </a:p>
          <a:p>
            <a:pPr lvl="1">
              <a:buFont typeface="Times New Roman" pitchFamily="18" charset="0"/>
              <a:buNone/>
            </a:pPr>
            <a:endParaRPr lang="en-US" u="sng" dirty="0" smtClean="0">
              <a:solidFill>
                <a:srgbClr val="996600"/>
              </a:solidFill>
            </a:endParaRPr>
          </a:p>
          <a:p>
            <a:pPr>
              <a:buFont typeface="Wingdings" pitchFamily="2" charset="2"/>
              <a:buNone/>
            </a:pPr>
            <a:r>
              <a:rPr lang="en-US" dirty="0" smtClean="0">
                <a:solidFill>
                  <a:srgbClr val="996600"/>
                </a:solidFill>
              </a:rPr>
              <a:t>    </a:t>
            </a:r>
            <a:r>
              <a:rPr lang="en-US" u="sng" dirty="0" smtClean="0">
                <a:solidFill>
                  <a:srgbClr val="996600"/>
                </a:solidFill>
              </a:rPr>
              <a:t>Example</a:t>
            </a:r>
          </a:p>
          <a:p>
            <a:pPr>
              <a:buFont typeface="Wingdings" pitchFamily="2" charset="2"/>
              <a:buNone/>
            </a:pPr>
            <a:r>
              <a:rPr lang="en-US" i="1" dirty="0" smtClean="0"/>
              <a:t>        </a:t>
            </a:r>
            <a:r>
              <a:rPr lang="en-US" i="1" dirty="0" smtClean="0">
                <a:solidFill>
                  <a:schemeClr val="accent1"/>
                </a:solidFill>
              </a:rPr>
              <a:t>A</a:t>
            </a:r>
            <a:r>
              <a:rPr lang="en-US" dirty="0" smtClean="0">
                <a:solidFill>
                  <a:schemeClr val="accent1"/>
                </a:solidFill>
              </a:rPr>
              <a:t> </a:t>
            </a:r>
            <a:r>
              <a:rPr lang="en-US" i="1" dirty="0" smtClean="0">
                <a:solidFill>
                  <a:schemeClr val="accent1"/>
                </a:solidFill>
              </a:rPr>
              <a:t>B</a:t>
            </a:r>
            <a:r>
              <a:rPr lang="en-US" i="1" dirty="0" smtClean="0"/>
              <a:t> </a:t>
            </a:r>
            <a:r>
              <a:rPr lang="en-US" dirty="0" smtClean="0"/>
              <a:t>= 0 0</a:t>
            </a:r>
          </a:p>
          <a:p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3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13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306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0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Analysis of Clocked Sequential </a:t>
            </a:r>
            <a:r>
              <a:rPr lang="en-US" dirty="0" smtClean="0"/>
              <a:t>Circuits: Terminology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AU" i="1" dirty="0" smtClean="0">
                <a:solidFill>
                  <a:schemeClr val="accent1"/>
                </a:solidFill>
              </a:rPr>
              <a:t>State Equation</a:t>
            </a:r>
            <a:r>
              <a:rPr lang="en-AU" dirty="0" smtClean="0">
                <a:solidFill>
                  <a:schemeClr val="accent1"/>
                </a:solidFill>
              </a:rPr>
              <a:t>: </a:t>
            </a:r>
            <a:r>
              <a:rPr lang="en-AU" dirty="0" smtClean="0"/>
              <a:t>A state equation (transition equation) specifies the next state as a function of the present state and inputs.</a:t>
            </a:r>
          </a:p>
          <a:p>
            <a:r>
              <a:rPr lang="en-AU" i="1" dirty="0" smtClean="0">
                <a:solidFill>
                  <a:schemeClr val="accent1"/>
                </a:solidFill>
              </a:rPr>
              <a:t>State Table: </a:t>
            </a:r>
            <a:r>
              <a:rPr lang="en-AU" dirty="0" smtClean="0"/>
              <a:t>A state table (transition table) consists of: present state, input, next state and output.</a:t>
            </a:r>
          </a:p>
          <a:p>
            <a:r>
              <a:rPr lang="en-AU" i="1" dirty="0" smtClean="0">
                <a:solidFill>
                  <a:schemeClr val="accent1"/>
                </a:solidFill>
              </a:rPr>
              <a:t>State Diagram:</a:t>
            </a:r>
            <a:r>
              <a:rPr lang="en-AU" dirty="0" smtClean="0"/>
              <a:t> The information in a state table can be represented graphically in a state diagram. The state is represented by a circle and the transitions between states are indicated by directed lines connecting the circles.</a:t>
            </a:r>
            <a:endParaRPr lang="en-US" u="sng" dirty="0" smtClean="0">
              <a:solidFill>
                <a:srgbClr val="996600"/>
              </a:solidFill>
            </a:endParaRPr>
          </a:p>
          <a:p>
            <a:pPr>
              <a:buFont typeface="Wingdings" pitchFamily="2" charset="2"/>
              <a:buNone/>
            </a:pPr>
            <a:r>
              <a:rPr lang="en-US" dirty="0" smtClean="0">
                <a:solidFill>
                  <a:srgbClr val="996600"/>
                </a:solidFill>
              </a:rPr>
              <a:t>    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endParaRPr lang="en-AU" dirty="0"/>
          </a:p>
        </p:txBody>
      </p:sp>
      <p:sp>
        <p:nvSpPr>
          <p:cNvPr id="8151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Analysis of Clocked Sequential </a:t>
            </a:r>
            <a:r>
              <a:rPr lang="en-US" dirty="0" smtClean="0"/>
              <a:t>Circuits: State/Transition Equations</a:t>
            </a:r>
            <a:endParaRPr lang="en-US" dirty="0"/>
          </a:p>
        </p:txBody>
      </p:sp>
      <p:graphicFrame>
        <p:nvGraphicFramePr>
          <p:cNvPr id="815108" name="Object 4"/>
          <p:cNvGraphicFramePr>
            <a:graphicFrameLocks noChangeAspect="1"/>
          </p:cNvGraphicFramePr>
          <p:nvPr/>
        </p:nvGraphicFramePr>
        <p:xfrm>
          <a:off x="4032250" y="1516063"/>
          <a:ext cx="4775200" cy="413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50" name="Visio" r:id="rId4" imgW="2975580" imgH="2572756" progId="">
                  <p:embed/>
                </p:oleObj>
              </mc:Choice>
              <mc:Fallback>
                <p:oleObj name="Visio" r:id="rId4" imgW="2975580" imgH="2572756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2250" y="1516063"/>
                        <a:ext cx="4775200" cy="413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5109" name="Rectangle 5"/>
          <p:cNvSpPr>
            <a:spLocks noChangeArrowheads="1"/>
          </p:cNvSpPr>
          <p:nvPr/>
        </p:nvSpPr>
        <p:spPr bwMode="auto">
          <a:xfrm>
            <a:off x="595313" y="1884363"/>
            <a:ext cx="3914775" cy="4573587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sz="2800" b="1" i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b="1" i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8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+1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8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800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800" b="1" i="1" baseline="-250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</a:t>
            </a:r>
          </a:p>
          <a:p>
            <a:pPr algn="l"/>
            <a:r>
              <a:rPr lang="en-US" sz="2800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          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800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8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)+</a:t>
            </a:r>
            <a:r>
              <a:rPr lang="en-US" sz="28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8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l"/>
            <a:r>
              <a:rPr lang="en-US" sz="2800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          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800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8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2800" b="1" i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b="1" i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8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+1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8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800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800" b="1" i="1" baseline="-250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B</a:t>
            </a:r>
          </a:p>
          <a:p>
            <a:pPr algn="l"/>
            <a:r>
              <a:rPr lang="en-US" sz="2800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          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800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A’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8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l"/>
            <a:r>
              <a:rPr lang="en-US" sz="2800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          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800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A’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x</a:t>
            </a:r>
          </a:p>
          <a:p>
            <a:pPr algn="l"/>
            <a:r>
              <a:rPr lang="en-US" sz="2800" b="1" i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   y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b="1" i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8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800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sz="28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)+ </a:t>
            </a:r>
            <a:r>
              <a:rPr lang="en-US" sz="28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)] </a:t>
            </a:r>
            <a:r>
              <a:rPr lang="en-US" sz="28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x’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l"/>
            <a:r>
              <a:rPr lang="en-US" sz="2800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          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800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8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8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x’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5109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1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Analysis of Clocked Sequential </a:t>
            </a:r>
            <a:r>
              <a:rPr lang="en-US" dirty="0" smtClean="0"/>
              <a:t>Circuits: State /Transition Table </a:t>
            </a:r>
            <a:endParaRPr lang="en-US" dirty="0"/>
          </a:p>
        </p:txBody>
      </p:sp>
      <p:graphicFrame>
        <p:nvGraphicFramePr>
          <p:cNvPr id="817156" name="Object 4"/>
          <p:cNvGraphicFramePr>
            <a:graphicFrameLocks noChangeAspect="1"/>
          </p:cNvGraphicFramePr>
          <p:nvPr/>
        </p:nvGraphicFramePr>
        <p:xfrm>
          <a:off x="5111750" y="1449388"/>
          <a:ext cx="3695700" cy="319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174" name="Visio" r:id="rId4" imgW="2975580" imgH="2572756" progId="">
                  <p:embed/>
                </p:oleObj>
              </mc:Choice>
              <mc:Fallback>
                <p:oleObj name="Visio" r:id="rId4" imgW="2975580" imgH="2572756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1750" y="1449388"/>
                        <a:ext cx="3695700" cy="31972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7157" name="Rectangle 5"/>
          <p:cNvSpPr>
            <a:spLocks noChangeArrowheads="1"/>
          </p:cNvSpPr>
          <p:nvPr/>
        </p:nvSpPr>
        <p:spPr bwMode="auto">
          <a:xfrm>
            <a:off x="5472113" y="4868863"/>
            <a:ext cx="2797175" cy="15811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sz="2800" b="1" i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b="1" i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8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+1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8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8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8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endParaRPr lang="en-US" sz="2800" b="1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2800" b="1" i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b="1" i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8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+1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8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8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A’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x</a:t>
            </a:r>
          </a:p>
          <a:p>
            <a:pPr algn="l"/>
            <a:r>
              <a:rPr lang="en-US" sz="2800" b="1" i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   y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b="1" i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8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8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8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8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x’</a:t>
            </a:r>
          </a:p>
        </p:txBody>
      </p:sp>
      <p:graphicFrame>
        <p:nvGraphicFramePr>
          <p:cNvPr id="817158" name="Group 6"/>
          <p:cNvGraphicFramePr>
            <a:graphicFrameLocks noGrp="1"/>
          </p:cNvGraphicFramePr>
          <p:nvPr/>
        </p:nvGraphicFramePr>
        <p:xfrm>
          <a:off x="611188" y="1731963"/>
          <a:ext cx="3957637" cy="4005264"/>
        </p:xfrm>
        <a:graphic>
          <a:graphicData uri="http://schemas.openxmlformats.org/drawingml/2006/table">
            <a:tbl>
              <a:tblPr/>
              <a:tblGrid>
                <a:gridCol w="539750"/>
                <a:gridCol w="539750"/>
                <a:gridCol w="719137"/>
                <a:gridCol w="539750"/>
                <a:gridCol w="539750"/>
                <a:gridCol w="1079500"/>
              </a:tblGrid>
              <a:tr h="406400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Present State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Input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Next State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Output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62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62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62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17236" name="AutoShape 84"/>
          <p:cNvSpPr>
            <a:spLocks noChangeArrowheads="1"/>
          </p:cNvSpPr>
          <p:nvPr/>
        </p:nvSpPr>
        <p:spPr bwMode="auto">
          <a:xfrm>
            <a:off x="2411413" y="6232525"/>
            <a:ext cx="719137" cy="350838"/>
          </a:xfrm>
          <a:prstGeom prst="wedgeRoundRectCallout">
            <a:avLst>
              <a:gd name="adj1" fmla="val 31014"/>
              <a:gd name="adj2" fmla="val -98417"/>
              <a:gd name="adj3" fmla="val 16667"/>
            </a:avLst>
          </a:prstGeom>
          <a:noFill/>
          <a:ln w="38100" algn="ctr">
            <a:solidFill>
              <a:srgbClr val="009900"/>
            </a:solidFill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r>
              <a:rPr lang="en-US" sz="2400" b="1" i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+1</a:t>
            </a:r>
          </a:p>
        </p:txBody>
      </p:sp>
      <p:sp>
        <p:nvSpPr>
          <p:cNvPr id="817237" name="AutoShape 85"/>
          <p:cNvSpPr>
            <a:spLocks noChangeArrowheads="1"/>
          </p:cNvSpPr>
          <p:nvPr/>
        </p:nvSpPr>
        <p:spPr bwMode="auto">
          <a:xfrm>
            <a:off x="3851275" y="6232525"/>
            <a:ext cx="539750" cy="350838"/>
          </a:xfrm>
          <a:prstGeom prst="wedgeRoundRectCallout">
            <a:avLst>
              <a:gd name="adj1" fmla="val -17352"/>
              <a:gd name="adj2" fmla="val -149097"/>
              <a:gd name="adj3" fmla="val 16667"/>
            </a:avLst>
          </a:prstGeom>
          <a:noFill/>
          <a:ln w="38100" algn="ctr">
            <a:solidFill>
              <a:srgbClr val="009900"/>
            </a:solidFill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endParaRPr lang="en-US" sz="2400" b="1">
              <a:solidFill>
                <a:schemeClr val="accent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7238" name="AutoShape 86"/>
          <p:cNvSpPr>
            <a:spLocks noChangeArrowheads="1"/>
          </p:cNvSpPr>
          <p:nvPr/>
        </p:nvSpPr>
        <p:spPr bwMode="auto">
          <a:xfrm>
            <a:off x="1150938" y="6232525"/>
            <a:ext cx="539750" cy="350838"/>
          </a:xfrm>
          <a:prstGeom prst="wedgeRoundRectCallout">
            <a:avLst>
              <a:gd name="adj1" fmla="val 24704"/>
              <a:gd name="adj2" fmla="val -95699"/>
              <a:gd name="adj3" fmla="val 16667"/>
            </a:avLst>
          </a:prstGeom>
          <a:noFill/>
          <a:ln w="38100" algn="ctr">
            <a:solidFill>
              <a:srgbClr val="009900"/>
            </a:solidFill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endParaRPr lang="en-US" sz="2400" b="1">
              <a:solidFill>
                <a:schemeClr val="accent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7239" name="AutoShape 87"/>
          <p:cNvSpPr>
            <a:spLocks/>
          </p:cNvSpPr>
          <p:nvPr/>
        </p:nvSpPr>
        <p:spPr bwMode="auto">
          <a:xfrm rot="5400000">
            <a:off x="1466850" y="5199063"/>
            <a:ext cx="179388" cy="1528762"/>
          </a:xfrm>
          <a:prstGeom prst="rightBrace">
            <a:avLst>
              <a:gd name="adj1" fmla="val 71017"/>
              <a:gd name="adj2" fmla="val 50000"/>
            </a:avLst>
          </a:prstGeom>
          <a:noFill/>
          <a:ln w="38100">
            <a:solidFill>
              <a:srgbClr val="009900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817240" name="AutoShape 88"/>
          <p:cNvSpPr>
            <a:spLocks/>
          </p:cNvSpPr>
          <p:nvPr/>
        </p:nvSpPr>
        <p:spPr bwMode="auto">
          <a:xfrm rot="5400000">
            <a:off x="2906713" y="5559425"/>
            <a:ext cx="179388" cy="808037"/>
          </a:xfrm>
          <a:prstGeom prst="rightBrace">
            <a:avLst>
              <a:gd name="adj1" fmla="val 37537"/>
              <a:gd name="adj2" fmla="val 50000"/>
            </a:avLst>
          </a:prstGeom>
          <a:noFill/>
          <a:ln w="38100">
            <a:solidFill>
              <a:srgbClr val="009900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817241" name="Rectangle 89"/>
          <p:cNvSpPr>
            <a:spLocks noChangeAspect="1" noChangeArrowheads="1"/>
          </p:cNvSpPr>
          <p:nvPr/>
        </p:nvSpPr>
        <p:spPr bwMode="auto">
          <a:xfrm>
            <a:off x="747713" y="2781300"/>
            <a:ext cx="809625" cy="636588"/>
          </a:xfrm>
          <a:prstGeom prst="rect">
            <a:avLst/>
          </a:prstGeom>
          <a:noFill/>
          <a:ln w="38100" cap="rnd" algn="ctr">
            <a:solidFill>
              <a:schemeClr val="accent1"/>
            </a:solidFill>
            <a:prstDash val="sysDot"/>
            <a:miter lim="800000"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817242" name="Rectangle 90"/>
          <p:cNvSpPr>
            <a:spLocks noChangeArrowheads="1"/>
          </p:cNvSpPr>
          <p:nvPr/>
        </p:nvSpPr>
        <p:spPr bwMode="auto">
          <a:xfrm>
            <a:off x="2592388" y="2730500"/>
            <a:ext cx="1447800" cy="300990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0     0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0     1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0     0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1     1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0     0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1     0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0     0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1     0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"/>
          </p:nvPr>
        </p:nvSpPr>
        <p:spPr>
          <a:xfrm>
            <a:off x="457200" y="1314450"/>
            <a:ext cx="7696200" cy="4873752"/>
          </a:xfrm>
        </p:spPr>
        <p:txBody>
          <a:bodyPr/>
          <a:lstStyle/>
          <a:p>
            <a:pPr algn="ctr"/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7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171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171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171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17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17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817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817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817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817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817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17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817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2.96296E-6 L -0.00017 0.10949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8172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5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817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0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2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8172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3500"/>
                            </p:stCondLst>
                            <p:childTnLst>
                              <p:par>
                                <p:cTn id="67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0.10949 L -0.00017 0.21991 " pathEditMode="relative" rAng="0" ptsTypes="AA">
                                      <p:cBhvr>
                                        <p:cTn id="68" dur="2000" fill="hold"/>
                                        <p:tgtEl>
                                          <p:spTgt spid="8172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5"/>
                                    </p:animMotion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2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8172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2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8172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6000"/>
                            </p:stCondLst>
                            <p:childTnLst>
                              <p:par>
                                <p:cTn id="77" presetID="42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0.21991 L -0.00017 0.33033 " pathEditMode="relative" rAng="0" ptsTypes="AA">
                                      <p:cBhvr>
                                        <p:cTn id="78" dur="2000" fill="hold"/>
                                        <p:tgtEl>
                                          <p:spTgt spid="8172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5"/>
                                    </p:animMotion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2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8172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80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2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8172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7236" grpId="0" animBg="1"/>
      <p:bldP spid="817237" grpId="0" animBg="1"/>
      <p:bldP spid="817238" grpId="0" animBg="1"/>
      <p:bldP spid="817239" grpId="0" animBg="1"/>
      <p:bldP spid="817240" grpId="0" animBg="1"/>
      <p:bldP spid="817241" grpId="0" animBg="1"/>
      <p:bldP spid="817241" grpId="1" animBg="1"/>
      <p:bldP spid="817241" grpId="2" animBg="1"/>
      <p:bldP spid="817241" grpId="3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ctr"/>
            <a:endParaRPr lang="en-AU" dirty="0"/>
          </a:p>
        </p:txBody>
      </p:sp>
      <p:sp>
        <p:nvSpPr>
          <p:cNvPr id="819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of Clocked Sequential </a:t>
            </a:r>
            <a:r>
              <a:rPr lang="en-US" dirty="0" smtClean="0"/>
              <a:t>Circuits: State/Transition Table</a:t>
            </a:r>
            <a:endParaRPr lang="en-US" dirty="0"/>
          </a:p>
        </p:txBody>
      </p:sp>
      <p:graphicFrame>
        <p:nvGraphicFramePr>
          <p:cNvPr id="819204" name="Object 4"/>
          <p:cNvGraphicFramePr>
            <a:graphicFrameLocks noChangeAspect="1"/>
          </p:cNvGraphicFramePr>
          <p:nvPr/>
        </p:nvGraphicFramePr>
        <p:xfrm>
          <a:off x="5111750" y="1449388"/>
          <a:ext cx="3695700" cy="319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198" name="Visio" r:id="rId4" imgW="2975580" imgH="2572756" progId="">
                  <p:embed/>
                </p:oleObj>
              </mc:Choice>
              <mc:Fallback>
                <p:oleObj name="Visio" r:id="rId4" imgW="2975580" imgH="2572756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1750" y="1449388"/>
                        <a:ext cx="3695700" cy="31972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05" name="Rectangle 5"/>
          <p:cNvSpPr>
            <a:spLocks noChangeArrowheads="1"/>
          </p:cNvSpPr>
          <p:nvPr/>
        </p:nvSpPr>
        <p:spPr bwMode="auto">
          <a:xfrm>
            <a:off x="5472113" y="4868863"/>
            <a:ext cx="2797175" cy="15811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sz="2800" b="1" i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b="1" i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8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+1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8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8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8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endParaRPr lang="en-US" sz="2800" b="1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2800" b="1" i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b="1" i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8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+1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8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8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A’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x</a:t>
            </a:r>
          </a:p>
          <a:p>
            <a:pPr algn="l"/>
            <a:r>
              <a:rPr lang="en-US" sz="2800" b="1" i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   y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b="1" i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8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8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8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8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x’</a:t>
            </a:r>
          </a:p>
        </p:txBody>
      </p:sp>
      <p:graphicFrame>
        <p:nvGraphicFramePr>
          <p:cNvPr id="819206" name="Group 6"/>
          <p:cNvGraphicFramePr>
            <a:graphicFrameLocks noGrp="1"/>
          </p:cNvGraphicFramePr>
          <p:nvPr/>
        </p:nvGraphicFramePr>
        <p:xfrm>
          <a:off x="611188" y="1808163"/>
          <a:ext cx="4137025" cy="2544763"/>
        </p:xfrm>
        <a:graphic>
          <a:graphicData uri="http://schemas.openxmlformats.org/drawingml/2006/table">
            <a:tbl>
              <a:tblPr/>
              <a:tblGrid>
                <a:gridCol w="422275"/>
                <a:gridCol w="117475"/>
                <a:gridCol w="539750"/>
                <a:gridCol w="404812"/>
                <a:gridCol w="404813"/>
                <a:gridCol w="404812"/>
                <a:gridCol w="404813"/>
                <a:gridCol w="719137"/>
                <a:gridCol w="719138"/>
              </a:tblGrid>
              <a:tr h="352425">
                <a:tc rowSpan="2"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Present State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Next State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Output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</a:tr>
              <a:tr h="53975">
                <a:tc gridSpan="3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=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= 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=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= 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6238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19274" name="AutoShape 74"/>
          <p:cNvSpPr>
            <a:spLocks noChangeArrowheads="1"/>
          </p:cNvSpPr>
          <p:nvPr/>
        </p:nvSpPr>
        <p:spPr bwMode="auto">
          <a:xfrm>
            <a:off x="2065338" y="4860925"/>
            <a:ext cx="719137" cy="350838"/>
          </a:xfrm>
          <a:prstGeom prst="wedgeRoundRectCallout">
            <a:avLst>
              <a:gd name="adj1" fmla="val 31014"/>
              <a:gd name="adj2" fmla="val -98417"/>
              <a:gd name="adj3" fmla="val 16667"/>
            </a:avLst>
          </a:prstGeom>
          <a:noFill/>
          <a:ln w="38100" algn="ctr">
            <a:solidFill>
              <a:srgbClr val="009900"/>
            </a:solidFill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r>
              <a:rPr lang="en-US" sz="2400" b="1" i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+1</a:t>
            </a:r>
          </a:p>
        </p:txBody>
      </p:sp>
      <p:sp>
        <p:nvSpPr>
          <p:cNvPr id="819275" name="AutoShape 75"/>
          <p:cNvSpPr>
            <a:spLocks noChangeArrowheads="1"/>
          </p:cNvSpPr>
          <p:nvPr/>
        </p:nvSpPr>
        <p:spPr bwMode="auto">
          <a:xfrm>
            <a:off x="3621088" y="4868863"/>
            <a:ext cx="539750" cy="350837"/>
          </a:xfrm>
          <a:prstGeom prst="wedgeRoundRectCallout">
            <a:avLst>
              <a:gd name="adj1" fmla="val 30296"/>
              <a:gd name="adj2" fmla="val -91630"/>
              <a:gd name="adj3" fmla="val 16667"/>
            </a:avLst>
          </a:prstGeom>
          <a:noFill/>
          <a:ln w="38100" algn="ctr">
            <a:solidFill>
              <a:srgbClr val="009900"/>
            </a:solidFill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endParaRPr lang="en-US" sz="2400" b="1">
              <a:solidFill>
                <a:schemeClr val="accent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9276" name="AutoShape 76"/>
          <p:cNvSpPr>
            <a:spLocks noChangeArrowheads="1"/>
          </p:cNvSpPr>
          <p:nvPr/>
        </p:nvSpPr>
        <p:spPr bwMode="auto">
          <a:xfrm>
            <a:off x="779463" y="4857750"/>
            <a:ext cx="539750" cy="350838"/>
          </a:xfrm>
          <a:prstGeom prst="wedgeRoundRectCallout">
            <a:avLst>
              <a:gd name="adj1" fmla="val 24704"/>
              <a:gd name="adj2" fmla="val -95699"/>
              <a:gd name="adj3" fmla="val 16667"/>
            </a:avLst>
          </a:prstGeom>
          <a:noFill/>
          <a:ln w="38100" algn="ctr">
            <a:solidFill>
              <a:srgbClr val="009900"/>
            </a:solidFill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r>
              <a:rPr lang="en-US" sz="24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endParaRPr lang="en-US" sz="2400" b="1" dirty="0">
              <a:solidFill>
                <a:schemeClr val="accent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9277" name="AutoShape 77"/>
          <p:cNvSpPr>
            <a:spLocks/>
          </p:cNvSpPr>
          <p:nvPr/>
        </p:nvSpPr>
        <p:spPr bwMode="auto">
          <a:xfrm rot="5400000">
            <a:off x="1089025" y="4211638"/>
            <a:ext cx="179388" cy="773112"/>
          </a:xfrm>
          <a:prstGeom prst="rightBrace">
            <a:avLst>
              <a:gd name="adj1" fmla="val 35914"/>
              <a:gd name="adj2" fmla="val 50000"/>
            </a:avLst>
          </a:prstGeom>
          <a:noFill/>
          <a:ln w="38100">
            <a:solidFill>
              <a:srgbClr val="009900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819278" name="AutoShape 78"/>
          <p:cNvSpPr>
            <a:spLocks/>
          </p:cNvSpPr>
          <p:nvPr/>
        </p:nvSpPr>
        <p:spPr bwMode="auto">
          <a:xfrm rot="5400000">
            <a:off x="2554288" y="3863975"/>
            <a:ext cx="179388" cy="1468437"/>
          </a:xfrm>
          <a:prstGeom prst="rightBrace">
            <a:avLst>
              <a:gd name="adj1" fmla="val 68215"/>
              <a:gd name="adj2" fmla="val 50000"/>
            </a:avLst>
          </a:prstGeom>
          <a:noFill/>
          <a:ln w="38100">
            <a:solidFill>
              <a:srgbClr val="009900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819280" name="AutoShape 80"/>
          <p:cNvSpPr>
            <a:spLocks/>
          </p:cNvSpPr>
          <p:nvPr/>
        </p:nvSpPr>
        <p:spPr bwMode="auto">
          <a:xfrm rot="5400000">
            <a:off x="3967162" y="4084638"/>
            <a:ext cx="180975" cy="1028700"/>
          </a:xfrm>
          <a:prstGeom prst="rightBrace">
            <a:avLst>
              <a:gd name="adj1" fmla="val 47368"/>
              <a:gd name="adj2" fmla="val 50000"/>
            </a:avLst>
          </a:prstGeom>
          <a:noFill/>
          <a:ln w="38100">
            <a:solidFill>
              <a:srgbClr val="009900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19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19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819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819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19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19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819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74" grpId="0" animBg="1"/>
      <p:bldP spid="819275" grpId="0" animBg="1"/>
      <p:bldP spid="819276" grpId="0" animBg="1"/>
      <p:bldP spid="819277" grpId="0" animBg="1"/>
      <p:bldP spid="819278" grpId="0" animBg="1"/>
      <p:bldP spid="819280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A1740-85E3-4431-9787-25B436EB548E}" type="slidenum">
              <a:rPr lang="en-US"/>
              <a:pPr/>
              <a:t>46</a:t>
            </a:fld>
            <a:endParaRPr lang="en-US"/>
          </a:p>
        </p:txBody>
      </p:sp>
      <p:graphicFrame>
        <p:nvGraphicFramePr>
          <p:cNvPr id="821252" name="Object 4"/>
          <p:cNvGraphicFramePr>
            <a:graphicFrameLocks noChangeAspect="1"/>
          </p:cNvGraphicFramePr>
          <p:nvPr/>
        </p:nvGraphicFramePr>
        <p:xfrm>
          <a:off x="5292725" y="4095750"/>
          <a:ext cx="2974975" cy="2573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246" name="Visio" r:id="rId4" imgW="2975580" imgH="2572756" progId="">
                  <p:embed/>
                </p:oleObj>
              </mc:Choice>
              <mc:Fallback>
                <p:oleObj name="Visio" r:id="rId4" imgW="2975580" imgH="2572756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4095750"/>
                        <a:ext cx="2974975" cy="257333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253" name="Oval 5"/>
          <p:cNvSpPr>
            <a:spLocks noChangeAspect="1" noChangeArrowheads="1"/>
          </p:cNvSpPr>
          <p:nvPr/>
        </p:nvSpPr>
        <p:spPr bwMode="auto">
          <a:xfrm>
            <a:off x="1331913" y="3789363"/>
            <a:ext cx="539750" cy="539750"/>
          </a:xfrm>
          <a:prstGeom prst="ellips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r>
              <a:rPr lang="en-US" sz="20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0 0</a:t>
            </a:r>
          </a:p>
        </p:txBody>
      </p:sp>
      <p:sp>
        <p:nvSpPr>
          <p:cNvPr id="821254" name="Freeform 6"/>
          <p:cNvSpPr>
            <a:spLocks/>
          </p:cNvSpPr>
          <p:nvPr/>
        </p:nvSpPr>
        <p:spPr bwMode="auto">
          <a:xfrm>
            <a:off x="1390650" y="3227388"/>
            <a:ext cx="439738" cy="601662"/>
          </a:xfrm>
          <a:custGeom>
            <a:avLst/>
            <a:gdLst/>
            <a:ahLst/>
            <a:cxnLst>
              <a:cxn ang="0">
                <a:pos x="30" y="369"/>
              </a:cxn>
              <a:cxn ang="0">
                <a:pos x="2" y="124"/>
              </a:cxn>
              <a:cxn ang="0">
                <a:pos x="44" y="38"/>
              </a:cxn>
              <a:cxn ang="0">
                <a:pos x="142" y="0"/>
              </a:cxn>
              <a:cxn ang="0">
                <a:pos x="236" y="36"/>
              </a:cxn>
              <a:cxn ang="0">
                <a:pos x="274" y="126"/>
              </a:cxn>
              <a:cxn ang="0">
                <a:pos x="255" y="379"/>
              </a:cxn>
            </a:cxnLst>
            <a:rect l="0" t="0" r="r" b="b"/>
            <a:pathLst>
              <a:path w="277" h="379">
                <a:moveTo>
                  <a:pt x="30" y="369"/>
                </a:moveTo>
                <a:cubicBezTo>
                  <a:pt x="25" y="328"/>
                  <a:pt x="0" y="179"/>
                  <a:pt x="2" y="124"/>
                </a:cubicBezTo>
                <a:cubicBezTo>
                  <a:pt x="4" y="69"/>
                  <a:pt x="21" y="59"/>
                  <a:pt x="44" y="38"/>
                </a:cubicBezTo>
                <a:cubicBezTo>
                  <a:pt x="67" y="17"/>
                  <a:pt x="110" y="0"/>
                  <a:pt x="142" y="0"/>
                </a:cubicBezTo>
                <a:cubicBezTo>
                  <a:pt x="174" y="0"/>
                  <a:pt x="214" y="15"/>
                  <a:pt x="236" y="36"/>
                </a:cubicBezTo>
                <a:cubicBezTo>
                  <a:pt x="258" y="57"/>
                  <a:pt x="271" y="69"/>
                  <a:pt x="274" y="126"/>
                </a:cubicBezTo>
                <a:cubicBezTo>
                  <a:pt x="277" y="183"/>
                  <a:pt x="259" y="326"/>
                  <a:pt x="255" y="379"/>
                </a:cubicBezTo>
              </a:path>
            </a:pathLst>
          </a:custGeom>
          <a:noFill/>
          <a:ln w="38100" cap="flat" cmpd="sng">
            <a:solidFill>
              <a:srgbClr val="0099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821255" name="Oval 7"/>
          <p:cNvSpPr>
            <a:spLocks noChangeAspect="1" noChangeArrowheads="1"/>
          </p:cNvSpPr>
          <p:nvPr/>
        </p:nvSpPr>
        <p:spPr bwMode="auto">
          <a:xfrm>
            <a:off x="3311525" y="3789363"/>
            <a:ext cx="539750" cy="539750"/>
          </a:xfrm>
          <a:prstGeom prst="ellips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r>
              <a:rPr lang="en-US" sz="20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1 0</a:t>
            </a:r>
          </a:p>
        </p:txBody>
      </p:sp>
      <p:sp>
        <p:nvSpPr>
          <p:cNvPr id="821256" name="Freeform 8"/>
          <p:cNvSpPr>
            <a:spLocks/>
          </p:cNvSpPr>
          <p:nvPr/>
        </p:nvSpPr>
        <p:spPr bwMode="auto">
          <a:xfrm flipH="1">
            <a:off x="3311525" y="3249613"/>
            <a:ext cx="439738" cy="601662"/>
          </a:xfrm>
          <a:custGeom>
            <a:avLst/>
            <a:gdLst/>
            <a:ahLst/>
            <a:cxnLst>
              <a:cxn ang="0">
                <a:pos x="30" y="369"/>
              </a:cxn>
              <a:cxn ang="0">
                <a:pos x="2" y="124"/>
              </a:cxn>
              <a:cxn ang="0">
                <a:pos x="44" y="38"/>
              </a:cxn>
              <a:cxn ang="0">
                <a:pos x="142" y="0"/>
              </a:cxn>
              <a:cxn ang="0">
                <a:pos x="236" y="36"/>
              </a:cxn>
              <a:cxn ang="0">
                <a:pos x="274" y="126"/>
              </a:cxn>
              <a:cxn ang="0">
                <a:pos x="255" y="379"/>
              </a:cxn>
            </a:cxnLst>
            <a:rect l="0" t="0" r="r" b="b"/>
            <a:pathLst>
              <a:path w="277" h="379">
                <a:moveTo>
                  <a:pt x="30" y="369"/>
                </a:moveTo>
                <a:cubicBezTo>
                  <a:pt x="25" y="328"/>
                  <a:pt x="0" y="179"/>
                  <a:pt x="2" y="124"/>
                </a:cubicBezTo>
                <a:cubicBezTo>
                  <a:pt x="4" y="69"/>
                  <a:pt x="21" y="59"/>
                  <a:pt x="44" y="38"/>
                </a:cubicBezTo>
                <a:cubicBezTo>
                  <a:pt x="67" y="17"/>
                  <a:pt x="110" y="0"/>
                  <a:pt x="142" y="0"/>
                </a:cubicBezTo>
                <a:cubicBezTo>
                  <a:pt x="174" y="0"/>
                  <a:pt x="214" y="15"/>
                  <a:pt x="236" y="36"/>
                </a:cubicBezTo>
                <a:cubicBezTo>
                  <a:pt x="258" y="57"/>
                  <a:pt x="271" y="69"/>
                  <a:pt x="274" y="126"/>
                </a:cubicBezTo>
                <a:cubicBezTo>
                  <a:pt x="277" y="183"/>
                  <a:pt x="259" y="326"/>
                  <a:pt x="255" y="379"/>
                </a:cubicBezTo>
              </a:path>
            </a:pathLst>
          </a:custGeom>
          <a:noFill/>
          <a:ln w="38100" cap="flat" cmpd="sng">
            <a:solidFill>
              <a:srgbClr val="0099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821257" name="Freeform 9"/>
          <p:cNvSpPr>
            <a:spLocks/>
          </p:cNvSpPr>
          <p:nvPr/>
        </p:nvSpPr>
        <p:spPr bwMode="auto">
          <a:xfrm flipH="1">
            <a:off x="1871663" y="3789363"/>
            <a:ext cx="1439862" cy="179387"/>
          </a:xfrm>
          <a:custGeom>
            <a:avLst/>
            <a:gdLst/>
            <a:ahLst/>
            <a:cxnLst>
              <a:cxn ang="0">
                <a:pos x="0" y="113"/>
              </a:cxn>
              <a:cxn ang="0">
                <a:pos x="454" y="0"/>
              </a:cxn>
              <a:cxn ang="0">
                <a:pos x="907" y="113"/>
              </a:cxn>
            </a:cxnLst>
            <a:rect l="0" t="0" r="r" b="b"/>
            <a:pathLst>
              <a:path w="907" h="113">
                <a:moveTo>
                  <a:pt x="0" y="113"/>
                </a:moveTo>
                <a:cubicBezTo>
                  <a:pt x="151" y="56"/>
                  <a:pt x="303" y="0"/>
                  <a:pt x="454" y="0"/>
                </a:cubicBezTo>
                <a:cubicBezTo>
                  <a:pt x="605" y="0"/>
                  <a:pt x="832" y="75"/>
                  <a:pt x="907" y="113"/>
                </a:cubicBez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821258" name="Oval 10"/>
          <p:cNvSpPr>
            <a:spLocks noChangeAspect="1" noChangeArrowheads="1"/>
          </p:cNvSpPr>
          <p:nvPr/>
        </p:nvSpPr>
        <p:spPr bwMode="auto">
          <a:xfrm>
            <a:off x="1331913" y="5770563"/>
            <a:ext cx="539750" cy="539750"/>
          </a:xfrm>
          <a:prstGeom prst="ellips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r>
              <a:rPr lang="en-US" sz="20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0 1</a:t>
            </a:r>
          </a:p>
        </p:txBody>
      </p:sp>
      <p:sp>
        <p:nvSpPr>
          <p:cNvPr id="821259" name="Freeform 11"/>
          <p:cNvSpPr>
            <a:spLocks/>
          </p:cNvSpPr>
          <p:nvPr/>
        </p:nvSpPr>
        <p:spPr bwMode="auto">
          <a:xfrm rot="16200000" flipH="1">
            <a:off x="701675" y="4960938"/>
            <a:ext cx="1439863" cy="179387"/>
          </a:xfrm>
          <a:custGeom>
            <a:avLst/>
            <a:gdLst/>
            <a:ahLst/>
            <a:cxnLst>
              <a:cxn ang="0">
                <a:pos x="0" y="113"/>
              </a:cxn>
              <a:cxn ang="0">
                <a:pos x="454" y="0"/>
              </a:cxn>
              <a:cxn ang="0">
                <a:pos x="907" y="113"/>
              </a:cxn>
            </a:cxnLst>
            <a:rect l="0" t="0" r="r" b="b"/>
            <a:pathLst>
              <a:path w="907" h="113">
                <a:moveTo>
                  <a:pt x="0" y="113"/>
                </a:moveTo>
                <a:cubicBezTo>
                  <a:pt x="151" y="56"/>
                  <a:pt x="303" y="0"/>
                  <a:pt x="454" y="0"/>
                </a:cubicBezTo>
                <a:cubicBezTo>
                  <a:pt x="605" y="0"/>
                  <a:pt x="832" y="75"/>
                  <a:pt x="907" y="113"/>
                </a:cubicBez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821260" name="Oval 12"/>
          <p:cNvSpPr>
            <a:spLocks noChangeAspect="1" noChangeArrowheads="1"/>
          </p:cNvSpPr>
          <p:nvPr/>
        </p:nvSpPr>
        <p:spPr bwMode="auto">
          <a:xfrm>
            <a:off x="3311525" y="5770563"/>
            <a:ext cx="539750" cy="539750"/>
          </a:xfrm>
          <a:prstGeom prst="ellips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r>
              <a:rPr lang="en-US" sz="20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1 1</a:t>
            </a:r>
          </a:p>
        </p:txBody>
      </p:sp>
      <p:sp>
        <p:nvSpPr>
          <p:cNvPr id="821261" name="Freeform 13"/>
          <p:cNvSpPr>
            <a:spLocks/>
          </p:cNvSpPr>
          <p:nvPr/>
        </p:nvSpPr>
        <p:spPr bwMode="auto">
          <a:xfrm rot="16200000" flipV="1">
            <a:off x="1062037" y="4960938"/>
            <a:ext cx="1439863" cy="179388"/>
          </a:xfrm>
          <a:custGeom>
            <a:avLst/>
            <a:gdLst/>
            <a:ahLst/>
            <a:cxnLst>
              <a:cxn ang="0">
                <a:pos x="0" y="113"/>
              </a:cxn>
              <a:cxn ang="0">
                <a:pos x="454" y="0"/>
              </a:cxn>
              <a:cxn ang="0">
                <a:pos x="907" y="113"/>
              </a:cxn>
            </a:cxnLst>
            <a:rect l="0" t="0" r="r" b="b"/>
            <a:pathLst>
              <a:path w="907" h="113">
                <a:moveTo>
                  <a:pt x="0" y="113"/>
                </a:moveTo>
                <a:cubicBezTo>
                  <a:pt x="151" y="56"/>
                  <a:pt x="303" y="0"/>
                  <a:pt x="454" y="0"/>
                </a:cubicBezTo>
                <a:cubicBezTo>
                  <a:pt x="605" y="0"/>
                  <a:pt x="832" y="75"/>
                  <a:pt x="907" y="113"/>
                </a:cubicBez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821262" name="Freeform 14"/>
          <p:cNvSpPr>
            <a:spLocks/>
          </p:cNvSpPr>
          <p:nvPr/>
        </p:nvSpPr>
        <p:spPr bwMode="auto">
          <a:xfrm rot="16200000" flipV="1">
            <a:off x="3041650" y="4960938"/>
            <a:ext cx="1439863" cy="179387"/>
          </a:xfrm>
          <a:custGeom>
            <a:avLst/>
            <a:gdLst/>
            <a:ahLst/>
            <a:cxnLst>
              <a:cxn ang="0">
                <a:pos x="0" y="113"/>
              </a:cxn>
              <a:cxn ang="0">
                <a:pos x="454" y="0"/>
              </a:cxn>
              <a:cxn ang="0">
                <a:pos x="907" y="113"/>
              </a:cxn>
            </a:cxnLst>
            <a:rect l="0" t="0" r="r" b="b"/>
            <a:pathLst>
              <a:path w="907" h="113">
                <a:moveTo>
                  <a:pt x="0" y="113"/>
                </a:moveTo>
                <a:cubicBezTo>
                  <a:pt x="151" y="56"/>
                  <a:pt x="303" y="0"/>
                  <a:pt x="454" y="0"/>
                </a:cubicBezTo>
                <a:cubicBezTo>
                  <a:pt x="605" y="0"/>
                  <a:pt x="832" y="75"/>
                  <a:pt x="907" y="113"/>
                </a:cubicBez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821263" name="Freeform 15"/>
          <p:cNvSpPr>
            <a:spLocks/>
          </p:cNvSpPr>
          <p:nvPr/>
        </p:nvSpPr>
        <p:spPr bwMode="auto">
          <a:xfrm rot="10800000" flipH="1">
            <a:off x="1871663" y="6130925"/>
            <a:ext cx="1439862" cy="179388"/>
          </a:xfrm>
          <a:custGeom>
            <a:avLst/>
            <a:gdLst/>
            <a:ahLst/>
            <a:cxnLst>
              <a:cxn ang="0">
                <a:pos x="0" y="113"/>
              </a:cxn>
              <a:cxn ang="0">
                <a:pos x="454" y="0"/>
              </a:cxn>
              <a:cxn ang="0">
                <a:pos x="907" y="113"/>
              </a:cxn>
            </a:cxnLst>
            <a:rect l="0" t="0" r="r" b="b"/>
            <a:pathLst>
              <a:path w="907" h="113">
                <a:moveTo>
                  <a:pt x="0" y="113"/>
                </a:moveTo>
                <a:cubicBezTo>
                  <a:pt x="151" y="56"/>
                  <a:pt x="303" y="0"/>
                  <a:pt x="454" y="0"/>
                </a:cubicBezTo>
                <a:cubicBezTo>
                  <a:pt x="605" y="0"/>
                  <a:pt x="832" y="75"/>
                  <a:pt x="907" y="113"/>
                </a:cubicBez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821264" name="Line 16"/>
          <p:cNvSpPr>
            <a:spLocks noChangeShapeType="1"/>
          </p:cNvSpPr>
          <p:nvPr/>
        </p:nvSpPr>
        <p:spPr bwMode="auto">
          <a:xfrm flipH="1" flipV="1">
            <a:off x="1871663" y="4149725"/>
            <a:ext cx="1620837" cy="1620838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821265" name="Rectangle 17"/>
          <p:cNvSpPr>
            <a:spLocks noChangeArrowheads="1"/>
          </p:cNvSpPr>
          <p:nvPr/>
        </p:nvSpPr>
        <p:spPr bwMode="auto">
          <a:xfrm>
            <a:off x="1331913" y="2889250"/>
            <a:ext cx="539750" cy="32861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sz="2400" b="1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821266" name="Rectangle 18"/>
          <p:cNvSpPr>
            <a:spLocks noChangeArrowheads="1"/>
          </p:cNvSpPr>
          <p:nvPr/>
        </p:nvSpPr>
        <p:spPr bwMode="auto">
          <a:xfrm>
            <a:off x="2411413" y="3430588"/>
            <a:ext cx="539750" cy="32861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sz="2400" b="1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821267" name="Rectangle 19"/>
          <p:cNvSpPr>
            <a:spLocks noChangeArrowheads="1"/>
          </p:cNvSpPr>
          <p:nvPr/>
        </p:nvSpPr>
        <p:spPr bwMode="auto">
          <a:xfrm>
            <a:off x="3311525" y="2889250"/>
            <a:ext cx="539750" cy="32861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sz="2400" b="1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821268" name="Rectangle 20"/>
          <p:cNvSpPr>
            <a:spLocks noChangeArrowheads="1"/>
          </p:cNvSpPr>
          <p:nvPr/>
        </p:nvSpPr>
        <p:spPr bwMode="auto">
          <a:xfrm>
            <a:off x="3851275" y="4870450"/>
            <a:ext cx="539750" cy="32861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sz="2400" b="1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821269" name="Rectangle 21"/>
          <p:cNvSpPr>
            <a:spLocks noChangeArrowheads="1"/>
          </p:cNvSpPr>
          <p:nvPr/>
        </p:nvSpPr>
        <p:spPr bwMode="auto">
          <a:xfrm>
            <a:off x="2232025" y="6310313"/>
            <a:ext cx="539750" cy="32861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sz="2400" b="1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821270" name="Rectangle 22"/>
          <p:cNvSpPr>
            <a:spLocks noChangeArrowheads="1"/>
          </p:cNvSpPr>
          <p:nvPr/>
        </p:nvSpPr>
        <p:spPr bwMode="auto">
          <a:xfrm>
            <a:off x="792163" y="4870450"/>
            <a:ext cx="539750" cy="32861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sz="2400" b="1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821271" name="Rectangle 23"/>
          <p:cNvSpPr>
            <a:spLocks noChangeArrowheads="1"/>
          </p:cNvSpPr>
          <p:nvPr/>
        </p:nvSpPr>
        <p:spPr bwMode="auto">
          <a:xfrm>
            <a:off x="1871663" y="4870450"/>
            <a:ext cx="539750" cy="32861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sz="2400" b="1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821272" name="Rectangle 24"/>
          <p:cNvSpPr>
            <a:spLocks noChangeArrowheads="1"/>
          </p:cNvSpPr>
          <p:nvPr/>
        </p:nvSpPr>
        <p:spPr bwMode="auto">
          <a:xfrm>
            <a:off x="2592388" y="4510088"/>
            <a:ext cx="539750" cy="32861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sz="2400" b="1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821273" name="Oval 25"/>
          <p:cNvSpPr>
            <a:spLocks noChangeAspect="1" noChangeArrowheads="1"/>
          </p:cNvSpPr>
          <p:nvPr/>
        </p:nvSpPr>
        <p:spPr bwMode="auto">
          <a:xfrm>
            <a:off x="1331913" y="1885950"/>
            <a:ext cx="539750" cy="539750"/>
          </a:xfrm>
          <a:prstGeom prst="ellips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r>
              <a:rPr lang="en-US" sz="20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AB</a:t>
            </a:r>
          </a:p>
        </p:txBody>
      </p:sp>
      <p:sp>
        <p:nvSpPr>
          <p:cNvPr id="821274" name="Freeform 26"/>
          <p:cNvSpPr>
            <a:spLocks/>
          </p:cNvSpPr>
          <p:nvPr/>
        </p:nvSpPr>
        <p:spPr bwMode="auto">
          <a:xfrm rot="10800000" flipH="1" flipV="1">
            <a:off x="1871663" y="1885950"/>
            <a:ext cx="2520950" cy="179388"/>
          </a:xfrm>
          <a:custGeom>
            <a:avLst/>
            <a:gdLst/>
            <a:ahLst/>
            <a:cxnLst>
              <a:cxn ang="0">
                <a:pos x="0" y="113"/>
              </a:cxn>
              <a:cxn ang="0">
                <a:pos x="454" y="0"/>
              </a:cxn>
              <a:cxn ang="0">
                <a:pos x="907" y="113"/>
              </a:cxn>
            </a:cxnLst>
            <a:rect l="0" t="0" r="r" b="b"/>
            <a:pathLst>
              <a:path w="907" h="113">
                <a:moveTo>
                  <a:pt x="0" y="113"/>
                </a:moveTo>
                <a:cubicBezTo>
                  <a:pt x="151" y="56"/>
                  <a:pt x="303" y="0"/>
                  <a:pt x="454" y="0"/>
                </a:cubicBezTo>
                <a:cubicBezTo>
                  <a:pt x="605" y="0"/>
                  <a:pt x="832" y="75"/>
                  <a:pt x="907" y="113"/>
                </a:cubicBez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821275" name="Rectangle 27"/>
          <p:cNvSpPr>
            <a:spLocks noChangeArrowheads="1"/>
          </p:cNvSpPr>
          <p:nvPr/>
        </p:nvSpPr>
        <p:spPr bwMode="auto">
          <a:xfrm>
            <a:off x="2411413" y="1989138"/>
            <a:ext cx="1557337" cy="32861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input</a:t>
            </a:r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2400" b="1" i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output</a:t>
            </a:r>
          </a:p>
        </p:txBody>
      </p:sp>
      <p:graphicFrame>
        <p:nvGraphicFramePr>
          <p:cNvPr id="821277" name="Group 29"/>
          <p:cNvGraphicFramePr>
            <a:graphicFrameLocks noGrp="1"/>
          </p:cNvGraphicFramePr>
          <p:nvPr>
            <p:ph sz="half" idx="2"/>
          </p:nvPr>
        </p:nvGraphicFramePr>
        <p:xfrm>
          <a:off x="5111750" y="1382713"/>
          <a:ext cx="3600450" cy="2519363"/>
        </p:xfrm>
        <a:graphic>
          <a:graphicData uri="http://schemas.openxmlformats.org/drawingml/2006/table">
            <a:tbl>
              <a:tblPr/>
              <a:tblGrid>
                <a:gridCol w="366713"/>
                <a:gridCol w="103187"/>
                <a:gridCol w="469900"/>
                <a:gridCol w="352425"/>
                <a:gridCol w="352425"/>
                <a:gridCol w="352425"/>
                <a:gridCol w="352425"/>
                <a:gridCol w="625475"/>
                <a:gridCol w="625475"/>
              </a:tblGrid>
              <a:tr h="349250">
                <a:tc rowSpan="2"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Present State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Next State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Output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</a:tr>
              <a:tr h="301625">
                <a:tc gridSpan="3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=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= 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=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= 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373063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1" u="none" strike="noStrike" cap="none" normalizeH="0" baseline="0" smtClean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696200" cy="1143000"/>
          </a:xfrm>
        </p:spPr>
        <p:txBody>
          <a:bodyPr/>
          <a:lstStyle/>
          <a:p>
            <a:r>
              <a:rPr lang="en-US" dirty="0"/>
              <a:t>Analysis of Clocked Sequential </a:t>
            </a:r>
            <a:r>
              <a:rPr lang="en-US" dirty="0" smtClean="0"/>
              <a:t>Circuits: State Diagram</a:t>
            </a:r>
            <a:endParaRPr lang="en-US" dirty="0"/>
          </a:p>
        </p:txBody>
      </p:sp>
      <p:sp>
        <p:nvSpPr>
          <p:cNvPr id="32" name="Text Placeholder 31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21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2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21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21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21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21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21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821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2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821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821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82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821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82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21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821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82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821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82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821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821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82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0" dur="500"/>
                                        <p:tgtEl>
                                          <p:spTgt spid="821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82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1253" grpId="0" animBg="1"/>
      <p:bldP spid="821254" grpId="0" animBg="1"/>
      <p:bldP spid="821255" grpId="0" animBg="1"/>
      <p:bldP spid="821256" grpId="0" animBg="1"/>
      <p:bldP spid="821257" grpId="0" animBg="1"/>
      <p:bldP spid="821258" grpId="0" animBg="1"/>
      <p:bldP spid="821259" grpId="0" animBg="1"/>
      <p:bldP spid="821260" grpId="0" animBg="1"/>
      <p:bldP spid="821261" grpId="0" animBg="1"/>
      <p:bldP spid="821262" grpId="0" animBg="1"/>
      <p:bldP spid="821263" grpId="0" animBg="1"/>
      <p:bldP spid="821264" grpId="0" animBg="1"/>
      <p:bldP spid="821265" grpId="0"/>
      <p:bldP spid="821266" grpId="0"/>
      <p:bldP spid="821267" grpId="0"/>
      <p:bldP spid="821268" grpId="0"/>
      <p:bldP spid="821269" grpId="0"/>
      <p:bldP spid="821270" grpId="0"/>
      <p:bldP spid="821271" grpId="0"/>
      <p:bldP spid="821272" grpId="0"/>
      <p:bldP spid="821273" grpId="0" animBg="1"/>
      <p:bldP spid="821274" grpId="0" animBg="1"/>
      <p:bldP spid="82127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Content Placeholder 46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i="1" dirty="0" smtClean="0">
                <a:solidFill>
                  <a:srgbClr val="009900"/>
                </a:solidFill>
              </a:rPr>
              <a:t>Example</a:t>
            </a:r>
            <a:r>
              <a:rPr lang="en-US" dirty="0" smtClean="0"/>
              <a:t>:</a:t>
            </a:r>
          </a:p>
          <a:p>
            <a:endParaRPr lang="en-AU" dirty="0"/>
          </a:p>
        </p:txBody>
      </p:sp>
      <p:sp>
        <p:nvSpPr>
          <p:cNvPr id="8232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Analysis of Clocked Sequential </a:t>
            </a:r>
            <a:r>
              <a:rPr lang="en-US" dirty="0" smtClean="0"/>
              <a:t>Circuits:  </a:t>
            </a:r>
            <a:r>
              <a:rPr lang="en-US" i="1" dirty="0" smtClean="0"/>
              <a:t>D</a:t>
            </a:r>
            <a:r>
              <a:rPr lang="en-US" dirty="0" smtClean="0"/>
              <a:t> Flip-Flops</a:t>
            </a:r>
            <a:endParaRPr lang="en-US" dirty="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851275" y="1449388"/>
            <a:ext cx="4860925" cy="1800225"/>
            <a:chOff x="2426" y="1139"/>
            <a:chExt cx="3062" cy="1134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4014" y="1366"/>
              <a:ext cx="1020" cy="907"/>
              <a:chOff x="4467" y="913"/>
              <a:chExt cx="1020" cy="907"/>
            </a:xfrm>
          </p:grpSpPr>
          <p:sp>
            <p:nvSpPr>
              <p:cNvPr id="823302" name="Rectangle 6"/>
              <p:cNvSpPr>
                <a:spLocks noChangeArrowheads="1"/>
              </p:cNvSpPr>
              <p:nvPr/>
            </p:nvSpPr>
            <p:spPr bwMode="auto">
              <a:xfrm>
                <a:off x="4694" y="913"/>
                <a:ext cx="567" cy="907"/>
              </a:xfrm>
              <a:prstGeom prst="rect">
                <a:avLst/>
              </a:prstGeom>
              <a:solidFill>
                <a:srgbClr val="FFFF00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endParaRPr lang="en-AU"/>
              </a:p>
            </p:txBody>
          </p:sp>
          <p:sp>
            <p:nvSpPr>
              <p:cNvPr id="823303" name="Rectangle 7"/>
              <p:cNvSpPr>
                <a:spLocks noChangeArrowheads="1"/>
              </p:cNvSpPr>
              <p:nvPr/>
            </p:nvSpPr>
            <p:spPr bwMode="auto">
              <a:xfrm>
                <a:off x="4694" y="1026"/>
                <a:ext cx="227" cy="207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r>
                  <a:rPr lang="en-US" sz="2400" b="1" i="1">
                    <a:solidFill>
                      <a:schemeClr val="accent2"/>
                    </a:solidFill>
                    <a:latin typeface="Times New Roman" pitchFamily="18" charset="0"/>
                    <a:cs typeface="Times New Roman" pitchFamily="18" charset="0"/>
                  </a:rPr>
                  <a:t>D</a:t>
                </a:r>
              </a:p>
            </p:txBody>
          </p:sp>
          <p:sp>
            <p:nvSpPr>
              <p:cNvPr id="823304" name="Line 8"/>
              <p:cNvSpPr>
                <a:spLocks noChangeShapeType="1"/>
              </p:cNvSpPr>
              <p:nvPr/>
            </p:nvSpPr>
            <p:spPr bwMode="auto">
              <a:xfrm>
                <a:off x="4694" y="1480"/>
                <a:ext cx="113" cy="11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lIns="0" tIns="0" rIns="0" bIns="0" anchor="ctr">
                <a:spAutoFit/>
              </a:bodyPr>
              <a:lstStyle/>
              <a:p>
                <a:endParaRPr lang="en-AU"/>
              </a:p>
            </p:txBody>
          </p:sp>
          <p:sp>
            <p:nvSpPr>
              <p:cNvPr id="823305" name="Line 9"/>
              <p:cNvSpPr>
                <a:spLocks noChangeShapeType="1"/>
              </p:cNvSpPr>
              <p:nvPr/>
            </p:nvSpPr>
            <p:spPr bwMode="auto">
              <a:xfrm flipH="1">
                <a:off x="4694" y="1593"/>
                <a:ext cx="113" cy="11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lIns="0" tIns="0" rIns="0" bIns="0" anchor="ctr">
                <a:spAutoFit/>
              </a:bodyPr>
              <a:lstStyle/>
              <a:p>
                <a:endParaRPr lang="en-AU"/>
              </a:p>
            </p:txBody>
          </p:sp>
          <p:sp>
            <p:nvSpPr>
              <p:cNvPr id="823306" name="Line 10"/>
              <p:cNvSpPr>
                <a:spLocks noChangeShapeType="1"/>
              </p:cNvSpPr>
              <p:nvPr/>
            </p:nvSpPr>
            <p:spPr bwMode="auto">
              <a:xfrm flipH="1">
                <a:off x="4467" y="1139"/>
                <a:ext cx="227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endParaRPr lang="en-AU"/>
              </a:p>
            </p:txBody>
          </p:sp>
          <p:sp>
            <p:nvSpPr>
              <p:cNvPr id="823307" name="Line 11"/>
              <p:cNvSpPr>
                <a:spLocks noChangeShapeType="1"/>
              </p:cNvSpPr>
              <p:nvPr/>
            </p:nvSpPr>
            <p:spPr bwMode="auto">
              <a:xfrm flipH="1">
                <a:off x="4467" y="1593"/>
                <a:ext cx="227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endParaRPr lang="en-AU"/>
              </a:p>
            </p:txBody>
          </p:sp>
          <p:sp>
            <p:nvSpPr>
              <p:cNvPr id="823308" name="Line 12"/>
              <p:cNvSpPr>
                <a:spLocks noChangeShapeType="1"/>
              </p:cNvSpPr>
              <p:nvPr/>
            </p:nvSpPr>
            <p:spPr bwMode="auto">
              <a:xfrm flipH="1">
                <a:off x="5261" y="1139"/>
                <a:ext cx="226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endParaRPr lang="en-AU"/>
              </a:p>
            </p:txBody>
          </p:sp>
          <p:sp>
            <p:nvSpPr>
              <p:cNvPr id="823309" name="Line 13"/>
              <p:cNvSpPr>
                <a:spLocks noChangeShapeType="1"/>
              </p:cNvSpPr>
              <p:nvPr/>
            </p:nvSpPr>
            <p:spPr bwMode="auto">
              <a:xfrm flipH="1">
                <a:off x="5261" y="1593"/>
                <a:ext cx="226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lIns="0" tIns="0" rIns="0" bIns="0" anchor="ctr">
                <a:spAutoFit/>
              </a:bodyPr>
              <a:lstStyle/>
              <a:p>
                <a:endParaRPr lang="en-AU"/>
              </a:p>
            </p:txBody>
          </p:sp>
          <p:sp>
            <p:nvSpPr>
              <p:cNvPr id="823310" name="Rectangle 14"/>
              <p:cNvSpPr>
                <a:spLocks noChangeArrowheads="1"/>
              </p:cNvSpPr>
              <p:nvPr/>
            </p:nvSpPr>
            <p:spPr bwMode="auto">
              <a:xfrm>
                <a:off x="5034" y="1026"/>
                <a:ext cx="227" cy="207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r>
                  <a:rPr lang="en-US" sz="2400" b="1" i="1">
                    <a:solidFill>
                      <a:schemeClr val="accent2"/>
                    </a:solidFill>
                    <a:latin typeface="Times New Roman" pitchFamily="18" charset="0"/>
                    <a:cs typeface="Times New Roman" pitchFamily="18" charset="0"/>
                  </a:rPr>
                  <a:t>Q</a:t>
                </a:r>
              </a:p>
            </p:txBody>
          </p:sp>
          <p:sp>
            <p:nvSpPr>
              <p:cNvPr id="823311" name="Oval 15"/>
              <p:cNvSpPr>
                <a:spLocks noChangeAspect="1" noChangeArrowheads="1"/>
              </p:cNvSpPr>
              <p:nvPr/>
            </p:nvSpPr>
            <p:spPr bwMode="auto">
              <a:xfrm>
                <a:off x="5261" y="1551"/>
                <a:ext cx="79" cy="79"/>
              </a:xfrm>
              <a:prstGeom prst="ellipse">
                <a:avLst/>
              </a:prstGeom>
              <a:solidFill>
                <a:schemeClr val="bg1"/>
              </a:solidFill>
              <a:ln w="38100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lIns="0" tIns="0" rIns="0" bIns="0" anchor="ctr">
                <a:spAutoFit/>
              </a:bodyPr>
              <a:lstStyle/>
              <a:p>
                <a:endParaRPr lang="en-AU"/>
              </a:p>
            </p:txBody>
          </p:sp>
          <p:grpSp>
            <p:nvGrpSpPr>
              <p:cNvPr id="4" name="Group 16"/>
              <p:cNvGrpSpPr>
                <a:grpSpLocks/>
              </p:cNvGrpSpPr>
              <p:nvPr/>
            </p:nvGrpSpPr>
            <p:grpSpPr bwMode="auto">
              <a:xfrm>
                <a:off x="5034" y="1492"/>
                <a:ext cx="227" cy="214"/>
                <a:chOff x="5034" y="1492"/>
                <a:chExt cx="227" cy="214"/>
              </a:xfrm>
            </p:grpSpPr>
            <p:sp>
              <p:nvSpPr>
                <p:cNvPr id="823313" name="Rectangle 17"/>
                <p:cNvSpPr>
                  <a:spLocks noChangeArrowheads="1"/>
                </p:cNvSpPr>
                <p:nvPr/>
              </p:nvSpPr>
              <p:spPr bwMode="auto">
                <a:xfrm>
                  <a:off x="5034" y="1499"/>
                  <a:ext cx="227" cy="207"/>
                </a:xfrm>
                <a:prstGeom prst="rect">
                  <a:avLst/>
                </a:prstGeom>
                <a:noFill/>
                <a:ln w="38100" algn="ctr">
                  <a:noFill/>
                  <a:miter lim="800000"/>
                  <a:headEnd/>
                  <a:tailEnd/>
                </a:ln>
                <a:effectLst/>
              </p:spPr>
              <p:txBody>
                <a:bodyPr lIns="0" tIns="0" rIns="0" bIns="0">
                  <a:spAutoFit/>
                </a:bodyPr>
                <a:lstStyle/>
                <a:p>
                  <a:r>
                    <a:rPr lang="en-US" sz="2400" b="1" i="1">
                      <a:solidFill>
                        <a:schemeClr val="accent2"/>
                      </a:solidFill>
                      <a:latin typeface="Times New Roman" pitchFamily="18" charset="0"/>
                      <a:cs typeface="Times New Roman" pitchFamily="18" charset="0"/>
                    </a:rPr>
                    <a:t>Q</a:t>
                  </a:r>
                </a:p>
              </p:txBody>
            </p:sp>
            <p:sp>
              <p:nvSpPr>
                <p:cNvPr id="823314" name="Line 18"/>
                <p:cNvSpPr>
                  <a:spLocks noChangeShapeType="1"/>
                </p:cNvSpPr>
                <p:nvPr/>
              </p:nvSpPr>
              <p:spPr bwMode="auto">
                <a:xfrm flipH="1">
                  <a:off x="5099" y="1492"/>
                  <a:ext cx="114" cy="0"/>
                </a:xfrm>
                <a:prstGeom prst="line">
                  <a:avLst/>
                </a:prstGeom>
                <a:noFill/>
                <a:ln w="38100">
                  <a:solidFill>
                    <a:schemeClr val="accent2"/>
                  </a:solidFill>
                  <a:round/>
                  <a:headEnd/>
                  <a:tailEnd/>
                </a:ln>
                <a:effectLst/>
              </p:spPr>
              <p:txBody>
                <a:bodyPr lIns="0" tIns="0" rIns="0" bIns="0" anchor="ctr">
                  <a:spAutoFit/>
                </a:bodyPr>
                <a:lstStyle/>
                <a:p>
                  <a:endParaRPr lang="en-AU"/>
                </a:p>
              </p:txBody>
            </p:sp>
          </p:grpSp>
        </p:grpSp>
        <p:graphicFrame>
          <p:nvGraphicFramePr>
            <p:cNvPr id="823315" name="Object 19"/>
            <p:cNvGraphicFramePr>
              <a:graphicFrameLocks noChangeAspect="1"/>
            </p:cNvGraphicFramePr>
            <p:nvPr/>
          </p:nvGraphicFramePr>
          <p:xfrm>
            <a:off x="3467" y="1437"/>
            <a:ext cx="567" cy="3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810" name="Visio" r:id="rId4" imgW="475732" imgH="259933" progId="">
                    <p:embed/>
                  </p:oleObj>
                </mc:Choice>
                <mc:Fallback>
                  <p:oleObj name="Visio" r:id="rId4" imgW="475732" imgH="259933" progId="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67" y="1437"/>
                          <a:ext cx="567" cy="3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3316" name="Line 20"/>
            <p:cNvSpPr>
              <a:spLocks noChangeShapeType="1"/>
            </p:cNvSpPr>
            <p:nvPr/>
          </p:nvSpPr>
          <p:spPr bwMode="auto">
            <a:xfrm flipH="1">
              <a:off x="3329" y="1527"/>
              <a:ext cx="159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23317" name="Line 21"/>
            <p:cNvSpPr>
              <a:spLocks noChangeShapeType="1"/>
            </p:cNvSpPr>
            <p:nvPr/>
          </p:nvSpPr>
          <p:spPr bwMode="auto">
            <a:xfrm flipH="1">
              <a:off x="3220" y="1658"/>
              <a:ext cx="26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23318" name="Line 22"/>
            <p:cNvSpPr>
              <a:spLocks noChangeShapeType="1"/>
            </p:cNvSpPr>
            <p:nvPr/>
          </p:nvSpPr>
          <p:spPr bwMode="auto">
            <a:xfrm flipH="1" flipV="1">
              <a:off x="3333" y="1139"/>
              <a:ext cx="1701" cy="1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23319" name="Line 23"/>
            <p:cNvSpPr>
              <a:spLocks noChangeShapeType="1"/>
            </p:cNvSpPr>
            <p:nvPr/>
          </p:nvSpPr>
          <p:spPr bwMode="auto">
            <a:xfrm rot="5400000" flipH="1" flipV="1">
              <a:off x="4807" y="1366"/>
              <a:ext cx="453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23320" name="Rectangle 24"/>
            <p:cNvSpPr>
              <a:spLocks noChangeArrowheads="1"/>
            </p:cNvSpPr>
            <p:nvPr/>
          </p:nvSpPr>
          <p:spPr bwMode="auto">
            <a:xfrm>
              <a:off x="2426" y="1479"/>
              <a:ext cx="227" cy="207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r>
                <a:rPr lang="en-US" sz="2400" b="1" i="1">
                  <a:solidFill>
                    <a:schemeClr val="accent2"/>
                  </a:solidFill>
                  <a:latin typeface="Times New Roman" pitchFamily="18" charset="0"/>
                  <a:cs typeface="Times New Roman" pitchFamily="18" charset="0"/>
                </a:rPr>
                <a:t>x</a:t>
              </a:r>
            </a:p>
          </p:txBody>
        </p:sp>
        <p:sp>
          <p:nvSpPr>
            <p:cNvPr id="823321" name="Line 25"/>
            <p:cNvSpPr>
              <a:spLocks noChangeShapeType="1"/>
            </p:cNvSpPr>
            <p:nvPr/>
          </p:nvSpPr>
          <p:spPr bwMode="auto">
            <a:xfrm flipH="1" flipV="1">
              <a:off x="5034" y="1592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23322" name="Line 26"/>
            <p:cNvSpPr>
              <a:spLocks noChangeShapeType="1"/>
            </p:cNvSpPr>
            <p:nvPr/>
          </p:nvSpPr>
          <p:spPr bwMode="auto">
            <a:xfrm>
              <a:off x="3333" y="1139"/>
              <a:ext cx="0" cy="398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graphicFrame>
          <p:nvGraphicFramePr>
            <p:cNvPr id="823323" name="Object 27"/>
            <p:cNvGraphicFramePr>
              <a:graphicFrameLocks noChangeAspect="1"/>
            </p:cNvGraphicFramePr>
            <p:nvPr/>
          </p:nvGraphicFramePr>
          <p:xfrm>
            <a:off x="2681" y="1503"/>
            <a:ext cx="567" cy="3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811" name="Visio" r:id="rId6" imgW="475732" imgH="259933" progId="">
                    <p:embed/>
                  </p:oleObj>
                </mc:Choice>
                <mc:Fallback>
                  <p:oleObj name="Visio" r:id="rId6" imgW="475732" imgH="259933" progId="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81" y="1503"/>
                          <a:ext cx="567" cy="3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3324" name="Rectangle 28"/>
            <p:cNvSpPr>
              <a:spLocks noChangeArrowheads="1"/>
            </p:cNvSpPr>
            <p:nvPr/>
          </p:nvSpPr>
          <p:spPr bwMode="auto">
            <a:xfrm>
              <a:off x="3560" y="1933"/>
              <a:ext cx="454" cy="207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r>
                <a:rPr lang="en-US" sz="2400" b="1" i="1">
                  <a:solidFill>
                    <a:schemeClr val="accent2"/>
                  </a:solidFill>
                  <a:latin typeface="Times New Roman" pitchFamily="18" charset="0"/>
                  <a:cs typeface="Times New Roman" pitchFamily="18" charset="0"/>
                </a:rPr>
                <a:t>CLK</a:t>
              </a:r>
            </a:p>
          </p:txBody>
        </p:sp>
        <p:sp>
          <p:nvSpPr>
            <p:cNvPr id="823325" name="Rectangle 29"/>
            <p:cNvSpPr>
              <a:spLocks noChangeArrowheads="1"/>
            </p:cNvSpPr>
            <p:nvPr/>
          </p:nvSpPr>
          <p:spPr bwMode="auto">
            <a:xfrm>
              <a:off x="2426" y="1613"/>
              <a:ext cx="227" cy="207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r>
                <a:rPr lang="en-US" sz="2400" b="1" i="1">
                  <a:solidFill>
                    <a:schemeClr val="accent2"/>
                  </a:solidFill>
                  <a:latin typeface="Times New Roman" pitchFamily="18" charset="0"/>
                  <a:cs typeface="Times New Roman" pitchFamily="18" charset="0"/>
                </a:rPr>
                <a:t>y</a:t>
              </a:r>
            </a:p>
          </p:txBody>
        </p:sp>
        <p:sp>
          <p:nvSpPr>
            <p:cNvPr id="823326" name="Rectangle 30"/>
            <p:cNvSpPr>
              <a:spLocks noChangeArrowheads="1"/>
            </p:cNvSpPr>
            <p:nvPr/>
          </p:nvSpPr>
          <p:spPr bwMode="auto">
            <a:xfrm>
              <a:off x="5261" y="1479"/>
              <a:ext cx="227" cy="207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r>
                <a:rPr lang="en-US" sz="2400" b="1" i="1">
                  <a:solidFill>
                    <a:schemeClr val="accent2"/>
                  </a:solidFill>
                  <a:latin typeface="Times New Roman" pitchFamily="18" charset="0"/>
                  <a:cs typeface="Times New Roman" pitchFamily="18" charset="0"/>
                </a:rPr>
                <a:t>A</a:t>
              </a:r>
            </a:p>
          </p:txBody>
        </p:sp>
      </p:grpSp>
      <p:graphicFrame>
        <p:nvGraphicFramePr>
          <p:cNvPr id="823327" name="Group 31"/>
          <p:cNvGraphicFramePr>
            <a:graphicFrameLocks noGrp="1"/>
          </p:cNvGraphicFramePr>
          <p:nvPr/>
        </p:nvGraphicFramePr>
        <p:xfrm>
          <a:off x="792163" y="2349500"/>
          <a:ext cx="2700337" cy="3901440"/>
        </p:xfrm>
        <a:graphic>
          <a:graphicData uri="http://schemas.openxmlformats.org/drawingml/2006/table">
            <a:tbl>
              <a:tblPr/>
              <a:tblGrid>
                <a:gridCol w="900112"/>
                <a:gridCol w="449263"/>
                <a:gridCol w="449262"/>
                <a:gridCol w="901700"/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Present State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Input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Next State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40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71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40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23401" name="Rectangle 105"/>
          <p:cNvSpPr>
            <a:spLocks noChangeArrowheads="1"/>
          </p:cNvSpPr>
          <p:nvPr/>
        </p:nvSpPr>
        <p:spPr bwMode="auto">
          <a:xfrm>
            <a:off x="2592388" y="3325813"/>
            <a:ext cx="900112" cy="295465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24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24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24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24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24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24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24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24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823402" name="Oval 106"/>
          <p:cNvSpPr>
            <a:spLocks noChangeAspect="1" noChangeArrowheads="1"/>
          </p:cNvSpPr>
          <p:nvPr/>
        </p:nvSpPr>
        <p:spPr bwMode="auto">
          <a:xfrm>
            <a:off x="5202238" y="5259388"/>
            <a:ext cx="539750" cy="539750"/>
          </a:xfrm>
          <a:prstGeom prst="ellips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823403" name="Oval 107"/>
          <p:cNvSpPr>
            <a:spLocks noChangeAspect="1" noChangeArrowheads="1"/>
          </p:cNvSpPr>
          <p:nvPr/>
        </p:nvSpPr>
        <p:spPr bwMode="auto">
          <a:xfrm>
            <a:off x="7002463" y="5259388"/>
            <a:ext cx="539750" cy="539750"/>
          </a:xfrm>
          <a:prstGeom prst="ellips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823404" name="Freeform 108"/>
          <p:cNvSpPr>
            <a:spLocks/>
          </p:cNvSpPr>
          <p:nvPr/>
        </p:nvSpPr>
        <p:spPr bwMode="auto">
          <a:xfrm rot="10800000" flipH="1" flipV="1">
            <a:off x="5562600" y="5080000"/>
            <a:ext cx="1619250" cy="179388"/>
          </a:xfrm>
          <a:custGeom>
            <a:avLst/>
            <a:gdLst/>
            <a:ahLst/>
            <a:cxnLst>
              <a:cxn ang="0">
                <a:pos x="0" y="113"/>
              </a:cxn>
              <a:cxn ang="0">
                <a:pos x="454" y="0"/>
              </a:cxn>
              <a:cxn ang="0">
                <a:pos x="907" y="113"/>
              </a:cxn>
            </a:cxnLst>
            <a:rect l="0" t="0" r="r" b="b"/>
            <a:pathLst>
              <a:path w="907" h="113">
                <a:moveTo>
                  <a:pt x="0" y="113"/>
                </a:moveTo>
                <a:cubicBezTo>
                  <a:pt x="151" y="56"/>
                  <a:pt x="303" y="0"/>
                  <a:pt x="454" y="0"/>
                </a:cubicBezTo>
                <a:cubicBezTo>
                  <a:pt x="605" y="0"/>
                  <a:pt x="832" y="75"/>
                  <a:pt x="907" y="113"/>
                </a:cubicBez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823405" name="Freeform 109"/>
          <p:cNvSpPr>
            <a:spLocks/>
          </p:cNvSpPr>
          <p:nvPr/>
        </p:nvSpPr>
        <p:spPr bwMode="auto">
          <a:xfrm rot="21600000" flipH="1" flipV="1">
            <a:off x="5562600" y="5799138"/>
            <a:ext cx="1619250" cy="179387"/>
          </a:xfrm>
          <a:custGeom>
            <a:avLst/>
            <a:gdLst/>
            <a:ahLst/>
            <a:cxnLst>
              <a:cxn ang="0">
                <a:pos x="0" y="113"/>
              </a:cxn>
              <a:cxn ang="0">
                <a:pos x="454" y="0"/>
              </a:cxn>
              <a:cxn ang="0">
                <a:pos x="907" y="113"/>
              </a:cxn>
            </a:cxnLst>
            <a:rect l="0" t="0" r="r" b="b"/>
            <a:pathLst>
              <a:path w="907" h="113">
                <a:moveTo>
                  <a:pt x="0" y="113"/>
                </a:moveTo>
                <a:cubicBezTo>
                  <a:pt x="151" y="56"/>
                  <a:pt x="303" y="0"/>
                  <a:pt x="454" y="0"/>
                </a:cubicBezTo>
                <a:cubicBezTo>
                  <a:pt x="605" y="0"/>
                  <a:pt x="832" y="75"/>
                  <a:pt x="907" y="113"/>
                </a:cubicBez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823406" name="Freeform 110"/>
          <p:cNvSpPr>
            <a:spLocks/>
          </p:cNvSpPr>
          <p:nvPr/>
        </p:nvSpPr>
        <p:spPr bwMode="auto">
          <a:xfrm rot="-5400000">
            <a:off x="4730750" y="5254626"/>
            <a:ext cx="439737" cy="601662"/>
          </a:xfrm>
          <a:custGeom>
            <a:avLst/>
            <a:gdLst/>
            <a:ahLst/>
            <a:cxnLst>
              <a:cxn ang="0">
                <a:pos x="30" y="369"/>
              </a:cxn>
              <a:cxn ang="0">
                <a:pos x="2" y="124"/>
              </a:cxn>
              <a:cxn ang="0">
                <a:pos x="44" y="38"/>
              </a:cxn>
              <a:cxn ang="0">
                <a:pos x="142" y="0"/>
              </a:cxn>
              <a:cxn ang="0">
                <a:pos x="236" y="36"/>
              </a:cxn>
              <a:cxn ang="0">
                <a:pos x="274" y="126"/>
              </a:cxn>
              <a:cxn ang="0">
                <a:pos x="255" y="379"/>
              </a:cxn>
            </a:cxnLst>
            <a:rect l="0" t="0" r="r" b="b"/>
            <a:pathLst>
              <a:path w="277" h="379">
                <a:moveTo>
                  <a:pt x="30" y="369"/>
                </a:moveTo>
                <a:cubicBezTo>
                  <a:pt x="25" y="328"/>
                  <a:pt x="0" y="179"/>
                  <a:pt x="2" y="124"/>
                </a:cubicBezTo>
                <a:cubicBezTo>
                  <a:pt x="4" y="69"/>
                  <a:pt x="21" y="59"/>
                  <a:pt x="44" y="38"/>
                </a:cubicBezTo>
                <a:cubicBezTo>
                  <a:pt x="67" y="17"/>
                  <a:pt x="110" y="0"/>
                  <a:pt x="142" y="0"/>
                </a:cubicBezTo>
                <a:cubicBezTo>
                  <a:pt x="174" y="0"/>
                  <a:pt x="214" y="15"/>
                  <a:pt x="236" y="36"/>
                </a:cubicBezTo>
                <a:cubicBezTo>
                  <a:pt x="258" y="57"/>
                  <a:pt x="271" y="69"/>
                  <a:pt x="274" y="126"/>
                </a:cubicBezTo>
                <a:cubicBezTo>
                  <a:pt x="277" y="183"/>
                  <a:pt x="259" y="326"/>
                  <a:pt x="255" y="379"/>
                </a:cubicBezTo>
              </a:path>
            </a:pathLst>
          </a:custGeom>
          <a:noFill/>
          <a:ln w="38100" cap="flat" cmpd="sng">
            <a:solidFill>
              <a:srgbClr val="0099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823407" name="Freeform 111"/>
          <p:cNvSpPr>
            <a:spLocks/>
          </p:cNvSpPr>
          <p:nvPr/>
        </p:nvSpPr>
        <p:spPr bwMode="auto">
          <a:xfrm rot="5400000">
            <a:off x="7573963" y="5203825"/>
            <a:ext cx="439737" cy="601663"/>
          </a:xfrm>
          <a:custGeom>
            <a:avLst/>
            <a:gdLst/>
            <a:ahLst/>
            <a:cxnLst>
              <a:cxn ang="0">
                <a:pos x="30" y="369"/>
              </a:cxn>
              <a:cxn ang="0">
                <a:pos x="2" y="124"/>
              </a:cxn>
              <a:cxn ang="0">
                <a:pos x="44" y="38"/>
              </a:cxn>
              <a:cxn ang="0">
                <a:pos x="142" y="0"/>
              </a:cxn>
              <a:cxn ang="0">
                <a:pos x="236" y="36"/>
              </a:cxn>
              <a:cxn ang="0">
                <a:pos x="274" y="126"/>
              </a:cxn>
              <a:cxn ang="0">
                <a:pos x="255" y="379"/>
              </a:cxn>
            </a:cxnLst>
            <a:rect l="0" t="0" r="r" b="b"/>
            <a:pathLst>
              <a:path w="277" h="379">
                <a:moveTo>
                  <a:pt x="30" y="369"/>
                </a:moveTo>
                <a:cubicBezTo>
                  <a:pt x="25" y="328"/>
                  <a:pt x="0" y="179"/>
                  <a:pt x="2" y="124"/>
                </a:cubicBezTo>
                <a:cubicBezTo>
                  <a:pt x="4" y="69"/>
                  <a:pt x="21" y="59"/>
                  <a:pt x="44" y="38"/>
                </a:cubicBezTo>
                <a:cubicBezTo>
                  <a:pt x="67" y="17"/>
                  <a:pt x="110" y="0"/>
                  <a:pt x="142" y="0"/>
                </a:cubicBezTo>
                <a:cubicBezTo>
                  <a:pt x="174" y="0"/>
                  <a:pt x="214" y="15"/>
                  <a:pt x="236" y="36"/>
                </a:cubicBezTo>
                <a:cubicBezTo>
                  <a:pt x="258" y="57"/>
                  <a:pt x="271" y="69"/>
                  <a:pt x="274" y="126"/>
                </a:cubicBezTo>
                <a:cubicBezTo>
                  <a:pt x="277" y="183"/>
                  <a:pt x="259" y="326"/>
                  <a:pt x="255" y="379"/>
                </a:cubicBezTo>
              </a:path>
            </a:pathLst>
          </a:custGeom>
          <a:noFill/>
          <a:ln w="38100" cap="flat" cmpd="sng">
            <a:solidFill>
              <a:srgbClr val="0099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823408" name="Rectangle 112"/>
          <p:cNvSpPr>
            <a:spLocks noChangeArrowheads="1"/>
          </p:cNvSpPr>
          <p:nvPr/>
        </p:nvSpPr>
        <p:spPr bwMode="auto">
          <a:xfrm>
            <a:off x="3851275" y="5399088"/>
            <a:ext cx="809625" cy="32861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sz="2400" b="1">
                <a:latin typeface="Times New Roman" pitchFamily="18" charset="0"/>
                <a:cs typeface="Times New Roman" pitchFamily="18" charset="0"/>
              </a:rPr>
              <a:t>00,11</a:t>
            </a:r>
            <a:endParaRPr lang="en-US" sz="2400" b="1">
              <a:solidFill>
                <a:srgbClr val="9966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23409" name="Rectangle 113"/>
          <p:cNvSpPr>
            <a:spLocks noChangeArrowheads="1"/>
          </p:cNvSpPr>
          <p:nvPr/>
        </p:nvSpPr>
        <p:spPr bwMode="auto">
          <a:xfrm>
            <a:off x="8115300" y="5348288"/>
            <a:ext cx="809625" cy="32861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sz="2400" b="1">
                <a:latin typeface="Times New Roman" pitchFamily="18" charset="0"/>
                <a:cs typeface="Times New Roman" pitchFamily="18" charset="0"/>
              </a:rPr>
              <a:t>00,11</a:t>
            </a:r>
            <a:endParaRPr lang="en-US" sz="2400" b="1">
              <a:solidFill>
                <a:srgbClr val="9966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23410" name="Rectangle 114"/>
          <p:cNvSpPr>
            <a:spLocks noChangeArrowheads="1"/>
          </p:cNvSpPr>
          <p:nvPr/>
        </p:nvSpPr>
        <p:spPr bwMode="auto">
          <a:xfrm>
            <a:off x="6011863" y="4719638"/>
            <a:ext cx="809625" cy="32861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sz="2400" b="1">
                <a:latin typeface="Times New Roman" pitchFamily="18" charset="0"/>
                <a:cs typeface="Times New Roman" pitchFamily="18" charset="0"/>
              </a:rPr>
              <a:t>01,10</a:t>
            </a:r>
            <a:endParaRPr lang="en-US" sz="2400" b="1">
              <a:solidFill>
                <a:srgbClr val="9966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23411" name="Rectangle 115"/>
          <p:cNvSpPr>
            <a:spLocks noChangeArrowheads="1"/>
          </p:cNvSpPr>
          <p:nvPr/>
        </p:nvSpPr>
        <p:spPr bwMode="auto">
          <a:xfrm>
            <a:off x="6011863" y="5980113"/>
            <a:ext cx="809625" cy="32861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sz="2400" b="1">
                <a:latin typeface="Times New Roman" pitchFamily="18" charset="0"/>
                <a:cs typeface="Times New Roman" pitchFamily="18" charset="0"/>
              </a:rPr>
              <a:t>01,10</a:t>
            </a:r>
            <a:endParaRPr lang="en-US" sz="2400" b="1">
              <a:solidFill>
                <a:srgbClr val="9966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23412" name="Rectangle 116"/>
          <p:cNvSpPr>
            <a:spLocks noChangeArrowheads="1"/>
          </p:cNvSpPr>
          <p:nvPr/>
        </p:nvSpPr>
        <p:spPr bwMode="auto">
          <a:xfrm>
            <a:off x="4572000" y="3789363"/>
            <a:ext cx="3600450" cy="3841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l"/>
            <a:r>
              <a:rPr lang="en-US" sz="2800" b="1" i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b="1" i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8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+1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8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8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800" b="1" i="1" baseline="-250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8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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en-US" sz="2000" b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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23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823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4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234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4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234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4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234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4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234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4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234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4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234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4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234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40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2340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23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823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23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23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823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823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823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823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823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823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3402" grpId="0" animBg="1"/>
      <p:bldP spid="823403" grpId="0" animBg="1"/>
      <p:bldP spid="823404" grpId="0" animBg="1"/>
      <p:bldP spid="823405" grpId="0" animBg="1"/>
      <p:bldP spid="823406" grpId="0" animBg="1"/>
      <p:bldP spid="823407" grpId="0" animBg="1"/>
      <p:bldP spid="823408" grpId="0"/>
      <p:bldP spid="823409" grpId="0"/>
      <p:bldP spid="823410" grpId="0"/>
      <p:bldP spid="823411" grpId="0"/>
      <p:bldP spid="82341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i="1" dirty="0" smtClean="0">
                <a:solidFill>
                  <a:srgbClr val="009900"/>
                </a:solidFill>
              </a:rPr>
              <a:t>Example</a:t>
            </a:r>
            <a:r>
              <a:rPr lang="en-US" dirty="0" smtClean="0"/>
              <a:t>:</a:t>
            </a:r>
          </a:p>
          <a:p>
            <a:endParaRPr lang="en-AU" dirty="0"/>
          </a:p>
        </p:txBody>
      </p:sp>
      <p:sp>
        <p:nvSpPr>
          <p:cNvPr id="8253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Analysis of Clocked Sequential </a:t>
            </a:r>
            <a:r>
              <a:rPr lang="en-US" dirty="0" smtClean="0"/>
              <a:t>Circuits: </a:t>
            </a:r>
            <a:r>
              <a:rPr lang="en-US" i="1" dirty="0" smtClean="0"/>
              <a:t>JK</a:t>
            </a:r>
            <a:r>
              <a:rPr lang="en-US" dirty="0" smtClean="0"/>
              <a:t> Flip-Flops</a:t>
            </a:r>
            <a:endParaRPr lang="en-US" dirty="0"/>
          </a:p>
        </p:txBody>
      </p:sp>
      <p:graphicFrame>
        <p:nvGraphicFramePr>
          <p:cNvPr id="825348" name="Object 4"/>
          <p:cNvGraphicFramePr>
            <a:graphicFrameLocks noChangeAspect="1"/>
          </p:cNvGraphicFramePr>
          <p:nvPr/>
        </p:nvGraphicFramePr>
        <p:xfrm>
          <a:off x="5043488" y="1130300"/>
          <a:ext cx="3849687" cy="2659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822" name="Visio" r:id="rId4" imgW="2770266" imgH="1912437" progId="">
                  <p:embed/>
                </p:oleObj>
              </mc:Choice>
              <mc:Fallback>
                <p:oleObj name="Visio" r:id="rId4" imgW="2770266" imgH="1912437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3488" y="1130300"/>
                        <a:ext cx="3849687" cy="2659063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5349" name="Rectangle 5"/>
          <p:cNvSpPr>
            <a:spLocks noChangeArrowheads="1"/>
          </p:cNvSpPr>
          <p:nvPr/>
        </p:nvSpPr>
        <p:spPr bwMode="auto">
          <a:xfrm>
            <a:off x="5111750" y="3840163"/>
            <a:ext cx="3151188" cy="76676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sz="2400" b="1" i="1" baseline="-250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4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B		K</a:t>
            </a:r>
            <a:r>
              <a:rPr lang="en-US" sz="2400" b="1" i="1" baseline="-250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4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B x’</a:t>
            </a:r>
          </a:p>
          <a:p>
            <a:pPr algn="l">
              <a:lnSpc>
                <a:spcPct val="100000"/>
              </a:lnSpc>
              <a:spcBef>
                <a:spcPct val="10000"/>
              </a:spcBef>
            </a:pPr>
            <a:r>
              <a:rPr lang="en-US" sz="24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sz="2400" b="1" i="1" baseline="-250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B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4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x’		K</a:t>
            </a:r>
            <a:r>
              <a:rPr lang="en-US" sz="2400" b="1" i="1" baseline="-250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B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4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</a:t>
            </a:r>
            <a:r>
              <a:rPr lang="en-US" sz="24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x</a:t>
            </a:r>
          </a:p>
        </p:txBody>
      </p:sp>
      <p:sp>
        <p:nvSpPr>
          <p:cNvPr id="825350" name="Rectangle 6"/>
          <p:cNvSpPr>
            <a:spLocks noChangeArrowheads="1"/>
          </p:cNvSpPr>
          <p:nvPr/>
        </p:nvSpPr>
        <p:spPr bwMode="auto">
          <a:xfrm>
            <a:off x="4932363" y="4868863"/>
            <a:ext cx="3779837" cy="149701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 b="1" i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b="1" i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+1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sz="2400" b="1" i="1" baseline="-250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Q’</a:t>
            </a:r>
            <a:r>
              <a:rPr lang="en-US" sz="2400" b="1" i="1" baseline="-250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K’</a:t>
            </a:r>
            <a:r>
              <a:rPr lang="en-US" sz="2400" b="1" i="1" baseline="-250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400" b="1" i="1" baseline="-250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           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A’B 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AB’ 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Ax</a:t>
            </a:r>
          </a:p>
          <a:p>
            <a:pPr algn="l">
              <a:lnSpc>
                <a:spcPct val="100000"/>
              </a:lnSpc>
              <a:spcBef>
                <a:spcPct val="10000"/>
              </a:spcBef>
            </a:pPr>
            <a:r>
              <a:rPr lang="en-US" sz="2400" b="1" i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b="1" i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+1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sz="2400" b="1" i="1" baseline="-250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B </a:t>
            </a:r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Q’</a:t>
            </a:r>
            <a:r>
              <a:rPr lang="en-US" sz="2400" b="1" i="1" baseline="-250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B 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K’</a:t>
            </a:r>
            <a:r>
              <a:rPr lang="en-US" sz="2400" b="1" i="1" baseline="-250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B </a:t>
            </a:r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400" b="1" i="1" baseline="-250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B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           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B’x’ 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ABx 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A’Bx’</a:t>
            </a:r>
          </a:p>
        </p:txBody>
      </p:sp>
      <p:graphicFrame>
        <p:nvGraphicFramePr>
          <p:cNvPr id="825351" name="Group 7"/>
          <p:cNvGraphicFramePr>
            <a:graphicFrameLocks noGrp="1"/>
          </p:cNvGraphicFramePr>
          <p:nvPr/>
        </p:nvGraphicFramePr>
        <p:xfrm>
          <a:off x="431800" y="2349500"/>
          <a:ext cx="4140200" cy="4157664"/>
        </p:xfrm>
        <a:graphic>
          <a:graphicData uri="http://schemas.openxmlformats.org/drawingml/2006/table">
            <a:tbl>
              <a:tblPr/>
              <a:tblGrid>
                <a:gridCol w="460375"/>
                <a:gridCol w="458788"/>
                <a:gridCol w="460375"/>
                <a:gridCol w="460375"/>
                <a:gridCol w="460375"/>
                <a:gridCol w="460375"/>
                <a:gridCol w="460375"/>
                <a:gridCol w="458787"/>
                <a:gridCol w="460375"/>
              </a:tblGrid>
              <a:tr h="406400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Present State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I/P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Next State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Flip-Flop</a:t>
                      </a:r>
                      <a:b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Inputs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J</a:t>
                      </a:r>
                      <a:r>
                        <a:rPr kumimoji="0" lang="en-US" sz="2000" b="1" i="1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kumimoji="0" lang="en-US" sz="2000" b="1" i="1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J</a:t>
                      </a:r>
                      <a:r>
                        <a:rPr kumimoji="0" lang="en-US" sz="2000" b="1" i="1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kumimoji="0" lang="en-US" sz="2000" b="1" i="1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52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52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52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25457" name="Rectangle 113"/>
          <p:cNvSpPr>
            <a:spLocks noChangeArrowheads="1"/>
          </p:cNvSpPr>
          <p:nvPr/>
        </p:nvSpPr>
        <p:spPr bwMode="auto">
          <a:xfrm>
            <a:off x="2887663" y="3313113"/>
            <a:ext cx="1620837" cy="317500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0     0     1     0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0     0     0     1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1     1     1     0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1     0     0     1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0     0     1     1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0     0     0     0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1     1     1     1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1     0     0     0</a:t>
            </a:r>
          </a:p>
        </p:txBody>
      </p:sp>
      <p:sp>
        <p:nvSpPr>
          <p:cNvPr id="825458" name="Rectangle 114"/>
          <p:cNvSpPr>
            <a:spLocks noChangeArrowheads="1"/>
          </p:cNvSpPr>
          <p:nvPr/>
        </p:nvSpPr>
        <p:spPr bwMode="auto">
          <a:xfrm>
            <a:off x="1971675" y="3328988"/>
            <a:ext cx="792163" cy="317500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0     1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0     0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1     1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1     0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1     1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1     0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0     0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1     1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3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Analysis of Clocked Sequential </a:t>
            </a:r>
            <a:r>
              <a:rPr lang="en-US" dirty="0" smtClean="0"/>
              <a:t>Circuits: </a:t>
            </a:r>
            <a:r>
              <a:rPr lang="en-US" i="1" dirty="0" smtClean="0"/>
              <a:t>JK</a:t>
            </a:r>
            <a:r>
              <a:rPr lang="en-US" dirty="0" smtClean="0"/>
              <a:t> Flip-Flops</a:t>
            </a:r>
            <a:endParaRPr lang="en-US" dirty="0"/>
          </a:p>
        </p:txBody>
      </p:sp>
      <p:graphicFrame>
        <p:nvGraphicFramePr>
          <p:cNvPr id="827396" name="Object 4"/>
          <p:cNvGraphicFramePr>
            <a:graphicFrameLocks noChangeAspect="1"/>
          </p:cNvGraphicFramePr>
          <p:nvPr/>
        </p:nvGraphicFramePr>
        <p:xfrm>
          <a:off x="5043488" y="1038225"/>
          <a:ext cx="3849687" cy="2659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846" name="Visio" r:id="rId4" imgW="2770266" imgH="1912437" progId="">
                  <p:embed/>
                </p:oleObj>
              </mc:Choice>
              <mc:Fallback>
                <p:oleObj name="Visio" r:id="rId4" imgW="2770266" imgH="1912437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3488" y="1038225"/>
                        <a:ext cx="3849687" cy="2659063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7397" name="Group 5"/>
          <p:cNvGraphicFramePr>
            <a:graphicFrameLocks noGrp="1"/>
          </p:cNvGraphicFramePr>
          <p:nvPr/>
        </p:nvGraphicFramePr>
        <p:xfrm>
          <a:off x="431800" y="2349500"/>
          <a:ext cx="4140200" cy="4157664"/>
        </p:xfrm>
        <a:graphic>
          <a:graphicData uri="http://schemas.openxmlformats.org/drawingml/2006/table">
            <a:tbl>
              <a:tblPr/>
              <a:tblGrid>
                <a:gridCol w="460375"/>
                <a:gridCol w="458788"/>
                <a:gridCol w="460375"/>
                <a:gridCol w="460375"/>
                <a:gridCol w="460375"/>
                <a:gridCol w="460375"/>
                <a:gridCol w="460375"/>
                <a:gridCol w="458787"/>
                <a:gridCol w="460375"/>
              </a:tblGrid>
              <a:tr h="406400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Present State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I/P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Next State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Flip-Flop</a:t>
                      </a:r>
                      <a:b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Inputs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J</a:t>
                      </a:r>
                      <a:r>
                        <a:rPr kumimoji="0" lang="en-US" sz="2000" b="1" i="1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kumimoji="0" lang="en-US" sz="2000" b="1" i="1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J</a:t>
                      </a:r>
                      <a:r>
                        <a:rPr kumimoji="0" lang="en-US" sz="2000" b="1" i="1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kumimoji="0" lang="en-US" sz="2000" b="1" i="1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52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52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52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27503" name="Rectangle 111"/>
          <p:cNvSpPr>
            <a:spLocks noChangeArrowheads="1"/>
          </p:cNvSpPr>
          <p:nvPr/>
        </p:nvSpPr>
        <p:spPr bwMode="auto">
          <a:xfrm>
            <a:off x="2887663" y="3313113"/>
            <a:ext cx="1620837" cy="317500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0     0     1     0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0     0     0     1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1     1     1     0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1     0     0     1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0     0     1     1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0     0     0     0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1     1     1     1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1     0     0     0</a:t>
            </a:r>
          </a:p>
        </p:txBody>
      </p:sp>
      <p:sp>
        <p:nvSpPr>
          <p:cNvPr id="827504" name="Rectangle 112"/>
          <p:cNvSpPr>
            <a:spLocks noChangeArrowheads="1"/>
          </p:cNvSpPr>
          <p:nvPr/>
        </p:nvSpPr>
        <p:spPr bwMode="auto">
          <a:xfrm>
            <a:off x="1971675" y="3328988"/>
            <a:ext cx="792163" cy="317500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0     1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0     0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1     1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1     0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1     1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1     0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0     0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1     1</a:t>
            </a:r>
          </a:p>
        </p:txBody>
      </p:sp>
      <p:sp>
        <p:nvSpPr>
          <p:cNvPr id="827505" name="Oval 113"/>
          <p:cNvSpPr>
            <a:spLocks noChangeAspect="1" noChangeArrowheads="1"/>
          </p:cNvSpPr>
          <p:nvPr/>
        </p:nvSpPr>
        <p:spPr bwMode="auto">
          <a:xfrm>
            <a:off x="5653088" y="4040188"/>
            <a:ext cx="539750" cy="539750"/>
          </a:xfrm>
          <a:prstGeom prst="ellips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r>
              <a:rPr lang="en-US" sz="20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0 0</a:t>
            </a:r>
          </a:p>
        </p:txBody>
      </p:sp>
      <p:sp>
        <p:nvSpPr>
          <p:cNvPr id="827506" name="Freeform 114"/>
          <p:cNvSpPr>
            <a:spLocks/>
          </p:cNvSpPr>
          <p:nvPr/>
        </p:nvSpPr>
        <p:spPr bwMode="auto">
          <a:xfrm rot="-2244927">
            <a:off x="5375275" y="3602038"/>
            <a:ext cx="439738" cy="601662"/>
          </a:xfrm>
          <a:custGeom>
            <a:avLst/>
            <a:gdLst/>
            <a:ahLst/>
            <a:cxnLst>
              <a:cxn ang="0">
                <a:pos x="30" y="369"/>
              </a:cxn>
              <a:cxn ang="0">
                <a:pos x="2" y="124"/>
              </a:cxn>
              <a:cxn ang="0">
                <a:pos x="44" y="38"/>
              </a:cxn>
              <a:cxn ang="0">
                <a:pos x="142" y="0"/>
              </a:cxn>
              <a:cxn ang="0">
                <a:pos x="236" y="36"/>
              </a:cxn>
              <a:cxn ang="0">
                <a:pos x="274" y="126"/>
              </a:cxn>
              <a:cxn ang="0">
                <a:pos x="255" y="379"/>
              </a:cxn>
            </a:cxnLst>
            <a:rect l="0" t="0" r="r" b="b"/>
            <a:pathLst>
              <a:path w="277" h="379">
                <a:moveTo>
                  <a:pt x="30" y="369"/>
                </a:moveTo>
                <a:cubicBezTo>
                  <a:pt x="25" y="328"/>
                  <a:pt x="0" y="179"/>
                  <a:pt x="2" y="124"/>
                </a:cubicBezTo>
                <a:cubicBezTo>
                  <a:pt x="4" y="69"/>
                  <a:pt x="21" y="59"/>
                  <a:pt x="44" y="38"/>
                </a:cubicBezTo>
                <a:cubicBezTo>
                  <a:pt x="67" y="17"/>
                  <a:pt x="110" y="0"/>
                  <a:pt x="142" y="0"/>
                </a:cubicBezTo>
                <a:cubicBezTo>
                  <a:pt x="174" y="0"/>
                  <a:pt x="214" y="15"/>
                  <a:pt x="236" y="36"/>
                </a:cubicBezTo>
                <a:cubicBezTo>
                  <a:pt x="258" y="57"/>
                  <a:pt x="271" y="69"/>
                  <a:pt x="274" y="126"/>
                </a:cubicBezTo>
                <a:cubicBezTo>
                  <a:pt x="277" y="183"/>
                  <a:pt x="259" y="326"/>
                  <a:pt x="255" y="379"/>
                </a:cubicBezTo>
              </a:path>
            </a:pathLst>
          </a:custGeom>
          <a:noFill/>
          <a:ln w="38100" cap="flat" cmpd="sng">
            <a:solidFill>
              <a:srgbClr val="0099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827507" name="Oval 115"/>
          <p:cNvSpPr>
            <a:spLocks noChangeAspect="1" noChangeArrowheads="1"/>
          </p:cNvSpPr>
          <p:nvPr/>
        </p:nvSpPr>
        <p:spPr bwMode="auto">
          <a:xfrm>
            <a:off x="7272338" y="4000500"/>
            <a:ext cx="539750" cy="539750"/>
          </a:xfrm>
          <a:prstGeom prst="ellips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r>
              <a:rPr lang="en-US" sz="20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1 1</a:t>
            </a:r>
          </a:p>
        </p:txBody>
      </p:sp>
      <p:sp>
        <p:nvSpPr>
          <p:cNvPr id="827508" name="Freeform 116"/>
          <p:cNvSpPr>
            <a:spLocks/>
          </p:cNvSpPr>
          <p:nvPr/>
        </p:nvSpPr>
        <p:spPr bwMode="auto">
          <a:xfrm rot="2356128" flipH="1">
            <a:off x="7658100" y="3570288"/>
            <a:ext cx="439738" cy="601662"/>
          </a:xfrm>
          <a:custGeom>
            <a:avLst/>
            <a:gdLst/>
            <a:ahLst/>
            <a:cxnLst>
              <a:cxn ang="0">
                <a:pos x="30" y="369"/>
              </a:cxn>
              <a:cxn ang="0">
                <a:pos x="2" y="124"/>
              </a:cxn>
              <a:cxn ang="0">
                <a:pos x="44" y="38"/>
              </a:cxn>
              <a:cxn ang="0">
                <a:pos x="142" y="0"/>
              </a:cxn>
              <a:cxn ang="0">
                <a:pos x="236" y="36"/>
              </a:cxn>
              <a:cxn ang="0">
                <a:pos x="274" y="126"/>
              </a:cxn>
              <a:cxn ang="0">
                <a:pos x="255" y="379"/>
              </a:cxn>
            </a:cxnLst>
            <a:rect l="0" t="0" r="r" b="b"/>
            <a:pathLst>
              <a:path w="277" h="379">
                <a:moveTo>
                  <a:pt x="30" y="369"/>
                </a:moveTo>
                <a:cubicBezTo>
                  <a:pt x="25" y="328"/>
                  <a:pt x="0" y="179"/>
                  <a:pt x="2" y="124"/>
                </a:cubicBezTo>
                <a:cubicBezTo>
                  <a:pt x="4" y="69"/>
                  <a:pt x="21" y="59"/>
                  <a:pt x="44" y="38"/>
                </a:cubicBezTo>
                <a:cubicBezTo>
                  <a:pt x="67" y="17"/>
                  <a:pt x="110" y="0"/>
                  <a:pt x="142" y="0"/>
                </a:cubicBezTo>
                <a:cubicBezTo>
                  <a:pt x="174" y="0"/>
                  <a:pt x="214" y="15"/>
                  <a:pt x="236" y="36"/>
                </a:cubicBezTo>
                <a:cubicBezTo>
                  <a:pt x="258" y="57"/>
                  <a:pt x="271" y="69"/>
                  <a:pt x="274" y="126"/>
                </a:cubicBezTo>
                <a:cubicBezTo>
                  <a:pt x="277" y="183"/>
                  <a:pt x="259" y="326"/>
                  <a:pt x="255" y="379"/>
                </a:cubicBezTo>
              </a:path>
            </a:pathLst>
          </a:custGeom>
          <a:noFill/>
          <a:ln w="38100" cap="flat" cmpd="sng">
            <a:solidFill>
              <a:srgbClr val="0099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827509" name="Freeform 117"/>
          <p:cNvSpPr>
            <a:spLocks/>
          </p:cNvSpPr>
          <p:nvPr/>
        </p:nvSpPr>
        <p:spPr bwMode="auto">
          <a:xfrm flipH="1">
            <a:off x="6192838" y="4040188"/>
            <a:ext cx="1079500" cy="179387"/>
          </a:xfrm>
          <a:custGeom>
            <a:avLst/>
            <a:gdLst/>
            <a:ahLst/>
            <a:cxnLst>
              <a:cxn ang="0">
                <a:pos x="0" y="113"/>
              </a:cxn>
              <a:cxn ang="0">
                <a:pos x="454" y="0"/>
              </a:cxn>
              <a:cxn ang="0">
                <a:pos x="907" y="113"/>
              </a:cxn>
            </a:cxnLst>
            <a:rect l="0" t="0" r="r" b="b"/>
            <a:pathLst>
              <a:path w="907" h="113">
                <a:moveTo>
                  <a:pt x="0" y="113"/>
                </a:moveTo>
                <a:cubicBezTo>
                  <a:pt x="151" y="56"/>
                  <a:pt x="303" y="0"/>
                  <a:pt x="454" y="0"/>
                </a:cubicBezTo>
                <a:cubicBezTo>
                  <a:pt x="605" y="0"/>
                  <a:pt x="832" y="75"/>
                  <a:pt x="907" y="113"/>
                </a:cubicBez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827510" name="Oval 118"/>
          <p:cNvSpPr>
            <a:spLocks noChangeAspect="1" noChangeArrowheads="1"/>
          </p:cNvSpPr>
          <p:nvPr/>
        </p:nvSpPr>
        <p:spPr bwMode="auto">
          <a:xfrm>
            <a:off x="5651500" y="5621338"/>
            <a:ext cx="539750" cy="539750"/>
          </a:xfrm>
          <a:prstGeom prst="ellips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r>
              <a:rPr lang="en-US" sz="20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0 1</a:t>
            </a:r>
          </a:p>
        </p:txBody>
      </p:sp>
      <p:sp>
        <p:nvSpPr>
          <p:cNvPr id="827511" name="Freeform 119"/>
          <p:cNvSpPr>
            <a:spLocks/>
          </p:cNvSpPr>
          <p:nvPr/>
        </p:nvSpPr>
        <p:spPr bwMode="auto">
          <a:xfrm rot="16200000" flipH="1">
            <a:off x="5222875" y="5011738"/>
            <a:ext cx="1039813" cy="179387"/>
          </a:xfrm>
          <a:custGeom>
            <a:avLst/>
            <a:gdLst/>
            <a:ahLst/>
            <a:cxnLst>
              <a:cxn ang="0">
                <a:pos x="0" y="113"/>
              </a:cxn>
              <a:cxn ang="0">
                <a:pos x="454" y="0"/>
              </a:cxn>
              <a:cxn ang="0">
                <a:pos x="907" y="113"/>
              </a:cxn>
            </a:cxnLst>
            <a:rect l="0" t="0" r="r" b="b"/>
            <a:pathLst>
              <a:path w="907" h="113">
                <a:moveTo>
                  <a:pt x="0" y="113"/>
                </a:moveTo>
                <a:cubicBezTo>
                  <a:pt x="151" y="56"/>
                  <a:pt x="303" y="0"/>
                  <a:pt x="454" y="0"/>
                </a:cubicBezTo>
                <a:cubicBezTo>
                  <a:pt x="605" y="0"/>
                  <a:pt x="832" y="75"/>
                  <a:pt x="907" y="113"/>
                </a:cubicBez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827512" name="Oval 120"/>
          <p:cNvSpPr>
            <a:spLocks noChangeAspect="1" noChangeArrowheads="1"/>
          </p:cNvSpPr>
          <p:nvPr/>
        </p:nvSpPr>
        <p:spPr bwMode="auto">
          <a:xfrm>
            <a:off x="7272338" y="5621338"/>
            <a:ext cx="539750" cy="539750"/>
          </a:xfrm>
          <a:prstGeom prst="ellips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r>
              <a:rPr lang="en-US" sz="20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1 0</a:t>
            </a:r>
          </a:p>
        </p:txBody>
      </p:sp>
      <p:sp>
        <p:nvSpPr>
          <p:cNvPr id="827513" name="Freeform 121"/>
          <p:cNvSpPr>
            <a:spLocks/>
          </p:cNvSpPr>
          <p:nvPr/>
        </p:nvSpPr>
        <p:spPr bwMode="auto">
          <a:xfrm rot="16200000" flipV="1">
            <a:off x="7181850" y="4991100"/>
            <a:ext cx="1081088" cy="179388"/>
          </a:xfrm>
          <a:custGeom>
            <a:avLst/>
            <a:gdLst/>
            <a:ahLst/>
            <a:cxnLst>
              <a:cxn ang="0">
                <a:pos x="0" y="113"/>
              </a:cxn>
              <a:cxn ang="0">
                <a:pos x="454" y="0"/>
              </a:cxn>
              <a:cxn ang="0">
                <a:pos x="907" y="113"/>
              </a:cxn>
            </a:cxnLst>
            <a:rect l="0" t="0" r="r" b="b"/>
            <a:pathLst>
              <a:path w="907" h="113">
                <a:moveTo>
                  <a:pt x="0" y="113"/>
                </a:moveTo>
                <a:cubicBezTo>
                  <a:pt x="151" y="56"/>
                  <a:pt x="303" y="0"/>
                  <a:pt x="454" y="0"/>
                </a:cubicBezTo>
                <a:cubicBezTo>
                  <a:pt x="605" y="0"/>
                  <a:pt x="832" y="75"/>
                  <a:pt x="907" y="113"/>
                </a:cubicBez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827514" name="Freeform 122"/>
          <p:cNvSpPr>
            <a:spLocks/>
          </p:cNvSpPr>
          <p:nvPr/>
        </p:nvSpPr>
        <p:spPr bwMode="auto">
          <a:xfrm rot="10800000" flipH="1">
            <a:off x="6192838" y="5981700"/>
            <a:ext cx="1079500" cy="179388"/>
          </a:xfrm>
          <a:custGeom>
            <a:avLst/>
            <a:gdLst/>
            <a:ahLst/>
            <a:cxnLst>
              <a:cxn ang="0">
                <a:pos x="0" y="113"/>
              </a:cxn>
              <a:cxn ang="0">
                <a:pos x="454" y="0"/>
              </a:cxn>
              <a:cxn ang="0">
                <a:pos x="907" y="113"/>
              </a:cxn>
            </a:cxnLst>
            <a:rect l="0" t="0" r="r" b="b"/>
            <a:pathLst>
              <a:path w="907" h="113">
                <a:moveTo>
                  <a:pt x="0" y="113"/>
                </a:moveTo>
                <a:cubicBezTo>
                  <a:pt x="151" y="56"/>
                  <a:pt x="303" y="0"/>
                  <a:pt x="454" y="0"/>
                </a:cubicBezTo>
                <a:cubicBezTo>
                  <a:pt x="605" y="0"/>
                  <a:pt x="832" y="75"/>
                  <a:pt x="907" y="113"/>
                </a:cubicBez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827515" name="Line 123"/>
          <p:cNvSpPr>
            <a:spLocks noChangeShapeType="1"/>
          </p:cNvSpPr>
          <p:nvPr/>
        </p:nvSpPr>
        <p:spPr bwMode="auto">
          <a:xfrm flipV="1">
            <a:off x="6192838" y="4540250"/>
            <a:ext cx="1258887" cy="1260475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827516" name="Rectangle 124"/>
          <p:cNvSpPr>
            <a:spLocks noChangeArrowheads="1"/>
          </p:cNvSpPr>
          <p:nvPr/>
        </p:nvSpPr>
        <p:spPr bwMode="auto">
          <a:xfrm>
            <a:off x="4932363" y="3640138"/>
            <a:ext cx="360362" cy="32861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sz="2400" b="1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>
              <a:solidFill>
                <a:srgbClr val="9966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27517" name="Rectangle 125"/>
          <p:cNvSpPr>
            <a:spLocks noChangeArrowheads="1"/>
          </p:cNvSpPr>
          <p:nvPr/>
        </p:nvSpPr>
        <p:spPr bwMode="auto">
          <a:xfrm>
            <a:off x="6551613" y="3640138"/>
            <a:ext cx="360362" cy="32861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sz="2400" b="1">
                <a:latin typeface="Times New Roman" pitchFamily="18" charset="0"/>
                <a:cs typeface="Times New Roman" pitchFamily="18" charset="0"/>
              </a:rPr>
              <a:t>0</a:t>
            </a:r>
            <a:endParaRPr lang="en-US" sz="2400" b="1">
              <a:solidFill>
                <a:srgbClr val="9966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27518" name="Rectangle 126"/>
          <p:cNvSpPr>
            <a:spLocks noChangeArrowheads="1"/>
          </p:cNvSpPr>
          <p:nvPr/>
        </p:nvSpPr>
        <p:spPr bwMode="auto">
          <a:xfrm>
            <a:off x="8172450" y="3640138"/>
            <a:ext cx="360363" cy="32861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sz="2400" b="1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>
              <a:solidFill>
                <a:srgbClr val="9966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27519" name="Rectangle 127"/>
          <p:cNvSpPr>
            <a:spLocks noChangeArrowheads="1"/>
          </p:cNvSpPr>
          <p:nvPr/>
        </p:nvSpPr>
        <p:spPr bwMode="auto">
          <a:xfrm>
            <a:off x="7812088" y="4900613"/>
            <a:ext cx="360362" cy="32861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sz="2400" b="1">
                <a:latin typeface="Times New Roman" pitchFamily="18" charset="0"/>
                <a:cs typeface="Times New Roman" pitchFamily="18" charset="0"/>
              </a:rPr>
              <a:t>0</a:t>
            </a:r>
            <a:endParaRPr lang="en-US" sz="2400" b="1">
              <a:solidFill>
                <a:srgbClr val="9966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27520" name="Rectangle 128"/>
          <p:cNvSpPr>
            <a:spLocks noChangeArrowheads="1"/>
          </p:cNvSpPr>
          <p:nvPr/>
        </p:nvSpPr>
        <p:spPr bwMode="auto">
          <a:xfrm>
            <a:off x="6551613" y="6161088"/>
            <a:ext cx="358775" cy="32861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sz="2400" b="1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>
              <a:solidFill>
                <a:srgbClr val="9966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27521" name="Rectangle 129"/>
          <p:cNvSpPr>
            <a:spLocks noChangeArrowheads="1"/>
          </p:cNvSpPr>
          <p:nvPr/>
        </p:nvSpPr>
        <p:spPr bwMode="auto">
          <a:xfrm>
            <a:off x="5292725" y="4900613"/>
            <a:ext cx="358775" cy="32861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sz="2400" b="1">
                <a:latin typeface="Times New Roman" pitchFamily="18" charset="0"/>
                <a:cs typeface="Times New Roman" pitchFamily="18" charset="0"/>
              </a:rPr>
              <a:t>0</a:t>
            </a:r>
            <a:endParaRPr lang="en-US" sz="2400" b="1">
              <a:solidFill>
                <a:srgbClr val="9966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27522" name="Rectangle 130"/>
          <p:cNvSpPr>
            <a:spLocks noChangeArrowheads="1"/>
          </p:cNvSpPr>
          <p:nvPr/>
        </p:nvSpPr>
        <p:spPr bwMode="auto">
          <a:xfrm>
            <a:off x="6551613" y="4721225"/>
            <a:ext cx="358775" cy="32861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sz="2400" b="1">
                <a:latin typeface="Times New Roman" pitchFamily="18" charset="0"/>
                <a:cs typeface="Times New Roman" pitchFamily="18" charset="0"/>
              </a:rPr>
              <a:t>0</a:t>
            </a:r>
            <a:endParaRPr lang="en-US" sz="2400" b="1">
              <a:solidFill>
                <a:srgbClr val="9966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27523" name="Freeform 131"/>
          <p:cNvSpPr>
            <a:spLocks/>
          </p:cNvSpPr>
          <p:nvPr/>
        </p:nvSpPr>
        <p:spPr bwMode="auto">
          <a:xfrm rot="8007457" flipH="1">
            <a:off x="7707313" y="5951537"/>
            <a:ext cx="439738" cy="601663"/>
          </a:xfrm>
          <a:custGeom>
            <a:avLst/>
            <a:gdLst/>
            <a:ahLst/>
            <a:cxnLst>
              <a:cxn ang="0">
                <a:pos x="30" y="369"/>
              </a:cxn>
              <a:cxn ang="0">
                <a:pos x="2" y="124"/>
              </a:cxn>
              <a:cxn ang="0">
                <a:pos x="44" y="38"/>
              </a:cxn>
              <a:cxn ang="0">
                <a:pos x="142" y="0"/>
              </a:cxn>
              <a:cxn ang="0">
                <a:pos x="236" y="36"/>
              </a:cxn>
              <a:cxn ang="0">
                <a:pos x="274" y="126"/>
              </a:cxn>
              <a:cxn ang="0">
                <a:pos x="255" y="379"/>
              </a:cxn>
            </a:cxnLst>
            <a:rect l="0" t="0" r="r" b="b"/>
            <a:pathLst>
              <a:path w="277" h="379">
                <a:moveTo>
                  <a:pt x="30" y="369"/>
                </a:moveTo>
                <a:cubicBezTo>
                  <a:pt x="25" y="328"/>
                  <a:pt x="0" y="179"/>
                  <a:pt x="2" y="124"/>
                </a:cubicBezTo>
                <a:cubicBezTo>
                  <a:pt x="4" y="69"/>
                  <a:pt x="21" y="59"/>
                  <a:pt x="44" y="38"/>
                </a:cubicBezTo>
                <a:cubicBezTo>
                  <a:pt x="67" y="17"/>
                  <a:pt x="110" y="0"/>
                  <a:pt x="142" y="0"/>
                </a:cubicBezTo>
                <a:cubicBezTo>
                  <a:pt x="174" y="0"/>
                  <a:pt x="214" y="15"/>
                  <a:pt x="236" y="36"/>
                </a:cubicBezTo>
                <a:cubicBezTo>
                  <a:pt x="258" y="57"/>
                  <a:pt x="271" y="69"/>
                  <a:pt x="274" y="126"/>
                </a:cubicBezTo>
                <a:cubicBezTo>
                  <a:pt x="277" y="183"/>
                  <a:pt x="259" y="326"/>
                  <a:pt x="255" y="379"/>
                </a:cubicBezTo>
              </a:path>
            </a:pathLst>
          </a:custGeom>
          <a:noFill/>
          <a:ln w="38100" cap="flat" cmpd="sng">
            <a:solidFill>
              <a:srgbClr val="0099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827524" name="Rectangle 132"/>
          <p:cNvSpPr>
            <a:spLocks noChangeArrowheads="1"/>
          </p:cNvSpPr>
          <p:nvPr/>
        </p:nvSpPr>
        <p:spPr bwMode="auto">
          <a:xfrm>
            <a:off x="8172450" y="5981700"/>
            <a:ext cx="358775" cy="32861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sz="2400" b="1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>
              <a:solidFill>
                <a:srgbClr val="9966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Content Placeholder 29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i="1" dirty="0" smtClean="0">
                <a:solidFill>
                  <a:srgbClr val="009900"/>
                </a:solidFill>
              </a:rPr>
              <a:t>Example</a:t>
            </a:r>
            <a:r>
              <a:rPr lang="en-US" dirty="0" smtClean="0"/>
              <a:t>:</a:t>
            </a:r>
          </a:p>
          <a:p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i="1" dirty="0" smtClean="0">
                <a:solidFill>
                  <a:srgbClr val="009900"/>
                </a:solidFill>
              </a:rPr>
              <a:t>Example</a:t>
            </a:r>
            <a:r>
              <a:rPr lang="en-US" dirty="0" smtClean="0"/>
              <a:t>:</a:t>
            </a:r>
          </a:p>
          <a:p>
            <a:endParaRPr lang="en-AU" dirty="0"/>
          </a:p>
        </p:txBody>
      </p:sp>
      <p:sp>
        <p:nvSpPr>
          <p:cNvPr id="8294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Analysis of Clocked Sequential </a:t>
            </a:r>
            <a:r>
              <a:rPr lang="en-US" dirty="0" smtClean="0"/>
              <a:t>Circuits: </a:t>
            </a:r>
            <a:r>
              <a:rPr lang="en-US" i="1" dirty="0" smtClean="0"/>
              <a:t>T</a:t>
            </a:r>
            <a:r>
              <a:rPr lang="en-US" dirty="0" smtClean="0"/>
              <a:t> Flip-Flops</a:t>
            </a:r>
            <a:endParaRPr lang="en-US" dirty="0"/>
          </a:p>
        </p:txBody>
      </p:sp>
      <p:sp>
        <p:nvSpPr>
          <p:cNvPr id="829444" name="Rectangle 4"/>
          <p:cNvSpPr>
            <a:spLocks noChangeArrowheads="1"/>
          </p:cNvSpPr>
          <p:nvPr/>
        </p:nvSpPr>
        <p:spPr bwMode="auto">
          <a:xfrm>
            <a:off x="5472113" y="4329113"/>
            <a:ext cx="2601912" cy="7302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b="1" i="1" baseline="-250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4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B x	T</a:t>
            </a:r>
            <a:r>
              <a:rPr lang="en-US" sz="2400" b="1" i="1" baseline="-250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B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4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x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y </a:t>
            </a:r>
            <a:r>
              <a:rPr lang="en-US" sz="2400" b="1" i="1" baseline="-250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4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A B</a:t>
            </a:r>
          </a:p>
        </p:txBody>
      </p:sp>
      <p:sp>
        <p:nvSpPr>
          <p:cNvPr id="829445" name="Rectangle 5"/>
          <p:cNvSpPr>
            <a:spLocks noChangeArrowheads="1"/>
          </p:cNvSpPr>
          <p:nvPr/>
        </p:nvSpPr>
        <p:spPr bwMode="auto">
          <a:xfrm>
            <a:off x="4932363" y="5172075"/>
            <a:ext cx="3779837" cy="149701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 b="1" i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b="1" i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+1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4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400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b="1" i="1" baseline="-250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Q’</a:t>
            </a:r>
            <a:r>
              <a:rPr lang="en-US" sz="2400" b="1" i="1" baseline="-250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4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T’</a:t>
            </a:r>
            <a:r>
              <a:rPr lang="en-US" sz="2400" b="1" i="1" baseline="-250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400" b="1" i="1" baseline="-250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          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4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AB’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4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Ax’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4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 err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A’Bx</a:t>
            </a:r>
            <a:endParaRPr lang="en-US" sz="2400" b="1" i="1" dirty="0">
              <a:solidFill>
                <a:schemeClr val="accent2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00000"/>
              </a:lnSpc>
              <a:spcBef>
                <a:spcPct val="10000"/>
              </a:spcBef>
            </a:pPr>
            <a:r>
              <a:rPr lang="en-US" sz="2400" b="1" i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b="1" i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+1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4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400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b="1" i="1" baseline="-250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B </a:t>
            </a:r>
            <a:r>
              <a:rPr lang="en-US" sz="24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Q’</a:t>
            </a:r>
            <a:r>
              <a:rPr lang="en-US" sz="2400" b="1" i="1" baseline="-250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B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4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T’</a:t>
            </a:r>
            <a:r>
              <a:rPr lang="en-US" sz="2400" b="1" i="1" baseline="-250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B </a:t>
            </a:r>
            <a:r>
              <a:rPr lang="en-US" sz="24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400" b="1" i="1" baseline="-250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B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          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4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x </a:t>
            </a:r>
            <a:r>
              <a:rPr lang="en-US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</a:t>
            </a:r>
            <a:r>
              <a:rPr lang="en-US" sz="24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B</a:t>
            </a:r>
          </a:p>
        </p:txBody>
      </p:sp>
      <p:graphicFrame>
        <p:nvGraphicFramePr>
          <p:cNvPr id="829446" name="Object 6"/>
          <p:cNvGraphicFramePr>
            <a:graphicFrameLocks noChangeAspect="1"/>
          </p:cNvGraphicFramePr>
          <p:nvPr/>
        </p:nvGraphicFramePr>
        <p:xfrm>
          <a:off x="4751388" y="1025525"/>
          <a:ext cx="4117975" cy="317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870" name="Visio" r:id="rId4" imgW="2856829" imgH="2206996" progId="">
                  <p:embed/>
                </p:oleObj>
              </mc:Choice>
              <mc:Fallback>
                <p:oleObj name="Visio" r:id="rId4" imgW="2856829" imgH="2206996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1388" y="1025525"/>
                        <a:ext cx="4117975" cy="3179763"/>
                      </a:xfrm>
                      <a:prstGeom prst="rect">
                        <a:avLst/>
                      </a:prstGeom>
                      <a:solidFill>
                        <a:srgbClr val="66FF33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447" name="Group 7"/>
          <p:cNvGraphicFramePr>
            <a:graphicFrameLocks noGrp="1"/>
          </p:cNvGraphicFramePr>
          <p:nvPr/>
        </p:nvGraphicFramePr>
        <p:xfrm>
          <a:off x="431800" y="2349500"/>
          <a:ext cx="3779838" cy="4157664"/>
        </p:xfrm>
        <a:graphic>
          <a:graphicData uri="http://schemas.openxmlformats.org/drawingml/2006/table">
            <a:tbl>
              <a:tblPr/>
              <a:tblGrid>
                <a:gridCol w="460375"/>
                <a:gridCol w="458788"/>
                <a:gridCol w="460375"/>
                <a:gridCol w="460375"/>
                <a:gridCol w="460375"/>
                <a:gridCol w="460375"/>
                <a:gridCol w="460375"/>
                <a:gridCol w="558800"/>
              </a:tblGrid>
              <a:tr h="406400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Present State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I/P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Next State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F.F</a:t>
                      </a:r>
                      <a:b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Inputs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O/P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r>
                        <a:rPr kumimoji="0" lang="en-US" sz="2000" b="1" i="1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r>
                        <a:rPr kumimoji="0" lang="en-US" sz="2000" b="1" i="1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endParaRPr kumimoji="0" lang="en-US" sz="2000" b="1" i="1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52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52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52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29547" name="Rectangle 107"/>
          <p:cNvSpPr>
            <a:spLocks noChangeArrowheads="1"/>
          </p:cNvSpPr>
          <p:nvPr/>
        </p:nvSpPr>
        <p:spPr bwMode="auto">
          <a:xfrm>
            <a:off x="2887663" y="3313113"/>
            <a:ext cx="784225" cy="317500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0     0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0     1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0     0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1     1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0     0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0     1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0     0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1     1</a:t>
            </a:r>
          </a:p>
        </p:txBody>
      </p:sp>
      <p:sp>
        <p:nvSpPr>
          <p:cNvPr id="829548" name="Rectangle 108"/>
          <p:cNvSpPr>
            <a:spLocks noChangeArrowheads="1"/>
          </p:cNvSpPr>
          <p:nvPr/>
        </p:nvSpPr>
        <p:spPr bwMode="auto">
          <a:xfrm>
            <a:off x="1971675" y="3328988"/>
            <a:ext cx="792163" cy="317500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0     0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0     1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0     1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1     0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1     0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1     1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1     1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0     0</a:t>
            </a:r>
          </a:p>
        </p:txBody>
      </p:sp>
      <p:sp>
        <p:nvSpPr>
          <p:cNvPr id="829549" name="Rectangle 109"/>
          <p:cNvSpPr>
            <a:spLocks noChangeArrowheads="1"/>
          </p:cNvSpPr>
          <p:nvPr/>
        </p:nvSpPr>
        <p:spPr bwMode="auto">
          <a:xfrm>
            <a:off x="3856038" y="3327400"/>
            <a:ext cx="252412" cy="317500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44" grpId="0"/>
      <p:bldP spid="829445" grpId="0"/>
      <p:bldP spid="829547" grpId="0"/>
      <p:bldP spid="829548" grpId="0"/>
      <p:bldP spid="829549" grpId="0"/>
      <p:bldP spid="829549" grpId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30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i="1" dirty="0" smtClean="0">
                <a:solidFill>
                  <a:srgbClr val="009900"/>
                </a:solidFill>
              </a:rPr>
              <a:t>Example</a:t>
            </a:r>
            <a:r>
              <a:rPr lang="en-US" dirty="0" smtClean="0"/>
              <a:t>:</a:t>
            </a:r>
          </a:p>
          <a:p>
            <a:endParaRPr lang="en-AU" dirty="0"/>
          </a:p>
        </p:txBody>
      </p:sp>
      <p:sp>
        <p:nvSpPr>
          <p:cNvPr id="8314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Analysis of Clocked Sequential </a:t>
            </a:r>
            <a:r>
              <a:rPr lang="en-US" dirty="0" smtClean="0"/>
              <a:t>Circuits: </a:t>
            </a:r>
            <a:r>
              <a:rPr lang="en-US" i="1" dirty="0" smtClean="0"/>
              <a:t>T</a:t>
            </a:r>
            <a:r>
              <a:rPr lang="en-US" dirty="0" smtClean="0"/>
              <a:t> Flip-Flops</a:t>
            </a:r>
            <a:endParaRPr lang="en-US" dirty="0"/>
          </a:p>
        </p:txBody>
      </p:sp>
      <p:graphicFrame>
        <p:nvGraphicFramePr>
          <p:cNvPr id="831492" name="Object 4"/>
          <p:cNvGraphicFramePr>
            <a:graphicFrameLocks noChangeAspect="1"/>
          </p:cNvGraphicFramePr>
          <p:nvPr/>
        </p:nvGraphicFramePr>
        <p:xfrm>
          <a:off x="4751388" y="1025525"/>
          <a:ext cx="4117975" cy="317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894" name="Visio" r:id="rId4" imgW="2856829" imgH="2206996" progId="">
                  <p:embed/>
                </p:oleObj>
              </mc:Choice>
              <mc:Fallback>
                <p:oleObj name="Visio" r:id="rId4" imgW="2856829" imgH="2206996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1388" y="1025525"/>
                        <a:ext cx="4117975" cy="3179763"/>
                      </a:xfrm>
                      <a:prstGeom prst="rect">
                        <a:avLst/>
                      </a:prstGeom>
                      <a:solidFill>
                        <a:srgbClr val="66FF33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1493" name="Group 5"/>
          <p:cNvGraphicFramePr>
            <a:graphicFrameLocks noGrp="1"/>
          </p:cNvGraphicFramePr>
          <p:nvPr/>
        </p:nvGraphicFramePr>
        <p:xfrm>
          <a:off x="431800" y="2349500"/>
          <a:ext cx="3779838" cy="4157664"/>
        </p:xfrm>
        <a:graphic>
          <a:graphicData uri="http://schemas.openxmlformats.org/drawingml/2006/table">
            <a:tbl>
              <a:tblPr/>
              <a:tblGrid>
                <a:gridCol w="460375"/>
                <a:gridCol w="458788"/>
                <a:gridCol w="460375"/>
                <a:gridCol w="460375"/>
                <a:gridCol w="460375"/>
                <a:gridCol w="460375"/>
                <a:gridCol w="460375"/>
                <a:gridCol w="558800"/>
              </a:tblGrid>
              <a:tr h="406400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Present State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I/P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Next State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F.F</a:t>
                      </a:r>
                      <a:b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Inputs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O/P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r>
                        <a:rPr kumimoji="0" lang="en-US" sz="2000" b="1" i="1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r>
                        <a:rPr kumimoji="0" lang="en-US" sz="2000" b="1" i="1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endParaRPr kumimoji="0" lang="en-US" sz="2000" b="1" i="1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52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52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52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31593" name="Rectangle 105"/>
          <p:cNvSpPr>
            <a:spLocks noChangeArrowheads="1"/>
          </p:cNvSpPr>
          <p:nvPr/>
        </p:nvSpPr>
        <p:spPr bwMode="auto">
          <a:xfrm>
            <a:off x="2887663" y="3313113"/>
            <a:ext cx="784225" cy="317500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0     0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0     1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0     0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1     1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0     0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0     1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0     0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1     1</a:t>
            </a:r>
          </a:p>
        </p:txBody>
      </p:sp>
      <p:sp>
        <p:nvSpPr>
          <p:cNvPr id="831594" name="Rectangle 106"/>
          <p:cNvSpPr>
            <a:spLocks noChangeArrowheads="1"/>
          </p:cNvSpPr>
          <p:nvPr/>
        </p:nvSpPr>
        <p:spPr bwMode="auto">
          <a:xfrm>
            <a:off x="1971675" y="3328988"/>
            <a:ext cx="792163" cy="317500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0     0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0     1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0     1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1     0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1     0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1     1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1     1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0     0</a:t>
            </a:r>
          </a:p>
        </p:txBody>
      </p:sp>
      <p:sp>
        <p:nvSpPr>
          <p:cNvPr id="831595" name="Rectangle 107"/>
          <p:cNvSpPr>
            <a:spLocks noChangeArrowheads="1"/>
          </p:cNvSpPr>
          <p:nvPr/>
        </p:nvSpPr>
        <p:spPr bwMode="auto">
          <a:xfrm>
            <a:off x="3856038" y="3327400"/>
            <a:ext cx="252412" cy="317500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2000" b="1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831596" name="Oval 108"/>
          <p:cNvSpPr>
            <a:spLocks noChangeAspect="1" noChangeArrowheads="1"/>
          </p:cNvSpPr>
          <p:nvPr/>
        </p:nvSpPr>
        <p:spPr bwMode="auto">
          <a:xfrm>
            <a:off x="5651500" y="4508500"/>
            <a:ext cx="539750" cy="539750"/>
          </a:xfrm>
          <a:prstGeom prst="ellips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r>
              <a:rPr lang="en-US" sz="1400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0 </a:t>
            </a:r>
            <a:r>
              <a:rPr lang="en-US" sz="1400" b="1" dirty="0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0/</a:t>
            </a:r>
            <a:r>
              <a:rPr lang="en-US" sz="1400" b="1" dirty="0" smtClean="0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en-US" sz="1400" b="1" dirty="0">
              <a:solidFill>
                <a:schemeClr val="accent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31597" name="Freeform 109"/>
          <p:cNvSpPr>
            <a:spLocks/>
          </p:cNvSpPr>
          <p:nvPr/>
        </p:nvSpPr>
        <p:spPr bwMode="auto">
          <a:xfrm rot="-2244927">
            <a:off x="5375275" y="4087813"/>
            <a:ext cx="439738" cy="601662"/>
          </a:xfrm>
          <a:custGeom>
            <a:avLst/>
            <a:gdLst/>
            <a:ahLst/>
            <a:cxnLst>
              <a:cxn ang="0">
                <a:pos x="30" y="369"/>
              </a:cxn>
              <a:cxn ang="0">
                <a:pos x="2" y="124"/>
              </a:cxn>
              <a:cxn ang="0">
                <a:pos x="44" y="38"/>
              </a:cxn>
              <a:cxn ang="0">
                <a:pos x="142" y="0"/>
              </a:cxn>
              <a:cxn ang="0">
                <a:pos x="236" y="36"/>
              </a:cxn>
              <a:cxn ang="0">
                <a:pos x="274" y="126"/>
              </a:cxn>
              <a:cxn ang="0">
                <a:pos x="255" y="379"/>
              </a:cxn>
            </a:cxnLst>
            <a:rect l="0" t="0" r="r" b="b"/>
            <a:pathLst>
              <a:path w="277" h="379">
                <a:moveTo>
                  <a:pt x="30" y="369"/>
                </a:moveTo>
                <a:cubicBezTo>
                  <a:pt x="25" y="328"/>
                  <a:pt x="0" y="179"/>
                  <a:pt x="2" y="124"/>
                </a:cubicBezTo>
                <a:cubicBezTo>
                  <a:pt x="4" y="69"/>
                  <a:pt x="21" y="59"/>
                  <a:pt x="44" y="38"/>
                </a:cubicBezTo>
                <a:cubicBezTo>
                  <a:pt x="67" y="17"/>
                  <a:pt x="110" y="0"/>
                  <a:pt x="142" y="0"/>
                </a:cubicBezTo>
                <a:cubicBezTo>
                  <a:pt x="174" y="0"/>
                  <a:pt x="214" y="15"/>
                  <a:pt x="236" y="36"/>
                </a:cubicBezTo>
                <a:cubicBezTo>
                  <a:pt x="258" y="57"/>
                  <a:pt x="271" y="69"/>
                  <a:pt x="274" y="126"/>
                </a:cubicBezTo>
                <a:cubicBezTo>
                  <a:pt x="277" y="183"/>
                  <a:pt x="259" y="326"/>
                  <a:pt x="255" y="379"/>
                </a:cubicBezTo>
              </a:path>
            </a:pathLst>
          </a:custGeom>
          <a:noFill/>
          <a:ln w="38100" cap="flat" cmpd="sng">
            <a:solidFill>
              <a:srgbClr val="0099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831598" name="Oval 110"/>
          <p:cNvSpPr>
            <a:spLocks noChangeAspect="1" noChangeArrowheads="1"/>
          </p:cNvSpPr>
          <p:nvPr/>
        </p:nvSpPr>
        <p:spPr bwMode="auto">
          <a:xfrm>
            <a:off x="7272338" y="4508500"/>
            <a:ext cx="539750" cy="539750"/>
          </a:xfrm>
          <a:prstGeom prst="ellips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r>
              <a:rPr lang="en-US" sz="1400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0 </a:t>
            </a:r>
            <a:r>
              <a:rPr lang="en-US" sz="1400" b="1" dirty="0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1/</a:t>
            </a:r>
            <a:r>
              <a:rPr lang="en-US" sz="1400" b="1" dirty="0" smtClean="0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en-US" sz="1400" b="1" dirty="0">
              <a:solidFill>
                <a:schemeClr val="accent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31599" name="Freeform 111"/>
          <p:cNvSpPr>
            <a:spLocks/>
          </p:cNvSpPr>
          <p:nvPr/>
        </p:nvSpPr>
        <p:spPr bwMode="auto">
          <a:xfrm rot="2356128" flipH="1">
            <a:off x="7653338" y="4087813"/>
            <a:ext cx="439737" cy="601662"/>
          </a:xfrm>
          <a:custGeom>
            <a:avLst/>
            <a:gdLst/>
            <a:ahLst/>
            <a:cxnLst>
              <a:cxn ang="0">
                <a:pos x="30" y="369"/>
              </a:cxn>
              <a:cxn ang="0">
                <a:pos x="2" y="124"/>
              </a:cxn>
              <a:cxn ang="0">
                <a:pos x="44" y="38"/>
              </a:cxn>
              <a:cxn ang="0">
                <a:pos x="142" y="0"/>
              </a:cxn>
              <a:cxn ang="0">
                <a:pos x="236" y="36"/>
              </a:cxn>
              <a:cxn ang="0">
                <a:pos x="274" y="126"/>
              </a:cxn>
              <a:cxn ang="0">
                <a:pos x="255" y="379"/>
              </a:cxn>
            </a:cxnLst>
            <a:rect l="0" t="0" r="r" b="b"/>
            <a:pathLst>
              <a:path w="277" h="379">
                <a:moveTo>
                  <a:pt x="30" y="369"/>
                </a:moveTo>
                <a:cubicBezTo>
                  <a:pt x="25" y="328"/>
                  <a:pt x="0" y="179"/>
                  <a:pt x="2" y="124"/>
                </a:cubicBezTo>
                <a:cubicBezTo>
                  <a:pt x="4" y="69"/>
                  <a:pt x="21" y="59"/>
                  <a:pt x="44" y="38"/>
                </a:cubicBezTo>
                <a:cubicBezTo>
                  <a:pt x="67" y="17"/>
                  <a:pt x="110" y="0"/>
                  <a:pt x="142" y="0"/>
                </a:cubicBezTo>
                <a:cubicBezTo>
                  <a:pt x="174" y="0"/>
                  <a:pt x="214" y="15"/>
                  <a:pt x="236" y="36"/>
                </a:cubicBezTo>
                <a:cubicBezTo>
                  <a:pt x="258" y="57"/>
                  <a:pt x="271" y="69"/>
                  <a:pt x="274" y="126"/>
                </a:cubicBezTo>
                <a:cubicBezTo>
                  <a:pt x="277" y="183"/>
                  <a:pt x="259" y="326"/>
                  <a:pt x="255" y="379"/>
                </a:cubicBezTo>
              </a:path>
            </a:pathLst>
          </a:custGeom>
          <a:noFill/>
          <a:ln w="38100" cap="flat" cmpd="sng">
            <a:solidFill>
              <a:srgbClr val="0099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831600" name="Freeform 112"/>
          <p:cNvSpPr>
            <a:spLocks/>
          </p:cNvSpPr>
          <p:nvPr/>
        </p:nvSpPr>
        <p:spPr bwMode="auto">
          <a:xfrm>
            <a:off x="6192838" y="4510088"/>
            <a:ext cx="1079500" cy="179387"/>
          </a:xfrm>
          <a:custGeom>
            <a:avLst/>
            <a:gdLst/>
            <a:ahLst/>
            <a:cxnLst>
              <a:cxn ang="0">
                <a:pos x="0" y="113"/>
              </a:cxn>
              <a:cxn ang="0">
                <a:pos x="454" y="0"/>
              </a:cxn>
              <a:cxn ang="0">
                <a:pos x="907" y="113"/>
              </a:cxn>
            </a:cxnLst>
            <a:rect l="0" t="0" r="r" b="b"/>
            <a:pathLst>
              <a:path w="907" h="113">
                <a:moveTo>
                  <a:pt x="0" y="113"/>
                </a:moveTo>
                <a:cubicBezTo>
                  <a:pt x="151" y="56"/>
                  <a:pt x="303" y="0"/>
                  <a:pt x="454" y="0"/>
                </a:cubicBezTo>
                <a:cubicBezTo>
                  <a:pt x="605" y="0"/>
                  <a:pt x="832" y="75"/>
                  <a:pt x="907" y="113"/>
                </a:cubicBez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831601" name="Oval 113"/>
          <p:cNvSpPr>
            <a:spLocks noChangeAspect="1" noChangeArrowheads="1"/>
          </p:cNvSpPr>
          <p:nvPr/>
        </p:nvSpPr>
        <p:spPr bwMode="auto">
          <a:xfrm>
            <a:off x="5651500" y="5621338"/>
            <a:ext cx="539750" cy="539750"/>
          </a:xfrm>
          <a:prstGeom prst="ellips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r>
              <a:rPr lang="en-US" sz="1400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sz="1400" b="1" dirty="0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1/</a:t>
            </a:r>
            <a:r>
              <a:rPr lang="en-US" sz="1400" b="1" dirty="0" smtClean="0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lang="en-US" sz="1400" b="1" dirty="0">
              <a:solidFill>
                <a:schemeClr val="accent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31602" name="Freeform 114"/>
          <p:cNvSpPr>
            <a:spLocks/>
          </p:cNvSpPr>
          <p:nvPr/>
        </p:nvSpPr>
        <p:spPr bwMode="auto">
          <a:xfrm rot="5400000" flipH="1" flipV="1">
            <a:off x="5457032" y="5245894"/>
            <a:ext cx="571500" cy="179387"/>
          </a:xfrm>
          <a:custGeom>
            <a:avLst/>
            <a:gdLst/>
            <a:ahLst/>
            <a:cxnLst>
              <a:cxn ang="0">
                <a:pos x="0" y="113"/>
              </a:cxn>
              <a:cxn ang="0">
                <a:pos x="454" y="0"/>
              </a:cxn>
              <a:cxn ang="0">
                <a:pos x="907" y="113"/>
              </a:cxn>
            </a:cxnLst>
            <a:rect l="0" t="0" r="r" b="b"/>
            <a:pathLst>
              <a:path w="907" h="113">
                <a:moveTo>
                  <a:pt x="0" y="113"/>
                </a:moveTo>
                <a:cubicBezTo>
                  <a:pt x="151" y="56"/>
                  <a:pt x="303" y="0"/>
                  <a:pt x="454" y="0"/>
                </a:cubicBezTo>
                <a:cubicBezTo>
                  <a:pt x="605" y="0"/>
                  <a:pt x="832" y="75"/>
                  <a:pt x="907" y="113"/>
                </a:cubicBez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831603" name="Oval 115"/>
          <p:cNvSpPr>
            <a:spLocks noChangeAspect="1" noChangeArrowheads="1"/>
          </p:cNvSpPr>
          <p:nvPr/>
        </p:nvSpPr>
        <p:spPr bwMode="auto">
          <a:xfrm>
            <a:off x="7272338" y="5621338"/>
            <a:ext cx="539750" cy="539750"/>
          </a:xfrm>
          <a:prstGeom prst="ellips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r>
              <a:rPr lang="en-US" sz="1400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sz="1400" b="1" dirty="0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0/</a:t>
            </a:r>
            <a:r>
              <a:rPr lang="en-US" sz="1400" b="1" dirty="0" smtClean="0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en-US" sz="1400" b="1" dirty="0">
              <a:solidFill>
                <a:schemeClr val="accent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31604" name="Freeform 116"/>
          <p:cNvSpPr>
            <a:spLocks/>
          </p:cNvSpPr>
          <p:nvPr/>
        </p:nvSpPr>
        <p:spPr bwMode="auto">
          <a:xfrm rot="5400000">
            <a:off x="7436644" y="5245894"/>
            <a:ext cx="571500" cy="179388"/>
          </a:xfrm>
          <a:custGeom>
            <a:avLst/>
            <a:gdLst/>
            <a:ahLst/>
            <a:cxnLst>
              <a:cxn ang="0">
                <a:pos x="0" y="113"/>
              </a:cxn>
              <a:cxn ang="0">
                <a:pos x="454" y="0"/>
              </a:cxn>
              <a:cxn ang="0">
                <a:pos x="907" y="113"/>
              </a:cxn>
            </a:cxnLst>
            <a:rect l="0" t="0" r="r" b="b"/>
            <a:pathLst>
              <a:path w="907" h="113">
                <a:moveTo>
                  <a:pt x="0" y="113"/>
                </a:moveTo>
                <a:cubicBezTo>
                  <a:pt x="151" y="56"/>
                  <a:pt x="303" y="0"/>
                  <a:pt x="454" y="0"/>
                </a:cubicBezTo>
                <a:cubicBezTo>
                  <a:pt x="605" y="0"/>
                  <a:pt x="832" y="75"/>
                  <a:pt x="907" y="113"/>
                </a:cubicBez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831605" name="Freeform 117"/>
          <p:cNvSpPr>
            <a:spLocks/>
          </p:cNvSpPr>
          <p:nvPr/>
        </p:nvSpPr>
        <p:spPr bwMode="auto">
          <a:xfrm rot="10800000">
            <a:off x="6192838" y="5981700"/>
            <a:ext cx="1079500" cy="179388"/>
          </a:xfrm>
          <a:custGeom>
            <a:avLst/>
            <a:gdLst/>
            <a:ahLst/>
            <a:cxnLst>
              <a:cxn ang="0">
                <a:pos x="0" y="113"/>
              </a:cxn>
              <a:cxn ang="0">
                <a:pos x="454" y="0"/>
              </a:cxn>
              <a:cxn ang="0">
                <a:pos x="907" y="113"/>
              </a:cxn>
            </a:cxnLst>
            <a:rect l="0" t="0" r="r" b="b"/>
            <a:pathLst>
              <a:path w="907" h="113">
                <a:moveTo>
                  <a:pt x="0" y="113"/>
                </a:moveTo>
                <a:cubicBezTo>
                  <a:pt x="151" y="56"/>
                  <a:pt x="303" y="0"/>
                  <a:pt x="454" y="0"/>
                </a:cubicBezTo>
                <a:cubicBezTo>
                  <a:pt x="605" y="0"/>
                  <a:pt x="832" y="75"/>
                  <a:pt x="907" y="113"/>
                </a:cubicBez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831606" name="Rectangle 118"/>
          <p:cNvSpPr>
            <a:spLocks noChangeArrowheads="1"/>
          </p:cNvSpPr>
          <p:nvPr/>
        </p:nvSpPr>
        <p:spPr bwMode="auto">
          <a:xfrm>
            <a:off x="5056188" y="4152900"/>
            <a:ext cx="541337" cy="36933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en-US" sz="2400" b="1" dirty="0">
              <a:solidFill>
                <a:srgbClr val="9966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31607" name="Rectangle 119"/>
          <p:cNvSpPr>
            <a:spLocks noChangeArrowheads="1"/>
          </p:cNvSpPr>
          <p:nvPr/>
        </p:nvSpPr>
        <p:spPr bwMode="auto">
          <a:xfrm>
            <a:off x="6372225" y="4540250"/>
            <a:ext cx="720725" cy="36933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 dirty="0">
              <a:solidFill>
                <a:srgbClr val="9966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31608" name="Rectangle 120"/>
          <p:cNvSpPr>
            <a:spLocks noChangeArrowheads="1"/>
          </p:cNvSpPr>
          <p:nvPr/>
        </p:nvSpPr>
        <p:spPr bwMode="auto">
          <a:xfrm>
            <a:off x="8172450" y="4179888"/>
            <a:ext cx="539750" cy="36933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en-US" sz="2400" b="1" dirty="0">
              <a:solidFill>
                <a:srgbClr val="9966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31609" name="Rectangle 121"/>
          <p:cNvSpPr>
            <a:spLocks noChangeArrowheads="1"/>
          </p:cNvSpPr>
          <p:nvPr/>
        </p:nvSpPr>
        <p:spPr bwMode="auto">
          <a:xfrm>
            <a:off x="7812088" y="5229225"/>
            <a:ext cx="539750" cy="36933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 dirty="0">
              <a:solidFill>
                <a:srgbClr val="9966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31610" name="Rectangle 122"/>
          <p:cNvSpPr>
            <a:spLocks noChangeArrowheads="1"/>
          </p:cNvSpPr>
          <p:nvPr/>
        </p:nvSpPr>
        <p:spPr bwMode="auto">
          <a:xfrm>
            <a:off x="6372225" y="6161088"/>
            <a:ext cx="720725" cy="36933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 dirty="0">
              <a:solidFill>
                <a:srgbClr val="9966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31611" name="Rectangle 123"/>
          <p:cNvSpPr>
            <a:spLocks noChangeArrowheads="1"/>
          </p:cNvSpPr>
          <p:nvPr/>
        </p:nvSpPr>
        <p:spPr bwMode="auto">
          <a:xfrm>
            <a:off x="5473700" y="5229225"/>
            <a:ext cx="539750" cy="36933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 dirty="0">
              <a:solidFill>
                <a:srgbClr val="9966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31612" name="Freeform 124"/>
          <p:cNvSpPr>
            <a:spLocks/>
          </p:cNvSpPr>
          <p:nvPr/>
        </p:nvSpPr>
        <p:spPr bwMode="auto">
          <a:xfrm rot="8007457" flipH="1">
            <a:off x="7707313" y="5951537"/>
            <a:ext cx="439738" cy="601663"/>
          </a:xfrm>
          <a:custGeom>
            <a:avLst/>
            <a:gdLst/>
            <a:ahLst/>
            <a:cxnLst>
              <a:cxn ang="0">
                <a:pos x="30" y="369"/>
              </a:cxn>
              <a:cxn ang="0">
                <a:pos x="2" y="124"/>
              </a:cxn>
              <a:cxn ang="0">
                <a:pos x="44" y="38"/>
              </a:cxn>
              <a:cxn ang="0">
                <a:pos x="142" y="0"/>
              </a:cxn>
              <a:cxn ang="0">
                <a:pos x="236" y="36"/>
              </a:cxn>
              <a:cxn ang="0">
                <a:pos x="274" y="126"/>
              </a:cxn>
              <a:cxn ang="0">
                <a:pos x="255" y="379"/>
              </a:cxn>
            </a:cxnLst>
            <a:rect l="0" t="0" r="r" b="b"/>
            <a:pathLst>
              <a:path w="277" h="379">
                <a:moveTo>
                  <a:pt x="30" y="369"/>
                </a:moveTo>
                <a:cubicBezTo>
                  <a:pt x="25" y="328"/>
                  <a:pt x="0" y="179"/>
                  <a:pt x="2" y="124"/>
                </a:cubicBezTo>
                <a:cubicBezTo>
                  <a:pt x="4" y="69"/>
                  <a:pt x="21" y="59"/>
                  <a:pt x="44" y="38"/>
                </a:cubicBezTo>
                <a:cubicBezTo>
                  <a:pt x="67" y="17"/>
                  <a:pt x="110" y="0"/>
                  <a:pt x="142" y="0"/>
                </a:cubicBezTo>
                <a:cubicBezTo>
                  <a:pt x="174" y="0"/>
                  <a:pt x="214" y="15"/>
                  <a:pt x="236" y="36"/>
                </a:cubicBezTo>
                <a:cubicBezTo>
                  <a:pt x="258" y="57"/>
                  <a:pt x="271" y="69"/>
                  <a:pt x="274" y="126"/>
                </a:cubicBezTo>
                <a:cubicBezTo>
                  <a:pt x="277" y="183"/>
                  <a:pt x="259" y="326"/>
                  <a:pt x="255" y="379"/>
                </a:cubicBezTo>
              </a:path>
            </a:pathLst>
          </a:custGeom>
          <a:noFill/>
          <a:ln w="38100" cap="flat" cmpd="sng">
            <a:solidFill>
              <a:srgbClr val="0099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831613" name="Rectangle 125"/>
          <p:cNvSpPr>
            <a:spLocks noChangeArrowheads="1"/>
          </p:cNvSpPr>
          <p:nvPr/>
        </p:nvSpPr>
        <p:spPr bwMode="auto">
          <a:xfrm>
            <a:off x="8172450" y="5981700"/>
            <a:ext cx="539750" cy="36933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en-US" sz="2400" b="1" dirty="0">
              <a:solidFill>
                <a:srgbClr val="9966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31614" name="Freeform 126"/>
          <p:cNvSpPr>
            <a:spLocks/>
          </p:cNvSpPr>
          <p:nvPr/>
        </p:nvSpPr>
        <p:spPr bwMode="auto">
          <a:xfrm rot="-8007457">
            <a:off x="5311775" y="5969001"/>
            <a:ext cx="439737" cy="601662"/>
          </a:xfrm>
          <a:custGeom>
            <a:avLst/>
            <a:gdLst/>
            <a:ahLst/>
            <a:cxnLst>
              <a:cxn ang="0">
                <a:pos x="30" y="369"/>
              </a:cxn>
              <a:cxn ang="0">
                <a:pos x="2" y="124"/>
              </a:cxn>
              <a:cxn ang="0">
                <a:pos x="44" y="38"/>
              </a:cxn>
              <a:cxn ang="0">
                <a:pos x="142" y="0"/>
              </a:cxn>
              <a:cxn ang="0">
                <a:pos x="236" y="36"/>
              </a:cxn>
              <a:cxn ang="0">
                <a:pos x="274" y="126"/>
              </a:cxn>
              <a:cxn ang="0">
                <a:pos x="255" y="379"/>
              </a:cxn>
            </a:cxnLst>
            <a:rect l="0" t="0" r="r" b="b"/>
            <a:pathLst>
              <a:path w="277" h="379">
                <a:moveTo>
                  <a:pt x="30" y="369"/>
                </a:moveTo>
                <a:cubicBezTo>
                  <a:pt x="25" y="328"/>
                  <a:pt x="0" y="179"/>
                  <a:pt x="2" y="124"/>
                </a:cubicBezTo>
                <a:cubicBezTo>
                  <a:pt x="4" y="69"/>
                  <a:pt x="21" y="59"/>
                  <a:pt x="44" y="38"/>
                </a:cubicBezTo>
                <a:cubicBezTo>
                  <a:pt x="67" y="17"/>
                  <a:pt x="110" y="0"/>
                  <a:pt x="142" y="0"/>
                </a:cubicBezTo>
                <a:cubicBezTo>
                  <a:pt x="174" y="0"/>
                  <a:pt x="214" y="15"/>
                  <a:pt x="236" y="36"/>
                </a:cubicBezTo>
                <a:cubicBezTo>
                  <a:pt x="258" y="57"/>
                  <a:pt x="271" y="69"/>
                  <a:pt x="274" y="126"/>
                </a:cubicBezTo>
                <a:cubicBezTo>
                  <a:pt x="277" y="183"/>
                  <a:pt x="259" y="326"/>
                  <a:pt x="255" y="379"/>
                </a:cubicBezTo>
              </a:path>
            </a:pathLst>
          </a:custGeom>
          <a:noFill/>
          <a:ln w="38100" cap="flat" cmpd="sng">
            <a:solidFill>
              <a:srgbClr val="0099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831615" name="Rectangle 127"/>
          <p:cNvSpPr>
            <a:spLocks noChangeArrowheads="1"/>
          </p:cNvSpPr>
          <p:nvPr/>
        </p:nvSpPr>
        <p:spPr bwMode="auto">
          <a:xfrm>
            <a:off x="5075238" y="5980113"/>
            <a:ext cx="541337" cy="36933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en-US" sz="2400" b="1" dirty="0">
              <a:solidFill>
                <a:srgbClr val="9966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ea typeface="新細明體" pitchFamily="18" charset="-120"/>
              </a:rPr>
              <a:t>Mealy and Moore Models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FF33CC"/>
                </a:solidFill>
                <a:ea typeface="新細明體" pitchFamily="18" charset="-120"/>
              </a:rPr>
              <a:t>The Mealy model</a:t>
            </a:r>
            <a:r>
              <a:rPr lang="en-US" altLang="zh-TW" dirty="0" smtClean="0">
                <a:ea typeface="新細明體" pitchFamily="18" charset="-120"/>
              </a:rPr>
              <a:t>: the outputs are functions of both the present state and inputs</a:t>
            </a:r>
          </a:p>
          <a:p>
            <a:pPr lvl="1"/>
            <a:r>
              <a:rPr lang="en-US" altLang="zh-TW" dirty="0" smtClean="0">
                <a:ea typeface="新細明體" pitchFamily="18" charset="-120"/>
              </a:rPr>
              <a:t>The outputs may change if the inputs change during the clock pulse period.</a:t>
            </a:r>
          </a:p>
          <a:p>
            <a:endParaRPr lang="en-US" altLang="zh-TW" smtClean="0">
              <a:solidFill>
                <a:srgbClr val="FF33CC"/>
              </a:solidFill>
              <a:ea typeface="新細明體" pitchFamily="18" charset="-120"/>
            </a:endParaRPr>
          </a:p>
          <a:p>
            <a:r>
              <a:rPr lang="en-US" altLang="zh-TW" smtClean="0">
                <a:solidFill>
                  <a:srgbClr val="FF33CC"/>
                </a:solidFill>
                <a:ea typeface="新細明體" pitchFamily="18" charset="-120"/>
              </a:rPr>
              <a:t>The </a:t>
            </a:r>
            <a:r>
              <a:rPr lang="en-US" altLang="zh-TW" dirty="0" smtClean="0">
                <a:solidFill>
                  <a:srgbClr val="FF33CC"/>
                </a:solidFill>
                <a:ea typeface="新細明體" pitchFamily="18" charset="-120"/>
              </a:rPr>
              <a:t>Moore model</a:t>
            </a:r>
            <a:r>
              <a:rPr lang="en-US" altLang="zh-TW" dirty="0" smtClean="0">
                <a:ea typeface="新細明體" pitchFamily="18" charset="-120"/>
              </a:rPr>
              <a:t>: the outputs are functions of the present state only</a:t>
            </a:r>
          </a:p>
          <a:p>
            <a:pPr lvl="1"/>
            <a:r>
              <a:rPr lang="en-US" altLang="zh-TW" dirty="0" smtClean="0">
                <a:ea typeface="新細明體" pitchFamily="18" charset="-120"/>
              </a:rPr>
              <a:t>The outputs are synchronous with the clocks.</a:t>
            </a:r>
          </a:p>
          <a:p>
            <a:pPr>
              <a:buFont typeface="Wingdings" pitchFamily="2" charset="2"/>
              <a:buNone/>
            </a:pPr>
            <a:endParaRPr lang="zh-TW" altLang="en-US" dirty="0" smtClean="0">
              <a:ea typeface="新細明體" pitchFamily="18" charset="-120"/>
            </a:endParaRPr>
          </a:p>
          <a:p>
            <a:endParaRPr lang="zh-TW" altLang="en-US" dirty="0">
              <a:ea typeface="新細明體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93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0" tIns="0" rIns="0" bIns="0" anchor="ctr"/>
          <a:lstStyle/>
          <a:p>
            <a:r>
              <a:rPr lang="en-US" altLang="zh-TW" dirty="0" smtClean="0">
                <a:ea typeface="新細明體" pitchFamily="18" charset="-120"/>
              </a:rPr>
              <a:t/>
            </a:r>
            <a:br>
              <a:rPr lang="en-US" altLang="zh-TW" dirty="0" smtClean="0">
                <a:ea typeface="新細明體" pitchFamily="18" charset="-120"/>
              </a:rPr>
            </a:br>
            <a:r>
              <a:rPr lang="en-US" altLang="zh-TW" dirty="0" smtClean="0">
                <a:ea typeface="新細明體" pitchFamily="18" charset="-120"/>
              </a:rPr>
              <a:t>Mealy </a:t>
            </a:r>
            <a:r>
              <a:rPr lang="en-US" altLang="zh-TW" dirty="0">
                <a:ea typeface="新細明體" pitchFamily="18" charset="-120"/>
              </a:rPr>
              <a:t>and Moore Models</a:t>
            </a:r>
            <a:endParaRPr lang="zh-TW" altLang="en-US" dirty="0">
              <a:ea typeface="新細明體" pitchFamily="18" charset="-120"/>
            </a:endParaRPr>
          </a:p>
        </p:txBody>
      </p:sp>
      <p:pic>
        <p:nvPicPr>
          <p:cNvPr id="892931" name="Picture 44"/>
          <p:cNvPicPr>
            <a:picLocks noChangeAspect="1" noChangeArrowheads="1"/>
          </p:cNvPicPr>
          <p:nvPr/>
        </p:nvPicPr>
        <p:blipFill>
          <a:blip r:embed="rId3" cstate="print">
            <a:lum bright="-12000" contrast="24000"/>
          </a:blip>
          <a:srcRect/>
          <a:stretch>
            <a:fillRect/>
          </a:stretch>
        </p:blipFill>
        <p:spPr bwMode="auto">
          <a:xfrm>
            <a:off x="363538" y="1328738"/>
            <a:ext cx="7680325" cy="2459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92932" name="Picture 45"/>
          <p:cNvPicPr>
            <a:picLocks noChangeAspect="1" noChangeArrowheads="1"/>
          </p:cNvPicPr>
          <p:nvPr/>
        </p:nvPicPr>
        <p:blipFill>
          <a:blip r:embed="rId4" cstate="print">
            <a:lum bright="-12000" contrast="24000"/>
          </a:blip>
          <a:srcRect/>
          <a:stretch>
            <a:fillRect/>
          </a:stretch>
        </p:blipFill>
        <p:spPr bwMode="auto">
          <a:xfrm>
            <a:off x="185738" y="4064000"/>
            <a:ext cx="8035925" cy="2097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92933" name="Text Box 46"/>
          <p:cNvSpPr txBox="1">
            <a:spLocks noChangeArrowheads="1"/>
          </p:cNvSpPr>
          <p:nvPr/>
        </p:nvSpPr>
        <p:spPr bwMode="auto">
          <a:xfrm>
            <a:off x="1416050" y="6129338"/>
            <a:ext cx="59848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TW" dirty="0" smtClean="0">
                <a:latin typeface="Times New Roman" pitchFamily="18" charset="0"/>
                <a:ea typeface="新細明體" pitchFamily="18" charset="-120"/>
              </a:rPr>
              <a:t>Block </a:t>
            </a:r>
            <a:r>
              <a:rPr lang="en-US" altLang="zh-TW" dirty="0">
                <a:latin typeface="Times New Roman" pitchFamily="18" charset="0"/>
                <a:ea typeface="新細明體" pitchFamily="18" charset="-120"/>
              </a:rPr>
              <a:t>diagram of Mealy and Moore state machine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Mealy and Moore Models</a:t>
            </a:r>
          </a:p>
        </p:txBody>
      </p:sp>
      <p:graphicFrame>
        <p:nvGraphicFramePr>
          <p:cNvPr id="833539" name="Group 3"/>
          <p:cNvGraphicFramePr>
            <a:graphicFrameLocks noGrp="1"/>
          </p:cNvGraphicFramePr>
          <p:nvPr/>
        </p:nvGraphicFramePr>
        <p:xfrm>
          <a:off x="677863" y="2066925"/>
          <a:ext cx="2700337" cy="3352800"/>
        </p:xfrm>
        <a:graphic>
          <a:graphicData uri="http://schemas.openxmlformats.org/drawingml/2006/table">
            <a:tbl>
              <a:tblPr/>
              <a:tblGrid>
                <a:gridCol w="390525"/>
                <a:gridCol w="509587"/>
                <a:gridCol w="539750"/>
                <a:gridCol w="254000"/>
                <a:gridCol w="466725"/>
                <a:gridCol w="539750"/>
              </a:tblGrid>
              <a:tr h="406400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Present State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I/P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Next State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O/P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0188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0188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0188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33617" name="Rectangle 81"/>
          <p:cNvSpPr>
            <a:spLocks noChangeArrowheads="1"/>
          </p:cNvSpPr>
          <p:nvPr/>
        </p:nvSpPr>
        <p:spPr bwMode="auto">
          <a:xfrm>
            <a:off x="1636713" y="1527175"/>
            <a:ext cx="906462" cy="3841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800" b="1" i="1">
                <a:solidFill>
                  <a:srgbClr val="99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Mealy</a:t>
            </a:r>
          </a:p>
        </p:txBody>
      </p:sp>
      <p:sp>
        <p:nvSpPr>
          <p:cNvPr id="833618" name="Rectangle 82"/>
          <p:cNvSpPr>
            <a:spLocks noChangeAspect="1" noChangeArrowheads="1"/>
          </p:cNvSpPr>
          <p:nvPr/>
        </p:nvSpPr>
        <p:spPr bwMode="auto">
          <a:xfrm>
            <a:off x="881063" y="3625850"/>
            <a:ext cx="539750" cy="539750"/>
          </a:xfrm>
          <a:prstGeom prst="rect">
            <a:avLst/>
          </a:prstGeom>
          <a:noFill/>
          <a:ln w="38100" cap="rnd" algn="ctr">
            <a:solidFill>
              <a:schemeClr val="accent1"/>
            </a:solidFill>
            <a:prstDash val="sysDot"/>
            <a:miter lim="800000"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833619" name="Rectangle 83"/>
          <p:cNvSpPr>
            <a:spLocks noChangeAspect="1" noChangeArrowheads="1"/>
          </p:cNvSpPr>
          <p:nvPr/>
        </p:nvSpPr>
        <p:spPr bwMode="auto">
          <a:xfrm>
            <a:off x="884238" y="4237038"/>
            <a:ext cx="539750" cy="539750"/>
          </a:xfrm>
          <a:prstGeom prst="rect">
            <a:avLst/>
          </a:prstGeom>
          <a:noFill/>
          <a:ln w="38100" cap="rnd" algn="ctr">
            <a:solidFill>
              <a:schemeClr val="accent1"/>
            </a:solidFill>
            <a:prstDash val="sysDot"/>
            <a:miter lim="800000"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833620" name="Rectangle 84"/>
          <p:cNvSpPr>
            <a:spLocks noChangeAspect="1" noChangeArrowheads="1"/>
          </p:cNvSpPr>
          <p:nvPr/>
        </p:nvSpPr>
        <p:spPr bwMode="auto">
          <a:xfrm>
            <a:off x="887413" y="4848225"/>
            <a:ext cx="539750" cy="539750"/>
          </a:xfrm>
          <a:prstGeom prst="rect">
            <a:avLst/>
          </a:prstGeom>
          <a:noFill/>
          <a:ln w="38100" cap="rnd" algn="ctr">
            <a:solidFill>
              <a:schemeClr val="accent1"/>
            </a:solidFill>
            <a:prstDash val="sysDot"/>
            <a:miter lim="800000"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833621" name="Rectangle 85"/>
          <p:cNvSpPr>
            <a:spLocks noChangeAspect="1" noChangeArrowheads="1"/>
          </p:cNvSpPr>
          <p:nvPr/>
        </p:nvSpPr>
        <p:spPr bwMode="auto">
          <a:xfrm>
            <a:off x="2932113" y="3625850"/>
            <a:ext cx="360362" cy="539750"/>
          </a:xfrm>
          <a:prstGeom prst="rect">
            <a:avLst/>
          </a:prstGeom>
          <a:noFill/>
          <a:ln w="38100" cap="rnd" algn="ctr">
            <a:solidFill>
              <a:schemeClr val="accent2"/>
            </a:solidFill>
            <a:prstDash val="sysDot"/>
            <a:miter lim="800000"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833622" name="Rectangle 86"/>
          <p:cNvSpPr>
            <a:spLocks noChangeAspect="1" noChangeArrowheads="1"/>
          </p:cNvSpPr>
          <p:nvPr/>
        </p:nvSpPr>
        <p:spPr bwMode="auto">
          <a:xfrm>
            <a:off x="2935288" y="4237038"/>
            <a:ext cx="360362" cy="539750"/>
          </a:xfrm>
          <a:prstGeom prst="rect">
            <a:avLst/>
          </a:prstGeom>
          <a:noFill/>
          <a:ln w="38100" cap="rnd" algn="ctr">
            <a:solidFill>
              <a:schemeClr val="accent2"/>
            </a:solidFill>
            <a:prstDash val="sysDot"/>
            <a:miter lim="800000"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833623" name="Rectangle 87"/>
          <p:cNvSpPr>
            <a:spLocks noChangeAspect="1" noChangeArrowheads="1"/>
          </p:cNvSpPr>
          <p:nvPr/>
        </p:nvSpPr>
        <p:spPr bwMode="auto">
          <a:xfrm>
            <a:off x="2938463" y="4848225"/>
            <a:ext cx="360362" cy="539750"/>
          </a:xfrm>
          <a:prstGeom prst="rect">
            <a:avLst/>
          </a:prstGeom>
          <a:noFill/>
          <a:ln w="38100" cap="rnd" algn="ctr">
            <a:solidFill>
              <a:schemeClr val="accent2"/>
            </a:solidFill>
            <a:prstDash val="sysDot"/>
            <a:miter lim="800000"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833624" name="AutoShape 88"/>
          <p:cNvSpPr>
            <a:spLocks noChangeArrowheads="1"/>
          </p:cNvSpPr>
          <p:nvPr/>
        </p:nvSpPr>
        <p:spPr bwMode="auto">
          <a:xfrm>
            <a:off x="203200" y="5848350"/>
            <a:ext cx="3779838" cy="720725"/>
          </a:xfrm>
          <a:prstGeom prst="roundRect">
            <a:avLst>
              <a:gd name="adj" fmla="val 16667"/>
            </a:avLst>
          </a:prstGeom>
          <a:noFill/>
          <a:ln w="38100" algn="ctr">
            <a:solidFill>
              <a:srgbClr val="996600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For the same </a:t>
            </a:r>
            <a:r>
              <a:rPr lang="en-US" sz="20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state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,</a:t>
            </a:r>
            <a:br>
              <a:rPr lang="en-US" sz="2000" b="1" i="1">
                <a:latin typeface="Times New Roman" pitchFamily="18" charset="0"/>
                <a:cs typeface="Times New Roman" pitchFamily="18" charset="0"/>
              </a:rPr>
            </a:b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b="1" i="1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output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i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changes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 with the </a:t>
            </a:r>
            <a:r>
              <a:rPr lang="en-US" sz="20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input</a:t>
            </a:r>
          </a:p>
        </p:txBody>
      </p:sp>
      <p:sp>
        <p:nvSpPr>
          <p:cNvPr id="833625" name="Freeform 89"/>
          <p:cNvSpPr>
            <a:spLocks/>
          </p:cNvSpPr>
          <p:nvPr/>
        </p:nvSpPr>
        <p:spPr bwMode="auto">
          <a:xfrm>
            <a:off x="1143000" y="5416550"/>
            <a:ext cx="1968500" cy="334963"/>
          </a:xfrm>
          <a:custGeom>
            <a:avLst/>
            <a:gdLst/>
            <a:ahLst/>
            <a:cxnLst>
              <a:cxn ang="0">
                <a:pos x="0" y="12"/>
              </a:cxn>
              <a:cxn ang="0">
                <a:pos x="154" y="160"/>
              </a:cxn>
              <a:cxn ang="0">
                <a:pos x="632" y="211"/>
              </a:cxn>
              <a:cxn ang="0">
                <a:pos x="1066" y="160"/>
              </a:cxn>
              <a:cxn ang="0">
                <a:pos x="1240" y="0"/>
              </a:cxn>
            </a:cxnLst>
            <a:rect l="0" t="0" r="r" b="b"/>
            <a:pathLst>
              <a:path w="1240" h="211">
                <a:moveTo>
                  <a:pt x="0" y="12"/>
                </a:moveTo>
                <a:cubicBezTo>
                  <a:pt x="25" y="37"/>
                  <a:pt x="49" y="127"/>
                  <a:pt x="154" y="160"/>
                </a:cubicBezTo>
                <a:cubicBezTo>
                  <a:pt x="259" y="193"/>
                  <a:pt x="480" y="211"/>
                  <a:pt x="632" y="211"/>
                </a:cubicBezTo>
                <a:cubicBezTo>
                  <a:pt x="784" y="211"/>
                  <a:pt x="965" y="195"/>
                  <a:pt x="1066" y="160"/>
                </a:cubicBezTo>
                <a:cubicBezTo>
                  <a:pt x="1167" y="125"/>
                  <a:pt x="1204" y="33"/>
                  <a:pt x="1240" y="0"/>
                </a:cubicBez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graphicFrame>
        <p:nvGraphicFramePr>
          <p:cNvPr id="833626" name="Group 90"/>
          <p:cNvGraphicFramePr>
            <a:graphicFrameLocks noGrp="1"/>
          </p:cNvGraphicFramePr>
          <p:nvPr/>
        </p:nvGraphicFramePr>
        <p:xfrm>
          <a:off x="5243513" y="2066925"/>
          <a:ext cx="2700337" cy="3352800"/>
        </p:xfrm>
        <a:graphic>
          <a:graphicData uri="http://schemas.openxmlformats.org/drawingml/2006/table">
            <a:tbl>
              <a:tblPr/>
              <a:tblGrid>
                <a:gridCol w="390525"/>
                <a:gridCol w="509587"/>
                <a:gridCol w="539750"/>
                <a:gridCol w="254000"/>
                <a:gridCol w="466725"/>
                <a:gridCol w="539750"/>
              </a:tblGrid>
              <a:tr h="406400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Present State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I/P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Next State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O/P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0188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0188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0188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33704" name="Rectangle 168"/>
          <p:cNvSpPr>
            <a:spLocks noChangeArrowheads="1"/>
          </p:cNvSpPr>
          <p:nvPr/>
        </p:nvSpPr>
        <p:spPr bwMode="auto">
          <a:xfrm>
            <a:off x="6076950" y="1527175"/>
            <a:ext cx="966788" cy="3841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800" b="1" i="1">
                <a:solidFill>
                  <a:srgbClr val="99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Moore</a:t>
            </a:r>
          </a:p>
        </p:txBody>
      </p:sp>
      <p:sp>
        <p:nvSpPr>
          <p:cNvPr id="833705" name="AutoShape 169"/>
          <p:cNvSpPr>
            <a:spLocks noChangeArrowheads="1"/>
          </p:cNvSpPr>
          <p:nvPr/>
        </p:nvSpPr>
        <p:spPr bwMode="auto">
          <a:xfrm>
            <a:off x="4343400" y="5846763"/>
            <a:ext cx="4500563" cy="720725"/>
          </a:xfrm>
          <a:prstGeom prst="roundRect">
            <a:avLst>
              <a:gd name="adj" fmla="val 16667"/>
            </a:avLst>
          </a:prstGeom>
          <a:noFill/>
          <a:ln w="38100" algn="ctr">
            <a:solidFill>
              <a:srgbClr val="996600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For the same </a:t>
            </a:r>
            <a:r>
              <a:rPr lang="en-US" sz="20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state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,</a:t>
            </a:r>
            <a:br>
              <a:rPr lang="en-US" sz="2000" b="1" i="1">
                <a:latin typeface="Times New Roman" pitchFamily="18" charset="0"/>
                <a:cs typeface="Times New Roman" pitchFamily="18" charset="0"/>
              </a:rPr>
            </a:b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b="1" i="1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output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 does not change with the </a:t>
            </a:r>
            <a:r>
              <a:rPr lang="en-US" sz="20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input</a:t>
            </a:r>
          </a:p>
        </p:txBody>
      </p:sp>
      <p:sp>
        <p:nvSpPr>
          <p:cNvPr id="833706" name="Freeform 170"/>
          <p:cNvSpPr>
            <a:spLocks/>
          </p:cNvSpPr>
          <p:nvPr/>
        </p:nvSpPr>
        <p:spPr bwMode="auto">
          <a:xfrm>
            <a:off x="5643563" y="5414963"/>
            <a:ext cx="1968500" cy="334962"/>
          </a:xfrm>
          <a:custGeom>
            <a:avLst/>
            <a:gdLst/>
            <a:ahLst/>
            <a:cxnLst>
              <a:cxn ang="0">
                <a:pos x="0" y="12"/>
              </a:cxn>
              <a:cxn ang="0">
                <a:pos x="154" y="160"/>
              </a:cxn>
              <a:cxn ang="0">
                <a:pos x="632" y="211"/>
              </a:cxn>
              <a:cxn ang="0">
                <a:pos x="1066" y="160"/>
              </a:cxn>
              <a:cxn ang="0">
                <a:pos x="1240" y="0"/>
              </a:cxn>
            </a:cxnLst>
            <a:rect l="0" t="0" r="r" b="b"/>
            <a:pathLst>
              <a:path w="1240" h="211">
                <a:moveTo>
                  <a:pt x="0" y="12"/>
                </a:moveTo>
                <a:cubicBezTo>
                  <a:pt x="25" y="37"/>
                  <a:pt x="49" y="127"/>
                  <a:pt x="154" y="160"/>
                </a:cubicBezTo>
                <a:cubicBezTo>
                  <a:pt x="259" y="193"/>
                  <a:pt x="480" y="211"/>
                  <a:pt x="632" y="211"/>
                </a:cubicBezTo>
                <a:cubicBezTo>
                  <a:pt x="784" y="211"/>
                  <a:pt x="965" y="195"/>
                  <a:pt x="1066" y="160"/>
                </a:cubicBezTo>
                <a:cubicBezTo>
                  <a:pt x="1167" y="125"/>
                  <a:pt x="1204" y="33"/>
                  <a:pt x="1240" y="0"/>
                </a:cubicBez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33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33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833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833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33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833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833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33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33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33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33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833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833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33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3617" grpId="0"/>
      <p:bldP spid="833618" grpId="0" animBg="1"/>
      <p:bldP spid="833619" grpId="0" animBg="1"/>
      <p:bldP spid="833620" grpId="0" animBg="1"/>
      <p:bldP spid="833621" grpId="0" animBg="1"/>
      <p:bldP spid="833622" grpId="0" animBg="1"/>
      <p:bldP spid="833623" grpId="0" animBg="1"/>
      <p:bldP spid="833624" grpId="0" animBg="1"/>
      <p:bldP spid="833625" grpId="0" animBg="1"/>
      <p:bldP spid="833704" grpId="0"/>
      <p:bldP spid="833705" grpId="0" animBg="1"/>
      <p:bldP spid="833706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Moore State Diagram</a:t>
            </a:r>
          </a:p>
        </p:txBody>
      </p:sp>
      <p:sp>
        <p:nvSpPr>
          <p:cNvPr id="835587" name="Oval 3"/>
          <p:cNvSpPr>
            <a:spLocks noChangeAspect="1" noChangeArrowheads="1"/>
          </p:cNvSpPr>
          <p:nvPr/>
        </p:nvSpPr>
        <p:spPr bwMode="auto">
          <a:xfrm>
            <a:off x="792163" y="1612900"/>
            <a:ext cx="2700337" cy="719138"/>
          </a:xfrm>
          <a:prstGeom prst="ellips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State 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Output</a:t>
            </a:r>
          </a:p>
        </p:txBody>
      </p:sp>
      <p:sp>
        <p:nvSpPr>
          <p:cNvPr id="835588" name="Oval 4"/>
          <p:cNvSpPr>
            <a:spLocks noChangeAspect="1" noChangeArrowheads="1"/>
          </p:cNvSpPr>
          <p:nvPr/>
        </p:nvSpPr>
        <p:spPr bwMode="auto">
          <a:xfrm>
            <a:off x="2590800" y="3443288"/>
            <a:ext cx="1260475" cy="539750"/>
          </a:xfrm>
          <a:prstGeom prst="ellips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0 0 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835589" name="Freeform 5"/>
          <p:cNvSpPr>
            <a:spLocks/>
          </p:cNvSpPr>
          <p:nvPr/>
        </p:nvSpPr>
        <p:spPr bwMode="auto">
          <a:xfrm rot="-2244927">
            <a:off x="2330450" y="3021013"/>
            <a:ext cx="439738" cy="601662"/>
          </a:xfrm>
          <a:custGeom>
            <a:avLst/>
            <a:gdLst/>
            <a:ahLst/>
            <a:cxnLst>
              <a:cxn ang="0">
                <a:pos x="30" y="369"/>
              </a:cxn>
              <a:cxn ang="0">
                <a:pos x="2" y="124"/>
              </a:cxn>
              <a:cxn ang="0">
                <a:pos x="44" y="38"/>
              </a:cxn>
              <a:cxn ang="0">
                <a:pos x="142" y="0"/>
              </a:cxn>
              <a:cxn ang="0">
                <a:pos x="236" y="36"/>
              </a:cxn>
              <a:cxn ang="0">
                <a:pos x="274" y="126"/>
              </a:cxn>
              <a:cxn ang="0">
                <a:pos x="255" y="379"/>
              </a:cxn>
            </a:cxnLst>
            <a:rect l="0" t="0" r="r" b="b"/>
            <a:pathLst>
              <a:path w="277" h="379">
                <a:moveTo>
                  <a:pt x="30" y="369"/>
                </a:moveTo>
                <a:cubicBezTo>
                  <a:pt x="25" y="328"/>
                  <a:pt x="0" y="179"/>
                  <a:pt x="2" y="124"/>
                </a:cubicBezTo>
                <a:cubicBezTo>
                  <a:pt x="4" y="69"/>
                  <a:pt x="21" y="59"/>
                  <a:pt x="44" y="38"/>
                </a:cubicBezTo>
                <a:cubicBezTo>
                  <a:pt x="67" y="17"/>
                  <a:pt x="110" y="0"/>
                  <a:pt x="142" y="0"/>
                </a:cubicBezTo>
                <a:cubicBezTo>
                  <a:pt x="174" y="0"/>
                  <a:pt x="214" y="15"/>
                  <a:pt x="236" y="36"/>
                </a:cubicBezTo>
                <a:cubicBezTo>
                  <a:pt x="258" y="57"/>
                  <a:pt x="271" y="69"/>
                  <a:pt x="274" y="126"/>
                </a:cubicBezTo>
                <a:cubicBezTo>
                  <a:pt x="277" y="183"/>
                  <a:pt x="259" y="326"/>
                  <a:pt x="255" y="379"/>
                </a:cubicBezTo>
              </a:path>
            </a:pathLst>
          </a:custGeom>
          <a:noFill/>
          <a:ln w="38100" cap="flat" cmpd="sng">
            <a:solidFill>
              <a:srgbClr val="0099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835590" name="Oval 6"/>
          <p:cNvSpPr>
            <a:spLocks noChangeAspect="1" noChangeArrowheads="1"/>
          </p:cNvSpPr>
          <p:nvPr/>
        </p:nvSpPr>
        <p:spPr bwMode="auto">
          <a:xfrm>
            <a:off x="5291138" y="3443288"/>
            <a:ext cx="1260475" cy="539750"/>
          </a:xfrm>
          <a:prstGeom prst="ellips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0 1 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/ </a:t>
            </a: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en-US" sz="2400" b="1">
              <a:solidFill>
                <a:schemeClr val="accent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35591" name="Oval 7"/>
          <p:cNvSpPr>
            <a:spLocks noChangeAspect="1" noChangeArrowheads="1"/>
          </p:cNvSpPr>
          <p:nvPr/>
        </p:nvSpPr>
        <p:spPr bwMode="auto">
          <a:xfrm>
            <a:off x="2592388" y="5422900"/>
            <a:ext cx="1258887" cy="539750"/>
          </a:xfrm>
          <a:prstGeom prst="ellips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1 1 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/ </a:t>
            </a: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>
              <a:solidFill>
                <a:schemeClr val="accent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35592" name="Freeform 8"/>
          <p:cNvSpPr>
            <a:spLocks/>
          </p:cNvSpPr>
          <p:nvPr/>
        </p:nvSpPr>
        <p:spPr bwMode="auto">
          <a:xfrm rot="5400000" flipH="1" flipV="1">
            <a:off x="2319338" y="4614863"/>
            <a:ext cx="1441450" cy="177800"/>
          </a:xfrm>
          <a:custGeom>
            <a:avLst/>
            <a:gdLst/>
            <a:ahLst/>
            <a:cxnLst>
              <a:cxn ang="0">
                <a:pos x="0" y="113"/>
              </a:cxn>
              <a:cxn ang="0">
                <a:pos x="454" y="0"/>
              </a:cxn>
              <a:cxn ang="0">
                <a:pos x="907" y="113"/>
              </a:cxn>
            </a:cxnLst>
            <a:rect l="0" t="0" r="r" b="b"/>
            <a:pathLst>
              <a:path w="907" h="113">
                <a:moveTo>
                  <a:pt x="0" y="113"/>
                </a:moveTo>
                <a:cubicBezTo>
                  <a:pt x="151" y="56"/>
                  <a:pt x="303" y="0"/>
                  <a:pt x="454" y="0"/>
                </a:cubicBezTo>
                <a:cubicBezTo>
                  <a:pt x="605" y="0"/>
                  <a:pt x="832" y="75"/>
                  <a:pt x="907" y="113"/>
                </a:cubicBez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835593" name="Oval 9"/>
          <p:cNvSpPr>
            <a:spLocks noChangeAspect="1" noChangeArrowheads="1"/>
          </p:cNvSpPr>
          <p:nvPr/>
        </p:nvSpPr>
        <p:spPr bwMode="auto">
          <a:xfrm>
            <a:off x="5292725" y="5422900"/>
            <a:ext cx="1258888" cy="539750"/>
          </a:xfrm>
          <a:prstGeom prst="ellips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1 0 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/ </a:t>
            </a: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en-US" sz="2400" b="1">
              <a:solidFill>
                <a:schemeClr val="accent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35594" name="Freeform 10"/>
          <p:cNvSpPr>
            <a:spLocks/>
          </p:cNvSpPr>
          <p:nvPr/>
        </p:nvSpPr>
        <p:spPr bwMode="auto">
          <a:xfrm rot="5400000">
            <a:off x="5365751" y="4629150"/>
            <a:ext cx="1471612" cy="179387"/>
          </a:xfrm>
          <a:custGeom>
            <a:avLst/>
            <a:gdLst/>
            <a:ahLst/>
            <a:cxnLst>
              <a:cxn ang="0">
                <a:pos x="0" y="113"/>
              </a:cxn>
              <a:cxn ang="0">
                <a:pos x="454" y="0"/>
              </a:cxn>
              <a:cxn ang="0">
                <a:pos x="907" y="113"/>
              </a:cxn>
            </a:cxnLst>
            <a:rect l="0" t="0" r="r" b="b"/>
            <a:pathLst>
              <a:path w="907" h="113">
                <a:moveTo>
                  <a:pt x="0" y="113"/>
                </a:moveTo>
                <a:cubicBezTo>
                  <a:pt x="151" y="56"/>
                  <a:pt x="303" y="0"/>
                  <a:pt x="454" y="0"/>
                </a:cubicBezTo>
                <a:cubicBezTo>
                  <a:pt x="605" y="0"/>
                  <a:pt x="832" y="75"/>
                  <a:pt x="907" y="113"/>
                </a:cubicBez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835595" name="Freeform 11"/>
          <p:cNvSpPr>
            <a:spLocks/>
          </p:cNvSpPr>
          <p:nvPr/>
        </p:nvSpPr>
        <p:spPr bwMode="auto">
          <a:xfrm rot="10800000">
            <a:off x="3851275" y="5783263"/>
            <a:ext cx="1441450" cy="179387"/>
          </a:xfrm>
          <a:custGeom>
            <a:avLst/>
            <a:gdLst/>
            <a:ahLst/>
            <a:cxnLst>
              <a:cxn ang="0">
                <a:pos x="0" y="113"/>
              </a:cxn>
              <a:cxn ang="0">
                <a:pos x="454" y="0"/>
              </a:cxn>
              <a:cxn ang="0">
                <a:pos x="907" y="113"/>
              </a:cxn>
            </a:cxnLst>
            <a:rect l="0" t="0" r="r" b="b"/>
            <a:pathLst>
              <a:path w="907" h="113">
                <a:moveTo>
                  <a:pt x="0" y="113"/>
                </a:moveTo>
                <a:cubicBezTo>
                  <a:pt x="151" y="56"/>
                  <a:pt x="303" y="0"/>
                  <a:pt x="454" y="0"/>
                </a:cubicBezTo>
                <a:cubicBezTo>
                  <a:pt x="605" y="0"/>
                  <a:pt x="832" y="75"/>
                  <a:pt x="907" y="113"/>
                </a:cubicBez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835596" name="Rectangle 12"/>
          <p:cNvSpPr>
            <a:spLocks noChangeArrowheads="1"/>
          </p:cNvSpPr>
          <p:nvPr/>
        </p:nvSpPr>
        <p:spPr bwMode="auto">
          <a:xfrm>
            <a:off x="2051050" y="2722563"/>
            <a:ext cx="360363" cy="32861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sz="2400" b="1">
                <a:latin typeface="Times New Roman" pitchFamily="18" charset="0"/>
                <a:cs typeface="Times New Roman" pitchFamily="18" charset="0"/>
              </a:rPr>
              <a:t>0</a:t>
            </a:r>
            <a:endParaRPr lang="en-US" sz="2400" b="1">
              <a:solidFill>
                <a:srgbClr val="9966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35597" name="Rectangle 13"/>
          <p:cNvSpPr>
            <a:spLocks noChangeArrowheads="1"/>
          </p:cNvSpPr>
          <p:nvPr/>
        </p:nvSpPr>
        <p:spPr bwMode="auto">
          <a:xfrm>
            <a:off x="6192838" y="4522788"/>
            <a:ext cx="358775" cy="32861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sz="2400" b="1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>
              <a:solidFill>
                <a:srgbClr val="9966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35598" name="Rectangle 14"/>
          <p:cNvSpPr>
            <a:spLocks noChangeArrowheads="1"/>
          </p:cNvSpPr>
          <p:nvPr/>
        </p:nvSpPr>
        <p:spPr bwMode="auto">
          <a:xfrm>
            <a:off x="4392613" y="5962650"/>
            <a:ext cx="358775" cy="32861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sz="2400" b="1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>
              <a:solidFill>
                <a:srgbClr val="9966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35599" name="Rectangle 15"/>
          <p:cNvSpPr>
            <a:spLocks noChangeArrowheads="1"/>
          </p:cNvSpPr>
          <p:nvPr/>
        </p:nvSpPr>
        <p:spPr bwMode="auto">
          <a:xfrm>
            <a:off x="2592388" y="4522788"/>
            <a:ext cx="358775" cy="32861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sz="2400" b="1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>
              <a:solidFill>
                <a:srgbClr val="9966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35600" name="Freeform 16"/>
          <p:cNvSpPr>
            <a:spLocks/>
          </p:cNvSpPr>
          <p:nvPr/>
        </p:nvSpPr>
        <p:spPr bwMode="auto">
          <a:xfrm rot="8007457" flipH="1">
            <a:off x="6453188" y="5702300"/>
            <a:ext cx="439737" cy="601663"/>
          </a:xfrm>
          <a:custGeom>
            <a:avLst/>
            <a:gdLst/>
            <a:ahLst/>
            <a:cxnLst>
              <a:cxn ang="0">
                <a:pos x="30" y="369"/>
              </a:cxn>
              <a:cxn ang="0">
                <a:pos x="2" y="124"/>
              </a:cxn>
              <a:cxn ang="0">
                <a:pos x="44" y="38"/>
              </a:cxn>
              <a:cxn ang="0">
                <a:pos x="142" y="0"/>
              </a:cxn>
              <a:cxn ang="0">
                <a:pos x="236" y="36"/>
              </a:cxn>
              <a:cxn ang="0">
                <a:pos x="274" y="126"/>
              </a:cxn>
              <a:cxn ang="0">
                <a:pos x="255" y="379"/>
              </a:cxn>
            </a:cxnLst>
            <a:rect l="0" t="0" r="r" b="b"/>
            <a:pathLst>
              <a:path w="277" h="379">
                <a:moveTo>
                  <a:pt x="30" y="369"/>
                </a:moveTo>
                <a:cubicBezTo>
                  <a:pt x="25" y="328"/>
                  <a:pt x="0" y="179"/>
                  <a:pt x="2" y="124"/>
                </a:cubicBezTo>
                <a:cubicBezTo>
                  <a:pt x="4" y="69"/>
                  <a:pt x="21" y="59"/>
                  <a:pt x="44" y="38"/>
                </a:cubicBezTo>
                <a:cubicBezTo>
                  <a:pt x="67" y="17"/>
                  <a:pt x="110" y="0"/>
                  <a:pt x="142" y="0"/>
                </a:cubicBezTo>
                <a:cubicBezTo>
                  <a:pt x="174" y="0"/>
                  <a:pt x="214" y="15"/>
                  <a:pt x="236" y="36"/>
                </a:cubicBezTo>
                <a:cubicBezTo>
                  <a:pt x="258" y="57"/>
                  <a:pt x="271" y="69"/>
                  <a:pt x="274" y="126"/>
                </a:cubicBezTo>
                <a:cubicBezTo>
                  <a:pt x="277" y="183"/>
                  <a:pt x="259" y="326"/>
                  <a:pt x="255" y="379"/>
                </a:cubicBezTo>
              </a:path>
            </a:pathLst>
          </a:custGeom>
          <a:noFill/>
          <a:ln w="38100" cap="flat" cmpd="sng">
            <a:solidFill>
              <a:srgbClr val="0099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835601" name="Rectangle 17"/>
          <p:cNvSpPr>
            <a:spLocks noChangeArrowheads="1"/>
          </p:cNvSpPr>
          <p:nvPr/>
        </p:nvSpPr>
        <p:spPr bwMode="auto">
          <a:xfrm>
            <a:off x="6732588" y="6323013"/>
            <a:ext cx="360362" cy="32861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sz="2400" b="1">
                <a:latin typeface="Times New Roman" pitchFamily="18" charset="0"/>
                <a:cs typeface="Times New Roman" pitchFamily="18" charset="0"/>
              </a:rPr>
              <a:t>0</a:t>
            </a:r>
            <a:endParaRPr lang="en-US" sz="2400" b="1">
              <a:solidFill>
                <a:srgbClr val="9966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35602" name="Freeform 18"/>
          <p:cNvSpPr>
            <a:spLocks/>
          </p:cNvSpPr>
          <p:nvPr/>
        </p:nvSpPr>
        <p:spPr bwMode="auto">
          <a:xfrm rot="-8007457">
            <a:off x="2251075" y="5702301"/>
            <a:ext cx="439737" cy="601662"/>
          </a:xfrm>
          <a:custGeom>
            <a:avLst/>
            <a:gdLst/>
            <a:ahLst/>
            <a:cxnLst>
              <a:cxn ang="0">
                <a:pos x="30" y="369"/>
              </a:cxn>
              <a:cxn ang="0">
                <a:pos x="2" y="124"/>
              </a:cxn>
              <a:cxn ang="0">
                <a:pos x="44" y="38"/>
              </a:cxn>
              <a:cxn ang="0">
                <a:pos x="142" y="0"/>
              </a:cxn>
              <a:cxn ang="0">
                <a:pos x="236" y="36"/>
              </a:cxn>
              <a:cxn ang="0">
                <a:pos x="274" y="126"/>
              </a:cxn>
              <a:cxn ang="0">
                <a:pos x="255" y="379"/>
              </a:cxn>
            </a:cxnLst>
            <a:rect l="0" t="0" r="r" b="b"/>
            <a:pathLst>
              <a:path w="277" h="379">
                <a:moveTo>
                  <a:pt x="30" y="369"/>
                </a:moveTo>
                <a:cubicBezTo>
                  <a:pt x="25" y="328"/>
                  <a:pt x="0" y="179"/>
                  <a:pt x="2" y="124"/>
                </a:cubicBezTo>
                <a:cubicBezTo>
                  <a:pt x="4" y="69"/>
                  <a:pt x="21" y="59"/>
                  <a:pt x="44" y="38"/>
                </a:cubicBezTo>
                <a:cubicBezTo>
                  <a:pt x="67" y="17"/>
                  <a:pt x="110" y="0"/>
                  <a:pt x="142" y="0"/>
                </a:cubicBezTo>
                <a:cubicBezTo>
                  <a:pt x="174" y="0"/>
                  <a:pt x="214" y="15"/>
                  <a:pt x="236" y="36"/>
                </a:cubicBezTo>
                <a:cubicBezTo>
                  <a:pt x="258" y="57"/>
                  <a:pt x="271" y="69"/>
                  <a:pt x="274" y="126"/>
                </a:cubicBezTo>
                <a:cubicBezTo>
                  <a:pt x="277" y="183"/>
                  <a:pt x="259" y="326"/>
                  <a:pt x="255" y="379"/>
                </a:cubicBezTo>
              </a:path>
            </a:pathLst>
          </a:custGeom>
          <a:noFill/>
          <a:ln w="38100" cap="flat" cmpd="sng">
            <a:solidFill>
              <a:srgbClr val="0099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835603" name="Rectangle 19"/>
          <p:cNvSpPr>
            <a:spLocks noChangeArrowheads="1"/>
          </p:cNvSpPr>
          <p:nvPr/>
        </p:nvSpPr>
        <p:spPr bwMode="auto">
          <a:xfrm>
            <a:off x="2051050" y="6323013"/>
            <a:ext cx="360363" cy="32861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sz="2400" b="1">
                <a:latin typeface="Times New Roman" pitchFamily="18" charset="0"/>
                <a:cs typeface="Times New Roman" pitchFamily="18" charset="0"/>
              </a:rPr>
              <a:t>0</a:t>
            </a:r>
            <a:endParaRPr lang="en-US" sz="2400" b="1">
              <a:solidFill>
                <a:srgbClr val="9966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35604" name="Freeform 20"/>
          <p:cNvSpPr>
            <a:spLocks/>
          </p:cNvSpPr>
          <p:nvPr/>
        </p:nvSpPr>
        <p:spPr bwMode="auto">
          <a:xfrm rot="2356128" flipH="1">
            <a:off x="6372225" y="3051175"/>
            <a:ext cx="439738" cy="601663"/>
          </a:xfrm>
          <a:custGeom>
            <a:avLst/>
            <a:gdLst/>
            <a:ahLst/>
            <a:cxnLst>
              <a:cxn ang="0">
                <a:pos x="30" y="369"/>
              </a:cxn>
              <a:cxn ang="0">
                <a:pos x="2" y="124"/>
              </a:cxn>
              <a:cxn ang="0">
                <a:pos x="44" y="38"/>
              </a:cxn>
              <a:cxn ang="0">
                <a:pos x="142" y="0"/>
              </a:cxn>
              <a:cxn ang="0">
                <a:pos x="236" y="36"/>
              </a:cxn>
              <a:cxn ang="0">
                <a:pos x="274" y="126"/>
              </a:cxn>
              <a:cxn ang="0">
                <a:pos x="255" y="379"/>
              </a:cxn>
            </a:cxnLst>
            <a:rect l="0" t="0" r="r" b="b"/>
            <a:pathLst>
              <a:path w="277" h="379">
                <a:moveTo>
                  <a:pt x="30" y="369"/>
                </a:moveTo>
                <a:cubicBezTo>
                  <a:pt x="25" y="328"/>
                  <a:pt x="0" y="179"/>
                  <a:pt x="2" y="124"/>
                </a:cubicBezTo>
                <a:cubicBezTo>
                  <a:pt x="4" y="69"/>
                  <a:pt x="21" y="59"/>
                  <a:pt x="44" y="38"/>
                </a:cubicBezTo>
                <a:cubicBezTo>
                  <a:pt x="67" y="17"/>
                  <a:pt x="110" y="0"/>
                  <a:pt x="142" y="0"/>
                </a:cubicBezTo>
                <a:cubicBezTo>
                  <a:pt x="174" y="0"/>
                  <a:pt x="214" y="15"/>
                  <a:pt x="236" y="36"/>
                </a:cubicBezTo>
                <a:cubicBezTo>
                  <a:pt x="258" y="57"/>
                  <a:pt x="271" y="69"/>
                  <a:pt x="274" y="126"/>
                </a:cubicBezTo>
                <a:cubicBezTo>
                  <a:pt x="277" y="183"/>
                  <a:pt x="259" y="326"/>
                  <a:pt x="255" y="379"/>
                </a:cubicBezTo>
              </a:path>
            </a:pathLst>
          </a:custGeom>
          <a:noFill/>
          <a:ln w="38100" cap="flat" cmpd="sng">
            <a:solidFill>
              <a:srgbClr val="0099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835605" name="Rectangle 21"/>
          <p:cNvSpPr>
            <a:spLocks noChangeArrowheads="1"/>
          </p:cNvSpPr>
          <p:nvPr/>
        </p:nvSpPr>
        <p:spPr bwMode="auto">
          <a:xfrm>
            <a:off x="6732588" y="2722563"/>
            <a:ext cx="360362" cy="32861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sz="2400" b="1">
                <a:latin typeface="Times New Roman" pitchFamily="18" charset="0"/>
                <a:cs typeface="Times New Roman" pitchFamily="18" charset="0"/>
              </a:rPr>
              <a:t>0</a:t>
            </a:r>
            <a:endParaRPr lang="en-US" sz="2400" b="1">
              <a:solidFill>
                <a:srgbClr val="9966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35606" name="Freeform 22"/>
          <p:cNvSpPr>
            <a:spLocks/>
          </p:cNvSpPr>
          <p:nvPr/>
        </p:nvSpPr>
        <p:spPr bwMode="auto">
          <a:xfrm>
            <a:off x="3851275" y="3443288"/>
            <a:ext cx="1439863" cy="179387"/>
          </a:xfrm>
          <a:custGeom>
            <a:avLst/>
            <a:gdLst/>
            <a:ahLst/>
            <a:cxnLst>
              <a:cxn ang="0">
                <a:pos x="0" y="113"/>
              </a:cxn>
              <a:cxn ang="0">
                <a:pos x="454" y="0"/>
              </a:cxn>
              <a:cxn ang="0">
                <a:pos x="907" y="113"/>
              </a:cxn>
            </a:cxnLst>
            <a:rect l="0" t="0" r="r" b="b"/>
            <a:pathLst>
              <a:path w="907" h="113">
                <a:moveTo>
                  <a:pt x="0" y="113"/>
                </a:moveTo>
                <a:cubicBezTo>
                  <a:pt x="151" y="56"/>
                  <a:pt x="303" y="0"/>
                  <a:pt x="454" y="0"/>
                </a:cubicBezTo>
                <a:cubicBezTo>
                  <a:pt x="605" y="0"/>
                  <a:pt x="832" y="75"/>
                  <a:pt x="907" y="113"/>
                </a:cubicBez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835607" name="Rectangle 23"/>
          <p:cNvSpPr>
            <a:spLocks noChangeArrowheads="1"/>
          </p:cNvSpPr>
          <p:nvPr/>
        </p:nvSpPr>
        <p:spPr bwMode="auto">
          <a:xfrm>
            <a:off x="4392613" y="3082925"/>
            <a:ext cx="358775" cy="32861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sz="2400" b="1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>
              <a:solidFill>
                <a:srgbClr val="9966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35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35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35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35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3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3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35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83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3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835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35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0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835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35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835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000"/>
                            </p:stCondLst>
                            <p:childTnLst>
                              <p:par>
                                <p:cTn id="5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835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35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500"/>
                            </p:stCondLst>
                            <p:childTnLst>
                              <p:par>
                                <p:cTn id="6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835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0"/>
                            </p:stCondLst>
                            <p:childTnLst>
                              <p:par>
                                <p:cTn id="6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83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83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500"/>
                            </p:stCondLst>
                            <p:childTnLst>
                              <p:par>
                                <p:cTn id="7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835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835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5587" grpId="0" animBg="1"/>
      <p:bldP spid="835588" grpId="0" animBg="1"/>
      <p:bldP spid="835589" grpId="0" animBg="1"/>
      <p:bldP spid="835590" grpId="0" animBg="1"/>
      <p:bldP spid="835591" grpId="0" animBg="1"/>
      <p:bldP spid="835592" grpId="0" animBg="1"/>
      <p:bldP spid="835593" grpId="0" animBg="1"/>
      <p:bldP spid="835594" grpId="0" animBg="1"/>
      <p:bldP spid="835595" grpId="0" animBg="1"/>
      <p:bldP spid="835596" grpId="0"/>
      <p:bldP spid="835597" grpId="0"/>
      <p:bldP spid="835598" grpId="0"/>
      <p:bldP spid="835599" grpId="0"/>
      <p:bldP spid="835600" grpId="0" animBg="1"/>
      <p:bldP spid="835601" grpId="0"/>
      <p:bldP spid="835602" grpId="0" animBg="1"/>
      <p:bldP spid="835603" grpId="0"/>
      <p:bldP spid="835604" grpId="0" animBg="1"/>
      <p:bldP spid="835605" grpId="0"/>
      <p:bldP spid="835606" grpId="0" animBg="1"/>
      <p:bldP spid="835607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0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State reduction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AU" dirty="0" smtClean="0"/>
              <a:t>Sequential circuit analysis</a:t>
            </a:r>
          </a:p>
          <a:p>
            <a:pPr>
              <a:buNone/>
            </a:pPr>
            <a:r>
              <a:rPr lang="en-AU" dirty="0" smtClean="0"/>
              <a:t>	Circuit diagram          state table (or state diagram)</a:t>
            </a:r>
          </a:p>
          <a:p>
            <a:r>
              <a:rPr lang="en-AU" dirty="0" smtClean="0"/>
              <a:t>Sequential circuit design</a:t>
            </a:r>
          </a:p>
          <a:p>
            <a:pPr>
              <a:buNone/>
            </a:pPr>
            <a:r>
              <a:rPr lang="en-AU" dirty="0" smtClean="0"/>
              <a:t>	State diagram (state table) 	   circuit diagram</a:t>
            </a:r>
          </a:p>
          <a:p>
            <a:r>
              <a:rPr lang="en-AU" dirty="0" smtClean="0"/>
              <a:t>Redundant state may exist in a state diagram (or table)</a:t>
            </a:r>
          </a:p>
          <a:p>
            <a:r>
              <a:rPr lang="en-AU" dirty="0" smtClean="0"/>
              <a:t>By eliminating them         may reduce the # of flip-flops</a:t>
            </a:r>
            <a:endParaRPr lang="en-AU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3124200" y="2305050"/>
            <a:ext cx="6477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4667250" y="3181350"/>
            <a:ext cx="6477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3771900" y="4438650"/>
            <a:ext cx="6477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Eastern Mediterranean University</a:t>
            </a:r>
            <a:endParaRPr lang="en-US"/>
          </a:p>
        </p:txBody>
      </p:sp>
      <p:sp>
        <p:nvSpPr>
          <p:cNvPr id="874498" name="標題 5"/>
          <p:cNvSpPr>
            <a:spLocks noGrp="1"/>
          </p:cNvSpPr>
          <p:nvPr>
            <p:ph type="title" idx="4294967295"/>
          </p:nvPr>
        </p:nvSpPr>
        <p:spPr/>
        <p:txBody>
          <a:bodyPr lIns="0" tIns="0" rIns="0" bIns="0" anchor="ctr"/>
          <a:lstStyle/>
          <a:p>
            <a:r>
              <a:rPr lang="en-US" altLang="zh-TW" dirty="0" smtClean="0">
                <a:ea typeface="新細明體" pitchFamily="18" charset="-120"/>
              </a:rPr>
              <a:t/>
            </a:r>
            <a:br>
              <a:rPr lang="en-US" altLang="zh-TW" dirty="0" smtClean="0">
                <a:ea typeface="新細明體" pitchFamily="18" charset="-120"/>
              </a:rPr>
            </a:br>
            <a:r>
              <a:rPr lang="en-US" altLang="zh-TW" dirty="0" smtClean="0">
                <a:ea typeface="新細明體" pitchFamily="18" charset="-120"/>
              </a:rPr>
              <a:t>State </a:t>
            </a:r>
            <a:r>
              <a:rPr lang="en-US" altLang="zh-TW" dirty="0">
                <a:ea typeface="新細明體" pitchFamily="18" charset="-120"/>
              </a:rPr>
              <a:t>Reduction</a:t>
            </a:r>
            <a:endParaRPr lang="zh-TW" altLang="en-US" dirty="0">
              <a:ea typeface="新細明體" pitchFamily="18" charset="-120"/>
            </a:endParaRPr>
          </a:p>
        </p:txBody>
      </p:sp>
      <p:sp>
        <p:nvSpPr>
          <p:cNvPr id="874499" name="Rectangle 4"/>
          <p:cNvSpPr>
            <a:spLocks noGrp="1" noChangeArrowheads="1"/>
          </p:cNvSpPr>
          <p:nvPr>
            <p:ph sz="half" idx="4294967295"/>
          </p:nvPr>
        </p:nvSpPr>
        <p:spPr>
          <a:xfrm>
            <a:off x="153988" y="2117725"/>
            <a:ext cx="4799012" cy="5148263"/>
          </a:xfrm>
        </p:spPr>
        <p:txBody>
          <a:bodyPr lIns="90488" tIns="44450" rIns="90488" bIns="44450"/>
          <a:lstStyle/>
          <a:p>
            <a:pPr lvl="1"/>
            <a:endParaRPr lang="en-US" altLang="zh-TW" sz="2800" dirty="0">
              <a:ea typeface="新細明體" pitchFamily="18" charset="-120"/>
            </a:endParaRPr>
          </a:p>
          <a:p>
            <a:pPr lvl="1">
              <a:buFont typeface="Times New Roman" pitchFamily="18" charset="0"/>
              <a:buNone/>
            </a:pPr>
            <a:endParaRPr lang="en-US" altLang="zh-TW" sz="2400" dirty="0">
              <a:ea typeface="新細明體" pitchFamily="18" charset="-120"/>
            </a:endParaRPr>
          </a:p>
          <a:p>
            <a:pPr lvl="1"/>
            <a:r>
              <a:rPr lang="en-US" altLang="zh-TW" sz="2400" dirty="0">
                <a:ea typeface="新細明體" pitchFamily="18" charset="-120"/>
              </a:rPr>
              <a:t>Only the input-output sequences are important.</a:t>
            </a:r>
          </a:p>
          <a:p>
            <a:pPr lvl="1"/>
            <a:r>
              <a:rPr lang="en-US" altLang="zh-TW" sz="2400" dirty="0">
                <a:ea typeface="新細明體" pitchFamily="18" charset="-120"/>
              </a:rPr>
              <a:t>Two circuits are </a:t>
            </a:r>
            <a:r>
              <a:rPr lang="en-US" altLang="zh-TW" sz="2400" dirty="0">
                <a:solidFill>
                  <a:srgbClr val="FF0000"/>
                </a:solidFill>
                <a:ea typeface="新細明體" pitchFamily="18" charset="-120"/>
              </a:rPr>
              <a:t>equivalent</a:t>
            </a:r>
          </a:p>
          <a:p>
            <a:pPr lvl="2"/>
            <a:r>
              <a:rPr lang="en-US" altLang="zh-TW" sz="2400" dirty="0">
                <a:ea typeface="新細明體" pitchFamily="18" charset="-120"/>
              </a:rPr>
              <a:t>Have identical outputs for all input sequences;</a:t>
            </a:r>
          </a:p>
          <a:p>
            <a:pPr lvl="2"/>
            <a:r>
              <a:rPr lang="en-US" altLang="zh-TW" sz="2400" dirty="0">
                <a:ea typeface="新細明體" pitchFamily="18" charset="-120"/>
              </a:rPr>
              <a:t>The number of states is not important.</a:t>
            </a:r>
            <a:endParaRPr lang="zh-TW" altLang="en-US" sz="2400" dirty="0">
              <a:ea typeface="新細明體" pitchFamily="18" charset="-120"/>
            </a:endParaRPr>
          </a:p>
        </p:txBody>
      </p:sp>
      <p:pic>
        <p:nvPicPr>
          <p:cNvPr id="874500" name="Picture 5"/>
          <p:cNvPicPr>
            <a:picLocks noChangeAspect="1" noChangeArrowheads="1"/>
          </p:cNvPicPr>
          <p:nvPr/>
        </p:nvPicPr>
        <p:blipFill>
          <a:blip r:embed="rId3" cstate="print">
            <a:lum bright="-12000" contrast="30000"/>
          </a:blip>
          <a:srcRect/>
          <a:stretch>
            <a:fillRect/>
          </a:stretch>
        </p:blipFill>
        <p:spPr bwMode="auto">
          <a:xfrm>
            <a:off x="5191125" y="881063"/>
            <a:ext cx="3597275" cy="4713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74501" name="Text Box 6"/>
          <p:cNvSpPr txBox="1">
            <a:spLocks noChangeArrowheads="1"/>
          </p:cNvSpPr>
          <p:nvPr/>
        </p:nvSpPr>
        <p:spPr bwMode="auto">
          <a:xfrm>
            <a:off x="5768975" y="6199188"/>
            <a:ext cx="2468563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TW" dirty="0" smtClean="0">
                <a:latin typeface="Times New Roman" pitchFamily="18" charset="0"/>
                <a:ea typeface="新細明體" pitchFamily="18" charset="-120"/>
              </a:rPr>
              <a:t>State </a:t>
            </a:r>
            <a:r>
              <a:rPr lang="en-US" altLang="zh-TW" dirty="0">
                <a:latin typeface="Times New Roman" pitchFamily="18" charset="0"/>
                <a:ea typeface="新細明體" pitchFamily="18" charset="-120"/>
              </a:rPr>
              <a:t>diagram</a:t>
            </a:r>
          </a:p>
        </p:txBody>
      </p:sp>
      <p:graphicFrame>
        <p:nvGraphicFramePr>
          <p:cNvPr id="874546" name="Group 50"/>
          <p:cNvGraphicFramePr>
            <a:graphicFrameLocks noGrp="1"/>
          </p:cNvGraphicFramePr>
          <p:nvPr/>
        </p:nvGraphicFramePr>
        <p:xfrm>
          <a:off x="354013" y="1706563"/>
          <a:ext cx="4768850" cy="1188720"/>
        </p:xfrm>
        <a:graphic>
          <a:graphicData uri="http://schemas.openxmlformats.org/drawingml/2006/table">
            <a:tbl>
              <a:tblPr/>
              <a:tblGrid>
                <a:gridCol w="954087"/>
                <a:gridCol w="317500"/>
                <a:gridCol w="317500"/>
                <a:gridCol w="319088"/>
                <a:gridCol w="317500"/>
                <a:gridCol w="317500"/>
                <a:gridCol w="319087"/>
                <a:gridCol w="317500"/>
                <a:gridCol w="317500"/>
                <a:gridCol w="317500"/>
                <a:gridCol w="319088"/>
                <a:gridCol w="317500"/>
                <a:gridCol w="317500"/>
              </a:tblGrid>
              <a:tr h="37147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State:</a:t>
                      </a:r>
                      <a:endParaRPr kumimoji="0" lang="zh-TW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a</a:t>
                      </a:r>
                      <a:endParaRPr kumimoji="0" lang="zh-TW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a</a:t>
                      </a:r>
                      <a:endParaRPr kumimoji="0" lang="zh-TW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b</a:t>
                      </a:r>
                      <a:endParaRPr kumimoji="0" lang="zh-TW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c</a:t>
                      </a:r>
                      <a:endParaRPr kumimoji="0" lang="zh-TW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d</a:t>
                      </a:r>
                      <a:endParaRPr kumimoji="0" lang="zh-TW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e</a:t>
                      </a:r>
                      <a:endParaRPr kumimoji="0" lang="zh-TW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f</a:t>
                      </a:r>
                      <a:endParaRPr kumimoji="0" lang="zh-TW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f</a:t>
                      </a:r>
                      <a:endParaRPr kumimoji="0" lang="zh-TW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g</a:t>
                      </a:r>
                      <a:endParaRPr kumimoji="0" lang="zh-TW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f</a:t>
                      </a:r>
                      <a:endParaRPr kumimoji="0" lang="zh-TW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g</a:t>
                      </a:r>
                      <a:endParaRPr kumimoji="0" lang="zh-TW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a</a:t>
                      </a:r>
                      <a:endParaRPr kumimoji="0" lang="zh-TW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Input:</a:t>
                      </a:r>
                      <a:endParaRPr kumimoji="0" lang="zh-TW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  <a:endParaRPr kumimoji="0" lang="zh-TW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  <a:endParaRPr kumimoji="0" lang="zh-TW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  <a:endParaRPr kumimoji="0" lang="zh-TW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  <a:endParaRPr kumimoji="0" lang="zh-TW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  <a:endParaRPr kumimoji="0" lang="zh-TW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  <a:endParaRPr kumimoji="0" lang="zh-TW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  <a:endParaRPr kumimoji="0" lang="zh-TW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  <a:endParaRPr kumimoji="0" lang="zh-TW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  <a:endParaRPr kumimoji="0" lang="zh-TW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  <a:endParaRPr kumimoji="0" lang="zh-TW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  <a:endParaRPr kumimoji="0" lang="zh-TW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Outpu</a:t>
                      </a:r>
                      <a:r>
                        <a:rPr kumimoji="0" lang="tr-TR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cs typeface="Times New Roman" pitchFamily="18" charset="0"/>
                        </a:rPr>
                        <a:t>t</a:t>
                      </a:r>
                      <a:r>
                        <a:rPr kumimoji="0" lang="tr-TR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cs typeface="Times New Roman" pitchFamily="18" charset="0"/>
                        </a:rPr>
                        <a:t>:</a:t>
                      </a:r>
                      <a:endParaRPr kumimoji="0" lang="zh-TW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  <a:endParaRPr kumimoji="0" lang="zh-TW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  <a:endParaRPr kumimoji="0" lang="zh-TW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  <a:endParaRPr kumimoji="0" lang="zh-TW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  <a:endParaRPr kumimoji="0" lang="zh-TW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  <a:endParaRPr kumimoji="0" lang="zh-TW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  <a:endParaRPr kumimoji="0" lang="zh-TW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  <a:endParaRPr kumimoji="0" lang="zh-TW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  <a:endParaRPr kumimoji="0" lang="zh-TW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  <a:endParaRPr kumimoji="0" lang="zh-TW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  <a:endParaRPr kumimoji="0" lang="zh-TW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  <a:endParaRPr kumimoji="0" lang="zh-TW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522" name="標題 3"/>
          <p:cNvSpPr>
            <a:spLocks noGrp="1"/>
          </p:cNvSpPr>
          <p:nvPr>
            <p:ph type="title" idx="4294967295"/>
          </p:nvPr>
        </p:nvSpPr>
        <p:spPr/>
        <p:txBody>
          <a:bodyPr lIns="0" tIns="0" rIns="0" bIns="0" anchor="ctr"/>
          <a:lstStyle/>
          <a:p>
            <a:r>
              <a:rPr lang="en-US" altLang="zh-TW" dirty="0" smtClean="0">
                <a:ea typeface="新細明體" pitchFamily="18" charset="-120"/>
              </a:rPr>
              <a:t/>
            </a:r>
            <a:br>
              <a:rPr lang="en-US" altLang="zh-TW" dirty="0" smtClean="0">
                <a:ea typeface="新細明體" pitchFamily="18" charset="-120"/>
              </a:rPr>
            </a:br>
            <a:r>
              <a:rPr lang="en-US" altLang="zh-TW" dirty="0" smtClean="0">
                <a:ea typeface="新細明體" pitchFamily="18" charset="-120"/>
              </a:rPr>
              <a:t>State Reduction</a:t>
            </a:r>
            <a:endParaRPr lang="zh-TW" altLang="en-US" dirty="0">
              <a:ea typeface="新細明體" pitchFamily="18" charset="-120"/>
            </a:endParaRPr>
          </a:p>
        </p:txBody>
      </p:sp>
      <p:sp>
        <p:nvSpPr>
          <p:cNvPr id="875523" name="Rectangle 3"/>
          <p:cNvSpPr>
            <a:spLocks noGrp="1" noChangeArrowheads="1"/>
          </p:cNvSpPr>
          <p:nvPr>
            <p:ph idx="4294967295"/>
          </p:nvPr>
        </p:nvSpPr>
        <p:spPr/>
        <p:txBody>
          <a:bodyPr lIns="90488" tIns="44450" rIns="90488" bIns="44450">
            <a:normAutofit/>
          </a:bodyPr>
          <a:lstStyle/>
          <a:p>
            <a:r>
              <a:rPr lang="en-US" altLang="zh-TW" dirty="0">
                <a:ea typeface="新細明體" pitchFamily="18" charset="-120"/>
              </a:rPr>
              <a:t>Equivalent states</a:t>
            </a:r>
          </a:p>
          <a:p>
            <a:pPr lvl="1"/>
            <a:r>
              <a:rPr lang="en-US" altLang="zh-TW" sz="2400" dirty="0">
                <a:ea typeface="新細明體" pitchFamily="18" charset="-120"/>
              </a:rPr>
              <a:t>Two states are said to be equivalent</a:t>
            </a:r>
          </a:p>
          <a:p>
            <a:pPr lvl="2"/>
            <a:r>
              <a:rPr lang="en-US" altLang="zh-TW" sz="2400" dirty="0">
                <a:ea typeface="新細明體" pitchFamily="18" charset="-120"/>
              </a:rPr>
              <a:t>For each member of the set of inputs, they give exactly the same output and send the circuit to the same state or to an equivalent state.</a:t>
            </a:r>
          </a:p>
          <a:p>
            <a:pPr lvl="1"/>
            <a:r>
              <a:rPr lang="en-US" altLang="zh-TW" sz="2400" dirty="0">
                <a:ea typeface="新細明體" pitchFamily="18" charset="-120"/>
              </a:rPr>
              <a:t>One of them can be removed.</a:t>
            </a:r>
          </a:p>
          <a:p>
            <a:endParaRPr lang="zh-TW" altLang="en-US" dirty="0">
              <a:ea typeface="新細明體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522" name="標題 3"/>
          <p:cNvSpPr>
            <a:spLocks noGrp="1"/>
          </p:cNvSpPr>
          <p:nvPr>
            <p:ph type="title" idx="4294967295"/>
          </p:nvPr>
        </p:nvSpPr>
        <p:spPr/>
        <p:txBody>
          <a:bodyPr lIns="0" tIns="0" rIns="0" bIns="0" anchor="ctr"/>
          <a:lstStyle/>
          <a:p>
            <a:r>
              <a:rPr lang="en-US" altLang="zh-TW" dirty="0" smtClean="0">
                <a:ea typeface="新細明體" pitchFamily="18" charset="-120"/>
              </a:rPr>
              <a:t/>
            </a:r>
            <a:br>
              <a:rPr lang="en-US" altLang="zh-TW" dirty="0" smtClean="0">
                <a:ea typeface="新細明體" pitchFamily="18" charset="-120"/>
              </a:rPr>
            </a:br>
            <a:r>
              <a:rPr lang="en-US" altLang="zh-TW" dirty="0" smtClean="0">
                <a:ea typeface="新細明體" pitchFamily="18" charset="-120"/>
              </a:rPr>
              <a:t>State Reduction</a:t>
            </a:r>
            <a:endParaRPr lang="zh-TW" altLang="en-US" dirty="0">
              <a:ea typeface="新細明體" pitchFamily="18" charset="-120"/>
            </a:endParaRPr>
          </a:p>
        </p:txBody>
      </p:sp>
      <p:pic>
        <p:nvPicPr>
          <p:cNvPr id="875524" name="Picture 5"/>
          <p:cNvPicPr>
            <a:picLocks noChangeAspect="1" noChangeArrowheads="1"/>
          </p:cNvPicPr>
          <p:nvPr/>
        </p:nvPicPr>
        <p:blipFill>
          <a:blip r:embed="rId3" cstate="print">
            <a:lum bright="-6000" contrast="30000"/>
          </a:blip>
          <a:srcRect/>
          <a:stretch>
            <a:fillRect/>
          </a:stretch>
        </p:blipFill>
        <p:spPr bwMode="auto">
          <a:xfrm>
            <a:off x="503238" y="2049463"/>
            <a:ext cx="5391150" cy="3249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75525" name="Picture 5"/>
          <p:cNvPicPr>
            <a:picLocks noChangeAspect="1" noChangeArrowheads="1"/>
          </p:cNvPicPr>
          <p:nvPr/>
        </p:nvPicPr>
        <p:blipFill>
          <a:blip r:embed="rId4" cstate="print">
            <a:lum bright="-12000" contrast="30000"/>
          </a:blip>
          <a:srcRect/>
          <a:stretch>
            <a:fillRect/>
          </a:stretch>
        </p:blipFill>
        <p:spPr bwMode="auto">
          <a:xfrm>
            <a:off x="6062663" y="1644650"/>
            <a:ext cx="2776537" cy="3638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546" name="標題 3"/>
          <p:cNvSpPr>
            <a:spLocks noGrp="1"/>
          </p:cNvSpPr>
          <p:nvPr>
            <p:ph type="title" idx="4294967295"/>
          </p:nvPr>
        </p:nvSpPr>
        <p:spPr/>
        <p:txBody>
          <a:bodyPr lIns="0" tIns="0" rIns="0" bIns="0" anchor="ctr"/>
          <a:lstStyle/>
          <a:p>
            <a:r>
              <a:rPr lang="en-US" altLang="zh-TW" dirty="0" smtClean="0">
                <a:ea typeface="新細明體" pitchFamily="18" charset="-120"/>
              </a:rPr>
              <a:t/>
            </a:r>
            <a:br>
              <a:rPr lang="en-US" altLang="zh-TW" dirty="0" smtClean="0">
                <a:ea typeface="新細明體" pitchFamily="18" charset="-120"/>
              </a:rPr>
            </a:br>
            <a:r>
              <a:rPr lang="en-US" altLang="zh-TW" dirty="0" smtClean="0">
                <a:ea typeface="新細明體" pitchFamily="18" charset="-120"/>
              </a:rPr>
              <a:t>State Reduction</a:t>
            </a:r>
            <a:endParaRPr lang="zh-TW" altLang="en-US" dirty="0">
              <a:ea typeface="新細明體" pitchFamily="18" charset="-120"/>
            </a:endParaRPr>
          </a:p>
        </p:txBody>
      </p:sp>
      <p:sp>
        <p:nvSpPr>
          <p:cNvPr id="876547" name="Rectangle 3"/>
          <p:cNvSpPr>
            <a:spLocks noGrp="1" noChangeArrowheads="1"/>
          </p:cNvSpPr>
          <p:nvPr>
            <p:ph idx="4294967295"/>
          </p:nvPr>
        </p:nvSpPr>
        <p:spPr/>
        <p:txBody>
          <a:bodyPr lIns="90488" tIns="44450" rIns="90488" bIns="44450"/>
          <a:lstStyle/>
          <a:p>
            <a:r>
              <a:rPr lang="en-US" altLang="zh-TW" dirty="0">
                <a:ea typeface="新細明體" pitchFamily="18" charset="-120"/>
              </a:rPr>
              <a:t>Reducing the state table</a:t>
            </a:r>
          </a:p>
          <a:p>
            <a:pPr lvl="1"/>
            <a:r>
              <a:rPr lang="en-US" altLang="zh-TW" sz="2400" i="1" dirty="0">
                <a:ea typeface="新細明體" pitchFamily="18" charset="-120"/>
              </a:rPr>
              <a:t>e </a:t>
            </a:r>
            <a:r>
              <a:rPr lang="en-US" altLang="zh-TW" sz="2400" dirty="0">
                <a:ea typeface="新細明體" pitchFamily="18" charset="-120"/>
              </a:rPr>
              <a:t>= </a:t>
            </a:r>
            <a:r>
              <a:rPr lang="en-US" altLang="zh-TW" sz="2400" i="1" dirty="0">
                <a:ea typeface="新細明體" pitchFamily="18" charset="-120"/>
              </a:rPr>
              <a:t>g </a:t>
            </a:r>
            <a:r>
              <a:rPr lang="en-US" altLang="zh-TW" sz="2400" dirty="0">
                <a:ea typeface="新細明體" pitchFamily="18" charset="-120"/>
              </a:rPr>
              <a:t>(remove </a:t>
            </a:r>
            <a:r>
              <a:rPr lang="en-US" altLang="zh-TW" sz="2400" i="1" dirty="0">
                <a:ea typeface="新細明體" pitchFamily="18" charset="-120"/>
              </a:rPr>
              <a:t>g</a:t>
            </a:r>
            <a:r>
              <a:rPr lang="en-US" altLang="zh-TW" sz="2400" dirty="0">
                <a:ea typeface="新細明體" pitchFamily="18" charset="-120"/>
              </a:rPr>
              <a:t>);</a:t>
            </a:r>
          </a:p>
          <a:p>
            <a:pPr lvl="1"/>
            <a:r>
              <a:rPr lang="en-US" altLang="zh-TW" sz="2400" i="1" dirty="0">
                <a:ea typeface="新細明體" pitchFamily="18" charset="-120"/>
              </a:rPr>
              <a:t>d </a:t>
            </a:r>
            <a:r>
              <a:rPr lang="en-US" altLang="zh-TW" sz="2400" dirty="0">
                <a:ea typeface="新細明體" pitchFamily="18" charset="-120"/>
              </a:rPr>
              <a:t>= </a:t>
            </a:r>
            <a:r>
              <a:rPr lang="en-US" altLang="zh-TW" sz="2400" i="1" dirty="0">
                <a:ea typeface="新細明體" pitchFamily="18" charset="-120"/>
              </a:rPr>
              <a:t>f </a:t>
            </a:r>
            <a:r>
              <a:rPr lang="en-US" altLang="zh-TW" sz="2400" dirty="0">
                <a:ea typeface="新細明體" pitchFamily="18" charset="-120"/>
              </a:rPr>
              <a:t>(remove </a:t>
            </a:r>
            <a:r>
              <a:rPr lang="en-US" altLang="zh-TW" sz="2400" i="1" dirty="0">
                <a:ea typeface="新細明體" pitchFamily="18" charset="-120"/>
              </a:rPr>
              <a:t>f</a:t>
            </a:r>
            <a:r>
              <a:rPr lang="en-US" altLang="zh-TW" sz="2400" dirty="0">
                <a:ea typeface="新細明體" pitchFamily="18" charset="-120"/>
              </a:rPr>
              <a:t>);</a:t>
            </a:r>
          </a:p>
        </p:txBody>
      </p:sp>
      <p:pic>
        <p:nvPicPr>
          <p:cNvPr id="876548" name="Picture 6"/>
          <p:cNvPicPr>
            <a:picLocks noChangeAspect="1" noChangeArrowheads="1"/>
          </p:cNvPicPr>
          <p:nvPr/>
        </p:nvPicPr>
        <p:blipFill>
          <a:blip r:embed="rId3" cstate="print">
            <a:lum bright="-12000" contrast="30000"/>
          </a:blip>
          <a:srcRect/>
          <a:stretch>
            <a:fillRect/>
          </a:stretch>
        </p:blipFill>
        <p:spPr bwMode="auto">
          <a:xfrm>
            <a:off x="1439863" y="2947988"/>
            <a:ext cx="6461125" cy="3617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76549" name="矩形 4"/>
          <p:cNvSpPr>
            <a:spLocks noChangeArrowheads="1"/>
          </p:cNvSpPr>
          <p:nvPr/>
        </p:nvSpPr>
        <p:spPr bwMode="auto">
          <a:xfrm>
            <a:off x="1938338" y="5551488"/>
            <a:ext cx="5892800" cy="304800"/>
          </a:xfrm>
          <a:prstGeom prst="rect">
            <a:avLst/>
          </a:prstGeom>
          <a:noFill/>
          <a:ln w="15875" algn="ctr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lang="zh-TW" altLang="en-US" sz="1400" i="1" u="sng">
              <a:solidFill>
                <a:srgbClr val="003366"/>
              </a:solidFill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876550" name="矩形 5"/>
          <p:cNvSpPr>
            <a:spLocks noChangeArrowheads="1"/>
          </p:cNvSpPr>
          <p:nvPr/>
        </p:nvSpPr>
        <p:spPr bwMode="auto">
          <a:xfrm>
            <a:off x="1938338" y="6127750"/>
            <a:ext cx="5892800" cy="304800"/>
          </a:xfrm>
          <a:prstGeom prst="rect">
            <a:avLst/>
          </a:prstGeom>
          <a:noFill/>
          <a:ln w="15875" algn="ctr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lang="zh-TW" altLang="en-US" sz="1400" i="1" u="sng">
              <a:solidFill>
                <a:srgbClr val="003366"/>
              </a:solidFill>
              <a:latin typeface="Times New Roman" pitchFamily="18" charset="0"/>
              <a:ea typeface="新細明體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570" name="標題 3"/>
          <p:cNvSpPr>
            <a:spLocks noGrp="1"/>
          </p:cNvSpPr>
          <p:nvPr>
            <p:ph type="title" idx="4294967295"/>
          </p:nvPr>
        </p:nvSpPr>
        <p:spPr/>
        <p:txBody>
          <a:bodyPr lIns="0" tIns="0" rIns="0" bIns="0" anchor="ctr"/>
          <a:lstStyle/>
          <a:p>
            <a:r>
              <a:rPr lang="en-US" altLang="zh-TW" dirty="0" smtClean="0">
                <a:ea typeface="新細明體" pitchFamily="18" charset="-120"/>
              </a:rPr>
              <a:t/>
            </a:r>
            <a:br>
              <a:rPr lang="en-US" altLang="zh-TW" dirty="0" smtClean="0">
                <a:ea typeface="新細明體" pitchFamily="18" charset="-120"/>
              </a:rPr>
            </a:br>
            <a:r>
              <a:rPr lang="en-US" altLang="zh-TW" dirty="0" smtClean="0">
                <a:ea typeface="新細明體" pitchFamily="18" charset="-120"/>
              </a:rPr>
              <a:t>State Reduction</a:t>
            </a:r>
            <a:endParaRPr lang="zh-TW" altLang="en-US" dirty="0">
              <a:ea typeface="新細明體" pitchFamily="18" charset="-120"/>
            </a:endParaRPr>
          </a:p>
        </p:txBody>
      </p:sp>
      <p:sp>
        <p:nvSpPr>
          <p:cNvPr id="877571" name="Rectangle 3"/>
          <p:cNvSpPr>
            <a:spLocks noGrp="1" noChangeArrowheads="1"/>
          </p:cNvSpPr>
          <p:nvPr>
            <p:ph idx="4294967295"/>
          </p:nvPr>
        </p:nvSpPr>
        <p:spPr/>
        <p:txBody>
          <a:bodyPr lIns="90488" tIns="44450" rIns="90488" bIns="44450"/>
          <a:lstStyle/>
          <a:p>
            <a:pPr lvl="1"/>
            <a:r>
              <a:rPr lang="en-US" altLang="zh-TW" sz="2400" dirty="0">
                <a:ea typeface="新細明體" pitchFamily="18" charset="-120"/>
              </a:rPr>
              <a:t>The reduced finite state machine</a:t>
            </a:r>
          </a:p>
          <a:p>
            <a:pPr lvl="1"/>
            <a:endParaRPr lang="en-US" altLang="zh-TW" dirty="0">
              <a:ea typeface="新細明體" pitchFamily="18" charset="-120"/>
            </a:endParaRPr>
          </a:p>
          <a:p>
            <a:pPr lvl="1"/>
            <a:endParaRPr lang="en-US" altLang="zh-TW" dirty="0">
              <a:ea typeface="新細明體" pitchFamily="18" charset="-120"/>
            </a:endParaRPr>
          </a:p>
          <a:p>
            <a:pPr lvl="1"/>
            <a:endParaRPr lang="en-US" altLang="zh-TW" dirty="0">
              <a:ea typeface="新細明體" pitchFamily="18" charset="-120"/>
            </a:endParaRPr>
          </a:p>
          <a:p>
            <a:pPr lvl="1"/>
            <a:endParaRPr lang="en-US" altLang="zh-TW" dirty="0">
              <a:ea typeface="新細明體" pitchFamily="18" charset="-120"/>
            </a:endParaRPr>
          </a:p>
          <a:p>
            <a:pPr lvl="1"/>
            <a:endParaRPr lang="en-US" altLang="zh-TW" dirty="0">
              <a:ea typeface="新細明體" pitchFamily="18" charset="-120"/>
            </a:endParaRPr>
          </a:p>
          <a:p>
            <a:pPr lvl="1"/>
            <a:endParaRPr lang="en-US" altLang="zh-TW" dirty="0">
              <a:ea typeface="新細明體" pitchFamily="18" charset="-120"/>
            </a:endParaRPr>
          </a:p>
          <a:p>
            <a:pPr lvl="1"/>
            <a:endParaRPr lang="en-US" altLang="zh-TW" dirty="0">
              <a:ea typeface="新細明體" pitchFamily="18" charset="-120"/>
            </a:endParaRPr>
          </a:p>
          <a:p>
            <a:pPr lvl="1"/>
            <a:endParaRPr lang="en-US" altLang="zh-TW" dirty="0">
              <a:ea typeface="新細明體" pitchFamily="18" charset="-120"/>
            </a:endParaRPr>
          </a:p>
          <a:p>
            <a:pPr lvl="1"/>
            <a:endParaRPr lang="en-US" altLang="zh-TW" dirty="0">
              <a:ea typeface="新細明體" pitchFamily="18" charset="-120"/>
            </a:endParaRPr>
          </a:p>
          <a:p>
            <a:pPr lvl="1"/>
            <a:endParaRPr lang="en-US" altLang="zh-TW" dirty="0">
              <a:ea typeface="新細明體" pitchFamily="18" charset="-120"/>
            </a:endParaRPr>
          </a:p>
          <a:p>
            <a:pPr lvl="1"/>
            <a:endParaRPr lang="en-US" altLang="zh-TW" dirty="0">
              <a:ea typeface="新細明體" pitchFamily="18" charset="-120"/>
            </a:endParaRPr>
          </a:p>
        </p:txBody>
      </p:sp>
      <p:pic>
        <p:nvPicPr>
          <p:cNvPr id="877572" name="Picture 5"/>
          <p:cNvPicPr>
            <a:picLocks noChangeAspect="1" noChangeArrowheads="1"/>
          </p:cNvPicPr>
          <p:nvPr/>
        </p:nvPicPr>
        <p:blipFill>
          <a:blip r:embed="rId3" cstate="print">
            <a:lum bright="-6000" contrast="24000"/>
          </a:blip>
          <a:srcRect/>
          <a:stretch>
            <a:fillRect/>
          </a:stretch>
        </p:blipFill>
        <p:spPr bwMode="auto">
          <a:xfrm>
            <a:off x="1363663" y="1938338"/>
            <a:ext cx="6267450" cy="3221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877613" name="Group 45"/>
          <p:cNvGraphicFramePr>
            <a:graphicFrameLocks noGrp="1"/>
          </p:cNvGraphicFramePr>
          <p:nvPr/>
        </p:nvGraphicFramePr>
        <p:xfrm>
          <a:off x="2190750" y="5421313"/>
          <a:ext cx="4768850" cy="1188720"/>
        </p:xfrm>
        <a:graphic>
          <a:graphicData uri="http://schemas.openxmlformats.org/drawingml/2006/table">
            <a:tbl>
              <a:tblPr/>
              <a:tblGrid>
                <a:gridCol w="954088"/>
                <a:gridCol w="317500"/>
                <a:gridCol w="317500"/>
                <a:gridCol w="319087"/>
                <a:gridCol w="317500"/>
                <a:gridCol w="317500"/>
                <a:gridCol w="319088"/>
                <a:gridCol w="317500"/>
                <a:gridCol w="317500"/>
                <a:gridCol w="317500"/>
                <a:gridCol w="319087"/>
                <a:gridCol w="317500"/>
                <a:gridCol w="317500"/>
              </a:tblGrid>
              <a:tr h="37147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State:</a:t>
                      </a:r>
                      <a:endParaRPr kumimoji="0" lang="zh-TW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a</a:t>
                      </a:r>
                      <a:endParaRPr kumimoji="0" lang="zh-TW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a</a:t>
                      </a:r>
                      <a:endParaRPr kumimoji="0" lang="zh-TW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b</a:t>
                      </a:r>
                      <a:endParaRPr kumimoji="0" lang="zh-TW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c</a:t>
                      </a:r>
                      <a:endParaRPr kumimoji="0" lang="zh-TW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d</a:t>
                      </a:r>
                      <a:endParaRPr kumimoji="0" lang="zh-TW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e</a:t>
                      </a:r>
                      <a:endParaRPr kumimoji="0" lang="zh-TW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d</a:t>
                      </a:r>
                      <a:endParaRPr kumimoji="0" lang="zh-TW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d</a:t>
                      </a:r>
                      <a:endParaRPr kumimoji="0" lang="zh-TW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e</a:t>
                      </a:r>
                      <a:endParaRPr kumimoji="0" lang="zh-TW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d</a:t>
                      </a:r>
                      <a:endParaRPr kumimoji="0" lang="zh-TW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e</a:t>
                      </a:r>
                      <a:endParaRPr kumimoji="0" lang="zh-TW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a</a:t>
                      </a:r>
                      <a:endParaRPr kumimoji="0" lang="zh-TW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Input:</a:t>
                      </a:r>
                      <a:endParaRPr kumimoji="0" lang="zh-TW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  <a:endParaRPr kumimoji="0" lang="zh-TW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  <a:endParaRPr kumimoji="0" lang="zh-TW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  <a:endParaRPr kumimoji="0" lang="zh-TW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  <a:endParaRPr kumimoji="0" lang="zh-TW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  <a:endParaRPr kumimoji="0" lang="zh-TW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  <a:endParaRPr kumimoji="0" lang="zh-TW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  <a:endParaRPr kumimoji="0" lang="zh-TW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  <a:endParaRPr kumimoji="0" lang="zh-TW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  <a:endParaRPr kumimoji="0" lang="zh-TW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  <a:endParaRPr kumimoji="0" lang="zh-TW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  <a:endParaRPr kumimoji="0" lang="zh-TW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Output:</a:t>
                      </a:r>
                      <a:endParaRPr kumimoji="0" lang="zh-TW" altLang="en-US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  <a:endParaRPr kumimoji="0" lang="zh-TW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  <a:endParaRPr kumimoji="0" lang="zh-TW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  <a:endParaRPr kumimoji="0" lang="zh-TW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  <a:endParaRPr kumimoji="0" lang="zh-TW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  <a:endParaRPr kumimoji="0" lang="zh-TW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  <a:endParaRPr kumimoji="0" lang="zh-TW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  <a:endParaRPr kumimoji="0" lang="zh-TW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  <a:endParaRPr kumimoji="0" lang="zh-TW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  <a:endParaRPr kumimoji="0" lang="zh-TW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  <a:endParaRPr kumimoji="0" lang="zh-TW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  <a:endParaRPr kumimoji="0" lang="zh-TW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522" name="標題 3"/>
          <p:cNvSpPr>
            <a:spLocks noGrp="1"/>
          </p:cNvSpPr>
          <p:nvPr>
            <p:ph type="title" idx="4294967295"/>
          </p:nvPr>
        </p:nvSpPr>
        <p:spPr/>
        <p:txBody>
          <a:bodyPr lIns="0" tIns="0" rIns="0" bIns="0" anchor="ctr"/>
          <a:lstStyle/>
          <a:p>
            <a:r>
              <a:rPr lang="en-US" altLang="zh-TW" dirty="0" smtClean="0">
                <a:ea typeface="新細明體" pitchFamily="18" charset="-120"/>
              </a:rPr>
              <a:t/>
            </a:r>
            <a:br>
              <a:rPr lang="en-US" altLang="zh-TW" dirty="0" smtClean="0">
                <a:ea typeface="新細明體" pitchFamily="18" charset="-120"/>
              </a:rPr>
            </a:br>
            <a:r>
              <a:rPr lang="en-US" altLang="zh-TW" dirty="0" smtClean="0">
                <a:ea typeface="新細明體" pitchFamily="18" charset="-120"/>
              </a:rPr>
              <a:t>State Reduction: </a:t>
            </a:r>
            <a:r>
              <a:rPr lang="tr-TR" dirty="0" smtClean="0"/>
              <a:t>Implication Table</a:t>
            </a:r>
            <a:endParaRPr lang="zh-TW" altLang="en-US" dirty="0">
              <a:ea typeface="新細明體" pitchFamily="18" charset="-120"/>
            </a:endParaRPr>
          </a:p>
        </p:txBody>
      </p:sp>
      <p:sp>
        <p:nvSpPr>
          <p:cNvPr id="875523" name="Rectangle 3"/>
          <p:cNvSpPr>
            <a:spLocks noGrp="1" noChangeArrowheads="1"/>
          </p:cNvSpPr>
          <p:nvPr>
            <p:ph idx="4294967295"/>
          </p:nvPr>
        </p:nvSpPr>
        <p:spPr/>
        <p:txBody>
          <a:bodyPr lIns="90488" tIns="44450" rIns="90488" bIns="44450">
            <a:normAutofit/>
          </a:bodyPr>
          <a:lstStyle/>
          <a:p>
            <a:r>
              <a:rPr lang="en-US" dirty="0" smtClean="0"/>
              <a:t>The state-reduction procedure for completely</a:t>
            </a:r>
            <a:r>
              <a:rPr lang="tr-TR" dirty="0" smtClean="0"/>
              <a:t> </a:t>
            </a:r>
            <a:r>
              <a:rPr lang="en-US" dirty="0" smtClean="0"/>
              <a:t>specified state tables is based on the algorithm</a:t>
            </a:r>
            <a:r>
              <a:rPr lang="tr-TR" dirty="0" smtClean="0"/>
              <a:t> </a:t>
            </a:r>
            <a:r>
              <a:rPr lang="en-US" dirty="0" smtClean="0"/>
              <a:t>that two states in a state table can be combined</a:t>
            </a:r>
            <a:r>
              <a:rPr lang="tr-TR" dirty="0" smtClean="0"/>
              <a:t> </a:t>
            </a:r>
            <a:r>
              <a:rPr lang="en-US" dirty="0" smtClean="0"/>
              <a:t>into one if they can be shown to be equivalent.</a:t>
            </a:r>
          </a:p>
          <a:p>
            <a:r>
              <a:rPr lang="tr-TR" dirty="0" smtClean="0"/>
              <a:t> </a:t>
            </a:r>
            <a:r>
              <a:rPr lang="en-US" dirty="0" smtClean="0"/>
              <a:t>There are occasions when a pair of states do not</a:t>
            </a:r>
            <a:r>
              <a:rPr lang="tr-TR" dirty="0" smtClean="0"/>
              <a:t> </a:t>
            </a:r>
            <a:r>
              <a:rPr lang="en-US" dirty="0" smtClean="0"/>
              <a:t>have the same next states, but, nonetheless, go to</a:t>
            </a:r>
            <a:r>
              <a:rPr lang="tr-TR" dirty="0" smtClean="0"/>
              <a:t> </a:t>
            </a:r>
            <a:r>
              <a:rPr lang="en-US" dirty="0" smtClean="0"/>
              <a:t>equivalent next states</a:t>
            </a:r>
          </a:p>
          <a:p>
            <a:endParaRPr lang="en-US" altLang="zh-TW" dirty="0" smtClean="0">
              <a:ea typeface="新細明體" pitchFamily="18" charset="-120"/>
            </a:endParaRPr>
          </a:p>
          <a:p>
            <a:r>
              <a:rPr lang="en-US" dirty="0" smtClean="0"/>
              <a:t>The checking of each pair of states for possible</a:t>
            </a:r>
            <a:r>
              <a:rPr lang="tr-TR" dirty="0" smtClean="0"/>
              <a:t> </a:t>
            </a:r>
            <a:r>
              <a:rPr lang="en-US" dirty="0" smtClean="0"/>
              <a:t>equivalence in a table with a large number of</a:t>
            </a:r>
            <a:r>
              <a:rPr lang="tr-TR" dirty="0" smtClean="0"/>
              <a:t> </a:t>
            </a:r>
            <a:r>
              <a:rPr lang="en-US" dirty="0" smtClean="0"/>
              <a:t>states can be done systematically by means of an</a:t>
            </a:r>
            <a:r>
              <a:rPr lang="tr-TR" dirty="0" smtClean="0"/>
              <a:t> </a:t>
            </a:r>
            <a:r>
              <a:rPr lang="en-US" i="1" dirty="0" smtClean="0"/>
              <a:t>implication table</a:t>
            </a:r>
            <a:r>
              <a:rPr lang="en-US" dirty="0" smtClean="0"/>
              <a:t>.</a:t>
            </a:r>
            <a:endParaRPr lang="zh-TW" altLang="en-US" dirty="0">
              <a:ea typeface="新細明體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7945438" y="6489700"/>
            <a:ext cx="1198562" cy="2889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3C5A2248-9C1B-48F3-BE87-875CB2CFBFBA}" type="slidenum">
              <a:rPr lang="en-US"/>
              <a:pPr>
                <a:defRPr/>
              </a:pPr>
              <a:t>63</a:t>
            </a:fld>
            <a:endParaRPr lang="en-US"/>
          </a:p>
        </p:txBody>
      </p:sp>
      <p:sp>
        <p:nvSpPr>
          <p:cNvPr id="894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ea typeface="新細明體" pitchFamily="18" charset="-120"/>
              </a:rPr>
              <a:t/>
            </a:r>
            <a:br>
              <a:rPr lang="en-US" altLang="zh-TW" dirty="0" smtClean="0">
                <a:ea typeface="新細明體" pitchFamily="18" charset="-120"/>
              </a:rPr>
            </a:br>
            <a:r>
              <a:rPr lang="en-US" altLang="zh-TW" dirty="0" smtClean="0">
                <a:ea typeface="新細明體" pitchFamily="18" charset="-120"/>
              </a:rPr>
              <a:t>State Reduction: </a:t>
            </a:r>
            <a:r>
              <a:rPr lang="tr-TR" dirty="0" smtClean="0"/>
              <a:t>Implication Table</a:t>
            </a:r>
            <a:endParaRPr lang="en-US" dirty="0" smtClean="0"/>
          </a:p>
        </p:txBody>
      </p:sp>
      <p:pic>
        <p:nvPicPr>
          <p:cNvPr id="5837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33167" y="1792288"/>
            <a:ext cx="5704234" cy="20939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tr-TR" dirty="0" smtClean="0"/>
          </a:p>
          <a:p>
            <a:endParaRPr lang="tr-TR" sz="2000" dirty="0" smtClean="0"/>
          </a:p>
          <a:p>
            <a:endParaRPr lang="tr-TR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r>
              <a:rPr lang="en-US" dirty="0" smtClean="0"/>
              <a:t>(</a:t>
            </a:r>
            <a:r>
              <a:rPr lang="en-US" i="1" dirty="0" smtClean="0"/>
              <a:t>a</a:t>
            </a:r>
            <a:r>
              <a:rPr lang="en-US" dirty="0" smtClean="0"/>
              <a:t>, </a:t>
            </a:r>
            <a:r>
              <a:rPr lang="en-US" i="1" dirty="0" smtClean="0"/>
              <a:t>b</a:t>
            </a:r>
            <a:r>
              <a:rPr lang="en-US" dirty="0" smtClean="0"/>
              <a:t>) </a:t>
            </a:r>
            <a:r>
              <a:rPr lang="en-US" i="1" dirty="0" smtClean="0"/>
              <a:t>imply </a:t>
            </a:r>
            <a:r>
              <a:rPr lang="en-US" dirty="0" smtClean="0"/>
              <a:t>(</a:t>
            </a:r>
            <a:r>
              <a:rPr lang="en-US" i="1" dirty="0" smtClean="0"/>
              <a:t>c</a:t>
            </a:r>
            <a:r>
              <a:rPr lang="en-US" dirty="0" smtClean="0"/>
              <a:t>, </a:t>
            </a:r>
            <a:r>
              <a:rPr lang="en-US" i="1" dirty="0" smtClean="0"/>
              <a:t>d</a:t>
            </a:r>
            <a:r>
              <a:rPr lang="en-US" dirty="0" smtClean="0"/>
              <a:t>) and (</a:t>
            </a:r>
            <a:r>
              <a:rPr lang="en-US" i="1" dirty="0" smtClean="0"/>
              <a:t>c</a:t>
            </a:r>
            <a:r>
              <a:rPr lang="en-US" dirty="0" smtClean="0"/>
              <a:t>, </a:t>
            </a:r>
            <a:r>
              <a:rPr lang="en-US" i="1" dirty="0" smtClean="0"/>
              <a:t>d</a:t>
            </a:r>
            <a:r>
              <a:rPr lang="en-US" dirty="0" smtClean="0"/>
              <a:t>) </a:t>
            </a:r>
            <a:r>
              <a:rPr lang="en-US" i="1" dirty="0" smtClean="0"/>
              <a:t>imply </a:t>
            </a:r>
            <a:r>
              <a:rPr lang="en-US" dirty="0" smtClean="0"/>
              <a:t>(</a:t>
            </a:r>
            <a:r>
              <a:rPr lang="en-US" i="1" dirty="0" smtClean="0"/>
              <a:t>a</a:t>
            </a:r>
            <a:r>
              <a:rPr lang="en-US" dirty="0" smtClean="0"/>
              <a:t>, </a:t>
            </a:r>
            <a:r>
              <a:rPr lang="en-US" i="1" dirty="0" smtClean="0"/>
              <a:t>b</a:t>
            </a:r>
            <a:r>
              <a:rPr lang="en-US" dirty="0" smtClean="0"/>
              <a:t>). Both pairs</a:t>
            </a:r>
            <a:r>
              <a:rPr lang="tr-TR" dirty="0" smtClean="0"/>
              <a:t> </a:t>
            </a:r>
            <a:r>
              <a:rPr lang="en-US" dirty="0" smtClean="0"/>
              <a:t>of states are equivalent; i.e., </a:t>
            </a:r>
            <a:r>
              <a:rPr lang="en-US" i="1" dirty="0" smtClean="0"/>
              <a:t>a </a:t>
            </a:r>
            <a:r>
              <a:rPr lang="en-US" dirty="0" smtClean="0"/>
              <a:t>and </a:t>
            </a:r>
            <a:r>
              <a:rPr lang="en-US" i="1" dirty="0" smtClean="0"/>
              <a:t>b </a:t>
            </a:r>
            <a:r>
              <a:rPr lang="en-US" dirty="0" smtClean="0"/>
              <a:t>are</a:t>
            </a:r>
            <a:r>
              <a:rPr lang="tr-TR" dirty="0" smtClean="0"/>
              <a:t> </a:t>
            </a:r>
            <a:r>
              <a:rPr lang="en-US" dirty="0" smtClean="0"/>
              <a:t>equivalent as</a:t>
            </a:r>
            <a:r>
              <a:rPr lang="tr-TR" dirty="0" smtClean="0"/>
              <a:t> </a:t>
            </a:r>
            <a:r>
              <a:rPr lang="en-US" dirty="0" smtClean="0"/>
              <a:t>well as </a:t>
            </a:r>
            <a:r>
              <a:rPr lang="en-US" i="1" dirty="0" smtClean="0"/>
              <a:t>c </a:t>
            </a:r>
            <a:r>
              <a:rPr lang="en-US" dirty="0" smtClean="0"/>
              <a:t>and </a:t>
            </a:r>
            <a:r>
              <a:rPr lang="en-US" i="1" dirty="0" smtClean="0"/>
              <a:t>d</a:t>
            </a:r>
            <a:r>
              <a:rPr lang="en-US" dirty="0" smtClean="0"/>
              <a:t>.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ea typeface="新細明體" pitchFamily="18" charset="-120"/>
              </a:rPr>
              <a:t/>
            </a:r>
            <a:br>
              <a:rPr lang="en-US" altLang="zh-TW" dirty="0" smtClean="0">
                <a:ea typeface="新細明體" pitchFamily="18" charset="-120"/>
              </a:rPr>
            </a:br>
            <a:r>
              <a:rPr lang="en-US" altLang="zh-TW" dirty="0" smtClean="0">
                <a:ea typeface="新細明體" pitchFamily="18" charset="-120"/>
              </a:rPr>
              <a:t>State Reduction:</a:t>
            </a:r>
            <a:r>
              <a:rPr lang="tr-TR" dirty="0" smtClean="0"/>
              <a:t>Implication Table</a:t>
            </a:r>
            <a:endParaRPr lang="en-US" dirty="0" smtClean="0"/>
          </a:p>
        </p:txBody>
      </p:sp>
      <p:pic>
        <p:nvPicPr>
          <p:cNvPr id="59398" name="Picture 5"/>
          <p:cNvPicPr>
            <a:picLocks noChangeAspect="1" noChangeArrowheads="1"/>
          </p:cNvPicPr>
          <p:nvPr/>
        </p:nvPicPr>
        <p:blipFill>
          <a:blip r:embed="rId3" cstate="print">
            <a:lum bright="-12000" contrast="24000"/>
          </a:blip>
          <a:srcRect/>
          <a:stretch>
            <a:fillRect/>
          </a:stretch>
        </p:blipFill>
        <p:spPr bwMode="auto">
          <a:xfrm>
            <a:off x="4419600" y="2343150"/>
            <a:ext cx="4306888" cy="223730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8" name="Picture 5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4" cstate="print">
            <a:lum contrast="18000"/>
          </a:blip>
          <a:srcRect/>
          <a:stretch>
            <a:fillRect/>
          </a:stretch>
        </p:blipFill>
        <p:spPr bwMode="auto">
          <a:xfrm>
            <a:off x="266700" y="1670215"/>
            <a:ext cx="4062236" cy="3788684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522" name="標題 3"/>
          <p:cNvSpPr>
            <a:spLocks noGrp="1"/>
          </p:cNvSpPr>
          <p:nvPr>
            <p:ph type="title" idx="4294967295"/>
          </p:nvPr>
        </p:nvSpPr>
        <p:spPr/>
        <p:txBody>
          <a:bodyPr lIns="0" tIns="0" rIns="0" bIns="0" anchor="ctr"/>
          <a:lstStyle/>
          <a:p>
            <a:r>
              <a:rPr lang="en-US" altLang="zh-TW" dirty="0" smtClean="0">
                <a:ea typeface="新細明體" pitchFamily="18" charset="-120"/>
              </a:rPr>
              <a:t/>
            </a:r>
            <a:br>
              <a:rPr lang="en-US" altLang="zh-TW" dirty="0" smtClean="0">
                <a:ea typeface="新細明體" pitchFamily="18" charset="-120"/>
              </a:rPr>
            </a:br>
            <a:r>
              <a:rPr lang="en-US" altLang="zh-TW" dirty="0" smtClean="0">
                <a:ea typeface="新細明體" pitchFamily="18" charset="-120"/>
              </a:rPr>
              <a:t>State Reduction: </a:t>
            </a:r>
            <a:r>
              <a:rPr lang="tr-TR" dirty="0" smtClean="0"/>
              <a:t>Implication Table</a:t>
            </a:r>
            <a:endParaRPr lang="zh-TW" altLang="en-US" dirty="0">
              <a:ea typeface="新細明體" pitchFamily="18" charset="-120"/>
            </a:endParaRPr>
          </a:p>
        </p:txBody>
      </p:sp>
      <p:sp>
        <p:nvSpPr>
          <p:cNvPr id="875523" name="Rectangle 3"/>
          <p:cNvSpPr>
            <a:spLocks noGrp="1" noChangeArrowheads="1"/>
          </p:cNvSpPr>
          <p:nvPr>
            <p:ph idx="4294967295"/>
          </p:nvPr>
        </p:nvSpPr>
        <p:spPr/>
        <p:txBody>
          <a:bodyPr lIns="90488" tIns="44450" rIns="90488" bIns="44450">
            <a:normAutofit/>
          </a:bodyPr>
          <a:lstStyle/>
          <a:p>
            <a:pPr marL="274320" lvl="1">
              <a:spcBef>
                <a:spcPts val="600"/>
              </a:spcBef>
              <a:buSzPct val="70000"/>
              <a:buFont typeface="Wingdings"/>
              <a:buChar char=""/>
            </a:pPr>
            <a:r>
              <a:rPr lang="en-US" sz="2400" dirty="0" smtClean="0"/>
              <a:t>Finally, all the squares that have no crosses</a:t>
            </a:r>
            <a:r>
              <a:rPr lang="tr-TR" sz="2400" dirty="0" smtClean="0"/>
              <a:t> </a:t>
            </a:r>
            <a:r>
              <a:rPr lang="en-US" sz="2400" dirty="0" smtClean="0"/>
              <a:t>are recorded with check marks. The equivalent</a:t>
            </a:r>
            <a:r>
              <a:rPr lang="tr-TR" sz="2400" dirty="0" smtClean="0"/>
              <a:t> </a:t>
            </a:r>
            <a:r>
              <a:rPr lang="en-US" sz="2400" dirty="0" smtClean="0"/>
              <a:t>states are: (</a:t>
            </a:r>
            <a:r>
              <a:rPr lang="en-US" sz="2400" i="1" dirty="0" smtClean="0"/>
              <a:t>a</a:t>
            </a:r>
            <a:r>
              <a:rPr lang="en-US" sz="2400" dirty="0" smtClean="0"/>
              <a:t>, </a:t>
            </a:r>
            <a:r>
              <a:rPr lang="en-US" sz="2400" i="1" dirty="0" smtClean="0"/>
              <a:t>b</a:t>
            </a:r>
            <a:r>
              <a:rPr lang="en-US" sz="2400" dirty="0" smtClean="0"/>
              <a:t>), (</a:t>
            </a:r>
            <a:r>
              <a:rPr lang="en-US" sz="2400" i="1" dirty="0" smtClean="0"/>
              <a:t>d</a:t>
            </a:r>
            <a:r>
              <a:rPr lang="en-US" sz="2400" dirty="0" smtClean="0"/>
              <a:t>, </a:t>
            </a:r>
            <a:r>
              <a:rPr lang="en-US" sz="2400" i="1" dirty="0" smtClean="0"/>
              <a:t>e</a:t>
            </a:r>
            <a:r>
              <a:rPr lang="en-US" sz="2400" dirty="0" smtClean="0"/>
              <a:t>), (</a:t>
            </a:r>
            <a:r>
              <a:rPr lang="en-US" sz="2400" i="1" dirty="0" smtClean="0"/>
              <a:t>d</a:t>
            </a:r>
            <a:r>
              <a:rPr lang="en-US" sz="2400" dirty="0" smtClean="0"/>
              <a:t>, </a:t>
            </a:r>
            <a:r>
              <a:rPr lang="en-US" sz="2400" i="1" dirty="0" smtClean="0"/>
              <a:t>g</a:t>
            </a:r>
            <a:r>
              <a:rPr lang="en-US" sz="2400" dirty="0" smtClean="0"/>
              <a:t>), (</a:t>
            </a:r>
            <a:r>
              <a:rPr lang="en-US" sz="2400" i="1" dirty="0" smtClean="0"/>
              <a:t>e</a:t>
            </a:r>
            <a:r>
              <a:rPr lang="en-US" sz="2400" dirty="0" smtClean="0"/>
              <a:t>, </a:t>
            </a:r>
            <a:r>
              <a:rPr lang="en-US" sz="2400" i="1" dirty="0" smtClean="0"/>
              <a:t>g</a:t>
            </a:r>
            <a:r>
              <a:rPr lang="en-US" sz="2400" dirty="0" smtClean="0"/>
              <a:t>).</a:t>
            </a:r>
          </a:p>
          <a:p>
            <a:pPr marL="274320" lvl="1">
              <a:spcBef>
                <a:spcPts val="600"/>
              </a:spcBef>
              <a:buSzPct val="70000"/>
              <a:buFont typeface="Wingdings"/>
              <a:buChar char=""/>
            </a:pPr>
            <a:endParaRPr lang="en-US" sz="2400" dirty="0" smtClean="0"/>
          </a:p>
          <a:p>
            <a:pPr marL="274320" lvl="1">
              <a:spcBef>
                <a:spcPts val="600"/>
              </a:spcBef>
              <a:buSzPct val="70000"/>
              <a:buFont typeface="Wingdings"/>
              <a:buChar char=""/>
            </a:pPr>
            <a:endParaRPr lang="en-US" sz="2400" dirty="0" smtClean="0"/>
          </a:p>
          <a:p>
            <a:pPr marL="274320" lvl="1">
              <a:spcBef>
                <a:spcPts val="600"/>
              </a:spcBef>
              <a:buSzPct val="70000"/>
              <a:buFont typeface="Wingdings"/>
              <a:buChar char=""/>
            </a:pPr>
            <a:r>
              <a:rPr lang="en-US" sz="2400" dirty="0" smtClean="0"/>
              <a:t>We now combine pairs of states into larger groups</a:t>
            </a:r>
            <a:r>
              <a:rPr lang="tr-TR" sz="2400" dirty="0" smtClean="0"/>
              <a:t> </a:t>
            </a:r>
            <a:r>
              <a:rPr lang="en-US" sz="2400" dirty="0" smtClean="0"/>
              <a:t>of equivalent states. The last three pairs can be</a:t>
            </a:r>
            <a:r>
              <a:rPr lang="tr-TR" sz="2400" dirty="0" smtClean="0"/>
              <a:t> </a:t>
            </a:r>
            <a:r>
              <a:rPr lang="en-US" sz="2400" dirty="0" smtClean="0"/>
              <a:t>combined into a set of three equivalent states (</a:t>
            </a:r>
            <a:r>
              <a:rPr lang="en-US" sz="2400" i="1" dirty="0" smtClean="0"/>
              <a:t>d</a:t>
            </a:r>
            <a:r>
              <a:rPr lang="en-US" sz="2400" dirty="0" smtClean="0"/>
              <a:t>, </a:t>
            </a:r>
            <a:r>
              <a:rPr lang="en-US" sz="2400" i="1" dirty="0" smtClean="0"/>
              <a:t>e</a:t>
            </a:r>
            <a:r>
              <a:rPr lang="en-US" sz="2400" dirty="0" smtClean="0"/>
              <a:t>, </a:t>
            </a:r>
            <a:r>
              <a:rPr lang="en-US" sz="2400" i="1" dirty="0" smtClean="0"/>
              <a:t>g</a:t>
            </a:r>
            <a:r>
              <a:rPr lang="en-US" sz="2400" dirty="0" smtClean="0"/>
              <a:t>) because each one of the states in the group is</a:t>
            </a:r>
            <a:r>
              <a:rPr lang="tr-TR" sz="2400" dirty="0" smtClean="0"/>
              <a:t> </a:t>
            </a:r>
            <a:r>
              <a:rPr lang="en-US" sz="2400" dirty="0" smtClean="0"/>
              <a:t>equivalent to the other two. 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522" name="標題 3"/>
          <p:cNvSpPr>
            <a:spLocks noGrp="1"/>
          </p:cNvSpPr>
          <p:nvPr>
            <p:ph type="title" idx="4294967295"/>
          </p:nvPr>
        </p:nvSpPr>
        <p:spPr/>
        <p:txBody>
          <a:bodyPr lIns="0" tIns="0" rIns="0" bIns="0" anchor="ctr"/>
          <a:lstStyle/>
          <a:p>
            <a:r>
              <a:rPr lang="en-US" altLang="zh-TW" dirty="0" smtClean="0">
                <a:ea typeface="新細明體" pitchFamily="18" charset="-120"/>
              </a:rPr>
              <a:t/>
            </a:r>
            <a:br>
              <a:rPr lang="en-US" altLang="zh-TW" dirty="0" smtClean="0">
                <a:ea typeface="新細明體" pitchFamily="18" charset="-120"/>
              </a:rPr>
            </a:br>
            <a:r>
              <a:rPr lang="en-US" altLang="zh-TW" dirty="0" smtClean="0">
                <a:ea typeface="新細明體" pitchFamily="18" charset="-120"/>
              </a:rPr>
              <a:t>State Reduction: </a:t>
            </a:r>
            <a:r>
              <a:rPr lang="tr-TR" dirty="0" smtClean="0"/>
              <a:t>Implication Table</a:t>
            </a:r>
            <a:endParaRPr lang="zh-TW" altLang="en-US" dirty="0">
              <a:ea typeface="新細明體" pitchFamily="18" charset="-120"/>
            </a:endParaRPr>
          </a:p>
        </p:txBody>
      </p:sp>
      <p:sp>
        <p:nvSpPr>
          <p:cNvPr id="875523" name="Rectangle 3"/>
          <p:cNvSpPr>
            <a:spLocks noGrp="1" noChangeArrowheads="1"/>
          </p:cNvSpPr>
          <p:nvPr>
            <p:ph idx="4294967295"/>
          </p:nvPr>
        </p:nvSpPr>
        <p:spPr/>
        <p:txBody>
          <a:bodyPr lIns="90488" tIns="44450" rIns="90488" bIns="44450">
            <a:normAutofit/>
          </a:bodyPr>
          <a:lstStyle/>
          <a:p>
            <a:pPr marL="274320" lvl="1">
              <a:spcBef>
                <a:spcPts val="600"/>
              </a:spcBef>
              <a:buSzPct val="70000"/>
              <a:buFont typeface="Wingdings"/>
              <a:buChar char=""/>
            </a:pPr>
            <a:r>
              <a:rPr lang="en-US" sz="2400" dirty="0" smtClean="0"/>
              <a:t>The final partition of</a:t>
            </a:r>
            <a:r>
              <a:rPr lang="tr-TR" sz="2400" dirty="0" smtClean="0"/>
              <a:t> </a:t>
            </a:r>
            <a:r>
              <a:rPr lang="en-US" sz="2400" dirty="0" smtClean="0"/>
              <a:t>these states consists of the equivalent states found</a:t>
            </a:r>
            <a:r>
              <a:rPr lang="tr-TR" sz="2400" dirty="0" smtClean="0"/>
              <a:t> </a:t>
            </a:r>
            <a:r>
              <a:rPr lang="en-US" sz="2400" dirty="0" smtClean="0"/>
              <a:t>from the implication table, together with all the</a:t>
            </a:r>
            <a:r>
              <a:rPr lang="tr-TR" sz="2400" dirty="0" smtClean="0"/>
              <a:t> </a:t>
            </a:r>
            <a:r>
              <a:rPr lang="en-US" sz="2400" dirty="0" smtClean="0"/>
              <a:t>remaining states in the state table that are not</a:t>
            </a:r>
            <a:r>
              <a:rPr lang="tr-TR" sz="2400" dirty="0" smtClean="0"/>
              <a:t> </a:t>
            </a:r>
            <a:r>
              <a:rPr lang="en-US" sz="2400" dirty="0" smtClean="0"/>
              <a:t>equivalent to any other state: (</a:t>
            </a:r>
            <a:r>
              <a:rPr lang="en-US" sz="2400" i="1" dirty="0" smtClean="0"/>
              <a:t>a</a:t>
            </a:r>
            <a:r>
              <a:rPr lang="en-US" sz="2400" dirty="0" smtClean="0"/>
              <a:t>, </a:t>
            </a:r>
            <a:r>
              <a:rPr lang="en-US" sz="2400" i="1" dirty="0" smtClean="0"/>
              <a:t>b</a:t>
            </a:r>
            <a:r>
              <a:rPr lang="en-US" sz="2400" dirty="0" smtClean="0"/>
              <a:t>) (</a:t>
            </a:r>
            <a:r>
              <a:rPr lang="en-US" sz="2400" i="1" dirty="0" smtClean="0"/>
              <a:t>c</a:t>
            </a:r>
            <a:r>
              <a:rPr lang="en-US" sz="2400" dirty="0" smtClean="0"/>
              <a:t>) (</a:t>
            </a:r>
            <a:r>
              <a:rPr lang="en-US" sz="2400" i="1" dirty="0" smtClean="0"/>
              <a:t>d</a:t>
            </a:r>
            <a:r>
              <a:rPr lang="en-US" sz="2400" dirty="0" smtClean="0"/>
              <a:t>, </a:t>
            </a:r>
            <a:r>
              <a:rPr lang="en-US" sz="2400" i="1" dirty="0" smtClean="0"/>
              <a:t>e</a:t>
            </a:r>
            <a:r>
              <a:rPr lang="en-US" sz="2400" dirty="0" smtClean="0"/>
              <a:t>, </a:t>
            </a:r>
            <a:r>
              <a:rPr lang="en-US" sz="2400" i="1" dirty="0" smtClean="0"/>
              <a:t>g</a:t>
            </a:r>
            <a:r>
              <a:rPr lang="en-US" sz="2400" dirty="0" smtClean="0"/>
              <a:t>) (</a:t>
            </a:r>
            <a:r>
              <a:rPr lang="en-US" sz="2400" i="1" dirty="0" smtClean="0"/>
              <a:t>f</a:t>
            </a:r>
            <a:r>
              <a:rPr lang="en-US" sz="2400" dirty="0" smtClean="0"/>
              <a:t>)</a:t>
            </a:r>
            <a:endParaRPr lang="tr-TR" sz="2400" dirty="0" smtClean="0"/>
          </a:p>
        </p:txBody>
      </p:sp>
      <p:pic>
        <p:nvPicPr>
          <p:cNvPr id="32563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00200" y="3664567"/>
            <a:ext cx="5495924" cy="27933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522" name="標題 3"/>
          <p:cNvSpPr>
            <a:spLocks noGrp="1"/>
          </p:cNvSpPr>
          <p:nvPr>
            <p:ph type="title" idx="4294967295"/>
          </p:nvPr>
        </p:nvSpPr>
        <p:spPr/>
        <p:txBody>
          <a:bodyPr lIns="0" tIns="0" rIns="0" bIns="0" anchor="ctr">
            <a:normAutofit fontScale="90000"/>
          </a:bodyPr>
          <a:lstStyle/>
          <a:p>
            <a:r>
              <a:rPr lang="en-US" altLang="zh-TW" dirty="0">
                <a:ea typeface="新細明體" pitchFamily="18" charset="-120"/>
              </a:rPr>
              <a:t/>
            </a:r>
            <a:br>
              <a:rPr lang="en-US" altLang="zh-TW" dirty="0">
                <a:ea typeface="新細明體" pitchFamily="18" charset="-120"/>
              </a:rPr>
            </a:br>
            <a:r>
              <a:rPr lang="en-US" altLang="zh-TW" dirty="0">
                <a:ea typeface="新細明體" pitchFamily="18" charset="-120"/>
              </a:rPr>
              <a:t>I</a:t>
            </a:r>
            <a:r>
              <a:rPr lang="en-US" altLang="zh-TW" dirty="0" smtClean="0">
                <a:ea typeface="新細明體" pitchFamily="18" charset="-120"/>
              </a:rPr>
              <a:t>mplied Equivalences Extending Over </a:t>
            </a:r>
            <a:r>
              <a:rPr lang="en-US" altLang="zh-TW" dirty="0">
                <a:ea typeface="新細明體" pitchFamily="18" charset="-120"/>
              </a:rPr>
              <a:t>a </a:t>
            </a:r>
            <a:r>
              <a:rPr lang="en-US" altLang="zh-TW" dirty="0" smtClean="0">
                <a:ea typeface="新細明體" pitchFamily="18" charset="-120"/>
              </a:rPr>
              <a:t>Number </a:t>
            </a:r>
            <a:r>
              <a:rPr lang="en-US" altLang="zh-TW" dirty="0">
                <a:ea typeface="新細明體" pitchFamily="18" charset="-120"/>
              </a:rPr>
              <a:t>of </a:t>
            </a:r>
            <a:r>
              <a:rPr lang="en-US" altLang="zh-TW" dirty="0" smtClean="0">
                <a:ea typeface="新細明體" pitchFamily="18" charset="-120"/>
              </a:rPr>
              <a:t>States</a:t>
            </a:r>
            <a:endParaRPr lang="en-US" altLang="zh-TW" dirty="0">
              <a:ea typeface="新細明體" pitchFamily="18" charset="-120"/>
            </a:endParaRPr>
          </a:p>
        </p:txBody>
      </p:sp>
      <p:sp>
        <p:nvSpPr>
          <p:cNvPr id="875523" name="Rectangle 3"/>
          <p:cNvSpPr>
            <a:spLocks noGrp="1" noChangeArrowheads="1"/>
          </p:cNvSpPr>
          <p:nvPr>
            <p:ph idx="4294967295"/>
          </p:nvPr>
        </p:nvSpPr>
        <p:spPr/>
        <p:txBody>
          <a:bodyPr lIns="90488" tIns="44450" rIns="90488" bIns="44450">
            <a:normAutofit lnSpcReduction="10000"/>
          </a:bodyPr>
          <a:lstStyle/>
          <a:p>
            <a:pPr marL="274320" lvl="1">
              <a:spcBef>
                <a:spcPts val="600"/>
              </a:spcBef>
              <a:buSzPct val="70000"/>
              <a:buFont typeface="Wingdings"/>
              <a:buChar char=""/>
            </a:pPr>
            <a:endParaRPr lang="en-US" sz="2400" dirty="0" smtClean="0"/>
          </a:p>
          <a:p>
            <a:pPr marL="274320" lvl="1">
              <a:spcBef>
                <a:spcPts val="600"/>
              </a:spcBef>
              <a:buSzPct val="70000"/>
              <a:buFont typeface="Wingdings"/>
              <a:buChar char=""/>
            </a:pPr>
            <a:endParaRPr lang="en-US" sz="2400" dirty="0" smtClean="0"/>
          </a:p>
          <a:p>
            <a:pPr marL="274320" lvl="1">
              <a:spcBef>
                <a:spcPts val="600"/>
              </a:spcBef>
              <a:buSzPct val="70000"/>
              <a:buFont typeface="Wingdings"/>
              <a:buChar char=""/>
            </a:pPr>
            <a:endParaRPr lang="en-US" sz="2400" dirty="0"/>
          </a:p>
          <a:p>
            <a:pPr marL="274320" lvl="1">
              <a:spcBef>
                <a:spcPts val="600"/>
              </a:spcBef>
              <a:buSzPct val="70000"/>
              <a:buFont typeface="Wingdings"/>
              <a:buChar char=""/>
            </a:pPr>
            <a:endParaRPr lang="en-US" sz="2400" dirty="0" smtClean="0"/>
          </a:p>
          <a:p>
            <a:pPr marL="274320" lvl="1">
              <a:spcBef>
                <a:spcPts val="600"/>
              </a:spcBef>
              <a:buSzPct val="70000"/>
              <a:buFont typeface="Wingdings"/>
              <a:buChar char=""/>
            </a:pPr>
            <a:endParaRPr lang="en-US" sz="2400" dirty="0"/>
          </a:p>
          <a:p>
            <a:pPr marL="274320" lvl="1">
              <a:spcBef>
                <a:spcPts val="600"/>
              </a:spcBef>
              <a:buSzPct val="70000"/>
              <a:buFont typeface="Wingdings"/>
              <a:buChar char=""/>
            </a:pPr>
            <a:endParaRPr lang="en-US" sz="2400" dirty="0" smtClean="0"/>
          </a:p>
          <a:p>
            <a:pPr marL="274320" lvl="1">
              <a:spcBef>
                <a:spcPts val="600"/>
              </a:spcBef>
              <a:buSzPct val="70000"/>
              <a:buFont typeface="Wingdings"/>
              <a:buChar char=""/>
            </a:pPr>
            <a:endParaRPr lang="en-US" sz="2400" dirty="0" smtClean="0"/>
          </a:p>
          <a:p>
            <a:pPr marL="274320" lvl="1">
              <a:spcBef>
                <a:spcPts val="600"/>
              </a:spcBef>
              <a:buSzPct val="70000"/>
              <a:buFont typeface="Wingdings"/>
              <a:buChar char=""/>
            </a:pPr>
            <a:endParaRPr lang="en-US" sz="2400" dirty="0"/>
          </a:p>
          <a:p>
            <a:pPr marL="274320" lvl="1">
              <a:spcBef>
                <a:spcPts val="600"/>
              </a:spcBef>
              <a:buSzPct val="70000"/>
              <a:buFont typeface="Wingdings"/>
              <a:buChar char=""/>
            </a:pPr>
            <a:endParaRPr lang="en-US" sz="2400" b="1" dirty="0" smtClean="0"/>
          </a:p>
          <a:p>
            <a:pPr marL="274320" lvl="1">
              <a:spcBef>
                <a:spcPts val="600"/>
              </a:spcBef>
              <a:buSzPct val="70000"/>
              <a:buFont typeface="Wingdings"/>
              <a:buChar char=""/>
            </a:pPr>
            <a:r>
              <a:rPr lang="en-US" sz="2400" b="1" dirty="0" smtClean="0"/>
              <a:t>5</a:t>
            </a:r>
            <a:r>
              <a:rPr lang="en-US" sz="2400" dirty="0"/>
              <a:t> = </a:t>
            </a:r>
            <a:r>
              <a:rPr lang="en-US" sz="2400" b="1" dirty="0"/>
              <a:t>6</a:t>
            </a:r>
            <a:r>
              <a:rPr lang="en-US" sz="2400" dirty="0"/>
              <a:t> if 6 = 7, </a:t>
            </a:r>
            <a:r>
              <a:rPr lang="en-US" sz="2400" b="1" dirty="0"/>
              <a:t>5</a:t>
            </a:r>
            <a:r>
              <a:rPr lang="en-US" sz="2400" dirty="0"/>
              <a:t> = </a:t>
            </a:r>
            <a:r>
              <a:rPr lang="en-US" sz="2400" b="1" dirty="0"/>
              <a:t>7</a:t>
            </a:r>
            <a:r>
              <a:rPr lang="en-US" sz="2400" dirty="0"/>
              <a:t> if 5 = 6, </a:t>
            </a:r>
            <a:r>
              <a:rPr lang="en-US" sz="2400" b="1" dirty="0"/>
              <a:t>6 = 7 </a:t>
            </a:r>
            <a:r>
              <a:rPr lang="en-US" sz="2400" dirty="0"/>
              <a:t>if 5 =</a:t>
            </a:r>
            <a:r>
              <a:rPr lang="en-US" sz="2400" dirty="0" smtClean="0"/>
              <a:t>7</a:t>
            </a:r>
          </a:p>
          <a:p>
            <a:pPr marL="274320" lvl="1">
              <a:spcBef>
                <a:spcPts val="600"/>
              </a:spcBef>
              <a:buSzPct val="70000"/>
              <a:buFont typeface="Wingdings"/>
              <a:buChar char=""/>
            </a:pPr>
            <a:r>
              <a:rPr lang="en-US" sz="2400" b="1" dirty="0"/>
              <a:t>1</a:t>
            </a:r>
            <a:r>
              <a:rPr lang="en-US" sz="2400" dirty="0"/>
              <a:t> = </a:t>
            </a:r>
            <a:r>
              <a:rPr lang="en-US" sz="2400" b="1" dirty="0"/>
              <a:t>2</a:t>
            </a:r>
            <a:r>
              <a:rPr lang="en-US" sz="2400" dirty="0"/>
              <a:t> and </a:t>
            </a:r>
            <a:r>
              <a:rPr lang="en-US" sz="2400" b="1" dirty="0"/>
              <a:t>5</a:t>
            </a:r>
            <a:r>
              <a:rPr lang="en-US" sz="2400" dirty="0"/>
              <a:t> = </a:t>
            </a:r>
            <a:r>
              <a:rPr lang="en-US" sz="2400" b="1" dirty="0"/>
              <a:t>6</a:t>
            </a:r>
            <a:r>
              <a:rPr lang="en-US" sz="2400" dirty="0"/>
              <a:t>, </a:t>
            </a:r>
            <a:r>
              <a:rPr lang="en-US" sz="2400" b="1" dirty="0"/>
              <a:t>5</a:t>
            </a:r>
            <a:r>
              <a:rPr lang="en-US" sz="2400" dirty="0"/>
              <a:t> = </a:t>
            </a:r>
            <a:r>
              <a:rPr lang="en-US" sz="2400" b="1" dirty="0"/>
              <a:t>7</a:t>
            </a:r>
            <a:r>
              <a:rPr lang="en-US" sz="2400" dirty="0"/>
              <a:t>, </a:t>
            </a:r>
            <a:r>
              <a:rPr lang="en-US" sz="2400" b="1" dirty="0"/>
              <a:t>6</a:t>
            </a:r>
            <a:r>
              <a:rPr lang="en-US" sz="2400" dirty="0"/>
              <a:t> = </a:t>
            </a:r>
            <a:r>
              <a:rPr lang="en-US" sz="2400" b="1" dirty="0"/>
              <a:t>7</a:t>
            </a:r>
            <a:r>
              <a:rPr lang="en-US" sz="2400" dirty="0"/>
              <a:t> i.e. </a:t>
            </a:r>
            <a:r>
              <a:rPr lang="en-US" sz="2400" b="1" dirty="0"/>
              <a:t>5</a:t>
            </a:r>
            <a:r>
              <a:rPr lang="en-US" sz="2400" dirty="0"/>
              <a:t> = </a:t>
            </a:r>
            <a:r>
              <a:rPr lang="en-US" sz="2400" b="1" dirty="0"/>
              <a:t>6</a:t>
            </a:r>
            <a:r>
              <a:rPr lang="en-US" sz="2400" dirty="0"/>
              <a:t> = </a:t>
            </a:r>
            <a:r>
              <a:rPr lang="en-US" sz="2400" b="1" dirty="0"/>
              <a:t>7</a:t>
            </a:r>
            <a:endParaRPr lang="en-US" sz="2400" dirty="0" smtClean="0"/>
          </a:p>
        </p:txBody>
      </p:sp>
      <p:pic>
        <p:nvPicPr>
          <p:cNvPr id="260100" name="Picture 4" descr="http://www.ee.surrey.ac.uk/Projects/CAL/seq-switching/Graphics/impl1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475" y="1809750"/>
            <a:ext cx="2743200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0102" name="Picture 6" descr="http://www.ee.surrey.ac.uk/Projects/CAL/seq-switching/Graphics/impl2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4125" y="1857374"/>
            <a:ext cx="4114800" cy="3429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996401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522" name="標題 3"/>
          <p:cNvSpPr>
            <a:spLocks noGrp="1"/>
          </p:cNvSpPr>
          <p:nvPr>
            <p:ph type="title" idx="4294967295"/>
          </p:nvPr>
        </p:nvSpPr>
        <p:spPr/>
        <p:txBody>
          <a:bodyPr lIns="0" tIns="0" rIns="0" bIns="0" anchor="ctr">
            <a:normAutofit fontScale="90000"/>
          </a:bodyPr>
          <a:lstStyle/>
          <a:p>
            <a:r>
              <a:rPr lang="en-US" altLang="zh-TW" dirty="0">
                <a:ea typeface="新細明體" pitchFamily="18" charset="-120"/>
              </a:rPr>
              <a:t/>
            </a:r>
            <a:br>
              <a:rPr lang="en-US" altLang="zh-TW" dirty="0">
                <a:ea typeface="新細明體" pitchFamily="18" charset="-120"/>
              </a:rPr>
            </a:br>
            <a:r>
              <a:rPr lang="en-US" altLang="zh-TW" dirty="0">
                <a:ea typeface="新細明體" pitchFamily="18" charset="-120"/>
              </a:rPr>
              <a:t>I</a:t>
            </a:r>
            <a:r>
              <a:rPr lang="en-US" altLang="zh-TW" dirty="0" smtClean="0">
                <a:ea typeface="新細明體" pitchFamily="18" charset="-120"/>
              </a:rPr>
              <a:t>mplied Equivalences Extending Over </a:t>
            </a:r>
            <a:r>
              <a:rPr lang="en-US" altLang="zh-TW" dirty="0">
                <a:ea typeface="新細明體" pitchFamily="18" charset="-120"/>
              </a:rPr>
              <a:t>a </a:t>
            </a:r>
            <a:r>
              <a:rPr lang="en-US" altLang="zh-TW" dirty="0" smtClean="0">
                <a:ea typeface="新細明體" pitchFamily="18" charset="-120"/>
              </a:rPr>
              <a:t>Number </a:t>
            </a:r>
            <a:r>
              <a:rPr lang="en-US" altLang="zh-TW" dirty="0">
                <a:ea typeface="新細明體" pitchFamily="18" charset="-120"/>
              </a:rPr>
              <a:t>of </a:t>
            </a:r>
            <a:r>
              <a:rPr lang="en-US" altLang="zh-TW" dirty="0" smtClean="0">
                <a:ea typeface="新細明體" pitchFamily="18" charset="-120"/>
              </a:rPr>
              <a:t>States</a:t>
            </a:r>
            <a:endParaRPr lang="en-US" altLang="zh-TW" dirty="0">
              <a:ea typeface="新細明體" pitchFamily="18" charset="-120"/>
            </a:endParaRPr>
          </a:p>
        </p:txBody>
      </p:sp>
      <p:sp>
        <p:nvSpPr>
          <p:cNvPr id="875523" name="Rectangle 3"/>
          <p:cNvSpPr>
            <a:spLocks noGrp="1" noChangeArrowheads="1"/>
          </p:cNvSpPr>
          <p:nvPr>
            <p:ph idx="4294967295"/>
          </p:nvPr>
        </p:nvSpPr>
        <p:spPr/>
        <p:txBody>
          <a:bodyPr lIns="90488" tIns="44450" rIns="90488" bIns="44450">
            <a:normAutofit lnSpcReduction="10000"/>
          </a:bodyPr>
          <a:lstStyle/>
          <a:p>
            <a:pPr marL="274320" lvl="1">
              <a:spcBef>
                <a:spcPts val="600"/>
              </a:spcBef>
              <a:buSzPct val="70000"/>
              <a:buFont typeface="Wingdings"/>
              <a:buChar char=""/>
            </a:pPr>
            <a:endParaRPr lang="en-US" sz="2400" dirty="0" smtClean="0"/>
          </a:p>
          <a:p>
            <a:pPr marL="274320" lvl="1">
              <a:spcBef>
                <a:spcPts val="600"/>
              </a:spcBef>
              <a:buSzPct val="70000"/>
              <a:buFont typeface="Wingdings"/>
              <a:buChar char=""/>
            </a:pPr>
            <a:endParaRPr lang="en-US" sz="2400" dirty="0" smtClean="0"/>
          </a:p>
          <a:p>
            <a:pPr marL="274320" lvl="1">
              <a:spcBef>
                <a:spcPts val="600"/>
              </a:spcBef>
              <a:buSzPct val="70000"/>
              <a:buFont typeface="Wingdings"/>
              <a:buChar char=""/>
            </a:pPr>
            <a:endParaRPr lang="en-US" sz="2400" dirty="0"/>
          </a:p>
          <a:p>
            <a:pPr marL="274320" lvl="1">
              <a:spcBef>
                <a:spcPts val="600"/>
              </a:spcBef>
              <a:buSzPct val="70000"/>
              <a:buFont typeface="Wingdings"/>
              <a:buChar char=""/>
            </a:pPr>
            <a:endParaRPr lang="en-US" sz="2400" dirty="0" smtClean="0"/>
          </a:p>
          <a:p>
            <a:pPr marL="274320" lvl="1">
              <a:spcBef>
                <a:spcPts val="600"/>
              </a:spcBef>
              <a:buSzPct val="70000"/>
              <a:buFont typeface="Wingdings"/>
              <a:buChar char=""/>
            </a:pPr>
            <a:endParaRPr lang="en-US" sz="2400" dirty="0"/>
          </a:p>
          <a:p>
            <a:pPr marL="274320" lvl="1">
              <a:spcBef>
                <a:spcPts val="600"/>
              </a:spcBef>
              <a:buSzPct val="70000"/>
              <a:buFont typeface="Wingdings"/>
              <a:buChar char=""/>
            </a:pPr>
            <a:endParaRPr lang="en-US" sz="2400" dirty="0" smtClean="0"/>
          </a:p>
          <a:p>
            <a:pPr marL="274320" lvl="1">
              <a:spcBef>
                <a:spcPts val="600"/>
              </a:spcBef>
              <a:buSzPct val="70000"/>
              <a:buFont typeface="Wingdings"/>
              <a:buChar char=""/>
            </a:pPr>
            <a:endParaRPr lang="en-US" sz="2400" dirty="0" smtClean="0"/>
          </a:p>
          <a:p>
            <a:pPr marL="274320" lvl="1">
              <a:spcBef>
                <a:spcPts val="600"/>
              </a:spcBef>
              <a:buSzPct val="70000"/>
              <a:buFont typeface="Wingdings"/>
              <a:buChar char=""/>
            </a:pPr>
            <a:endParaRPr lang="en-US" sz="2400" dirty="0"/>
          </a:p>
          <a:p>
            <a:pPr marL="274320" lvl="1">
              <a:spcBef>
                <a:spcPts val="600"/>
              </a:spcBef>
              <a:buSzPct val="70000"/>
              <a:buFont typeface="Wingdings"/>
              <a:buChar char=""/>
            </a:pPr>
            <a:endParaRPr lang="en-US" sz="2400" b="1" dirty="0" smtClean="0"/>
          </a:p>
          <a:p>
            <a:pPr marL="274320" lvl="1">
              <a:spcBef>
                <a:spcPts val="600"/>
              </a:spcBef>
              <a:buSzPct val="70000"/>
              <a:buFont typeface="Wingdings"/>
              <a:buChar char=""/>
            </a:pPr>
            <a:r>
              <a:rPr lang="en-US" sz="2400" b="1" dirty="0" smtClean="0"/>
              <a:t>5</a:t>
            </a:r>
            <a:r>
              <a:rPr lang="en-US" sz="2400" dirty="0"/>
              <a:t> = </a:t>
            </a:r>
            <a:r>
              <a:rPr lang="en-US" sz="2400" b="1" dirty="0"/>
              <a:t>6</a:t>
            </a:r>
            <a:r>
              <a:rPr lang="en-US" sz="2400" dirty="0"/>
              <a:t> if 6 = 7, </a:t>
            </a:r>
            <a:r>
              <a:rPr lang="en-US" sz="2400" b="1" dirty="0"/>
              <a:t>5</a:t>
            </a:r>
            <a:r>
              <a:rPr lang="en-US" sz="2400" dirty="0"/>
              <a:t> = </a:t>
            </a:r>
            <a:r>
              <a:rPr lang="en-US" sz="2400" b="1" dirty="0"/>
              <a:t>7</a:t>
            </a:r>
            <a:r>
              <a:rPr lang="en-US" sz="2400" dirty="0"/>
              <a:t> if 5 = 6, </a:t>
            </a:r>
            <a:r>
              <a:rPr lang="en-US" sz="2400" b="1" dirty="0"/>
              <a:t>6 = 7 </a:t>
            </a:r>
            <a:r>
              <a:rPr lang="en-US" sz="2400" dirty="0"/>
              <a:t>if 5 =</a:t>
            </a:r>
            <a:r>
              <a:rPr lang="en-US" sz="2400" dirty="0" smtClean="0"/>
              <a:t>7</a:t>
            </a:r>
          </a:p>
          <a:p>
            <a:pPr marL="274320" lvl="1">
              <a:spcBef>
                <a:spcPts val="600"/>
              </a:spcBef>
              <a:buSzPct val="70000"/>
              <a:buFont typeface="Wingdings"/>
              <a:buChar char=""/>
            </a:pPr>
            <a:r>
              <a:rPr lang="en-US" sz="2400" b="1" dirty="0"/>
              <a:t>1</a:t>
            </a:r>
            <a:r>
              <a:rPr lang="en-US" sz="2400" dirty="0"/>
              <a:t> = </a:t>
            </a:r>
            <a:r>
              <a:rPr lang="en-US" sz="2400" b="1" dirty="0"/>
              <a:t>2</a:t>
            </a:r>
            <a:r>
              <a:rPr lang="en-US" sz="2400" dirty="0"/>
              <a:t> and </a:t>
            </a:r>
            <a:r>
              <a:rPr lang="en-US" sz="2400" b="1" dirty="0"/>
              <a:t>5</a:t>
            </a:r>
            <a:r>
              <a:rPr lang="en-US" sz="2400" dirty="0"/>
              <a:t> = </a:t>
            </a:r>
            <a:r>
              <a:rPr lang="en-US" sz="2400" b="1" dirty="0"/>
              <a:t>6</a:t>
            </a:r>
            <a:r>
              <a:rPr lang="en-US" sz="2400" dirty="0"/>
              <a:t>, </a:t>
            </a:r>
            <a:r>
              <a:rPr lang="en-US" sz="2400" b="1" dirty="0"/>
              <a:t>5</a:t>
            </a:r>
            <a:r>
              <a:rPr lang="en-US" sz="2400" dirty="0"/>
              <a:t> = </a:t>
            </a:r>
            <a:r>
              <a:rPr lang="en-US" sz="2400" b="1" dirty="0"/>
              <a:t>7</a:t>
            </a:r>
            <a:r>
              <a:rPr lang="en-US" sz="2400" dirty="0"/>
              <a:t>, </a:t>
            </a:r>
            <a:r>
              <a:rPr lang="en-US" sz="2400" b="1" dirty="0"/>
              <a:t>6</a:t>
            </a:r>
            <a:r>
              <a:rPr lang="en-US" sz="2400" dirty="0"/>
              <a:t> = </a:t>
            </a:r>
            <a:r>
              <a:rPr lang="en-US" sz="2400" b="1" dirty="0"/>
              <a:t>7</a:t>
            </a:r>
            <a:r>
              <a:rPr lang="en-US" sz="2400" dirty="0"/>
              <a:t> i.e. </a:t>
            </a:r>
            <a:r>
              <a:rPr lang="en-US" sz="2400" b="1" dirty="0"/>
              <a:t>5</a:t>
            </a:r>
            <a:r>
              <a:rPr lang="en-US" sz="2400" dirty="0"/>
              <a:t> = </a:t>
            </a:r>
            <a:r>
              <a:rPr lang="en-US" sz="2400" b="1" dirty="0"/>
              <a:t>6</a:t>
            </a:r>
            <a:r>
              <a:rPr lang="en-US" sz="2400" dirty="0"/>
              <a:t> = </a:t>
            </a:r>
            <a:r>
              <a:rPr lang="en-US" sz="2400" b="1" dirty="0"/>
              <a:t>7</a:t>
            </a:r>
            <a:endParaRPr lang="en-US" sz="2400" dirty="0" smtClean="0"/>
          </a:p>
        </p:txBody>
      </p:sp>
      <p:pic>
        <p:nvPicPr>
          <p:cNvPr id="260100" name="Picture 4" descr="http://www.ee.surrey.ac.uk/Projects/CAL/seq-switching/Graphics/impl1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475" y="1809750"/>
            <a:ext cx="2743200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1122" name="Picture 2" descr="http://www.ee.surrey.ac.uk/Projects/CAL/seq-switching/Graphics/impl3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5625" y="2181224"/>
            <a:ext cx="2743200" cy="2171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6433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522" name="標題 3"/>
          <p:cNvSpPr>
            <a:spLocks noGrp="1"/>
          </p:cNvSpPr>
          <p:nvPr>
            <p:ph type="title" idx="4294967295"/>
          </p:nvPr>
        </p:nvSpPr>
        <p:spPr/>
        <p:txBody>
          <a:bodyPr lIns="0" tIns="0" rIns="0" bIns="0" anchor="ctr">
            <a:normAutofit fontScale="90000"/>
          </a:bodyPr>
          <a:lstStyle/>
          <a:p>
            <a:r>
              <a:rPr lang="en-US" altLang="zh-TW" dirty="0">
                <a:ea typeface="新細明體" pitchFamily="18" charset="-120"/>
              </a:rPr>
              <a:t/>
            </a:r>
            <a:br>
              <a:rPr lang="en-US" altLang="zh-TW" dirty="0">
                <a:ea typeface="新細明體" pitchFamily="18" charset="-120"/>
              </a:rPr>
            </a:br>
            <a:r>
              <a:rPr lang="en-US" altLang="zh-TW" dirty="0">
                <a:ea typeface="新細明體" pitchFamily="18" charset="-120"/>
              </a:rPr>
              <a:t>I</a:t>
            </a:r>
            <a:r>
              <a:rPr lang="en-US" altLang="zh-TW" dirty="0" smtClean="0">
                <a:ea typeface="新細明體" pitchFamily="18" charset="-120"/>
              </a:rPr>
              <a:t>mplied Equivalences Extending Over </a:t>
            </a:r>
            <a:r>
              <a:rPr lang="en-US" altLang="zh-TW" dirty="0">
                <a:ea typeface="新細明體" pitchFamily="18" charset="-120"/>
              </a:rPr>
              <a:t>a </a:t>
            </a:r>
            <a:r>
              <a:rPr lang="en-US" altLang="zh-TW" dirty="0" smtClean="0">
                <a:ea typeface="新細明體" pitchFamily="18" charset="-120"/>
              </a:rPr>
              <a:t>Number </a:t>
            </a:r>
            <a:r>
              <a:rPr lang="en-US" altLang="zh-TW" dirty="0">
                <a:ea typeface="新細明體" pitchFamily="18" charset="-120"/>
              </a:rPr>
              <a:t>of </a:t>
            </a:r>
            <a:r>
              <a:rPr lang="en-US" altLang="zh-TW" dirty="0" smtClean="0">
                <a:ea typeface="新細明體" pitchFamily="18" charset="-120"/>
              </a:rPr>
              <a:t>States</a:t>
            </a:r>
            <a:endParaRPr lang="en-US" altLang="zh-TW" dirty="0">
              <a:ea typeface="新細明體" pitchFamily="18" charset="-120"/>
            </a:endParaRPr>
          </a:p>
        </p:txBody>
      </p:sp>
      <p:sp>
        <p:nvSpPr>
          <p:cNvPr id="875523" name="Rectangle 3"/>
          <p:cNvSpPr>
            <a:spLocks noGrp="1" noChangeArrowheads="1"/>
          </p:cNvSpPr>
          <p:nvPr>
            <p:ph idx="4294967295"/>
          </p:nvPr>
        </p:nvSpPr>
        <p:spPr/>
        <p:txBody>
          <a:bodyPr lIns="90488" tIns="44450" rIns="90488" bIns="44450">
            <a:normAutofit/>
          </a:bodyPr>
          <a:lstStyle/>
          <a:p>
            <a:pPr marL="0" lvl="1" indent="0">
              <a:spcBef>
                <a:spcPts val="600"/>
              </a:spcBef>
              <a:buSzPct val="70000"/>
              <a:buNone/>
            </a:pPr>
            <a:endParaRPr lang="en-US" sz="2400" dirty="0" smtClean="0"/>
          </a:p>
          <a:p>
            <a:pPr marL="0" lvl="1" indent="0">
              <a:spcBef>
                <a:spcPts val="600"/>
              </a:spcBef>
              <a:buSzPct val="70000"/>
              <a:buNone/>
            </a:pPr>
            <a:r>
              <a:rPr lang="en-US" sz="2400" dirty="0" smtClean="0"/>
              <a:t>Alternative </a:t>
            </a:r>
            <a:r>
              <a:rPr lang="en-US" sz="2400" dirty="0"/>
              <a:t>definition of equivalence:</a:t>
            </a:r>
          </a:p>
          <a:p>
            <a:pPr marL="274320" lvl="1">
              <a:spcBef>
                <a:spcPts val="600"/>
              </a:spcBef>
              <a:buSzPct val="70000"/>
              <a:buFont typeface="Wingdings"/>
              <a:buChar char=""/>
            </a:pPr>
            <a:endParaRPr lang="en-US" sz="2400" dirty="0"/>
          </a:p>
          <a:p>
            <a:pPr marL="274320" lvl="1">
              <a:spcBef>
                <a:spcPts val="600"/>
              </a:spcBef>
              <a:buSzPct val="70000"/>
              <a:buFont typeface="Wingdings"/>
              <a:buChar char=""/>
            </a:pPr>
            <a:r>
              <a:rPr lang="en-US" sz="2400" dirty="0"/>
              <a:t>Two circuit states with the same output conditions can be made equivalent, unless the equivalence depends upon a known non- equivalence. 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2769075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522" name="標題 3"/>
          <p:cNvSpPr>
            <a:spLocks noGrp="1"/>
          </p:cNvSpPr>
          <p:nvPr>
            <p:ph type="title" idx="4294967295"/>
          </p:nvPr>
        </p:nvSpPr>
        <p:spPr/>
        <p:txBody>
          <a:bodyPr lIns="0" tIns="0" rIns="0" bIns="0" anchor="ctr"/>
          <a:lstStyle/>
          <a:p>
            <a:r>
              <a:rPr lang="en-US" altLang="zh-TW" dirty="0" smtClean="0">
                <a:ea typeface="新細明體" pitchFamily="18" charset="-120"/>
              </a:rPr>
              <a:t/>
            </a:r>
            <a:br>
              <a:rPr lang="en-US" altLang="zh-TW" dirty="0" smtClean="0">
                <a:ea typeface="新細明體" pitchFamily="18" charset="-120"/>
              </a:rPr>
            </a:br>
            <a:r>
              <a:rPr lang="en-US" altLang="zh-TW" dirty="0" smtClean="0">
                <a:ea typeface="新細明體" pitchFamily="18" charset="-120"/>
              </a:rPr>
              <a:t>State Assignment</a:t>
            </a:r>
            <a:endParaRPr lang="zh-TW" altLang="en-US" dirty="0">
              <a:ea typeface="新細明體" pitchFamily="18" charset="-120"/>
            </a:endParaRPr>
          </a:p>
        </p:txBody>
      </p:sp>
      <p:sp>
        <p:nvSpPr>
          <p:cNvPr id="875523" name="Rectangle 3"/>
          <p:cNvSpPr>
            <a:spLocks noGrp="1" noChangeArrowheads="1"/>
          </p:cNvSpPr>
          <p:nvPr>
            <p:ph idx="4294967295"/>
          </p:nvPr>
        </p:nvSpPr>
        <p:spPr/>
        <p:txBody>
          <a:bodyPr lIns="90488" tIns="44450" rIns="90488" bIns="44450">
            <a:normAutofit/>
          </a:bodyPr>
          <a:lstStyle/>
          <a:p>
            <a:r>
              <a:rPr lang="en-AU" dirty="0" smtClean="0"/>
              <a:t>Assign coded binary values to the states for physical implementation</a:t>
            </a:r>
          </a:p>
          <a:p>
            <a:r>
              <a:rPr lang="en-AU" dirty="0" smtClean="0"/>
              <a:t>For a circuit with </a:t>
            </a:r>
            <a:r>
              <a:rPr lang="en-AU" i="1" dirty="0" smtClean="0"/>
              <a:t>m</a:t>
            </a:r>
            <a:r>
              <a:rPr lang="en-AU" dirty="0" smtClean="0"/>
              <a:t> states, the codes must contain n bits where 2</a:t>
            </a:r>
            <a:r>
              <a:rPr lang="en-AU" i="1" baseline="30000" dirty="0" smtClean="0"/>
              <a:t>n</a:t>
            </a:r>
            <a:r>
              <a:rPr lang="en-AU" dirty="0" smtClean="0"/>
              <a:t> &gt;= </a:t>
            </a:r>
            <a:r>
              <a:rPr lang="en-AU" i="1" dirty="0" smtClean="0"/>
              <a:t>m</a:t>
            </a:r>
          </a:p>
          <a:p>
            <a:r>
              <a:rPr lang="en-AU" dirty="0" smtClean="0"/>
              <a:t>Unused states are treated as don’t care conditions during the design</a:t>
            </a:r>
          </a:p>
          <a:p>
            <a:pPr lvl="1"/>
            <a:r>
              <a:rPr lang="en-AU" sz="2400" dirty="0" smtClean="0"/>
              <a:t>Don’t cares can help to obtain a simpler circuit</a:t>
            </a:r>
          </a:p>
          <a:p>
            <a:r>
              <a:rPr lang="en-AU" dirty="0" smtClean="0"/>
              <a:t>There are many possible state assignments</a:t>
            </a:r>
          </a:p>
          <a:p>
            <a:pPr lvl="1"/>
            <a:r>
              <a:rPr lang="en-AU" sz="2400" dirty="0" smtClean="0"/>
              <a:t>Have large impacts on the final circuit size</a:t>
            </a:r>
            <a:endParaRPr lang="zh-TW" altLang="en-US" sz="2400" dirty="0">
              <a:ea typeface="新細明體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522" name="標題 3"/>
          <p:cNvSpPr>
            <a:spLocks noGrp="1"/>
          </p:cNvSpPr>
          <p:nvPr>
            <p:ph type="title" idx="4294967295"/>
          </p:nvPr>
        </p:nvSpPr>
        <p:spPr/>
        <p:txBody>
          <a:bodyPr lIns="0" tIns="0" rIns="0" bIns="0" anchor="ctr"/>
          <a:lstStyle/>
          <a:p>
            <a:r>
              <a:rPr lang="en-US" altLang="zh-TW" dirty="0" smtClean="0">
                <a:ea typeface="新細明體" pitchFamily="18" charset="-120"/>
              </a:rPr>
              <a:t/>
            </a:r>
            <a:br>
              <a:rPr lang="en-US" altLang="zh-TW" dirty="0" smtClean="0">
                <a:ea typeface="新細明體" pitchFamily="18" charset="-120"/>
              </a:rPr>
            </a:br>
            <a:r>
              <a:rPr lang="en-US" altLang="zh-TW" dirty="0" smtClean="0">
                <a:ea typeface="新細明體" pitchFamily="18" charset="-120"/>
              </a:rPr>
              <a:t>Popular State Assignment</a:t>
            </a:r>
            <a:endParaRPr lang="zh-TW" altLang="en-US" dirty="0">
              <a:ea typeface="新細明體" pitchFamily="18" charset="-120"/>
            </a:endParaRPr>
          </a:p>
        </p:txBody>
      </p:sp>
      <p:pic>
        <p:nvPicPr>
          <p:cNvPr id="4" name="Picture 5"/>
          <p:cNvPicPr>
            <a:picLocks noGrp="1" noChangeAspect="1" noChangeArrowheads="1"/>
          </p:cNvPicPr>
          <p:nvPr>
            <p:ph idx="4294967295"/>
          </p:nvPr>
        </p:nvPicPr>
        <p:blipFill>
          <a:blip r:embed="rId3" cstate="print">
            <a:lum bright="-6000" contrast="30000"/>
          </a:blip>
          <a:srcRect/>
          <a:stretch>
            <a:fillRect/>
          </a:stretch>
        </p:blipFill>
        <p:spPr bwMode="auto">
          <a:xfrm>
            <a:off x="457200" y="1965617"/>
            <a:ext cx="7467600" cy="3228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4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0" tIns="0" rIns="0" bIns="0" anchor="ctr"/>
          <a:lstStyle/>
          <a:p>
            <a:r>
              <a:rPr lang="en-US" altLang="zh-TW" dirty="0" smtClean="0">
                <a:ea typeface="新細明體" pitchFamily="18" charset="-120"/>
              </a:rPr>
              <a:t/>
            </a:r>
            <a:br>
              <a:rPr lang="en-US" altLang="zh-TW" dirty="0" smtClean="0">
                <a:ea typeface="新細明體" pitchFamily="18" charset="-120"/>
              </a:rPr>
            </a:br>
            <a:r>
              <a:rPr lang="en-US" altLang="zh-TW" dirty="0" smtClean="0">
                <a:ea typeface="新細明體" pitchFamily="18" charset="-120"/>
              </a:rPr>
              <a:t>State Assignment</a:t>
            </a:r>
            <a:endParaRPr lang="zh-TW" altLang="en-US" dirty="0">
              <a:ea typeface="新細明體" pitchFamily="18" charset="-120"/>
            </a:endParaRPr>
          </a:p>
        </p:txBody>
      </p:sp>
      <p:pic>
        <p:nvPicPr>
          <p:cNvPr id="880644" name="Picture 5"/>
          <p:cNvPicPr>
            <a:picLocks noChangeAspect="1" noChangeArrowheads="1"/>
          </p:cNvPicPr>
          <p:nvPr/>
        </p:nvPicPr>
        <p:blipFill>
          <a:blip r:embed="rId3" cstate="print">
            <a:lum bright="-18000" contrast="42000"/>
          </a:blip>
          <a:srcRect/>
          <a:stretch>
            <a:fillRect/>
          </a:stretch>
        </p:blipFill>
        <p:spPr bwMode="auto">
          <a:xfrm>
            <a:off x="1112838" y="2801938"/>
            <a:ext cx="6965950" cy="3552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 lIns="90488" tIns="44450" rIns="90488" bIns="44450">
            <a:norm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Char char=""/>
              <a:tabLst/>
              <a:defRPr/>
            </a:pPr>
            <a:r>
              <a:rPr kumimoji="0" lang="en-AU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Any binary number assignment is satisfactory as long as each state is assigned a unique number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Char char=""/>
              <a:tabLst/>
              <a:defRPr/>
            </a:pPr>
            <a:r>
              <a:rPr lang="en-AU" sz="2400" dirty="0" smtClean="0"/>
              <a:t>Use binary assignment 1</a:t>
            </a:r>
            <a:endParaRPr kumimoji="0" lang="en-AU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Char char=""/>
              <a:tabLst/>
              <a:defRPr/>
            </a:pP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新細明體" pitchFamily="18" charset="-120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522" name="標題 3"/>
          <p:cNvSpPr>
            <a:spLocks noGrp="1"/>
          </p:cNvSpPr>
          <p:nvPr>
            <p:ph type="title" idx="4294967295"/>
          </p:nvPr>
        </p:nvSpPr>
        <p:spPr/>
        <p:txBody>
          <a:bodyPr lIns="0" tIns="0" rIns="0" bIns="0" anchor="ctr"/>
          <a:lstStyle/>
          <a:p>
            <a:r>
              <a:rPr lang="en-US" altLang="zh-TW" dirty="0" smtClean="0">
                <a:ea typeface="新細明體" pitchFamily="18" charset="-120"/>
              </a:rPr>
              <a:t/>
            </a:r>
            <a:br>
              <a:rPr lang="en-US" altLang="zh-TW" dirty="0" smtClean="0">
                <a:ea typeface="新細明體" pitchFamily="18" charset="-120"/>
              </a:rPr>
            </a:br>
            <a:r>
              <a:rPr lang="en-US" altLang="zh-TW" dirty="0" smtClean="0">
                <a:ea typeface="新細明體" pitchFamily="18" charset="-120"/>
              </a:rPr>
              <a:t>Design Procedure</a:t>
            </a:r>
            <a:endParaRPr lang="zh-TW" altLang="en-US" dirty="0">
              <a:ea typeface="新細明體" pitchFamily="18" charset="-120"/>
            </a:endParaRPr>
          </a:p>
        </p:txBody>
      </p:sp>
      <p:sp>
        <p:nvSpPr>
          <p:cNvPr id="875523" name="Rectangle 3"/>
          <p:cNvSpPr>
            <a:spLocks noGrp="1" noChangeArrowheads="1"/>
          </p:cNvSpPr>
          <p:nvPr>
            <p:ph idx="4294967295"/>
          </p:nvPr>
        </p:nvSpPr>
        <p:spPr/>
        <p:txBody>
          <a:bodyPr lIns="90488" tIns="44450" rIns="90488" bIns="44450">
            <a:normAutofit/>
          </a:bodyPr>
          <a:lstStyle/>
          <a:p>
            <a:r>
              <a:rPr lang="en-AU" dirty="0" smtClean="0"/>
              <a:t>Derive a state diagram for the circuit from specifications</a:t>
            </a:r>
          </a:p>
          <a:p>
            <a:r>
              <a:rPr lang="en-AU" dirty="0" smtClean="0"/>
              <a:t>Reduce the number of states if necessary</a:t>
            </a:r>
          </a:p>
          <a:p>
            <a:r>
              <a:rPr lang="en-AU" dirty="0" smtClean="0"/>
              <a:t>Assign binary values to the states</a:t>
            </a:r>
          </a:p>
          <a:p>
            <a:r>
              <a:rPr lang="en-AU" dirty="0" smtClean="0"/>
              <a:t>Obtain the binary-coded state table</a:t>
            </a:r>
          </a:p>
          <a:p>
            <a:r>
              <a:rPr lang="en-AU" dirty="0" smtClean="0"/>
              <a:t>Choose the type of flip-flop to be used</a:t>
            </a:r>
          </a:p>
          <a:p>
            <a:r>
              <a:rPr lang="en-AU" dirty="0" smtClean="0"/>
              <a:t>Derive the simplified flip-flop input equations and output equations</a:t>
            </a:r>
          </a:p>
          <a:p>
            <a:r>
              <a:rPr lang="en-AU" dirty="0" smtClean="0"/>
              <a:t>Draw the logic diagram</a:t>
            </a:r>
            <a:endParaRPr lang="zh-TW" altLang="en-US" sz="2400" dirty="0">
              <a:ea typeface="新細明體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of Clocked Sequential Circuits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092950" y="1268413"/>
            <a:ext cx="1619250" cy="1439862"/>
            <a:chOff x="4468" y="799"/>
            <a:chExt cx="1020" cy="907"/>
          </a:xfrm>
        </p:grpSpPr>
        <p:sp>
          <p:nvSpPr>
            <p:cNvPr id="841733" name="AutoShape 5"/>
            <p:cNvSpPr>
              <a:spLocks noChangeArrowheads="1"/>
            </p:cNvSpPr>
            <p:nvPr/>
          </p:nvSpPr>
          <p:spPr bwMode="auto">
            <a:xfrm>
              <a:off x="4694" y="799"/>
              <a:ext cx="567" cy="907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1734" name="Line 6"/>
            <p:cNvSpPr>
              <a:spLocks noChangeShapeType="1"/>
            </p:cNvSpPr>
            <p:nvPr/>
          </p:nvSpPr>
          <p:spPr bwMode="auto">
            <a:xfrm>
              <a:off x="5261" y="1253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1735" name="Line 7"/>
            <p:cNvSpPr>
              <a:spLocks noChangeShapeType="1"/>
            </p:cNvSpPr>
            <p:nvPr/>
          </p:nvSpPr>
          <p:spPr bwMode="auto">
            <a:xfrm>
              <a:off x="4468" y="1026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1736" name="Line 8"/>
            <p:cNvSpPr>
              <a:spLocks noChangeShapeType="1"/>
            </p:cNvSpPr>
            <p:nvPr/>
          </p:nvSpPr>
          <p:spPr bwMode="auto">
            <a:xfrm>
              <a:off x="4468" y="1480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5292725" y="1449388"/>
            <a:ext cx="1793875" cy="900112"/>
            <a:chOff x="3334" y="913"/>
            <a:chExt cx="1130" cy="567"/>
          </a:xfrm>
        </p:grpSpPr>
        <p:sp>
          <p:nvSpPr>
            <p:cNvPr id="841738" name="Line 10"/>
            <p:cNvSpPr>
              <a:spLocks noChangeShapeType="1"/>
            </p:cNvSpPr>
            <p:nvPr/>
          </p:nvSpPr>
          <p:spPr bwMode="auto">
            <a:xfrm>
              <a:off x="3334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1739" name="Line 11"/>
            <p:cNvSpPr>
              <a:spLocks noChangeShapeType="1"/>
            </p:cNvSpPr>
            <p:nvPr/>
          </p:nvSpPr>
          <p:spPr bwMode="auto">
            <a:xfrm rot="-5400000">
              <a:off x="3390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1740" name="Line 12"/>
            <p:cNvSpPr>
              <a:spLocks noChangeShapeType="1"/>
            </p:cNvSpPr>
            <p:nvPr/>
          </p:nvSpPr>
          <p:spPr bwMode="auto">
            <a:xfrm>
              <a:off x="3447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1741" name="Line 13"/>
            <p:cNvSpPr>
              <a:spLocks noChangeShapeType="1"/>
            </p:cNvSpPr>
            <p:nvPr/>
          </p:nvSpPr>
          <p:spPr bwMode="auto">
            <a:xfrm rot="5400000">
              <a:off x="3503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1742" name="Line 14"/>
            <p:cNvSpPr>
              <a:spLocks noChangeShapeType="1"/>
            </p:cNvSpPr>
            <p:nvPr/>
          </p:nvSpPr>
          <p:spPr bwMode="auto">
            <a:xfrm>
              <a:off x="3560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1743" name="Line 15"/>
            <p:cNvSpPr>
              <a:spLocks noChangeShapeType="1"/>
            </p:cNvSpPr>
            <p:nvPr/>
          </p:nvSpPr>
          <p:spPr bwMode="auto">
            <a:xfrm rot="-5400000">
              <a:off x="3616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1744" name="Line 16"/>
            <p:cNvSpPr>
              <a:spLocks noChangeShapeType="1"/>
            </p:cNvSpPr>
            <p:nvPr/>
          </p:nvSpPr>
          <p:spPr bwMode="auto">
            <a:xfrm>
              <a:off x="3673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1745" name="Line 17"/>
            <p:cNvSpPr>
              <a:spLocks noChangeShapeType="1"/>
            </p:cNvSpPr>
            <p:nvPr/>
          </p:nvSpPr>
          <p:spPr bwMode="auto">
            <a:xfrm rot="5400000">
              <a:off x="3729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1746" name="Line 18"/>
            <p:cNvSpPr>
              <a:spLocks noChangeShapeType="1"/>
            </p:cNvSpPr>
            <p:nvPr/>
          </p:nvSpPr>
          <p:spPr bwMode="auto">
            <a:xfrm>
              <a:off x="3786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1747" name="Line 19"/>
            <p:cNvSpPr>
              <a:spLocks noChangeShapeType="1"/>
            </p:cNvSpPr>
            <p:nvPr/>
          </p:nvSpPr>
          <p:spPr bwMode="auto">
            <a:xfrm rot="-5400000">
              <a:off x="3842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1748" name="Line 20"/>
            <p:cNvSpPr>
              <a:spLocks noChangeShapeType="1"/>
            </p:cNvSpPr>
            <p:nvPr/>
          </p:nvSpPr>
          <p:spPr bwMode="auto">
            <a:xfrm>
              <a:off x="3899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1749" name="Line 21"/>
            <p:cNvSpPr>
              <a:spLocks noChangeShapeType="1"/>
            </p:cNvSpPr>
            <p:nvPr/>
          </p:nvSpPr>
          <p:spPr bwMode="auto">
            <a:xfrm rot="5400000">
              <a:off x="3955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1750" name="Line 22"/>
            <p:cNvSpPr>
              <a:spLocks noChangeShapeType="1"/>
            </p:cNvSpPr>
            <p:nvPr/>
          </p:nvSpPr>
          <p:spPr bwMode="auto">
            <a:xfrm>
              <a:off x="4012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1751" name="Line 23"/>
            <p:cNvSpPr>
              <a:spLocks noChangeShapeType="1"/>
            </p:cNvSpPr>
            <p:nvPr/>
          </p:nvSpPr>
          <p:spPr bwMode="auto">
            <a:xfrm rot="-5400000">
              <a:off x="4068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1752" name="Line 24"/>
            <p:cNvSpPr>
              <a:spLocks noChangeShapeType="1"/>
            </p:cNvSpPr>
            <p:nvPr/>
          </p:nvSpPr>
          <p:spPr bwMode="auto">
            <a:xfrm>
              <a:off x="4125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1753" name="Line 25"/>
            <p:cNvSpPr>
              <a:spLocks noChangeShapeType="1"/>
            </p:cNvSpPr>
            <p:nvPr/>
          </p:nvSpPr>
          <p:spPr bwMode="auto">
            <a:xfrm rot="5400000">
              <a:off x="4181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1754" name="Line 26"/>
            <p:cNvSpPr>
              <a:spLocks noChangeShapeType="1"/>
            </p:cNvSpPr>
            <p:nvPr/>
          </p:nvSpPr>
          <p:spPr bwMode="auto">
            <a:xfrm>
              <a:off x="4238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1755" name="Line 27"/>
            <p:cNvSpPr>
              <a:spLocks noChangeShapeType="1"/>
            </p:cNvSpPr>
            <p:nvPr/>
          </p:nvSpPr>
          <p:spPr bwMode="auto">
            <a:xfrm rot="-5400000">
              <a:off x="4294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1756" name="Line 28"/>
            <p:cNvSpPr>
              <a:spLocks noChangeShapeType="1"/>
            </p:cNvSpPr>
            <p:nvPr/>
          </p:nvSpPr>
          <p:spPr bwMode="auto">
            <a:xfrm>
              <a:off x="4351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1757" name="Line 29"/>
            <p:cNvSpPr>
              <a:spLocks noChangeShapeType="1"/>
            </p:cNvSpPr>
            <p:nvPr/>
          </p:nvSpPr>
          <p:spPr bwMode="auto">
            <a:xfrm rot="5400000">
              <a:off x="3390" y="142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1758" name="Line 30"/>
            <p:cNvSpPr>
              <a:spLocks noChangeShapeType="1"/>
            </p:cNvSpPr>
            <p:nvPr/>
          </p:nvSpPr>
          <p:spPr bwMode="auto">
            <a:xfrm>
              <a:off x="3334" y="148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1759" name="Line 31"/>
            <p:cNvSpPr>
              <a:spLocks noChangeShapeType="1"/>
            </p:cNvSpPr>
            <p:nvPr/>
          </p:nvSpPr>
          <p:spPr bwMode="auto">
            <a:xfrm>
              <a:off x="3447" y="1366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1760" name="Line 32"/>
            <p:cNvSpPr>
              <a:spLocks noChangeShapeType="1"/>
            </p:cNvSpPr>
            <p:nvPr/>
          </p:nvSpPr>
          <p:spPr bwMode="auto">
            <a:xfrm>
              <a:off x="3674" y="1366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1761" name="Line 33"/>
            <p:cNvSpPr>
              <a:spLocks noChangeShapeType="1"/>
            </p:cNvSpPr>
            <p:nvPr/>
          </p:nvSpPr>
          <p:spPr bwMode="auto">
            <a:xfrm>
              <a:off x="3901" y="1366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1762" name="Line 34"/>
            <p:cNvSpPr>
              <a:spLocks noChangeShapeType="1"/>
            </p:cNvSpPr>
            <p:nvPr/>
          </p:nvSpPr>
          <p:spPr bwMode="auto">
            <a:xfrm rot="5400000">
              <a:off x="4070" y="142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1763" name="Line 35"/>
            <p:cNvSpPr>
              <a:spLocks noChangeShapeType="1"/>
            </p:cNvSpPr>
            <p:nvPr/>
          </p:nvSpPr>
          <p:spPr bwMode="auto">
            <a:xfrm>
              <a:off x="4127" y="1480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1764" name="Line 36"/>
            <p:cNvSpPr>
              <a:spLocks noChangeShapeType="1"/>
            </p:cNvSpPr>
            <p:nvPr/>
          </p:nvSpPr>
          <p:spPr bwMode="auto">
            <a:xfrm rot="5400000">
              <a:off x="3277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1765" name="Line 37"/>
            <p:cNvSpPr>
              <a:spLocks noChangeShapeType="1"/>
            </p:cNvSpPr>
            <p:nvPr/>
          </p:nvSpPr>
          <p:spPr bwMode="auto">
            <a:xfrm rot="5400000">
              <a:off x="3504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1766" name="Line 38"/>
            <p:cNvSpPr>
              <a:spLocks noChangeShapeType="1"/>
            </p:cNvSpPr>
            <p:nvPr/>
          </p:nvSpPr>
          <p:spPr bwMode="auto">
            <a:xfrm rot="5400000">
              <a:off x="3731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1767" name="Line 39"/>
            <p:cNvSpPr>
              <a:spLocks noChangeShapeType="1"/>
            </p:cNvSpPr>
            <p:nvPr/>
          </p:nvSpPr>
          <p:spPr bwMode="auto">
            <a:xfrm rot="5400000">
              <a:off x="3958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</p:grpSp>
      <p:sp>
        <p:nvSpPr>
          <p:cNvPr id="841768" name="Oval 40"/>
          <p:cNvSpPr>
            <a:spLocks noChangeAspect="1" noChangeArrowheads="1"/>
          </p:cNvSpPr>
          <p:nvPr/>
        </p:nvSpPr>
        <p:spPr bwMode="auto">
          <a:xfrm>
            <a:off x="1690688" y="2995613"/>
            <a:ext cx="1260475" cy="596900"/>
          </a:xfrm>
          <a:prstGeom prst="ellips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b="1" baseline="-250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841769" name="Freeform 41"/>
          <p:cNvSpPr>
            <a:spLocks/>
          </p:cNvSpPr>
          <p:nvPr/>
        </p:nvSpPr>
        <p:spPr bwMode="auto">
          <a:xfrm rot="-2244927">
            <a:off x="1430338" y="2528888"/>
            <a:ext cx="439737" cy="665162"/>
          </a:xfrm>
          <a:custGeom>
            <a:avLst/>
            <a:gdLst/>
            <a:ahLst/>
            <a:cxnLst>
              <a:cxn ang="0">
                <a:pos x="30" y="369"/>
              </a:cxn>
              <a:cxn ang="0">
                <a:pos x="2" y="124"/>
              </a:cxn>
              <a:cxn ang="0">
                <a:pos x="44" y="38"/>
              </a:cxn>
              <a:cxn ang="0">
                <a:pos x="142" y="0"/>
              </a:cxn>
              <a:cxn ang="0">
                <a:pos x="236" y="36"/>
              </a:cxn>
              <a:cxn ang="0">
                <a:pos x="274" y="126"/>
              </a:cxn>
              <a:cxn ang="0">
                <a:pos x="255" y="379"/>
              </a:cxn>
            </a:cxnLst>
            <a:rect l="0" t="0" r="r" b="b"/>
            <a:pathLst>
              <a:path w="277" h="379">
                <a:moveTo>
                  <a:pt x="30" y="369"/>
                </a:moveTo>
                <a:cubicBezTo>
                  <a:pt x="25" y="328"/>
                  <a:pt x="0" y="179"/>
                  <a:pt x="2" y="124"/>
                </a:cubicBezTo>
                <a:cubicBezTo>
                  <a:pt x="4" y="69"/>
                  <a:pt x="21" y="59"/>
                  <a:pt x="44" y="38"/>
                </a:cubicBezTo>
                <a:cubicBezTo>
                  <a:pt x="67" y="17"/>
                  <a:pt x="110" y="0"/>
                  <a:pt x="142" y="0"/>
                </a:cubicBezTo>
                <a:cubicBezTo>
                  <a:pt x="174" y="0"/>
                  <a:pt x="214" y="15"/>
                  <a:pt x="236" y="36"/>
                </a:cubicBezTo>
                <a:cubicBezTo>
                  <a:pt x="258" y="57"/>
                  <a:pt x="271" y="69"/>
                  <a:pt x="274" y="126"/>
                </a:cubicBezTo>
                <a:cubicBezTo>
                  <a:pt x="277" y="183"/>
                  <a:pt x="259" y="326"/>
                  <a:pt x="255" y="379"/>
                </a:cubicBezTo>
              </a:path>
            </a:pathLst>
          </a:custGeom>
          <a:noFill/>
          <a:ln w="38100" cap="flat" cmpd="sng">
            <a:solidFill>
              <a:srgbClr val="009900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841770" name="Oval 42"/>
          <p:cNvSpPr>
            <a:spLocks noChangeAspect="1" noChangeArrowheads="1"/>
          </p:cNvSpPr>
          <p:nvPr/>
        </p:nvSpPr>
        <p:spPr bwMode="auto">
          <a:xfrm>
            <a:off x="4391025" y="2995613"/>
            <a:ext cx="1260475" cy="596900"/>
          </a:xfrm>
          <a:prstGeom prst="ellips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b="1" baseline="-250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/ </a:t>
            </a: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841771" name="Oval 43"/>
          <p:cNvSpPr>
            <a:spLocks noChangeAspect="1" noChangeArrowheads="1"/>
          </p:cNvSpPr>
          <p:nvPr/>
        </p:nvSpPr>
        <p:spPr bwMode="auto">
          <a:xfrm>
            <a:off x="1692275" y="5229225"/>
            <a:ext cx="1258888" cy="595313"/>
          </a:xfrm>
          <a:prstGeom prst="ellips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b="1" baseline="-250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/ </a:t>
            </a: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841772" name="Freeform 44"/>
          <p:cNvSpPr>
            <a:spLocks/>
          </p:cNvSpPr>
          <p:nvPr/>
        </p:nvSpPr>
        <p:spPr bwMode="auto">
          <a:xfrm rot="5400000" flipH="1" flipV="1">
            <a:off x="1343819" y="4299744"/>
            <a:ext cx="1592262" cy="177800"/>
          </a:xfrm>
          <a:custGeom>
            <a:avLst/>
            <a:gdLst/>
            <a:ahLst/>
            <a:cxnLst>
              <a:cxn ang="0">
                <a:pos x="0" y="113"/>
              </a:cxn>
              <a:cxn ang="0">
                <a:pos x="454" y="0"/>
              </a:cxn>
              <a:cxn ang="0">
                <a:pos x="907" y="113"/>
              </a:cxn>
            </a:cxnLst>
            <a:rect l="0" t="0" r="r" b="b"/>
            <a:pathLst>
              <a:path w="907" h="113">
                <a:moveTo>
                  <a:pt x="0" y="113"/>
                </a:moveTo>
                <a:cubicBezTo>
                  <a:pt x="151" y="56"/>
                  <a:pt x="303" y="0"/>
                  <a:pt x="454" y="0"/>
                </a:cubicBezTo>
                <a:cubicBezTo>
                  <a:pt x="605" y="0"/>
                  <a:pt x="832" y="75"/>
                  <a:pt x="907" y="113"/>
                </a:cubicBezTo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841773" name="Oval 45"/>
          <p:cNvSpPr>
            <a:spLocks noChangeAspect="1" noChangeArrowheads="1"/>
          </p:cNvSpPr>
          <p:nvPr/>
        </p:nvSpPr>
        <p:spPr bwMode="auto">
          <a:xfrm>
            <a:off x="4392613" y="5229225"/>
            <a:ext cx="1258887" cy="595313"/>
          </a:xfrm>
          <a:prstGeom prst="ellips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b="1" baseline="-250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/ </a:t>
            </a: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841774" name="Freeform 46"/>
          <p:cNvSpPr>
            <a:spLocks/>
          </p:cNvSpPr>
          <p:nvPr/>
        </p:nvSpPr>
        <p:spPr bwMode="auto">
          <a:xfrm rot="5400000">
            <a:off x="4388644" y="4315619"/>
            <a:ext cx="1625600" cy="179388"/>
          </a:xfrm>
          <a:custGeom>
            <a:avLst/>
            <a:gdLst/>
            <a:ahLst/>
            <a:cxnLst>
              <a:cxn ang="0">
                <a:pos x="0" y="113"/>
              </a:cxn>
              <a:cxn ang="0">
                <a:pos x="454" y="0"/>
              </a:cxn>
              <a:cxn ang="0">
                <a:pos x="907" y="113"/>
              </a:cxn>
            </a:cxnLst>
            <a:rect l="0" t="0" r="r" b="b"/>
            <a:pathLst>
              <a:path w="907" h="113">
                <a:moveTo>
                  <a:pt x="0" y="113"/>
                </a:moveTo>
                <a:cubicBezTo>
                  <a:pt x="151" y="56"/>
                  <a:pt x="303" y="0"/>
                  <a:pt x="454" y="0"/>
                </a:cubicBezTo>
                <a:cubicBezTo>
                  <a:pt x="605" y="0"/>
                  <a:pt x="832" y="75"/>
                  <a:pt x="907" y="113"/>
                </a:cubicBez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841775" name="Freeform 47"/>
          <p:cNvSpPr>
            <a:spLocks/>
          </p:cNvSpPr>
          <p:nvPr/>
        </p:nvSpPr>
        <p:spPr bwMode="auto">
          <a:xfrm rot="10800000">
            <a:off x="2951163" y="5580063"/>
            <a:ext cx="1441450" cy="198437"/>
          </a:xfrm>
          <a:custGeom>
            <a:avLst/>
            <a:gdLst/>
            <a:ahLst/>
            <a:cxnLst>
              <a:cxn ang="0">
                <a:pos x="0" y="113"/>
              </a:cxn>
              <a:cxn ang="0">
                <a:pos x="454" y="0"/>
              </a:cxn>
              <a:cxn ang="0">
                <a:pos x="907" y="113"/>
              </a:cxn>
            </a:cxnLst>
            <a:rect l="0" t="0" r="r" b="b"/>
            <a:pathLst>
              <a:path w="907" h="113">
                <a:moveTo>
                  <a:pt x="0" y="113"/>
                </a:moveTo>
                <a:cubicBezTo>
                  <a:pt x="151" y="56"/>
                  <a:pt x="303" y="0"/>
                  <a:pt x="454" y="0"/>
                </a:cubicBezTo>
                <a:cubicBezTo>
                  <a:pt x="605" y="0"/>
                  <a:pt x="832" y="75"/>
                  <a:pt x="907" y="113"/>
                </a:cubicBez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841776" name="Rectangle 48"/>
          <p:cNvSpPr>
            <a:spLocks noChangeArrowheads="1"/>
          </p:cNvSpPr>
          <p:nvPr/>
        </p:nvSpPr>
        <p:spPr bwMode="auto">
          <a:xfrm>
            <a:off x="971550" y="2595563"/>
            <a:ext cx="360363" cy="32861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sz="2400" b="1">
                <a:latin typeface="Times New Roman" pitchFamily="18" charset="0"/>
                <a:cs typeface="Times New Roman" pitchFamily="18" charset="0"/>
              </a:rPr>
              <a:t>0</a:t>
            </a:r>
            <a:endParaRPr lang="en-US" sz="2400" b="1">
              <a:solidFill>
                <a:srgbClr val="9966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41777" name="Rectangle 49"/>
          <p:cNvSpPr>
            <a:spLocks noChangeArrowheads="1"/>
          </p:cNvSpPr>
          <p:nvPr/>
        </p:nvSpPr>
        <p:spPr bwMode="auto">
          <a:xfrm>
            <a:off x="5292725" y="4187825"/>
            <a:ext cx="358775" cy="32861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sz="2400" b="1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>
              <a:solidFill>
                <a:srgbClr val="9966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41778" name="Rectangle 50"/>
          <p:cNvSpPr>
            <a:spLocks noChangeArrowheads="1"/>
          </p:cNvSpPr>
          <p:nvPr/>
        </p:nvSpPr>
        <p:spPr bwMode="auto">
          <a:xfrm>
            <a:off x="3492500" y="5780088"/>
            <a:ext cx="358775" cy="32861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sz="2400" b="1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>
              <a:solidFill>
                <a:srgbClr val="9966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41779" name="Rectangle 51"/>
          <p:cNvSpPr>
            <a:spLocks noChangeArrowheads="1"/>
          </p:cNvSpPr>
          <p:nvPr/>
        </p:nvSpPr>
        <p:spPr bwMode="auto">
          <a:xfrm>
            <a:off x="1692275" y="4187825"/>
            <a:ext cx="358775" cy="32861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sz="2400" b="1">
                <a:latin typeface="Times New Roman" pitchFamily="18" charset="0"/>
                <a:cs typeface="Times New Roman" pitchFamily="18" charset="0"/>
              </a:rPr>
              <a:t>0</a:t>
            </a:r>
            <a:endParaRPr lang="en-US" sz="2400" b="1">
              <a:solidFill>
                <a:srgbClr val="9966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41780" name="Rectangle 52"/>
          <p:cNvSpPr>
            <a:spLocks noChangeArrowheads="1"/>
          </p:cNvSpPr>
          <p:nvPr/>
        </p:nvSpPr>
        <p:spPr bwMode="auto">
          <a:xfrm>
            <a:off x="3311525" y="4352925"/>
            <a:ext cx="360363" cy="32861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sz="2400" b="1">
                <a:latin typeface="Times New Roman" pitchFamily="18" charset="0"/>
                <a:cs typeface="Times New Roman" pitchFamily="18" charset="0"/>
              </a:rPr>
              <a:t>0</a:t>
            </a:r>
            <a:endParaRPr lang="en-US" sz="2400" b="1">
              <a:solidFill>
                <a:srgbClr val="9966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41781" name="Freeform 53"/>
          <p:cNvSpPr>
            <a:spLocks/>
          </p:cNvSpPr>
          <p:nvPr/>
        </p:nvSpPr>
        <p:spPr bwMode="auto">
          <a:xfrm rot="-8007457">
            <a:off x="1327944" y="5522119"/>
            <a:ext cx="485775" cy="601663"/>
          </a:xfrm>
          <a:custGeom>
            <a:avLst/>
            <a:gdLst/>
            <a:ahLst/>
            <a:cxnLst>
              <a:cxn ang="0">
                <a:pos x="30" y="369"/>
              </a:cxn>
              <a:cxn ang="0">
                <a:pos x="2" y="124"/>
              </a:cxn>
              <a:cxn ang="0">
                <a:pos x="44" y="38"/>
              </a:cxn>
              <a:cxn ang="0">
                <a:pos x="142" y="0"/>
              </a:cxn>
              <a:cxn ang="0">
                <a:pos x="236" y="36"/>
              </a:cxn>
              <a:cxn ang="0">
                <a:pos x="274" y="126"/>
              </a:cxn>
              <a:cxn ang="0">
                <a:pos x="255" y="379"/>
              </a:cxn>
            </a:cxnLst>
            <a:rect l="0" t="0" r="r" b="b"/>
            <a:pathLst>
              <a:path w="277" h="379">
                <a:moveTo>
                  <a:pt x="30" y="369"/>
                </a:moveTo>
                <a:cubicBezTo>
                  <a:pt x="25" y="328"/>
                  <a:pt x="0" y="179"/>
                  <a:pt x="2" y="124"/>
                </a:cubicBezTo>
                <a:cubicBezTo>
                  <a:pt x="4" y="69"/>
                  <a:pt x="21" y="59"/>
                  <a:pt x="44" y="38"/>
                </a:cubicBezTo>
                <a:cubicBezTo>
                  <a:pt x="67" y="17"/>
                  <a:pt x="110" y="0"/>
                  <a:pt x="142" y="0"/>
                </a:cubicBezTo>
                <a:cubicBezTo>
                  <a:pt x="174" y="0"/>
                  <a:pt x="214" y="15"/>
                  <a:pt x="236" y="36"/>
                </a:cubicBezTo>
                <a:cubicBezTo>
                  <a:pt x="258" y="57"/>
                  <a:pt x="271" y="69"/>
                  <a:pt x="274" y="126"/>
                </a:cubicBezTo>
                <a:cubicBezTo>
                  <a:pt x="277" y="183"/>
                  <a:pt x="259" y="326"/>
                  <a:pt x="255" y="379"/>
                </a:cubicBez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841782" name="Rectangle 54"/>
          <p:cNvSpPr>
            <a:spLocks noChangeArrowheads="1"/>
          </p:cNvSpPr>
          <p:nvPr/>
        </p:nvSpPr>
        <p:spPr bwMode="auto">
          <a:xfrm>
            <a:off x="971550" y="5778500"/>
            <a:ext cx="360363" cy="32861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sz="2400" b="1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>
              <a:solidFill>
                <a:srgbClr val="9966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41783" name="Line 55"/>
          <p:cNvSpPr>
            <a:spLocks noChangeShapeType="1"/>
          </p:cNvSpPr>
          <p:nvPr/>
        </p:nvSpPr>
        <p:spPr bwMode="auto">
          <a:xfrm flipH="1" flipV="1">
            <a:off x="2822575" y="3470275"/>
            <a:ext cx="1711325" cy="17907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841784" name="Freeform 56"/>
          <p:cNvSpPr>
            <a:spLocks/>
          </p:cNvSpPr>
          <p:nvPr/>
        </p:nvSpPr>
        <p:spPr bwMode="auto">
          <a:xfrm flipH="1" flipV="1">
            <a:off x="2951163" y="3359150"/>
            <a:ext cx="1439862" cy="196850"/>
          </a:xfrm>
          <a:custGeom>
            <a:avLst/>
            <a:gdLst/>
            <a:ahLst/>
            <a:cxnLst>
              <a:cxn ang="0">
                <a:pos x="0" y="113"/>
              </a:cxn>
              <a:cxn ang="0">
                <a:pos x="454" y="0"/>
              </a:cxn>
              <a:cxn ang="0">
                <a:pos x="907" y="113"/>
              </a:cxn>
            </a:cxnLst>
            <a:rect l="0" t="0" r="r" b="b"/>
            <a:pathLst>
              <a:path w="907" h="113">
                <a:moveTo>
                  <a:pt x="0" y="113"/>
                </a:moveTo>
                <a:cubicBezTo>
                  <a:pt x="151" y="56"/>
                  <a:pt x="303" y="0"/>
                  <a:pt x="454" y="0"/>
                </a:cubicBezTo>
                <a:cubicBezTo>
                  <a:pt x="605" y="0"/>
                  <a:pt x="832" y="75"/>
                  <a:pt x="907" y="113"/>
                </a:cubicBezTo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841785" name="Rectangle 57"/>
          <p:cNvSpPr>
            <a:spLocks noChangeArrowheads="1"/>
          </p:cNvSpPr>
          <p:nvPr/>
        </p:nvSpPr>
        <p:spPr bwMode="auto">
          <a:xfrm>
            <a:off x="3492500" y="3556000"/>
            <a:ext cx="358775" cy="32861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sz="2400" b="1">
                <a:latin typeface="Times New Roman" pitchFamily="18" charset="0"/>
                <a:cs typeface="Times New Roman" pitchFamily="18" charset="0"/>
              </a:rPr>
              <a:t>0</a:t>
            </a:r>
            <a:endParaRPr lang="en-US" sz="2400" b="1">
              <a:solidFill>
                <a:srgbClr val="9966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41786" name="Rectangle 58"/>
          <p:cNvSpPr>
            <a:spLocks noChangeArrowheads="1"/>
          </p:cNvSpPr>
          <p:nvPr/>
        </p:nvSpPr>
        <p:spPr bwMode="auto">
          <a:xfrm>
            <a:off x="3490913" y="2563813"/>
            <a:ext cx="360362" cy="32861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sz="2400" b="1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>
              <a:solidFill>
                <a:srgbClr val="9966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41787" name="Freeform 59"/>
          <p:cNvSpPr>
            <a:spLocks/>
          </p:cNvSpPr>
          <p:nvPr/>
        </p:nvSpPr>
        <p:spPr bwMode="auto">
          <a:xfrm rot="10800000" flipH="1" flipV="1">
            <a:off x="2951163" y="2960688"/>
            <a:ext cx="1439862" cy="198437"/>
          </a:xfrm>
          <a:custGeom>
            <a:avLst/>
            <a:gdLst/>
            <a:ahLst/>
            <a:cxnLst>
              <a:cxn ang="0">
                <a:pos x="0" y="113"/>
              </a:cxn>
              <a:cxn ang="0">
                <a:pos x="454" y="0"/>
              </a:cxn>
              <a:cxn ang="0">
                <a:pos x="907" y="113"/>
              </a:cxn>
            </a:cxnLst>
            <a:rect l="0" t="0" r="r" b="b"/>
            <a:pathLst>
              <a:path w="907" h="113">
                <a:moveTo>
                  <a:pt x="0" y="113"/>
                </a:moveTo>
                <a:cubicBezTo>
                  <a:pt x="151" y="56"/>
                  <a:pt x="303" y="0"/>
                  <a:pt x="454" y="0"/>
                </a:cubicBezTo>
                <a:cubicBezTo>
                  <a:pt x="605" y="0"/>
                  <a:pt x="832" y="75"/>
                  <a:pt x="907" y="113"/>
                </a:cubicBez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graphicFrame>
        <p:nvGraphicFramePr>
          <p:cNvPr id="841788" name="Group 60"/>
          <p:cNvGraphicFramePr>
            <a:graphicFrameLocks noGrp="1"/>
          </p:cNvGraphicFramePr>
          <p:nvPr/>
        </p:nvGraphicFramePr>
        <p:xfrm>
          <a:off x="6542088" y="3143250"/>
          <a:ext cx="1787525" cy="2392364"/>
        </p:xfrm>
        <a:graphic>
          <a:graphicData uri="http://schemas.openxmlformats.org/drawingml/2006/table">
            <a:tbl>
              <a:tblPr/>
              <a:tblGrid>
                <a:gridCol w="893762"/>
                <a:gridCol w="893763"/>
              </a:tblGrid>
              <a:tr h="4778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State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  B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4794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kumimoji="0" lang="en-US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78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kumimoji="0" lang="en-US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94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kumimoji="0" lang="en-US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78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kumimoji="0" lang="en-US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3" name="Content Placeholder 6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spcBef>
                <a:spcPct val="15000"/>
              </a:spcBef>
            </a:pPr>
            <a:r>
              <a:rPr lang="en-US" i="1" dirty="0" smtClean="0">
                <a:solidFill>
                  <a:srgbClr val="009900"/>
                </a:solidFill>
              </a:rPr>
              <a:t>Example</a:t>
            </a:r>
            <a:r>
              <a:rPr lang="en-US" dirty="0" smtClean="0">
                <a:solidFill>
                  <a:srgbClr val="009900"/>
                </a:solidFill>
              </a:rPr>
              <a:t>:</a:t>
            </a:r>
          </a:p>
          <a:p>
            <a:pPr>
              <a:spcBef>
                <a:spcPct val="15000"/>
              </a:spcBef>
              <a:buFont typeface="Wingdings" pitchFamily="2" charset="2"/>
              <a:buNone/>
            </a:pPr>
            <a:r>
              <a:rPr lang="en-US" dirty="0" smtClean="0"/>
              <a:t>Detect 3 or more consecutive 1’s</a:t>
            </a:r>
          </a:p>
          <a:p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41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41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41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41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41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841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841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841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841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841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841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841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841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841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841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841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841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841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841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1768" grpId="0" animBg="1"/>
      <p:bldP spid="841769" grpId="0" animBg="1"/>
      <p:bldP spid="841770" grpId="0" animBg="1"/>
      <p:bldP spid="841771" grpId="0" animBg="1"/>
      <p:bldP spid="841772" grpId="0" animBg="1"/>
      <p:bldP spid="841773" grpId="0" animBg="1"/>
      <p:bldP spid="841774" grpId="0" animBg="1"/>
      <p:bldP spid="841775" grpId="0" animBg="1"/>
      <p:bldP spid="841776" grpId="0"/>
      <p:bldP spid="841777" grpId="0"/>
      <p:bldP spid="841778" grpId="0"/>
      <p:bldP spid="841779" grpId="0"/>
      <p:bldP spid="841780" grpId="0"/>
      <p:bldP spid="841781" grpId="0" animBg="1"/>
      <p:bldP spid="841782" grpId="0"/>
      <p:bldP spid="841783" grpId="0" animBg="1"/>
      <p:bldP spid="841784" grpId="0" animBg="1"/>
      <p:bldP spid="841785" grpId="0"/>
      <p:bldP spid="841786" grpId="0"/>
      <p:bldP spid="841787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 of Clocked Sequential Circuits</a:t>
            </a:r>
          </a:p>
        </p:txBody>
      </p:sp>
      <p:graphicFrame>
        <p:nvGraphicFramePr>
          <p:cNvPr id="843780" name="Group 4"/>
          <p:cNvGraphicFramePr>
            <a:graphicFrameLocks noGrp="1"/>
          </p:cNvGraphicFramePr>
          <p:nvPr/>
        </p:nvGraphicFramePr>
        <p:xfrm>
          <a:off x="557213" y="2540000"/>
          <a:ext cx="3957637" cy="4005264"/>
        </p:xfrm>
        <a:graphic>
          <a:graphicData uri="http://schemas.openxmlformats.org/drawingml/2006/table">
            <a:tbl>
              <a:tblPr/>
              <a:tblGrid>
                <a:gridCol w="539750"/>
                <a:gridCol w="539750"/>
                <a:gridCol w="719137"/>
                <a:gridCol w="539750"/>
                <a:gridCol w="539750"/>
                <a:gridCol w="1079500"/>
              </a:tblGrid>
              <a:tr h="406400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Present State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Input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Next State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Output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62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62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62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43858" name="Rectangle 82"/>
          <p:cNvSpPr>
            <a:spLocks noChangeAspect="1" noChangeArrowheads="1"/>
          </p:cNvSpPr>
          <p:nvPr/>
        </p:nvSpPr>
        <p:spPr bwMode="auto">
          <a:xfrm>
            <a:off x="690563" y="3616325"/>
            <a:ext cx="809625" cy="636588"/>
          </a:xfrm>
          <a:prstGeom prst="rect">
            <a:avLst/>
          </a:prstGeom>
          <a:noFill/>
          <a:ln w="38100" cap="rnd" algn="ctr">
            <a:solidFill>
              <a:schemeClr val="accent1"/>
            </a:solidFill>
            <a:prstDash val="sysDot"/>
            <a:miter lim="800000"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843859" name="Rectangle 83"/>
          <p:cNvSpPr>
            <a:spLocks noChangeArrowheads="1"/>
          </p:cNvSpPr>
          <p:nvPr/>
        </p:nvSpPr>
        <p:spPr bwMode="auto">
          <a:xfrm>
            <a:off x="2535238" y="3565525"/>
            <a:ext cx="1447800" cy="300990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0     0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0     1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0     0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1     0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0     0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1     1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0     0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1     1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grpSp>
        <p:nvGrpSpPr>
          <p:cNvPr id="2" name="Group 84"/>
          <p:cNvGrpSpPr>
            <a:grpSpLocks/>
          </p:cNvGrpSpPr>
          <p:nvPr/>
        </p:nvGrpSpPr>
        <p:grpSpPr bwMode="auto">
          <a:xfrm>
            <a:off x="7092950" y="1268413"/>
            <a:ext cx="1619250" cy="1439862"/>
            <a:chOff x="4468" y="799"/>
            <a:chExt cx="1020" cy="907"/>
          </a:xfrm>
        </p:grpSpPr>
        <p:sp>
          <p:nvSpPr>
            <p:cNvPr id="843861" name="AutoShape 85"/>
            <p:cNvSpPr>
              <a:spLocks noChangeArrowheads="1"/>
            </p:cNvSpPr>
            <p:nvPr/>
          </p:nvSpPr>
          <p:spPr bwMode="auto">
            <a:xfrm>
              <a:off x="4694" y="799"/>
              <a:ext cx="567" cy="907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3862" name="Line 86"/>
            <p:cNvSpPr>
              <a:spLocks noChangeShapeType="1"/>
            </p:cNvSpPr>
            <p:nvPr/>
          </p:nvSpPr>
          <p:spPr bwMode="auto">
            <a:xfrm>
              <a:off x="5261" y="1253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3863" name="Line 87"/>
            <p:cNvSpPr>
              <a:spLocks noChangeShapeType="1"/>
            </p:cNvSpPr>
            <p:nvPr/>
          </p:nvSpPr>
          <p:spPr bwMode="auto">
            <a:xfrm>
              <a:off x="4468" y="1026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3864" name="Line 88"/>
            <p:cNvSpPr>
              <a:spLocks noChangeShapeType="1"/>
            </p:cNvSpPr>
            <p:nvPr/>
          </p:nvSpPr>
          <p:spPr bwMode="auto">
            <a:xfrm>
              <a:off x="4468" y="1480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</p:grpSp>
      <p:grpSp>
        <p:nvGrpSpPr>
          <p:cNvPr id="3" name="Group 89"/>
          <p:cNvGrpSpPr>
            <a:grpSpLocks/>
          </p:cNvGrpSpPr>
          <p:nvPr/>
        </p:nvGrpSpPr>
        <p:grpSpPr bwMode="auto">
          <a:xfrm>
            <a:off x="5292725" y="1449388"/>
            <a:ext cx="1793875" cy="900112"/>
            <a:chOff x="3334" y="913"/>
            <a:chExt cx="1130" cy="567"/>
          </a:xfrm>
        </p:grpSpPr>
        <p:sp>
          <p:nvSpPr>
            <p:cNvPr id="843866" name="Line 90"/>
            <p:cNvSpPr>
              <a:spLocks noChangeShapeType="1"/>
            </p:cNvSpPr>
            <p:nvPr/>
          </p:nvSpPr>
          <p:spPr bwMode="auto">
            <a:xfrm>
              <a:off x="3334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3867" name="Line 91"/>
            <p:cNvSpPr>
              <a:spLocks noChangeShapeType="1"/>
            </p:cNvSpPr>
            <p:nvPr/>
          </p:nvSpPr>
          <p:spPr bwMode="auto">
            <a:xfrm rot="-5400000">
              <a:off x="3390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3868" name="Line 92"/>
            <p:cNvSpPr>
              <a:spLocks noChangeShapeType="1"/>
            </p:cNvSpPr>
            <p:nvPr/>
          </p:nvSpPr>
          <p:spPr bwMode="auto">
            <a:xfrm>
              <a:off x="3447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3869" name="Line 93"/>
            <p:cNvSpPr>
              <a:spLocks noChangeShapeType="1"/>
            </p:cNvSpPr>
            <p:nvPr/>
          </p:nvSpPr>
          <p:spPr bwMode="auto">
            <a:xfrm rot="5400000">
              <a:off x="3503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3870" name="Line 94"/>
            <p:cNvSpPr>
              <a:spLocks noChangeShapeType="1"/>
            </p:cNvSpPr>
            <p:nvPr/>
          </p:nvSpPr>
          <p:spPr bwMode="auto">
            <a:xfrm>
              <a:off x="3560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3871" name="Line 95"/>
            <p:cNvSpPr>
              <a:spLocks noChangeShapeType="1"/>
            </p:cNvSpPr>
            <p:nvPr/>
          </p:nvSpPr>
          <p:spPr bwMode="auto">
            <a:xfrm rot="-5400000">
              <a:off x="3616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3872" name="Line 96"/>
            <p:cNvSpPr>
              <a:spLocks noChangeShapeType="1"/>
            </p:cNvSpPr>
            <p:nvPr/>
          </p:nvSpPr>
          <p:spPr bwMode="auto">
            <a:xfrm>
              <a:off x="3673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3873" name="Line 97"/>
            <p:cNvSpPr>
              <a:spLocks noChangeShapeType="1"/>
            </p:cNvSpPr>
            <p:nvPr/>
          </p:nvSpPr>
          <p:spPr bwMode="auto">
            <a:xfrm rot="5400000">
              <a:off x="3729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3874" name="Line 98"/>
            <p:cNvSpPr>
              <a:spLocks noChangeShapeType="1"/>
            </p:cNvSpPr>
            <p:nvPr/>
          </p:nvSpPr>
          <p:spPr bwMode="auto">
            <a:xfrm>
              <a:off x="3786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3875" name="Line 99"/>
            <p:cNvSpPr>
              <a:spLocks noChangeShapeType="1"/>
            </p:cNvSpPr>
            <p:nvPr/>
          </p:nvSpPr>
          <p:spPr bwMode="auto">
            <a:xfrm rot="-5400000">
              <a:off x="3842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3876" name="Line 100"/>
            <p:cNvSpPr>
              <a:spLocks noChangeShapeType="1"/>
            </p:cNvSpPr>
            <p:nvPr/>
          </p:nvSpPr>
          <p:spPr bwMode="auto">
            <a:xfrm>
              <a:off x="3899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3877" name="Line 101"/>
            <p:cNvSpPr>
              <a:spLocks noChangeShapeType="1"/>
            </p:cNvSpPr>
            <p:nvPr/>
          </p:nvSpPr>
          <p:spPr bwMode="auto">
            <a:xfrm rot="5400000">
              <a:off x="3955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3878" name="Line 102"/>
            <p:cNvSpPr>
              <a:spLocks noChangeShapeType="1"/>
            </p:cNvSpPr>
            <p:nvPr/>
          </p:nvSpPr>
          <p:spPr bwMode="auto">
            <a:xfrm>
              <a:off x="4012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3879" name="Line 103"/>
            <p:cNvSpPr>
              <a:spLocks noChangeShapeType="1"/>
            </p:cNvSpPr>
            <p:nvPr/>
          </p:nvSpPr>
          <p:spPr bwMode="auto">
            <a:xfrm rot="-5400000">
              <a:off x="4068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3880" name="Line 104"/>
            <p:cNvSpPr>
              <a:spLocks noChangeShapeType="1"/>
            </p:cNvSpPr>
            <p:nvPr/>
          </p:nvSpPr>
          <p:spPr bwMode="auto">
            <a:xfrm>
              <a:off x="4125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3881" name="Line 105"/>
            <p:cNvSpPr>
              <a:spLocks noChangeShapeType="1"/>
            </p:cNvSpPr>
            <p:nvPr/>
          </p:nvSpPr>
          <p:spPr bwMode="auto">
            <a:xfrm rot="5400000">
              <a:off x="4181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3882" name="Line 106"/>
            <p:cNvSpPr>
              <a:spLocks noChangeShapeType="1"/>
            </p:cNvSpPr>
            <p:nvPr/>
          </p:nvSpPr>
          <p:spPr bwMode="auto">
            <a:xfrm>
              <a:off x="4238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3883" name="Line 107"/>
            <p:cNvSpPr>
              <a:spLocks noChangeShapeType="1"/>
            </p:cNvSpPr>
            <p:nvPr/>
          </p:nvSpPr>
          <p:spPr bwMode="auto">
            <a:xfrm rot="-5400000">
              <a:off x="4294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3884" name="Line 108"/>
            <p:cNvSpPr>
              <a:spLocks noChangeShapeType="1"/>
            </p:cNvSpPr>
            <p:nvPr/>
          </p:nvSpPr>
          <p:spPr bwMode="auto">
            <a:xfrm>
              <a:off x="4351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3885" name="Line 109"/>
            <p:cNvSpPr>
              <a:spLocks noChangeShapeType="1"/>
            </p:cNvSpPr>
            <p:nvPr/>
          </p:nvSpPr>
          <p:spPr bwMode="auto">
            <a:xfrm rot="5400000">
              <a:off x="3390" y="142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3886" name="Line 110"/>
            <p:cNvSpPr>
              <a:spLocks noChangeShapeType="1"/>
            </p:cNvSpPr>
            <p:nvPr/>
          </p:nvSpPr>
          <p:spPr bwMode="auto">
            <a:xfrm>
              <a:off x="3334" y="148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3887" name="Line 111"/>
            <p:cNvSpPr>
              <a:spLocks noChangeShapeType="1"/>
            </p:cNvSpPr>
            <p:nvPr/>
          </p:nvSpPr>
          <p:spPr bwMode="auto">
            <a:xfrm>
              <a:off x="3447" y="1366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3888" name="Line 112"/>
            <p:cNvSpPr>
              <a:spLocks noChangeShapeType="1"/>
            </p:cNvSpPr>
            <p:nvPr/>
          </p:nvSpPr>
          <p:spPr bwMode="auto">
            <a:xfrm>
              <a:off x="3674" y="1366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3889" name="Line 113"/>
            <p:cNvSpPr>
              <a:spLocks noChangeShapeType="1"/>
            </p:cNvSpPr>
            <p:nvPr/>
          </p:nvSpPr>
          <p:spPr bwMode="auto">
            <a:xfrm>
              <a:off x="3901" y="1366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3890" name="Line 114"/>
            <p:cNvSpPr>
              <a:spLocks noChangeShapeType="1"/>
            </p:cNvSpPr>
            <p:nvPr/>
          </p:nvSpPr>
          <p:spPr bwMode="auto">
            <a:xfrm rot="5400000">
              <a:off x="4070" y="142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3891" name="Line 115"/>
            <p:cNvSpPr>
              <a:spLocks noChangeShapeType="1"/>
            </p:cNvSpPr>
            <p:nvPr/>
          </p:nvSpPr>
          <p:spPr bwMode="auto">
            <a:xfrm>
              <a:off x="4127" y="1480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3892" name="Line 116"/>
            <p:cNvSpPr>
              <a:spLocks noChangeShapeType="1"/>
            </p:cNvSpPr>
            <p:nvPr/>
          </p:nvSpPr>
          <p:spPr bwMode="auto">
            <a:xfrm rot="5400000">
              <a:off x="3277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3893" name="Line 117"/>
            <p:cNvSpPr>
              <a:spLocks noChangeShapeType="1"/>
            </p:cNvSpPr>
            <p:nvPr/>
          </p:nvSpPr>
          <p:spPr bwMode="auto">
            <a:xfrm rot="5400000">
              <a:off x="3504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3894" name="Line 118"/>
            <p:cNvSpPr>
              <a:spLocks noChangeShapeType="1"/>
            </p:cNvSpPr>
            <p:nvPr/>
          </p:nvSpPr>
          <p:spPr bwMode="auto">
            <a:xfrm rot="5400000">
              <a:off x="3731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3895" name="Line 119"/>
            <p:cNvSpPr>
              <a:spLocks noChangeShapeType="1"/>
            </p:cNvSpPr>
            <p:nvPr/>
          </p:nvSpPr>
          <p:spPr bwMode="auto">
            <a:xfrm rot="5400000">
              <a:off x="3958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</p:grpSp>
      <p:grpSp>
        <p:nvGrpSpPr>
          <p:cNvPr id="4" name="Group 120"/>
          <p:cNvGrpSpPr>
            <a:grpSpLocks/>
          </p:cNvGrpSpPr>
          <p:nvPr/>
        </p:nvGrpSpPr>
        <p:grpSpPr bwMode="auto">
          <a:xfrm>
            <a:off x="4875213" y="2698750"/>
            <a:ext cx="3959225" cy="3273425"/>
            <a:chOff x="612" y="1593"/>
            <a:chExt cx="2948" cy="2277"/>
          </a:xfrm>
        </p:grpSpPr>
        <p:sp>
          <p:nvSpPr>
            <p:cNvPr id="843897" name="Oval 121"/>
            <p:cNvSpPr>
              <a:spLocks noChangeAspect="1" noChangeArrowheads="1"/>
            </p:cNvSpPr>
            <p:nvPr/>
          </p:nvSpPr>
          <p:spPr bwMode="auto">
            <a:xfrm>
              <a:off x="1065" y="1887"/>
              <a:ext cx="794" cy="376"/>
            </a:xfrm>
            <a:prstGeom prst="ellipse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 anchor="ctr"/>
            <a:lstStyle/>
            <a:p>
              <a:r>
                <a:rPr lang="en-US" sz="2400" b="1">
                  <a:solidFill>
                    <a:schemeClr val="accent2"/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b="1" baseline="-25000">
                  <a:solidFill>
                    <a:schemeClr val="accent2"/>
                  </a:solidFill>
                  <a:latin typeface="Times New Roman" pitchFamily="18" charset="0"/>
                  <a:cs typeface="Times New Roman" pitchFamily="18" charset="0"/>
                </a:rPr>
                <a:t>0</a:t>
              </a:r>
              <a:r>
                <a:rPr lang="en-US" sz="2400" b="1">
                  <a:solidFill>
                    <a:schemeClr val="accent2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>
                  <a:latin typeface="Times New Roman" pitchFamily="18" charset="0"/>
                  <a:cs typeface="Times New Roman" pitchFamily="18" charset="0"/>
                </a:rPr>
                <a:t>/</a:t>
              </a:r>
              <a:r>
                <a:rPr lang="en-US" sz="2400" b="1">
                  <a:solidFill>
                    <a:schemeClr val="accent2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>
                  <a:solidFill>
                    <a:srgbClr val="996600"/>
                  </a:solidFill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sp>
          <p:nvSpPr>
            <p:cNvPr id="843898" name="Freeform 122"/>
            <p:cNvSpPr>
              <a:spLocks/>
            </p:cNvSpPr>
            <p:nvPr/>
          </p:nvSpPr>
          <p:spPr bwMode="auto">
            <a:xfrm rot="-2244927">
              <a:off x="901" y="1593"/>
              <a:ext cx="277" cy="419"/>
            </a:xfrm>
            <a:custGeom>
              <a:avLst/>
              <a:gdLst/>
              <a:ahLst/>
              <a:cxnLst>
                <a:cxn ang="0">
                  <a:pos x="30" y="369"/>
                </a:cxn>
                <a:cxn ang="0">
                  <a:pos x="2" y="124"/>
                </a:cxn>
                <a:cxn ang="0">
                  <a:pos x="44" y="38"/>
                </a:cxn>
                <a:cxn ang="0">
                  <a:pos x="142" y="0"/>
                </a:cxn>
                <a:cxn ang="0">
                  <a:pos x="236" y="36"/>
                </a:cxn>
                <a:cxn ang="0">
                  <a:pos x="274" y="126"/>
                </a:cxn>
                <a:cxn ang="0">
                  <a:pos x="255" y="379"/>
                </a:cxn>
              </a:cxnLst>
              <a:rect l="0" t="0" r="r" b="b"/>
              <a:pathLst>
                <a:path w="277" h="379">
                  <a:moveTo>
                    <a:pt x="30" y="369"/>
                  </a:moveTo>
                  <a:cubicBezTo>
                    <a:pt x="25" y="328"/>
                    <a:pt x="0" y="179"/>
                    <a:pt x="2" y="124"/>
                  </a:cubicBezTo>
                  <a:cubicBezTo>
                    <a:pt x="4" y="69"/>
                    <a:pt x="21" y="59"/>
                    <a:pt x="44" y="38"/>
                  </a:cubicBezTo>
                  <a:cubicBezTo>
                    <a:pt x="67" y="17"/>
                    <a:pt x="110" y="0"/>
                    <a:pt x="142" y="0"/>
                  </a:cubicBezTo>
                  <a:cubicBezTo>
                    <a:pt x="174" y="0"/>
                    <a:pt x="214" y="15"/>
                    <a:pt x="236" y="36"/>
                  </a:cubicBezTo>
                  <a:cubicBezTo>
                    <a:pt x="258" y="57"/>
                    <a:pt x="271" y="69"/>
                    <a:pt x="274" y="126"/>
                  </a:cubicBezTo>
                  <a:cubicBezTo>
                    <a:pt x="277" y="183"/>
                    <a:pt x="259" y="326"/>
                    <a:pt x="255" y="379"/>
                  </a:cubicBezTo>
                </a:path>
              </a:pathLst>
            </a:custGeom>
            <a:noFill/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3899" name="Oval 123"/>
            <p:cNvSpPr>
              <a:spLocks noChangeAspect="1" noChangeArrowheads="1"/>
            </p:cNvSpPr>
            <p:nvPr/>
          </p:nvSpPr>
          <p:spPr bwMode="auto">
            <a:xfrm>
              <a:off x="2766" y="1887"/>
              <a:ext cx="794" cy="376"/>
            </a:xfrm>
            <a:prstGeom prst="ellipse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 anchor="ctr"/>
            <a:lstStyle/>
            <a:p>
              <a:r>
                <a:rPr lang="en-US" sz="2400" b="1">
                  <a:solidFill>
                    <a:schemeClr val="accent2"/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b="1" baseline="-25000">
                  <a:solidFill>
                    <a:schemeClr val="accent2"/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2400" b="1">
                  <a:solidFill>
                    <a:schemeClr val="accent2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>
                  <a:latin typeface="Times New Roman" pitchFamily="18" charset="0"/>
                  <a:cs typeface="Times New Roman" pitchFamily="18" charset="0"/>
                </a:rPr>
                <a:t>/ </a:t>
              </a:r>
              <a:r>
                <a:rPr lang="en-US" sz="2400" b="1">
                  <a:solidFill>
                    <a:srgbClr val="996600"/>
                  </a:solidFill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sp>
          <p:nvSpPr>
            <p:cNvPr id="843900" name="Oval 124"/>
            <p:cNvSpPr>
              <a:spLocks noChangeAspect="1" noChangeArrowheads="1"/>
            </p:cNvSpPr>
            <p:nvPr/>
          </p:nvSpPr>
          <p:spPr bwMode="auto">
            <a:xfrm>
              <a:off x="1066" y="3294"/>
              <a:ext cx="793" cy="375"/>
            </a:xfrm>
            <a:prstGeom prst="ellipse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 anchor="ctr"/>
            <a:lstStyle/>
            <a:p>
              <a:r>
                <a:rPr lang="en-US" sz="2400" b="1">
                  <a:solidFill>
                    <a:schemeClr val="accent2"/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b="1" baseline="-25000">
                  <a:solidFill>
                    <a:schemeClr val="accent2"/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  <a:r>
                <a:rPr lang="en-US" sz="2400" b="1">
                  <a:solidFill>
                    <a:schemeClr val="accent2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>
                  <a:latin typeface="Times New Roman" pitchFamily="18" charset="0"/>
                  <a:cs typeface="Times New Roman" pitchFamily="18" charset="0"/>
                </a:rPr>
                <a:t>/ </a:t>
              </a:r>
              <a:r>
                <a:rPr lang="en-US" sz="2400" b="1">
                  <a:solidFill>
                    <a:srgbClr val="996600"/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</a:p>
          </p:txBody>
        </p:sp>
        <p:sp>
          <p:nvSpPr>
            <p:cNvPr id="843901" name="Freeform 125"/>
            <p:cNvSpPr>
              <a:spLocks/>
            </p:cNvSpPr>
            <p:nvPr/>
          </p:nvSpPr>
          <p:spPr bwMode="auto">
            <a:xfrm rot="5400000" flipH="1" flipV="1">
              <a:off x="846" y="2709"/>
              <a:ext cx="1003" cy="112"/>
            </a:xfrm>
            <a:custGeom>
              <a:avLst/>
              <a:gdLst/>
              <a:ahLst/>
              <a:cxnLst>
                <a:cxn ang="0">
                  <a:pos x="0" y="113"/>
                </a:cxn>
                <a:cxn ang="0">
                  <a:pos x="454" y="0"/>
                </a:cxn>
                <a:cxn ang="0">
                  <a:pos x="907" y="113"/>
                </a:cxn>
              </a:cxnLst>
              <a:rect l="0" t="0" r="r" b="b"/>
              <a:pathLst>
                <a:path w="907" h="113">
                  <a:moveTo>
                    <a:pt x="0" y="113"/>
                  </a:moveTo>
                  <a:cubicBezTo>
                    <a:pt x="151" y="56"/>
                    <a:pt x="303" y="0"/>
                    <a:pt x="454" y="0"/>
                  </a:cubicBezTo>
                  <a:cubicBezTo>
                    <a:pt x="605" y="0"/>
                    <a:pt x="832" y="75"/>
                    <a:pt x="907" y="113"/>
                  </a:cubicBez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3902" name="Oval 126"/>
            <p:cNvSpPr>
              <a:spLocks noChangeAspect="1" noChangeArrowheads="1"/>
            </p:cNvSpPr>
            <p:nvPr/>
          </p:nvSpPr>
          <p:spPr bwMode="auto">
            <a:xfrm>
              <a:off x="2767" y="3294"/>
              <a:ext cx="793" cy="375"/>
            </a:xfrm>
            <a:prstGeom prst="ellipse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 anchor="ctr"/>
            <a:lstStyle/>
            <a:p>
              <a:r>
                <a:rPr lang="en-US" sz="2400" b="1">
                  <a:solidFill>
                    <a:schemeClr val="accent2"/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b="1" baseline="-25000">
                  <a:solidFill>
                    <a:schemeClr val="accent2"/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sz="2400" b="1">
                  <a:solidFill>
                    <a:schemeClr val="accent2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>
                  <a:latin typeface="Times New Roman" pitchFamily="18" charset="0"/>
                  <a:cs typeface="Times New Roman" pitchFamily="18" charset="0"/>
                </a:rPr>
                <a:t>/ </a:t>
              </a:r>
              <a:r>
                <a:rPr lang="en-US" sz="2400" b="1">
                  <a:solidFill>
                    <a:srgbClr val="996600"/>
                  </a:solidFill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sp>
          <p:nvSpPr>
            <p:cNvPr id="843903" name="Freeform 127"/>
            <p:cNvSpPr>
              <a:spLocks/>
            </p:cNvSpPr>
            <p:nvPr/>
          </p:nvSpPr>
          <p:spPr bwMode="auto">
            <a:xfrm rot="5400000">
              <a:off x="2765" y="2718"/>
              <a:ext cx="1024" cy="113"/>
            </a:xfrm>
            <a:custGeom>
              <a:avLst/>
              <a:gdLst/>
              <a:ahLst/>
              <a:cxnLst>
                <a:cxn ang="0">
                  <a:pos x="0" y="113"/>
                </a:cxn>
                <a:cxn ang="0">
                  <a:pos x="454" y="0"/>
                </a:cxn>
                <a:cxn ang="0">
                  <a:pos x="907" y="113"/>
                </a:cxn>
              </a:cxnLst>
              <a:rect l="0" t="0" r="r" b="b"/>
              <a:pathLst>
                <a:path w="907" h="113">
                  <a:moveTo>
                    <a:pt x="0" y="113"/>
                  </a:moveTo>
                  <a:cubicBezTo>
                    <a:pt x="151" y="56"/>
                    <a:pt x="303" y="0"/>
                    <a:pt x="454" y="0"/>
                  </a:cubicBezTo>
                  <a:cubicBezTo>
                    <a:pt x="605" y="0"/>
                    <a:pt x="832" y="75"/>
                    <a:pt x="907" y="113"/>
                  </a:cubicBezTo>
                </a:path>
              </a:pathLst>
            </a:cu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3904" name="Freeform 128"/>
            <p:cNvSpPr>
              <a:spLocks/>
            </p:cNvSpPr>
            <p:nvPr/>
          </p:nvSpPr>
          <p:spPr bwMode="auto">
            <a:xfrm rot="10800000">
              <a:off x="1859" y="3515"/>
              <a:ext cx="908" cy="125"/>
            </a:xfrm>
            <a:custGeom>
              <a:avLst/>
              <a:gdLst/>
              <a:ahLst/>
              <a:cxnLst>
                <a:cxn ang="0">
                  <a:pos x="0" y="113"/>
                </a:cxn>
                <a:cxn ang="0">
                  <a:pos x="454" y="0"/>
                </a:cxn>
                <a:cxn ang="0">
                  <a:pos x="907" y="113"/>
                </a:cxn>
              </a:cxnLst>
              <a:rect l="0" t="0" r="r" b="b"/>
              <a:pathLst>
                <a:path w="907" h="113">
                  <a:moveTo>
                    <a:pt x="0" y="113"/>
                  </a:moveTo>
                  <a:cubicBezTo>
                    <a:pt x="151" y="56"/>
                    <a:pt x="303" y="0"/>
                    <a:pt x="454" y="0"/>
                  </a:cubicBezTo>
                  <a:cubicBezTo>
                    <a:pt x="605" y="0"/>
                    <a:pt x="832" y="75"/>
                    <a:pt x="907" y="113"/>
                  </a:cubicBezTo>
                </a:path>
              </a:pathLst>
            </a:cu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3905" name="Rectangle 129"/>
            <p:cNvSpPr>
              <a:spLocks noChangeArrowheads="1"/>
            </p:cNvSpPr>
            <p:nvPr/>
          </p:nvSpPr>
          <p:spPr bwMode="auto">
            <a:xfrm>
              <a:off x="612" y="1635"/>
              <a:ext cx="227" cy="229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r>
                <a:rPr lang="en-US" sz="2400" b="1">
                  <a:latin typeface="Times New Roman" pitchFamily="18" charset="0"/>
                  <a:cs typeface="Times New Roman" pitchFamily="18" charset="0"/>
                </a:rPr>
                <a:t>0</a:t>
              </a:r>
              <a:endPara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43906" name="Rectangle 130"/>
            <p:cNvSpPr>
              <a:spLocks noChangeArrowheads="1"/>
            </p:cNvSpPr>
            <p:nvPr/>
          </p:nvSpPr>
          <p:spPr bwMode="auto">
            <a:xfrm>
              <a:off x="3334" y="2638"/>
              <a:ext cx="226" cy="22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r>
                <a:rPr lang="en-US" sz="2400" b="1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43907" name="Rectangle 131"/>
            <p:cNvSpPr>
              <a:spLocks noChangeArrowheads="1"/>
            </p:cNvSpPr>
            <p:nvPr/>
          </p:nvSpPr>
          <p:spPr bwMode="auto">
            <a:xfrm>
              <a:off x="2199" y="3642"/>
              <a:ext cx="227" cy="22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r>
                <a:rPr lang="en-US" sz="2400" b="1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43908" name="Rectangle 132"/>
            <p:cNvSpPr>
              <a:spLocks noChangeArrowheads="1"/>
            </p:cNvSpPr>
            <p:nvPr/>
          </p:nvSpPr>
          <p:spPr bwMode="auto">
            <a:xfrm>
              <a:off x="1066" y="2638"/>
              <a:ext cx="226" cy="22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r>
                <a:rPr lang="en-US" sz="2400" b="1">
                  <a:latin typeface="Times New Roman" pitchFamily="18" charset="0"/>
                  <a:cs typeface="Times New Roman" pitchFamily="18" charset="0"/>
                </a:rPr>
                <a:t>0</a:t>
              </a:r>
              <a:endPara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43909" name="Rectangle 133"/>
            <p:cNvSpPr>
              <a:spLocks noChangeArrowheads="1"/>
            </p:cNvSpPr>
            <p:nvPr/>
          </p:nvSpPr>
          <p:spPr bwMode="auto">
            <a:xfrm>
              <a:off x="2086" y="2741"/>
              <a:ext cx="227" cy="229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r>
                <a:rPr lang="en-US" sz="2400" b="1">
                  <a:latin typeface="Times New Roman" pitchFamily="18" charset="0"/>
                  <a:cs typeface="Times New Roman" pitchFamily="18" charset="0"/>
                </a:rPr>
                <a:t>0</a:t>
              </a:r>
              <a:endPara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43910" name="Freeform 134"/>
            <p:cNvSpPr>
              <a:spLocks/>
            </p:cNvSpPr>
            <p:nvPr/>
          </p:nvSpPr>
          <p:spPr bwMode="auto">
            <a:xfrm rot="-8007457">
              <a:off x="837" y="3478"/>
              <a:ext cx="306" cy="379"/>
            </a:xfrm>
            <a:custGeom>
              <a:avLst/>
              <a:gdLst/>
              <a:ahLst/>
              <a:cxnLst>
                <a:cxn ang="0">
                  <a:pos x="30" y="369"/>
                </a:cxn>
                <a:cxn ang="0">
                  <a:pos x="2" y="124"/>
                </a:cxn>
                <a:cxn ang="0">
                  <a:pos x="44" y="38"/>
                </a:cxn>
                <a:cxn ang="0">
                  <a:pos x="142" y="0"/>
                </a:cxn>
                <a:cxn ang="0">
                  <a:pos x="236" y="36"/>
                </a:cxn>
                <a:cxn ang="0">
                  <a:pos x="274" y="126"/>
                </a:cxn>
                <a:cxn ang="0">
                  <a:pos x="255" y="379"/>
                </a:cxn>
              </a:cxnLst>
              <a:rect l="0" t="0" r="r" b="b"/>
              <a:pathLst>
                <a:path w="277" h="379">
                  <a:moveTo>
                    <a:pt x="30" y="369"/>
                  </a:moveTo>
                  <a:cubicBezTo>
                    <a:pt x="25" y="328"/>
                    <a:pt x="0" y="179"/>
                    <a:pt x="2" y="124"/>
                  </a:cubicBezTo>
                  <a:cubicBezTo>
                    <a:pt x="4" y="69"/>
                    <a:pt x="21" y="59"/>
                    <a:pt x="44" y="38"/>
                  </a:cubicBezTo>
                  <a:cubicBezTo>
                    <a:pt x="67" y="17"/>
                    <a:pt x="110" y="0"/>
                    <a:pt x="142" y="0"/>
                  </a:cubicBezTo>
                  <a:cubicBezTo>
                    <a:pt x="174" y="0"/>
                    <a:pt x="214" y="15"/>
                    <a:pt x="236" y="36"/>
                  </a:cubicBezTo>
                  <a:cubicBezTo>
                    <a:pt x="258" y="57"/>
                    <a:pt x="271" y="69"/>
                    <a:pt x="274" y="126"/>
                  </a:cubicBezTo>
                  <a:cubicBezTo>
                    <a:pt x="277" y="183"/>
                    <a:pt x="259" y="326"/>
                    <a:pt x="255" y="379"/>
                  </a:cubicBezTo>
                </a:path>
              </a:pathLst>
            </a:cu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3911" name="Rectangle 135"/>
            <p:cNvSpPr>
              <a:spLocks noChangeArrowheads="1"/>
            </p:cNvSpPr>
            <p:nvPr/>
          </p:nvSpPr>
          <p:spPr bwMode="auto">
            <a:xfrm>
              <a:off x="612" y="3640"/>
              <a:ext cx="227" cy="229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r>
                <a:rPr lang="en-US" sz="2400" b="1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43912" name="Line 136"/>
            <p:cNvSpPr>
              <a:spLocks noChangeShapeType="1"/>
            </p:cNvSpPr>
            <p:nvPr/>
          </p:nvSpPr>
          <p:spPr bwMode="auto">
            <a:xfrm flipH="1" flipV="1">
              <a:off x="1778" y="2186"/>
              <a:ext cx="1078" cy="112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lg" len="lg"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3913" name="Freeform 137"/>
            <p:cNvSpPr>
              <a:spLocks/>
            </p:cNvSpPr>
            <p:nvPr/>
          </p:nvSpPr>
          <p:spPr bwMode="auto">
            <a:xfrm flipH="1" flipV="1">
              <a:off x="1859" y="2116"/>
              <a:ext cx="907" cy="124"/>
            </a:xfrm>
            <a:custGeom>
              <a:avLst/>
              <a:gdLst/>
              <a:ahLst/>
              <a:cxnLst>
                <a:cxn ang="0">
                  <a:pos x="0" y="113"/>
                </a:cxn>
                <a:cxn ang="0">
                  <a:pos x="454" y="0"/>
                </a:cxn>
                <a:cxn ang="0">
                  <a:pos x="907" y="113"/>
                </a:cxn>
              </a:cxnLst>
              <a:rect l="0" t="0" r="r" b="b"/>
              <a:pathLst>
                <a:path w="907" h="113">
                  <a:moveTo>
                    <a:pt x="0" y="113"/>
                  </a:moveTo>
                  <a:cubicBezTo>
                    <a:pt x="151" y="56"/>
                    <a:pt x="303" y="0"/>
                    <a:pt x="454" y="0"/>
                  </a:cubicBezTo>
                  <a:cubicBezTo>
                    <a:pt x="605" y="0"/>
                    <a:pt x="832" y="75"/>
                    <a:pt x="907" y="113"/>
                  </a:cubicBez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3914" name="Rectangle 138"/>
            <p:cNvSpPr>
              <a:spLocks noChangeArrowheads="1"/>
            </p:cNvSpPr>
            <p:nvPr/>
          </p:nvSpPr>
          <p:spPr bwMode="auto">
            <a:xfrm>
              <a:off x="2199" y="2240"/>
              <a:ext cx="227" cy="229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r>
                <a:rPr lang="en-US" sz="2400" b="1">
                  <a:latin typeface="Times New Roman" pitchFamily="18" charset="0"/>
                  <a:cs typeface="Times New Roman" pitchFamily="18" charset="0"/>
                </a:rPr>
                <a:t>0</a:t>
              </a:r>
              <a:endPara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43915" name="Rectangle 139"/>
            <p:cNvSpPr>
              <a:spLocks noChangeArrowheads="1"/>
            </p:cNvSpPr>
            <p:nvPr/>
          </p:nvSpPr>
          <p:spPr bwMode="auto">
            <a:xfrm>
              <a:off x="2199" y="1615"/>
              <a:ext cx="227" cy="229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r>
                <a:rPr lang="en-US" sz="2400" b="1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43916" name="Freeform 140"/>
            <p:cNvSpPr>
              <a:spLocks/>
            </p:cNvSpPr>
            <p:nvPr/>
          </p:nvSpPr>
          <p:spPr bwMode="auto">
            <a:xfrm rot="10800000" flipH="1" flipV="1">
              <a:off x="1859" y="1865"/>
              <a:ext cx="907" cy="125"/>
            </a:xfrm>
            <a:custGeom>
              <a:avLst/>
              <a:gdLst/>
              <a:ahLst/>
              <a:cxnLst>
                <a:cxn ang="0">
                  <a:pos x="0" y="113"/>
                </a:cxn>
                <a:cxn ang="0">
                  <a:pos x="454" y="0"/>
                </a:cxn>
                <a:cxn ang="0">
                  <a:pos x="907" y="113"/>
                </a:cxn>
              </a:cxnLst>
              <a:rect l="0" t="0" r="r" b="b"/>
              <a:pathLst>
                <a:path w="907" h="113">
                  <a:moveTo>
                    <a:pt x="0" y="113"/>
                  </a:moveTo>
                  <a:cubicBezTo>
                    <a:pt x="151" y="56"/>
                    <a:pt x="303" y="0"/>
                    <a:pt x="454" y="0"/>
                  </a:cubicBezTo>
                  <a:cubicBezTo>
                    <a:pt x="605" y="0"/>
                    <a:pt x="832" y="75"/>
                    <a:pt x="907" y="113"/>
                  </a:cubicBezTo>
                </a:path>
              </a:pathLst>
            </a:cu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</p:grpSp>
      <p:sp>
        <p:nvSpPr>
          <p:cNvPr id="67" name="Content Placeholder 66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spcBef>
                <a:spcPct val="15000"/>
              </a:spcBef>
            </a:pPr>
            <a:r>
              <a:rPr lang="en-US" i="1" dirty="0" smtClean="0">
                <a:solidFill>
                  <a:srgbClr val="009900"/>
                </a:solidFill>
              </a:rPr>
              <a:t>Example</a:t>
            </a:r>
            <a:r>
              <a:rPr lang="en-US" dirty="0" smtClean="0">
                <a:solidFill>
                  <a:srgbClr val="009900"/>
                </a:solidFill>
              </a:rPr>
              <a:t>:</a:t>
            </a:r>
          </a:p>
          <a:p>
            <a:pPr>
              <a:spcBef>
                <a:spcPct val="15000"/>
              </a:spcBef>
              <a:buFont typeface="Wingdings" pitchFamily="2" charset="2"/>
              <a:buNone/>
            </a:pPr>
            <a:r>
              <a:rPr lang="en-US" dirty="0" smtClean="0"/>
              <a:t>Detect 3 or more consecutive 1’s</a:t>
            </a:r>
          </a:p>
          <a:p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43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43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43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43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2.96296E-6 L -0.00017 0.10949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8438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43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43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0.10949 L -0.00017 0.21991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8438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43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43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42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0.21991 L -0.00017 0.33033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8438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8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8438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8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438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3858" grpId="0" animBg="1"/>
      <p:bldP spid="843858" grpId="1" animBg="1"/>
      <p:bldP spid="843858" grpId="2" animBg="1"/>
      <p:bldP spid="843858" grpId="3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 of Clocked Sequential Circuits</a:t>
            </a:r>
          </a:p>
        </p:txBody>
      </p:sp>
      <p:graphicFrame>
        <p:nvGraphicFramePr>
          <p:cNvPr id="845828" name="Group 4"/>
          <p:cNvGraphicFramePr>
            <a:graphicFrameLocks noGrp="1"/>
          </p:cNvGraphicFramePr>
          <p:nvPr/>
        </p:nvGraphicFramePr>
        <p:xfrm>
          <a:off x="614363" y="2540000"/>
          <a:ext cx="3957637" cy="4005264"/>
        </p:xfrm>
        <a:graphic>
          <a:graphicData uri="http://schemas.openxmlformats.org/drawingml/2006/table">
            <a:tbl>
              <a:tblPr/>
              <a:tblGrid>
                <a:gridCol w="539750"/>
                <a:gridCol w="539750"/>
                <a:gridCol w="719137"/>
                <a:gridCol w="539750"/>
                <a:gridCol w="539750"/>
                <a:gridCol w="1079500"/>
              </a:tblGrid>
              <a:tr h="406400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Present State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Input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Next State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Output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62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62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62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45906" name="Rectangle 82"/>
          <p:cNvSpPr>
            <a:spLocks noChangeArrowheads="1"/>
          </p:cNvSpPr>
          <p:nvPr/>
        </p:nvSpPr>
        <p:spPr bwMode="auto">
          <a:xfrm>
            <a:off x="2592388" y="3527425"/>
            <a:ext cx="1447800" cy="300990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0     0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0     1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0     0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1     0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0     0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1     1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0     0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1     1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grpSp>
        <p:nvGrpSpPr>
          <p:cNvPr id="2" name="Group 83"/>
          <p:cNvGrpSpPr>
            <a:grpSpLocks/>
          </p:cNvGrpSpPr>
          <p:nvPr/>
        </p:nvGrpSpPr>
        <p:grpSpPr bwMode="auto">
          <a:xfrm>
            <a:off x="7092950" y="1268413"/>
            <a:ext cx="1619250" cy="1439862"/>
            <a:chOff x="4468" y="799"/>
            <a:chExt cx="1020" cy="907"/>
          </a:xfrm>
        </p:grpSpPr>
        <p:sp>
          <p:nvSpPr>
            <p:cNvPr id="845908" name="AutoShape 84"/>
            <p:cNvSpPr>
              <a:spLocks noChangeArrowheads="1"/>
            </p:cNvSpPr>
            <p:nvPr/>
          </p:nvSpPr>
          <p:spPr bwMode="auto">
            <a:xfrm>
              <a:off x="4694" y="799"/>
              <a:ext cx="567" cy="907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5909" name="Line 85"/>
            <p:cNvSpPr>
              <a:spLocks noChangeShapeType="1"/>
            </p:cNvSpPr>
            <p:nvPr/>
          </p:nvSpPr>
          <p:spPr bwMode="auto">
            <a:xfrm>
              <a:off x="5261" y="1253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5910" name="Line 86"/>
            <p:cNvSpPr>
              <a:spLocks noChangeShapeType="1"/>
            </p:cNvSpPr>
            <p:nvPr/>
          </p:nvSpPr>
          <p:spPr bwMode="auto">
            <a:xfrm>
              <a:off x="4468" y="1026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5911" name="Line 87"/>
            <p:cNvSpPr>
              <a:spLocks noChangeShapeType="1"/>
            </p:cNvSpPr>
            <p:nvPr/>
          </p:nvSpPr>
          <p:spPr bwMode="auto">
            <a:xfrm>
              <a:off x="4468" y="1480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</p:grpSp>
      <p:grpSp>
        <p:nvGrpSpPr>
          <p:cNvPr id="3" name="Group 88"/>
          <p:cNvGrpSpPr>
            <a:grpSpLocks/>
          </p:cNvGrpSpPr>
          <p:nvPr/>
        </p:nvGrpSpPr>
        <p:grpSpPr bwMode="auto">
          <a:xfrm>
            <a:off x="5292725" y="1449388"/>
            <a:ext cx="1793875" cy="900112"/>
            <a:chOff x="3334" y="913"/>
            <a:chExt cx="1130" cy="567"/>
          </a:xfrm>
        </p:grpSpPr>
        <p:sp>
          <p:nvSpPr>
            <p:cNvPr id="845913" name="Line 89"/>
            <p:cNvSpPr>
              <a:spLocks noChangeShapeType="1"/>
            </p:cNvSpPr>
            <p:nvPr/>
          </p:nvSpPr>
          <p:spPr bwMode="auto">
            <a:xfrm>
              <a:off x="3334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5914" name="Line 90"/>
            <p:cNvSpPr>
              <a:spLocks noChangeShapeType="1"/>
            </p:cNvSpPr>
            <p:nvPr/>
          </p:nvSpPr>
          <p:spPr bwMode="auto">
            <a:xfrm rot="-5400000">
              <a:off x="3390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5915" name="Line 91"/>
            <p:cNvSpPr>
              <a:spLocks noChangeShapeType="1"/>
            </p:cNvSpPr>
            <p:nvPr/>
          </p:nvSpPr>
          <p:spPr bwMode="auto">
            <a:xfrm>
              <a:off x="3447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5916" name="Line 92"/>
            <p:cNvSpPr>
              <a:spLocks noChangeShapeType="1"/>
            </p:cNvSpPr>
            <p:nvPr/>
          </p:nvSpPr>
          <p:spPr bwMode="auto">
            <a:xfrm rot="5400000">
              <a:off x="3503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5917" name="Line 93"/>
            <p:cNvSpPr>
              <a:spLocks noChangeShapeType="1"/>
            </p:cNvSpPr>
            <p:nvPr/>
          </p:nvSpPr>
          <p:spPr bwMode="auto">
            <a:xfrm>
              <a:off x="3560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5918" name="Line 94"/>
            <p:cNvSpPr>
              <a:spLocks noChangeShapeType="1"/>
            </p:cNvSpPr>
            <p:nvPr/>
          </p:nvSpPr>
          <p:spPr bwMode="auto">
            <a:xfrm rot="-5400000">
              <a:off x="3616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5919" name="Line 95"/>
            <p:cNvSpPr>
              <a:spLocks noChangeShapeType="1"/>
            </p:cNvSpPr>
            <p:nvPr/>
          </p:nvSpPr>
          <p:spPr bwMode="auto">
            <a:xfrm>
              <a:off x="3673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5920" name="Line 96"/>
            <p:cNvSpPr>
              <a:spLocks noChangeShapeType="1"/>
            </p:cNvSpPr>
            <p:nvPr/>
          </p:nvSpPr>
          <p:spPr bwMode="auto">
            <a:xfrm rot="5400000">
              <a:off x="3729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5921" name="Line 97"/>
            <p:cNvSpPr>
              <a:spLocks noChangeShapeType="1"/>
            </p:cNvSpPr>
            <p:nvPr/>
          </p:nvSpPr>
          <p:spPr bwMode="auto">
            <a:xfrm>
              <a:off x="3786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5922" name="Line 98"/>
            <p:cNvSpPr>
              <a:spLocks noChangeShapeType="1"/>
            </p:cNvSpPr>
            <p:nvPr/>
          </p:nvSpPr>
          <p:spPr bwMode="auto">
            <a:xfrm rot="-5400000">
              <a:off x="3842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5923" name="Line 99"/>
            <p:cNvSpPr>
              <a:spLocks noChangeShapeType="1"/>
            </p:cNvSpPr>
            <p:nvPr/>
          </p:nvSpPr>
          <p:spPr bwMode="auto">
            <a:xfrm>
              <a:off x="3899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5924" name="Line 100"/>
            <p:cNvSpPr>
              <a:spLocks noChangeShapeType="1"/>
            </p:cNvSpPr>
            <p:nvPr/>
          </p:nvSpPr>
          <p:spPr bwMode="auto">
            <a:xfrm rot="5400000">
              <a:off x="3955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5925" name="Line 101"/>
            <p:cNvSpPr>
              <a:spLocks noChangeShapeType="1"/>
            </p:cNvSpPr>
            <p:nvPr/>
          </p:nvSpPr>
          <p:spPr bwMode="auto">
            <a:xfrm>
              <a:off x="4012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5926" name="Line 102"/>
            <p:cNvSpPr>
              <a:spLocks noChangeShapeType="1"/>
            </p:cNvSpPr>
            <p:nvPr/>
          </p:nvSpPr>
          <p:spPr bwMode="auto">
            <a:xfrm rot="-5400000">
              <a:off x="4068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5927" name="Line 103"/>
            <p:cNvSpPr>
              <a:spLocks noChangeShapeType="1"/>
            </p:cNvSpPr>
            <p:nvPr/>
          </p:nvSpPr>
          <p:spPr bwMode="auto">
            <a:xfrm>
              <a:off x="4125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5928" name="Line 104"/>
            <p:cNvSpPr>
              <a:spLocks noChangeShapeType="1"/>
            </p:cNvSpPr>
            <p:nvPr/>
          </p:nvSpPr>
          <p:spPr bwMode="auto">
            <a:xfrm rot="5400000">
              <a:off x="4181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5929" name="Line 105"/>
            <p:cNvSpPr>
              <a:spLocks noChangeShapeType="1"/>
            </p:cNvSpPr>
            <p:nvPr/>
          </p:nvSpPr>
          <p:spPr bwMode="auto">
            <a:xfrm>
              <a:off x="4238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5930" name="Line 106"/>
            <p:cNvSpPr>
              <a:spLocks noChangeShapeType="1"/>
            </p:cNvSpPr>
            <p:nvPr/>
          </p:nvSpPr>
          <p:spPr bwMode="auto">
            <a:xfrm rot="-5400000">
              <a:off x="4294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5931" name="Line 107"/>
            <p:cNvSpPr>
              <a:spLocks noChangeShapeType="1"/>
            </p:cNvSpPr>
            <p:nvPr/>
          </p:nvSpPr>
          <p:spPr bwMode="auto">
            <a:xfrm>
              <a:off x="4351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5932" name="Line 108"/>
            <p:cNvSpPr>
              <a:spLocks noChangeShapeType="1"/>
            </p:cNvSpPr>
            <p:nvPr/>
          </p:nvSpPr>
          <p:spPr bwMode="auto">
            <a:xfrm rot="5400000">
              <a:off x="3390" y="142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5933" name="Line 109"/>
            <p:cNvSpPr>
              <a:spLocks noChangeShapeType="1"/>
            </p:cNvSpPr>
            <p:nvPr/>
          </p:nvSpPr>
          <p:spPr bwMode="auto">
            <a:xfrm>
              <a:off x="3334" y="148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5934" name="Line 110"/>
            <p:cNvSpPr>
              <a:spLocks noChangeShapeType="1"/>
            </p:cNvSpPr>
            <p:nvPr/>
          </p:nvSpPr>
          <p:spPr bwMode="auto">
            <a:xfrm>
              <a:off x="3447" y="1366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5935" name="Line 111"/>
            <p:cNvSpPr>
              <a:spLocks noChangeShapeType="1"/>
            </p:cNvSpPr>
            <p:nvPr/>
          </p:nvSpPr>
          <p:spPr bwMode="auto">
            <a:xfrm>
              <a:off x="3674" y="1366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5936" name="Line 112"/>
            <p:cNvSpPr>
              <a:spLocks noChangeShapeType="1"/>
            </p:cNvSpPr>
            <p:nvPr/>
          </p:nvSpPr>
          <p:spPr bwMode="auto">
            <a:xfrm>
              <a:off x="3901" y="1366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5937" name="Line 113"/>
            <p:cNvSpPr>
              <a:spLocks noChangeShapeType="1"/>
            </p:cNvSpPr>
            <p:nvPr/>
          </p:nvSpPr>
          <p:spPr bwMode="auto">
            <a:xfrm rot="5400000">
              <a:off x="4070" y="142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5938" name="Line 114"/>
            <p:cNvSpPr>
              <a:spLocks noChangeShapeType="1"/>
            </p:cNvSpPr>
            <p:nvPr/>
          </p:nvSpPr>
          <p:spPr bwMode="auto">
            <a:xfrm>
              <a:off x="4127" y="1480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5939" name="Line 115"/>
            <p:cNvSpPr>
              <a:spLocks noChangeShapeType="1"/>
            </p:cNvSpPr>
            <p:nvPr/>
          </p:nvSpPr>
          <p:spPr bwMode="auto">
            <a:xfrm rot="5400000">
              <a:off x="3277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5940" name="Line 116"/>
            <p:cNvSpPr>
              <a:spLocks noChangeShapeType="1"/>
            </p:cNvSpPr>
            <p:nvPr/>
          </p:nvSpPr>
          <p:spPr bwMode="auto">
            <a:xfrm rot="5400000">
              <a:off x="3504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5941" name="Line 117"/>
            <p:cNvSpPr>
              <a:spLocks noChangeShapeType="1"/>
            </p:cNvSpPr>
            <p:nvPr/>
          </p:nvSpPr>
          <p:spPr bwMode="auto">
            <a:xfrm rot="5400000">
              <a:off x="3731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5942" name="Line 118"/>
            <p:cNvSpPr>
              <a:spLocks noChangeShapeType="1"/>
            </p:cNvSpPr>
            <p:nvPr/>
          </p:nvSpPr>
          <p:spPr bwMode="auto">
            <a:xfrm rot="5400000">
              <a:off x="3958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</p:grpSp>
      <p:sp>
        <p:nvSpPr>
          <p:cNvPr id="845944" name="Rectangle 120"/>
          <p:cNvSpPr>
            <a:spLocks noChangeArrowheads="1"/>
          </p:cNvSpPr>
          <p:nvPr/>
        </p:nvSpPr>
        <p:spPr bwMode="auto">
          <a:xfrm>
            <a:off x="5111750" y="3608388"/>
            <a:ext cx="3600450" cy="277812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l"/>
            <a:r>
              <a:rPr lang="en-US" sz="2800" b="1" i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b="1" i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8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+1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8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8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800" b="1" i="1" baseline="-250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8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8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l"/>
            <a:r>
              <a:rPr lang="en-US" sz="2800" b="1">
                <a:latin typeface="Times New Roman" pitchFamily="18" charset="0"/>
                <a:cs typeface="Times New Roman" pitchFamily="18" charset="0"/>
              </a:rPr>
              <a:t>            = ∑ (3, 5, 7)</a:t>
            </a:r>
          </a:p>
          <a:p>
            <a:pPr algn="l"/>
            <a:r>
              <a:rPr lang="en-US" sz="2800" b="1" i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b="1" i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8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+1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8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8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800" b="1" i="1" baseline="-250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B 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8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8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l"/>
            <a:r>
              <a:rPr lang="en-US" sz="2800" b="1">
                <a:latin typeface="Times New Roman" pitchFamily="18" charset="0"/>
                <a:cs typeface="Times New Roman" pitchFamily="18" charset="0"/>
              </a:rPr>
              <a:t>            = ∑ (1, 5, 7)</a:t>
            </a:r>
          </a:p>
          <a:p>
            <a:pPr algn="l"/>
            <a:r>
              <a:rPr lang="en-US" sz="28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800" b="1" i="1" baseline="-250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8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8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) = ∑ (6, 7)</a:t>
            </a:r>
          </a:p>
        </p:txBody>
      </p:sp>
      <p:sp>
        <p:nvSpPr>
          <p:cNvPr id="845945" name="AutoShape 121"/>
          <p:cNvSpPr>
            <a:spLocks noChangeArrowheads="1"/>
          </p:cNvSpPr>
          <p:nvPr/>
        </p:nvSpPr>
        <p:spPr bwMode="auto">
          <a:xfrm>
            <a:off x="4932363" y="2889250"/>
            <a:ext cx="3960812" cy="539750"/>
          </a:xfrm>
          <a:prstGeom prst="roundRect">
            <a:avLst>
              <a:gd name="adj" fmla="val 16667"/>
            </a:avLst>
          </a:prstGeom>
          <a:noFill/>
          <a:ln w="38100" algn="ctr">
            <a:solidFill>
              <a:srgbClr val="996600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r>
              <a:rPr lang="en-US" sz="2400" b="1">
                <a:latin typeface="Times New Roman" pitchFamily="18" charset="0"/>
                <a:cs typeface="Times New Roman" pitchFamily="18" charset="0"/>
              </a:rPr>
              <a:t>Synthesis using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Flip-Flops</a:t>
            </a:r>
            <a:endParaRPr lang="en-US" sz="2400" b="1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Content Placeholder 4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spcBef>
                <a:spcPct val="15000"/>
              </a:spcBef>
            </a:pPr>
            <a:r>
              <a:rPr lang="en-US" i="1" dirty="0" smtClean="0">
                <a:solidFill>
                  <a:srgbClr val="009900"/>
                </a:solidFill>
              </a:rPr>
              <a:t>Example</a:t>
            </a:r>
            <a:r>
              <a:rPr lang="en-US" dirty="0" smtClean="0">
                <a:solidFill>
                  <a:srgbClr val="009900"/>
                </a:solidFill>
              </a:rPr>
              <a:t>:</a:t>
            </a:r>
          </a:p>
          <a:p>
            <a:pPr>
              <a:spcBef>
                <a:spcPct val="15000"/>
              </a:spcBef>
              <a:buFont typeface="Wingdings" pitchFamily="2" charset="2"/>
              <a:buNone/>
            </a:pPr>
            <a:r>
              <a:rPr lang="en-US" dirty="0" smtClean="0"/>
              <a:t>Detect 3 or more consecutive 1’s</a:t>
            </a:r>
          </a:p>
          <a:p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45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9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459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9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459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9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459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9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459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9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459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5945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 of Clocked Sequential Circuits with </a:t>
            </a:r>
            <a:r>
              <a:rPr lang="en-US" i="1"/>
              <a:t>D</a:t>
            </a:r>
            <a:r>
              <a:rPr lang="en-US"/>
              <a:t> F.F.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092950" y="1268413"/>
            <a:ext cx="1619250" cy="1439862"/>
            <a:chOff x="4468" y="799"/>
            <a:chExt cx="1020" cy="907"/>
          </a:xfrm>
        </p:grpSpPr>
        <p:sp>
          <p:nvSpPr>
            <p:cNvPr id="847877" name="AutoShape 5"/>
            <p:cNvSpPr>
              <a:spLocks noChangeArrowheads="1"/>
            </p:cNvSpPr>
            <p:nvPr/>
          </p:nvSpPr>
          <p:spPr bwMode="auto">
            <a:xfrm>
              <a:off x="4694" y="799"/>
              <a:ext cx="567" cy="907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7878" name="Line 6"/>
            <p:cNvSpPr>
              <a:spLocks noChangeShapeType="1"/>
            </p:cNvSpPr>
            <p:nvPr/>
          </p:nvSpPr>
          <p:spPr bwMode="auto">
            <a:xfrm>
              <a:off x="5261" y="1253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7879" name="Line 7"/>
            <p:cNvSpPr>
              <a:spLocks noChangeShapeType="1"/>
            </p:cNvSpPr>
            <p:nvPr/>
          </p:nvSpPr>
          <p:spPr bwMode="auto">
            <a:xfrm>
              <a:off x="4468" y="1026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7880" name="Line 8"/>
            <p:cNvSpPr>
              <a:spLocks noChangeShapeType="1"/>
            </p:cNvSpPr>
            <p:nvPr/>
          </p:nvSpPr>
          <p:spPr bwMode="auto">
            <a:xfrm>
              <a:off x="4468" y="1480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5292725" y="1449388"/>
            <a:ext cx="1793875" cy="900112"/>
            <a:chOff x="3334" y="913"/>
            <a:chExt cx="1130" cy="567"/>
          </a:xfrm>
        </p:grpSpPr>
        <p:sp>
          <p:nvSpPr>
            <p:cNvPr id="847882" name="Line 10"/>
            <p:cNvSpPr>
              <a:spLocks noChangeShapeType="1"/>
            </p:cNvSpPr>
            <p:nvPr/>
          </p:nvSpPr>
          <p:spPr bwMode="auto">
            <a:xfrm>
              <a:off x="3334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7883" name="Line 11"/>
            <p:cNvSpPr>
              <a:spLocks noChangeShapeType="1"/>
            </p:cNvSpPr>
            <p:nvPr/>
          </p:nvSpPr>
          <p:spPr bwMode="auto">
            <a:xfrm rot="-5400000">
              <a:off x="3390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7884" name="Line 12"/>
            <p:cNvSpPr>
              <a:spLocks noChangeShapeType="1"/>
            </p:cNvSpPr>
            <p:nvPr/>
          </p:nvSpPr>
          <p:spPr bwMode="auto">
            <a:xfrm>
              <a:off x="3447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7885" name="Line 13"/>
            <p:cNvSpPr>
              <a:spLocks noChangeShapeType="1"/>
            </p:cNvSpPr>
            <p:nvPr/>
          </p:nvSpPr>
          <p:spPr bwMode="auto">
            <a:xfrm rot="5400000">
              <a:off x="3503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7886" name="Line 14"/>
            <p:cNvSpPr>
              <a:spLocks noChangeShapeType="1"/>
            </p:cNvSpPr>
            <p:nvPr/>
          </p:nvSpPr>
          <p:spPr bwMode="auto">
            <a:xfrm>
              <a:off x="3560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7887" name="Line 15"/>
            <p:cNvSpPr>
              <a:spLocks noChangeShapeType="1"/>
            </p:cNvSpPr>
            <p:nvPr/>
          </p:nvSpPr>
          <p:spPr bwMode="auto">
            <a:xfrm rot="-5400000">
              <a:off x="3616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7888" name="Line 16"/>
            <p:cNvSpPr>
              <a:spLocks noChangeShapeType="1"/>
            </p:cNvSpPr>
            <p:nvPr/>
          </p:nvSpPr>
          <p:spPr bwMode="auto">
            <a:xfrm>
              <a:off x="3673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7889" name="Line 17"/>
            <p:cNvSpPr>
              <a:spLocks noChangeShapeType="1"/>
            </p:cNvSpPr>
            <p:nvPr/>
          </p:nvSpPr>
          <p:spPr bwMode="auto">
            <a:xfrm rot="5400000">
              <a:off x="3729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7890" name="Line 18"/>
            <p:cNvSpPr>
              <a:spLocks noChangeShapeType="1"/>
            </p:cNvSpPr>
            <p:nvPr/>
          </p:nvSpPr>
          <p:spPr bwMode="auto">
            <a:xfrm>
              <a:off x="3786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7891" name="Line 19"/>
            <p:cNvSpPr>
              <a:spLocks noChangeShapeType="1"/>
            </p:cNvSpPr>
            <p:nvPr/>
          </p:nvSpPr>
          <p:spPr bwMode="auto">
            <a:xfrm rot="-5400000">
              <a:off x="3842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7892" name="Line 20"/>
            <p:cNvSpPr>
              <a:spLocks noChangeShapeType="1"/>
            </p:cNvSpPr>
            <p:nvPr/>
          </p:nvSpPr>
          <p:spPr bwMode="auto">
            <a:xfrm>
              <a:off x="3899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7893" name="Line 21"/>
            <p:cNvSpPr>
              <a:spLocks noChangeShapeType="1"/>
            </p:cNvSpPr>
            <p:nvPr/>
          </p:nvSpPr>
          <p:spPr bwMode="auto">
            <a:xfrm rot="5400000">
              <a:off x="3955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7894" name="Line 22"/>
            <p:cNvSpPr>
              <a:spLocks noChangeShapeType="1"/>
            </p:cNvSpPr>
            <p:nvPr/>
          </p:nvSpPr>
          <p:spPr bwMode="auto">
            <a:xfrm>
              <a:off x="4012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7895" name="Line 23"/>
            <p:cNvSpPr>
              <a:spLocks noChangeShapeType="1"/>
            </p:cNvSpPr>
            <p:nvPr/>
          </p:nvSpPr>
          <p:spPr bwMode="auto">
            <a:xfrm rot="-5400000">
              <a:off x="4068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7896" name="Line 24"/>
            <p:cNvSpPr>
              <a:spLocks noChangeShapeType="1"/>
            </p:cNvSpPr>
            <p:nvPr/>
          </p:nvSpPr>
          <p:spPr bwMode="auto">
            <a:xfrm>
              <a:off x="4125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7897" name="Line 25"/>
            <p:cNvSpPr>
              <a:spLocks noChangeShapeType="1"/>
            </p:cNvSpPr>
            <p:nvPr/>
          </p:nvSpPr>
          <p:spPr bwMode="auto">
            <a:xfrm rot="5400000">
              <a:off x="4181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7898" name="Line 26"/>
            <p:cNvSpPr>
              <a:spLocks noChangeShapeType="1"/>
            </p:cNvSpPr>
            <p:nvPr/>
          </p:nvSpPr>
          <p:spPr bwMode="auto">
            <a:xfrm>
              <a:off x="4238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7899" name="Line 27"/>
            <p:cNvSpPr>
              <a:spLocks noChangeShapeType="1"/>
            </p:cNvSpPr>
            <p:nvPr/>
          </p:nvSpPr>
          <p:spPr bwMode="auto">
            <a:xfrm rot="-5400000">
              <a:off x="4294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7900" name="Line 28"/>
            <p:cNvSpPr>
              <a:spLocks noChangeShapeType="1"/>
            </p:cNvSpPr>
            <p:nvPr/>
          </p:nvSpPr>
          <p:spPr bwMode="auto">
            <a:xfrm>
              <a:off x="4351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7901" name="Line 29"/>
            <p:cNvSpPr>
              <a:spLocks noChangeShapeType="1"/>
            </p:cNvSpPr>
            <p:nvPr/>
          </p:nvSpPr>
          <p:spPr bwMode="auto">
            <a:xfrm rot="5400000">
              <a:off x="3390" y="142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7902" name="Line 30"/>
            <p:cNvSpPr>
              <a:spLocks noChangeShapeType="1"/>
            </p:cNvSpPr>
            <p:nvPr/>
          </p:nvSpPr>
          <p:spPr bwMode="auto">
            <a:xfrm>
              <a:off x="3334" y="148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7903" name="Line 31"/>
            <p:cNvSpPr>
              <a:spLocks noChangeShapeType="1"/>
            </p:cNvSpPr>
            <p:nvPr/>
          </p:nvSpPr>
          <p:spPr bwMode="auto">
            <a:xfrm>
              <a:off x="3447" y="1366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7904" name="Line 32"/>
            <p:cNvSpPr>
              <a:spLocks noChangeShapeType="1"/>
            </p:cNvSpPr>
            <p:nvPr/>
          </p:nvSpPr>
          <p:spPr bwMode="auto">
            <a:xfrm>
              <a:off x="3674" y="1366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7905" name="Line 33"/>
            <p:cNvSpPr>
              <a:spLocks noChangeShapeType="1"/>
            </p:cNvSpPr>
            <p:nvPr/>
          </p:nvSpPr>
          <p:spPr bwMode="auto">
            <a:xfrm>
              <a:off x="3901" y="1366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7906" name="Line 34"/>
            <p:cNvSpPr>
              <a:spLocks noChangeShapeType="1"/>
            </p:cNvSpPr>
            <p:nvPr/>
          </p:nvSpPr>
          <p:spPr bwMode="auto">
            <a:xfrm rot="5400000">
              <a:off x="4070" y="142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7907" name="Line 35"/>
            <p:cNvSpPr>
              <a:spLocks noChangeShapeType="1"/>
            </p:cNvSpPr>
            <p:nvPr/>
          </p:nvSpPr>
          <p:spPr bwMode="auto">
            <a:xfrm>
              <a:off x="4127" y="1480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7908" name="Line 36"/>
            <p:cNvSpPr>
              <a:spLocks noChangeShapeType="1"/>
            </p:cNvSpPr>
            <p:nvPr/>
          </p:nvSpPr>
          <p:spPr bwMode="auto">
            <a:xfrm rot="5400000">
              <a:off x="3277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7909" name="Line 37"/>
            <p:cNvSpPr>
              <a:spLocks noChangeShapeType="1"/>
            </p:cNvSpPr>
            <p:nvPr/>
          </p:nvSpPr>
          <p:spPr bwMode="auto">
            <a:xfrm rot="5400000">
              <a:off x="3504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7910" name="Line 38"/>
            <p:cNvSpPr>
              <a:spLocks noChangeShapeType="1"/>
            </p:cNvSpPr>
            <p:nvPr/>
          </p:nvSpPr>
          <p:spPr bwMode="auto">
            <a:xfrm rot="5400000">
              <a:off x="3731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7911" name="Line 39"/>
            <p:cNvSpPr>
              <a:spLocks noChangeShapeType="1"/>
            </p:cNvSpPr>
            <p:nvPr/>
          </p:nvSpPr>
          <p:spPr bwMode="auto">
            <a:xfrm rot="5400000">
              <a:off x="3958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</p:grpSp>
      <p:sp>
        <p:nvSpPr>
          <p:cNvPr id="847913" name="Rectangle 41"/>
          <p:cNvSpPr>
            <a:spLocks noChangeArrowheads="1"/>
          </p:cNvSpPr>
          <p:nvPr/>
        </p:nvSpPr>
        <p:spPr bwMode="auto">
          <a:xfrm>
            <a:off x="611188" y="3259138"/>
            <a:ext cx="4681537" cy="337661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l"/>
            <a:r>
              <a:rPr lang="en-US" sz="28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800" b="1" i="1" baseline="-250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8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8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) =</a:t>
            </a:r>
            <a:r>
              <a:rPr lang="en-US" sz="28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∑ (3, 5, 7)</a:t>
            </a:r>
          </a:p>
          <a:p>
            <a:pPr algn="l"/>
            <a:r>
              <a:rPr lang="en-US" sz="2800" b="1">
                <a:latin typeface="Times New Roman" pitchFamily="18" charset="0"/>
                <a:cs typeface="Times New Roman" pitchFamily="18" charset="0"/>
              </a:rPr>
              <a:t>                     = </a:t>
            </a:r>
            <a:r>
              <a:rPr lang="en-US" sz="28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 x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US" sz="28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B x</a:t>
            </a:r>
          </a:p>
          <a:p>
            <a:pPr algn="l"/>
            <a:r>
              <a:rPr lang="en-US" sz="28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800" b="1" i="1" baseline="-250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8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8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8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) = ∑ (1, 5, 7)</a:t>
            </a:r>
          </a:p>
          <a:p>
            <a:pPr algn="l"/>
            <a:r>
              <a:rPr lang="en-US" sz="2800" b="1">
                <a:latin typeface="Times New Roman" pitchFamily="18" charset="0"/>
                <a:cs typeface="Times New Roman" pitchFamily="18" charset="0"/>
              </a:rPr>
              <a:t>                     = </a:t>
            </a:r>
            <a:r>
              <a:rPr lang="en-US" sz="28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 x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US" sz="28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B’ x</a:t>
            </a:r>
            <a:endParaRPr lang="en-US" sz="2800" b="1">
              <a:solidFill>
                <a:schemeClr val="accent2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28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800" b="1" i="1" baseline="-250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8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8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) = ∑ (6, 7)</a:t>
            </a:r>
          </a:p>
          <a:p>
            <a:pPr algn="l"/>
            <a:r>
              <a:rPr lang="en-US" sz="2800" b="1">
                <a:latin typeface="Times New Roman" pitchFamily="18" charset="0"/>
                <a:cs typeface="Times New Roman" pitchFamily="18" charset="0"/>
              </a:rPr>
              <a:t>                 = </a:t>
            </a:r>
            <a:r>
              <a:rPr lang="en-US" sz="28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 B</a:t>
            </a:r>
          </a:p>
        </p:txBody>
      </p:sp>
      <p:sp>
        <p:nvSpPr>
          <p:cNvPr id="847914" name="AutoShape 42"/>
          <p:cNvSpPr>
            <a:spLocks noChangeArrowheads="1"/>
          </p:cNvSpPr>
          <p:nvPr/>
        </p:nvSpPr>
        <p:spPr bwMode="auto">
          <a:xfrm>
            <a:off x="611188" y="2540000"/>
            <a:ext cx="3960812" cy="539750"/>
          </a:xfrm>
          <a:prstGeom prst="roundRect">
            <a:avLst>
              <a:gd name="adj" fmla="val 16667"/>
            </a:avLst>
          </a:prstGeom>
          <a:noFill/>
          <a:ln w="38100" algn="ctr">
            <a:solidFill>
              <a:srgbClr val="996600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r>
              <a:rPr lang="en-US" sz="2400" b="1">
                <a:latin typeface="Times New Roman" pitchFamily="18" charset="0"/>
                <a:cs typeface="Times New Roman" pitchFamily="18" charset="0"/>
              </a:rPr>
              <a:t>Synthesis using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Flip-Flops</a:t>
            </a:r>
            <a:endParaRPr lang="en-US" sz="2400" b="1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847915" name="Group 43"/>
          <p:cNvGraphicFramePr>
            <a:graphicFrameLocks noGrp="1"/>
          </p:cNvGraphicFramePr>
          <p:nvPr/>
        </p:nvGraphicFramePr>
        <p:xfrm>
          <a:off x="4932363" y="2889250"/>
          <a:ext cx="1617662" cy="1439865"/>
        </p:xfrm>
        <a:graphic>
          <a:graphicData uri="http://schemas.openxmlformats.org/drawingml/2006/table">
            <a:tbl>
              <a:tblPr/>
              <a:tblGrid>
                <a:gridCol w="98425"/>
                <a:gridCol w="261937"/>
                <a:gridCol w="314325"/>
                <a:gridCol w="314325"/>
                <a:gridCol w="314325"/>
                <a:gridCol w="314325"/>
              </a:tblGrid>
              <a:tr h="150813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</a:tr>
              <a:tr h="169863">
                <a:tc gridSpan="2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</a:tr>
              <a:tr h="3952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3513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3513">
                <a:tc gridSpan="2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47964" name="AutoShape 92"/>
          <p:cNvSpPr>
            <a:spLocks noChangeArrowheads="1"/>
          </p:cNvSpPr>
          <p:nvPr/>
        </p:nvSpPr>
        <p:spPr bwMode="auto">
          <a:xfrm>
            <a:off x="5653088" y="3608388"/>
            <a:ext cx="539750" cy="360362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CC00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847965" name="AutoShape 93"/>
          <p:cNvSpPr>
            <a:spLocks noChangeArrowheads="1"/>
          </p:cNvSpPr>
          <p:nvPr/>
        </p:nvSpPr>
        <p:spPr bwMode="auto">
          <a:xfrm>
            <a:off x="5905500" y="3249613"/>
            <a:ext cx="287338" cy="719137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9900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graphicFrame>
        <p:nvGraphicFramePr>
          <p:cNvPr id="847966" name="Group 94"/>
          <p:cNvGraphicFramePr>
            <a:graphicFrameLocks noGrp="1"/>
          </p:cNvGraphicFramePr>
          <p:nvPr/>
        </p:nvGraphicFramePr>
        <p:xfrm>
          <a:off x="6911975" y="3968750"/>
          <a:ext cx="1617663" cy="1439865"/>
        </p:xfrm>
        <a:graphic>
          <a:graphicData uri="http://schemas.openxmlformats.org/drawingml/2006/table">
            <a:tbl>
              <a:tblPr/>
              <a:tblGrid>
                <a:gridCol w="98425"/>
                <a:gridCol w="261938"/>
                <a:gridCol w="314325"/>
                <a:gridCol w="314325"/>
                <a:gridCol w="314325"/>
                <a:gridCol w="314325"/>
              </a:tblGrid>
              <a:tr h="150813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</a:tr>
              <a:tr h="169863">
                <a:tc gridSpan="2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</a:tr>
              <a:tr h="3952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3513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3513">
                <a:tc gridSpan="2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48015" name="AutoShape 143"/>
          <p:cNvSpPr>
            <a:spLocks noChangeArrowheads="1"/>
          </p:cNvSpPr>
          <p:nvPr/>
        </p:nvSpPr>
        <p:spPr bwMode="auto">
          <a:xfrm>
            <a:off x="7632700" y="4687888"/>
            <a:ext cx="539750" cy="360362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CC00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848016" name="AutoShape 144"/>
          <p:cNvSpPr>
            <a:spLocks noChangeArrowheads="1"/>
          </p:cNvSpPr>
          <p:nvPr/>
        </p:nvSpPr>
        <p:spPr bwMode="auto">
          <a:xfrm>
            <a:off x="7632700" y="4329113"/>
            <a:ext cx="287338" cy="719137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9900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graphicFrame>
        <p:nvGraphicFramePr>
          <p:cNvPr id="848017" name="Group 145"/>
          <p:cNvGraphicFramePr>
            <a:graphicFrameLocks noGrp="1"/>
          </p:cNvGraphicFramePr>
          <p:nvPr/>
        </p:nvGraphicFramePr>
        <p:xfrm>
          <a:off x="4932363" y="5229225"/>
          <a:ext cx="1617662" cy="1439865"/>
        </p:xfrm>
        <a:graphic>
          <a:graphicData uri="http://schemas.openxmlformats.org/drawingml/2006/table">
            <a:tbl>
              <a:tblPr/>
              <a:tblGrid>
                <a:gridCol w="98425"/>
                <a:gridCol w="261937"/>
                <a:gridCol w="314325"/>
                <a:gridCol w="314325"/>
                <a:gridCol w="314325"/>
                <a:gridCol w="314325"/>
              </a:tblGrid>
              <a:tr h="150813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</a:tr>
              <a:tr h="169863">
                <a:tc gridSpan="2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</a:tr>
              <a:tr h="3952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3513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3513">
                <a:tc gridSpan="2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48066" name="AutoShape 194"/>
          <p:cNvSpPr>
            <a:spLocks noChangeArrowheads="1"/>
          </p:cNvSpPr>
          <p:nvPr/>
        </p:nvSpPr>
        <p:spPr bwMode="auto">
          <a:xfrm>
            <a:off x="5961063" y="5948363"/>
            <a:ext cx="539750" cy="360362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CC00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52" name="Content Placeholder 5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spcBef>
                <a:spcPct val="15000"/>
              </a:spcBef>
            </a:pPr>
            <a:r>
              <a:rPr lang="en-US" i="1" dirty="0" smtClean="0">
                <a:solidFill>
                  <a:srgbClr val="009900"/>
                </a:solidFill>
              </a:rPr>
              <a:t>Example</a:t>
            </a:r>
            <a:r>
              <a:rPr lang="en-US" dirty="0" smtClean="0">
                <a:solidFill>
                  <a:srgbClr val="009900"/>
                </a:solidFill>
              </a:rPr>
              <a:t>:</a:t>
            </a:r>
          </a:p>
          <a:p>
            <a:pPr>
              <a:spcBef>
                <a:spcPct val="15000"/>
              </a:spcBef>
              <a:buFont typeface="Wingdings" pitchFamily="2" charset="2"/>
              <a:buNone/>
            </a:pPr>
            <a:r>
              <a:rPr lang="en-US" dirty="0" smtClean="0"/>
              <a:t>Detect 3 or more consecutive 1’s</a:t>
            </a:r>
          </a:p>
          <a:p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 of Clocked Sequential Circuits with </a:t>
            </a:r>
            <a:r>
              <a:rPr lang="en-US" i="1"/>
              <a:t>D</a:t>
            </a:r>
            <a:r>
              <a:rPr lang="en-US"/>
              <a:t> F.F.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092950" y="1268413"/>
            <a:ext cx="1619250" cy="1439862"/>
            <a:chOff x="4468" y="799"/>
            <a:chExt cx="1020" cy="907"/>
          </a:xfrm>
        </p:grpSpPr>
        <p:sp>
          <p:nvSpPr>
            <p:cNvPr id="849925" name="AutoShape 5"/>
            <p:cNvSpPr>
              <a:spLocks noChangeArrowheads="1"/>
            </p:cNvSpPr>
            <p:nvPr/>
          </p:nvSpPr>
          <p:spPr bwMode="auto">
            <a:xfrm>
              <a:off x="4694" y="799"/>
              <a:ext cx="567" cy="907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9926" name="Line 6"/>
            <p:cNvSpPr>
              <a:spLocks noChangeShapeType="1"/>
            </p:cNvSpPr>
            <p:nvPr/>
          </p:nvSpPr>
          <p:spPr bwMode="auto">
            <a:xfrm>
              <a:off x="5261" y="1253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9927" name="Line 7"/>
            <p:cNvSpPr>
              <a:spLocks noChangeShapeType="1"/>
            </p:cNvSpPr>
            <p:nvPr/>
          </p:nvSpPr>
          <p:spPr bwMode="auto">
            <a:xfrm>
              <a:off x="4468" y="1026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9928" name="Line 8"/>
            <p:cNvSpPr>
              <a:spLocks noChangeShapeType="1"/>
            </p:cNvSpPr>
            <p:nvPr/>
          </p:nvSpPr>
          <p:spPr bwMode="auto">
            <a:xfrm>
              <a:off x="4468" y="1480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5292725" y="1449388"/>
            <a:ext cx="1793875" cy="900112"/>
            <a:chOff x="3334" y="913"/>
            <a:chExt cx="1130" cy="567"/>
          </a:xfrm>
        </p:grpSpPr>
        <p:sp>
          <p:nvSpPr>
            <p:cNvPr id="849930" name="Line 10"/>
            <p:cNvSpPr>
              <a:spLocks noChangeShapeType="1"/>
            </p:cNvSpPr>
            <p:nvPr/>
          </p:nvSpPr>
          <p:spPr bwMode="auto">
            <a:xfrm>
              <a:off x="3334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9931" name="Line 11"/>
            <p:cNvSpPr>
              <a:spLocks noChangeShapeType="1"/>
            </p:cNvSpPr>
            <p:nvPr/>
          </p:nvSpPr>
          <p:spPr bwMode="auto">
            <a:xfrm rot="-5400000">
              <a:off x="3390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9932" name="Line 12"/>
            <p:cNvSpPr>
              <a:spLocks noChangeShapeType="1"/>
            </p:cNvSpPr>
            <p:nvPr/>
          </p:nvSpPr>
          <p:spPr bwMode="auto">
            <a:xfrm>
              <a:off x="3447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9933" name="Line 13"/>
            <p:cNvSpPr>
              <a:spLocks noChangeShapeType="1"/>
            </p:cNvSpPr>
            <p:nvPr/>
          </p:nvSpPr>
          <p:spPr bwMode="auto">
            <a:xfrm rot="5400000">
              <a:off x="3503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9934" name="Line 14"/>
            <p:cNvSpPr>
              <a:spLocks noChangeShapeType="1"/>
            </p:cNvSpPr>
            <p:nvPr/>
          </p:nvSpPr>
          <p:spPr bwMode="auto">
            <a:xfrm>
              <a:off x="3560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9935" name="Line 15"/>
            <p:cNvSpPr>
              <a:spLocks noChangeShapeType="1"/>
            </p:cNvSpPr>
            <p:nvPr/>
          </p:nvSpPr>
          <p:spPr bwMode="auto">
            <a:xfrm rot="-5400000">
              <a:off x="3616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9936" name="Line 16"/>
            <p:cNvSpPr>
              <a:spLocks noChangeShapeType="1"/>
            </p:cNvSpPr>
            <p:nvPr/>
          </p:nvSpPr>
          <p:spPr bwMode="auto">
            <a:xfrm>
              <a:off x="3673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9937" name="Line 17"/>
            <p:cNvSpPr>
              <a:spLocks noChangeShapeType="1"/>
            </p:cNvSpPr>
            <p:nvPr/>
          </p:nvSpPr>
          <p:spPr bwMode="auto">
            <a:xfrm rot="5400000">
              <a:off x="3729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9938" name="Line 18"/>
            <p:cNvSpPr>
              <a:spLocks noChangeShapeType="1"/>
            </p:cNvSpPr>
            <p:nvPr/>
          </p:nvSpPr>
          <p:spPr bwMode="auto">
            <a:xfrm>
              <a:off x="3786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9939" name="Line 19"/>
            <p:cNvSpPr>
              <a:spLocks noChangeShapeType="1"/>
            </p:cNvSpPr>
            <p:nvPr/>
          </p:nvSpPr>
          <p:spPr bwMode="auto">
            <a:xfrm rot="-5400000">
              <a:off x="3842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9940" name="Line 20"/>
            <p:cNvSpPr>
              <a:spLocks noChangeShapeType="1"/>
            </p:cNvSpPr>
            <p:nvPr/>
          </p:nvSpPr>
          <p:spPr bwMode="auto">
            <a:xfrm>
              <a:off x="3899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9941" name="Line 21"/>
            <p:cNvSpPr>
              <a:spLocks noChangeShapeType="1"/>
            </p:cNvSpPr>
            <p:nvPr/>
          </p:nvSpPr>
          <p:spPr bwMode="auto">
            <a:xfrm rot="5400000">
              <a:off x="3955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9942" name="Line 22"/>
            <p:cNvSpPr>
              <a:spLocks noChangeShapeType="1"/>
            </p:cNvSpPr>
            <p:nvPr/>
          </p:nvSpPr>
          <p:spPr bwMode="auto">
            <a:xfrm>
              <a:off x="4012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9943" name="Line 23"/>
            <p:cNvSpPr>
              <a:spLocks noChangeShapeType="1"/>
            </p:cNvSpPr>
            <p:nvPr/>
          </p:nvSpPr>
          <p:spPr bwMode="auto">
            <a:xfrm rot="-5400000">
              <a:off x="4068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9944" name="Line 24"/>
            <p:cNvSpPr>
              <a:spLocks noChangeShapeType="1"/>
            </p:cNvSpPr>
            <p:nvPr/>
          </p:nvSpPr>
          <p:spPr bwMode="auto">
            <a:xfrm>
              <a:off x="4125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9945" name="Line 25"/>
            <p:cNvSpPr>
              <a:spLocks noChangeShapeType="1"/>
            </p:cNvSpPr>
            <p:nvPr/>
          </p:nvSpPr>
          <p:spPr bwMode="auto">
            <a:xfrm rot="5400000">
              <a:off x="4181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9946" name="Line 26"/>
            <p:cNvSpPr>
              <a:spLocks noChangeShapeType="1"/>
            </p:cNvSpPr>
            <p:nvPr/>
          </p:nvSpPr>
          <p:spPr bwMode="auto">
            <a:xfrm>
              <a:off x="4238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9947" name="Line 27"/>
            <p:cNvSpPr>
              <a:spLocks noChangeShapeType="1"/>
            </p:cNvSpPr>
            <p:nvPr/>
          </p:nvSpPr>
          <p:spPr bwMode="auto">
            <a:xfrm rot="-5400000">
              <a:off x="4294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9948" name="Line 28"/>
            <p:cNvSpPr>
              <a:spLocks noChangeShapeType="1"/>
            </p:cNvSpPr>
            <p:nvPr/>
          </p:nvSpPr>
          <p:spPr bwMode="auto">
            <a:xfrm>
              <a:off x="4351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9949" name="Line 29"/>
            <p:cNvSpPr>
              <a:spLocks noChangeShapeType="1"/>
            </p:cNvSpPr>
            <p:nvPr/>
          </p:nvSpPr>
          <p:spPr bwMode="auto">
            <a:xfrm rot="5400000">
              <a:off x="3390" y="142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9950" name="Line 30"/>
            <p:cNvSpPr>
              <a:spLocks noChangeShapeType="1"/>
            </p:cNvSpPr>
            <p:nvPr/>
          </p:nvSpPr>
          <p:spPr bwMode="auto">
            <a:xfrm>
              <a:off x="3334" y="148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9951" name="Line 31"/>
            <p:cNvSpPr>
              <a:spLocks noChangeShapeType="1"/>
            </p:cNvSpPr>
            <p:nvPr/>
          </p:nvSpPr>
          <p:spPr bwMode="auto">
            <a:xfrm>
              <a:off x="3447" y="1366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9952" name="Line 32"/>
            <p:cNvSpPr>
              <a:spLocks noChangeShapeType="1"/>
            </p:cNvSpPr>
            <p:nvPr/>
          </p:nvSpPr>
          <p:spPr bwMode="auto">
            <a:xfrm>
              <a:off x="3674" y="1366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9953" name="Line 33"/>
            <p:cNvSpPr>
              <a:spLocks noChangeShapeType="1"/>
            </p:cNvSpPr>
            <p:nvPr/>
          </p:nvSpPr>
          <p:spPr bwMode="auto">
            <a:xfrm>
              <a:off x="3901" y="1366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9954" name="Line 34"/>
            <p:cNvSpPr>
              <a:spLocks noChangeShapeType="1"/>
            </p:cNvSpPr>
            <p:nvPr/>
          </p:nvSpPr>
          <p:spPr bwMode="auto">
            <a:xfrm rot="5400000">
              <a:off x="4070" y="142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9955" name="Line 35"/>
            <p:cNvSpPr>
              <a:spLocks noChangeShapeType="1"/>
            </p:cNvSpPr>
            <p:nvPr/>
          </p:nvSpPr>
          <p:spPr bwMode="auto">
            <a:xfrm>
              <a:off x="4127" y="1480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9956" name="Line 36"/>
            <p:cNvSpPr>
              <a:spLocks noChangeShapeType="1"/>
            </p:cNvSpPr>
            <p:nvPr/>
          </p:nvSpPr>
          <p:spPr bwMode="auto">
            <a:xfrm rot="5400000">
              <a:off x="3277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9957" name="Line 37"/>
            <p:cNvSpPr>
              <a:spLocks noChangeShapeType="1"/>
            </p:cNvSpPr>
            <p:nvPr/>
          </p:nvSpPr>
          <p:spPr bwMode="auto">
            <a:xfrm rot="5400000">
              <a:off x="3504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9958" name="Line 38"/>
            <p:cNvSpPr>
              <a:spLocks noChangeShapeType="1"/>
            </p:cNvSpPr>
            <p:nvPr/>
          </p:nvSpPr>
          <p:spPr bwMode="auto">
            <a:xfrm rot="5400000">
              <a:off x="3731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49959" name="Line 39"/>
            <p:cNvSpPr>
              <a:spLocks noChangeShapeType="1"/>
            </p:cNvSpPr>
            <p:nvPr/>
          </p:nvSpPr>
          <p:spPr bwMode="auto">
            <a:xfrm rot="5400000">
              <a:off x="3958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</p:grpSp>
      <p:sp>
        <p:nvSpPr>
          <p:cNvPr id="849960" name="Rectangle 40"/>
          <p:cNvSpPr>
            <a:spLocks noChangeArrowheads="1"/>
          </p:cNvSpPr>
          <p:nvPr/>
        </p:nvSpPr>
        <p:spPr bwMode="auto">
          <a:xfrm>
            <a:off x="611188" y="3278188"/>
            <a:ext cx="4681537" cy="15811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l"/>
            <a:r>
              <a:rPr lang="en-US" sz="28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800" b="1" i="1" baseline="-250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8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 x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US" sz="28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B x</a:t>
            </a:r>
          </a:p>
          <a:p>
            <a:pPr algn="l"/>
            <a:r>
              <a:rPr lang="en-US" sz="28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800" b="1" i="1" baseline="-250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8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 x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US" sz="28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B’ x</a:t>
            </a:r>
            <a:endParaRPr lang="en-US" sz="2800" b="1">
              <a:solidFill>
                <a:schemeClr val="accent2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28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 y </a:t>
            </a:r>
            <a:r>
              <a:rPr lang="en-US" sz="2800" b="1" i="1" baseline="-250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8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 B</a:t>
            </a:r>
          </a:p>
        </p:txBody>
      </p:sp>
      <p:sp>
        <p:nvSpPr>
          <p:cNvPr id="849961" name="AutoShape 41"/>
          <p:cNvSpPr>
            <a:spLocks noChangeArrowheads="1"/>
          </p:cNvSpPr>
          <p:nvPr/>
        </p:nvSpPr>
        <p:spPr bwMode="auto">
          <a:xfrm>
            <a:off x="611188" y="2559050"/>
            <a:ext cx="3960812" cy="539750"/>
          </a:xfrm>
          <a:prstGeom prst="roundRect">
            <a:avLst>
              <a:gd name="adj" fmla="val 16667"/>
            </a:avLst>
          </a:prstGeom>
          <a:noFill/>
          <a:ln w="38100" algn="ctr">
            <a:solidFill>
              <a:srgbClr val="996600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r>
              <a:rPr lang="en-US" sz="2400" b="1">
                <a:latin typeface="Times New Roman" pitchFamily="18" charset="0"/>
                <a:cs typeface="Times New Roman" pitchFamily="18" charset="0"/>
              </a:rPr>
              <a:t>Synthesis using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Flip-Flops</a:t>
            </a:r>
            <a:endParaRPr lang="en-US" sz="2400" b="1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849962" name="Object 42"/>
          <p:cNvGraphicFramePr>
            <a:graphicFrameLocks noChangeAspect="1"/>
          </p:cNvGraphicFramePr>
          <p:nvPr/>
        </p:nvGraphicFramePr>
        <p:xfrm>
          <a:off x="3311525" y="3119438"/>
          <a:ext cx="5459413" cy="346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038" name="Visio" r:id="rId4" imgW="3119445" imgH="1978762" progId="">
                  <p:embed/>
                </p:oleObj>
              </mc:Choice>
              <mc:Fallback>
                <p:oleObj name="Visio" r:id="rId4" imgW="3119445" imgH="1978762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1525" y="3119438"/>
                        <a:ext cx="5459413" cy="3462337"/>
                      </a:xfrm>
                      <a:prstGeom prst="rect">
                        <a:avLst/>
                      </a:prstGeom>
                      <a:solidFill>
                        <a:srgbClr val="FFFF00">
                          <a:alpha val="50000"/>
                        </a:srgb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Content Placeholder 4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spcBef>
                <a:spcPct val="15000"/>
              </a:spcBef>
            </a:pPr>
            <a:r>
              <a:rPr lang="en-US" i="1" dirty="0" smtClean="0">
                <a:solidFill>
                  <a:srgbClr val="009900"/>
                </a:solidFill>
              </a:rPr>
              <a:t>Example</a:t>
            </a:r>
            <a:r>
              <a:rPr lang="en-US" dirty="0" smtClean="0">
                <a:solidFill>
                  <a:srgbClr val="009900"/>
                </a:solidFill>
              </a:rPr>
              <a:t>:</a:t>
            </a:r>
          </a:p>
          <a:p>
            <a:pPr>
              <a:spcBef>
                <a:spcPct val="15000"/>
              </a:spcBef>
              <a:buFont typeface="Wingdings" pitchFamily="2" charset="2"/>
              <a:buNone/>
            </a:pPr>
            <a:r>
              <a:rPr lang="en-US" dirty="0" smtClean="0"/>
              <a:t>Detect 3 or more consecutive 1’s</a:t>
            </a:r>
          </a:p>
          <a:p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49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7945438" y="7061200"/>
            <a:ext cx="1198562" cy="288925"/>
          </a:xfrm>
          <a:prstGeom prst="rect">
            <a:avLst/>
          </a:prstGeom>
        </p:spPr>
        <p:txBody>
          <a:bodyPr/>
          <a:lstStyle/>
          <a:p>
            <a:fld id="{AB169E61-ACDC-4F08-9E8F-6FE728E6ECE3}" type="slidenum">
              <a:rPr lang="en-US"/>
              <a:pPr/>
              <a:t>79</a:t>
            </a:fld>
            <a:endParaRPr lang="en-US"/>
          </a:p>
        </p:txBody>
      </p:sp>
      <p:sp>
        <p:nvSpPr>
          <p:cNvPr id="851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Flip-Flop Excitation Tables</a:t>
            </a:r>
          </a:p>
        </p:txBody>
      </p:sp>
      <p:graphicFrame>
        <p:nvGraphicFramePr>
          <p:cNvPr id="851971" name="Group 3"/>
          <p:cNvGraphicFramePr>
            <a:graphicFrameLocks noGrp="1"/>
          </p:cNvGraphicFramePr>
          <p:nvPr/>
        </p:nvGraphicFramePr>
        <p:xfrm>
          <a:off x="611188" y="1660525"/>
          <a:ext cx="2697162" cy="2700339"/>
        </p:xfrm>
        <a:graphic>
          <a:graphicData uri="http://schemas.openxmlformats.org/drawingml/2006/table">
            <a:tbl>
              <a:tblPr/>
              <a:tblGrid>
                <a:gridCol w="896937"/>
                <a:gridCol w="900113"/>
                <a:gridCol w="900112"/>
              </a:tblGrid>
              <a:tr h="6588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Present State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Next State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F.F.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Input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+1)</a:t>
                      </a:r>
                      <a:endParaRPr kumimoji="0" lang="en-US" sz="2400" b="1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4079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52002" name="Group 34"/>
          <p:cNvGraphicFramePr>
            <a:graphicFrameLocks noGrp="1"/>
          </p:cNvGraphicFramePr>
          <p:nvPr/>
        </p:nvGraphicFramePr>
        <p:xfrm>
          <a:off x="3671888" y="1660525"/>
          <a:ext cx="2698750" cy="2700339"/>
        </p:xfrm>
        <a:graphic>
          <a:graphicData uri="http://schemas.openxmlformats.org/drawingml/2006/table">
            <a:tbl>
              <a:tblPr/>
              <a:tblGrid>
                <a:gridCol w="896937"/>
                <a:gridCol w="900113"/>
                <a:gridCol w="450850"/>
                <a:gridCol w="450850"/>
              </a:tblGrid>
              <a:tr h="6588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Present State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Next State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F.F.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Input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+1)</a:t>
                      </a:r>
                      <a:endParaRPr kumimoji="0" lang="en-US" sz="2400" b="1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J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4079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52038" name="AutoShape 70"/>
          <p:cNvSpPr>
            <a:spLocks noChangeArrowheads="1"/>
          </p:cNvSpPr>
          <p:nvPr/>
        </p:nvSpPr>
        <p:spPr bwMode="auto">
          <a:xfrm>
            <a:off x="6732588" y="2379663"/>
            <a:ext cx="1981200" cy="541337"/>
          </a:xfrm>
          <a:prstGeom prst="wedgeRoundRectCallout">
            <a:avLst>
              <a:gd name="adj1" fmla="val -63944"/>
              <a:gd name="adj2" fmla="val 46481"/>
              <a:gd name="adj3" fmla="val 16667"/>
            </a:avLst>
          </a:prstGeom>
          <a:noFill/>
          <a:ln w="381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>
              <a:spcBef>
                <a:spcPct val="0"/>
              </a:spcBef>
            </a:pPr>
            <a:r>
              <a:rPr lang="en-US" b="1">
                <a:solidFill>
                  <a:schemeClr val="accent1"/>
                </a:solidFill>
              </a:rPr>
              <a:t>0 0</a:t>
            </a:r>
            <a:r>
              <a:rPr lang="en-US" b="1"/>
              <a:t> (No change)</a:t>
            </a:r>
          </a:p>
          <a:p>
            <a:pPr algn="l">
              <a:spcBef>
                <a:spcPct val="0"/>
              </a:spcBef>
            </a:pPr>
            <a:r>
              <a:rPr lang="en-US" b="1">
                <a:solidFill>
                  <a:schemeClr val="accent1"/>
                </a:solidFill>
              </a:rPr>
              <a:t>0 1</a:t>
            </a:r>
            <a:r>
              <a:rPr lang="en-US" b="1"/>
              <a:t> (</a:t>
            </a:r>
            <a:r>
              <a:rPr lang="en-US" b="1">
                <a:solidFill>
                  <a:schemeClr val="accent2"/>
                </a:solidFill>
              </a:rPr>
              <a:t>Reset</a:t>
            </a:r>
            <a:r>
              <a:rPr lang="en-US" b="1"/>
              <a:t>)</a:t>
            </a:r>
          </a:p>
        </p:txBody>
      </p:sp>
      <p:sp>
        <p:nvSpPr>
          <p:cNvPr id="852039" name="Rectangle 71"/>
          <p:cNvSpPr>
            <a:spLocks noChangeArrowheads="1"/>
          </p:cNvSpPr>
          <p:nvPr/>
        </p:nvSpPr>
        <p:spPr bwMode="auto">
          <a:xfrm>
            <a:off x="5472113" y="2725738"/>
            <a:ext cx="900112" cy="1643527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ct val="15000"/>
              </a:spcBef>
              <a:buClr>
                <a:srgbClr val="CC3300"/>
              </a:buClr>
              <a:buSzPct val="100000"/>
              <a:buFont typeface="Wingdings" pitchFamily="2" charset="2"/>
              <a:buNone/>
            </a:pPr>
            <a:r>
              <a:rPr lang="en-US" sz="24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0   x</a:t>
            </a:r>
          </a:p>
          <a:p>
            <a:pPr algn="ctr">
              <a:lnSpc>
                <a:spcPct val="100000"/>
              </a:lnSpc>
              <a:spcBef>
                <a:spcPct val="15000"/>
              </a:spcBef>
              <a:buClr>
                <a:srgbClr val="CC3300"/>
              </a:buClr>
              <a:buSzPct val="100000"/>
              <a:buFont typeface="Wingdings" pitchFamily="2" charset="2"/>
              <a:buNone/>
            </a:pPr>
            <a:r>
              <a:rPr lang="en-US" sz="24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   x</a:t>
            </a:r>
          </a:p>
          <a:p>
            <a:pPr algn="ctr">
              <a:lnSpc>
                <a:spcPct val="100000"/>
              </a:lnSpc>
              <a:spcBef>
                <a:spcPct val="15000"/>
              </a:spcBef>
              <a:buClr>
                <a:srgbClr val="CC3300"/>
              </a:buClr>
              <a:buSzPct val="100000"/>
              <a:buFont typeface="Wingdings" pitchFamily="2" charset="2"/>
              <a:buNone/>
            </a:pPr>
            <a:r>
              <a:rPr lang="en-US" sz="24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x   1</a:t>
            </a:r>
          </a:p>
          <a:p>
            <a:pPr algn="ctr">
              <a:lnSpc>
                <a:spcPct val="100000"/>
              </a:lnSpc>
              <a:spcBef>
                <a:spcPct val="15000"/>
              </a:spcBef>
              <a:buClr>
                <a:srgbClr val="CC3300"/>
              </a:buClr>
              <a:buSzPct val="100000"/>
              <a:buFont typeface="Wingdings" pitchFamily="2" charset="2"/>
              <a:buNone/>
            </a:pPr>
            <a:r>
              <a:rPr lang="en-US" sz="24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x   0</a:t>
            </a:r>
          </a:p>
        </p:txBody>
      </p:sp>
      <p:sp>
        <p:nvSpPr>
          <p:cNvPr id="852040" name="Rectangle 72"/>
          <p:cNvSpPr>
            <a:spLocks noChangeArrowheads="1"/>
          </p:cNvSpPr>
          <p:nvPr/>
        </p:nvSpPr>
        <p:spPr bwMode="auto">
          <a:xfrm>
            <a:off x="2411413" y="2713038"/>
            <a:ext cx="900112" cy="1643527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ct val="15000"/>
              </a:spcBef>
              <a:buClr>
                <a:srgbClr val="CC3300"/>
              </a:buClr>
              <a:buSzPct val="100000"/>
              <a:buFont typeface="Wingdings" pitchFamily="2" charset="2"/>
              <a:buNone/>
            </a:pPr>
            <a:r>
              <a:rPr lang="en-US" sz="24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 algn="ctr">
              <a:lnSpc>
                <a:spcPct val="100000"/>
              </a:lnSpc>
              <a:spcBef>
                <a:spcPct val="15000"/>
              </a:spcBef>
              <a:buClr>
                <a:srgbClr val="CC3300"/>
              </a:buClr>
              <a:buSzPct val="100000"/>
              <a:buFont typeface="Wingdings" pitchFamily="2" charset="2"/>
              <a:buNone/>
            </a:pPr>
            <a:r>
              <a:rPr lang="en-US" sz="24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pPr algn="ctr">
              <a:lnSpc>
                <a:spcPct val="100000"/>
              </a:lnSpc>
              <a:spcBef>
                <a:spcPct val="15000"/>
              </a:spcBef>
              <a:buClr>
                <a:srgbClr val="CC3300"/>
              </a:buClr>
              <a:buSzPct val="100000"/>
              <a:buFont typeface="Wingdings" pitchFamily="2" charset="2"/>
              <a:buNone/>
            </a:pPr>
            <a:r>
              <a:rPr lang="en-US" sz="24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 algn="ctr">
              <a:lnSpc>
                <a:spcPct val="100000"/>
              </a:lnSpc>
              <a:spcBef>
                <a:spcPct val="15000"/>
              </a:spcBef>
              <a:buClr>
                <a:srgbClr val="CC3300"/>
              </a:buClr>
              <a:buSzPct val="100000"/>
              <a:buFont typeface="Wingdings" pitchFamily="2" charset="2"/>
              <a:buNone/>
            </a:pPr>
            <a:r>
              <a:rPr lang="en-US" sz="24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852041" name="AutoShape 73"/>
          <p:cNvSpPr>
            <a:spLocks noChangeArrowheads="1"/>
          </p:cNvSpPr>
          <p:nvPr/>
        </p:nvSpPr>
        <p:spPr bwMode="auto">
          <a:xfrm>
            <a:off x="6732588" y="2921000"/>
            <a:ext cx="1981200" cy="541338"/>
          </a:xfrm>
          <a:prstGeom prst="wedgeRoundRectCallout">
            <a:avLst>
              <a:gd name="adj1" fmla="val -63704"/>
              <a:gd name="adj2" fmla="val 26245"/>
              <a:gd name="adj3" fmla="val 16667"/>
            </a:avLst>
          </a:prstGeom>
          <a:noFill/>
          <a:ln w="381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>
              <a:spcBef>
                <a:spcPct val="0"/>
              </a:spcBef>
            </a:pPr>
            <a:r>
              <a:rPr lang="en-US" b="1">
                <a:solidFill>
                  <a:schemeClr val="accent1"/>
                </a:solidFill>
              </a:rPr>
              <a:t>1 0</a:t>
            </a:r>
            <a:r>
              <a:rPr lang="en-US" b="1"/>
              <a:t> (</a:t>
            </a:r>
            <a:r>
              <a:rPr lang="en-US" b="1">
                <a:solidFill>
                  <a:schemeClr val="accent2"/>
                </a:solidFill>
              </a:rPr>
              <a:t>Set</a:t>
            </a:r>
            <a:r>
              <a:rPr lang="en-US" b="1"/>
              <a:t>)</a:t>
            </a:r>
          </a:p>
          <a:p>
            <a:pPr algn="l">
              <a:spcBef>
                <a:spcPct val="0"/>
              </a:spcBef>
            </a:pPr>
            <a:r>
              <a:rPr lang="en-US" b="1">
                <a:solidFill>
                  <a:schemeClr val="accent1"/>
                </a:solidFill>
              </a:rPr>
              <a:t>1 1</a:t>
            </a:r>
            <a:r>
              <a:rPr lang="en-US" b="1"/>
              <a:t> (</a:t>
            </a:r>
            <a:r>
              <a:rPr lang="en-US" b="1">
                <a:solidFill>
                  <a:srgbClr val="996600"/>
                </a:solidFill>
              </a:rPr>
              <a:t>Toggle</a:t>
            </a:r>
            <a:r>
              <a:rPr lang="en-US" b="1"/>
              <a:t>)</a:t>
            </a:r>
          </a:p>
        </p:txBody>
      </p:sp>
      <p:sp>
        <p:nvSpPr>
          <p:cNvPr id="852042" name="AutoShape 74"/>
          <p:cNvSpPr>
            <a:spLocks noChangeArrowheads="1"/>
          </p:cNvSpPr>
          <p:nvPr/>
        </p:nvSpPr>
        <p:spPr bwMode="auto">
          <a:xfrm>
            <a:off x="6732588" y="3459163"/>
            <a:ext cx="1981200" cy="541337"/>
          </a:xfrm>
          <a:prstGeom prst="wedgeRoundRectCallout">
            <a:avLst>
              <a:gd name="adj1" fmla="val -64903"/>
              <a:gd name="adj2" fmla="val 7185"/>
              <a:gd name="adj3" fmla="val 16667"/>
            </a:avLst>
          </a:prstGeom>
          <a:noFill/>
          <a:ln w="381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>
              <a:spcBef>
                <a:spcPct val="0"/>
              </a:spcBef>
            </a:pPr>
            <a:r>
              <a:rPr lang="en-US" b="1">
                <a:solidFill>
                  <a:schemeClr val="accent1"/>
                </a:solidFill>
              </a:rPr>
              <a:t>0 1</a:t>
            </a:r>
            <a:r>
              <a:rPr lang="en-US" b="1"/>
              <a:t> (</a:t>
            </a:r>
            <a:r>
              <a:rPr lang="en-US" b="1">
                <a:solidFill>
                  <a:schemeClr val="accent2"/>
                </a:solidFill>
              </a:rPr>
              <a:t>Reset</a:t>
            </a:r>
            <a:r>
              <a:rPr lang="en-US" b="1"/>
              <a:t>)</a:t>
            </a:r>
          </a:p>
          <a:p>
            <a:pPr algn="l">
              <a:spcBef>
                <a:spcPct val="0"/>
              </a:spcBef>
            </a:pPr>
            <a:r>
              <a:rPr lang="en-US" b="1">
                <a:solidFill>
                  <a:schemeClr val="accent1"/>
                </a:solidFill>
              </a:rPr>
              <a:t>1 1</a:t>
            </a:r>
            <a:r>
              <a:rPr lang="en-US" b="1"/>
              <a:t> (</a:t>
            </a:r>
            <a:r>
              <a:rPr lang="en-US" b="1">
                <a:solidFill>
                  <a:srgbClr val="996600"/>
                </a:solidFill>
              </a:rPr>
              <a:t>Toggle</a:t>
            </a:r>
            <a:r>
              <a:rPr lang="en-US" b="1"/>
              <a:t>)</a:t>
            </a:r>
          </a:p>
        </p:txBody>
      </p:sp>
      <p:sp>
        <p:nvSpPr>
          <p:cNvPr id="852043" name="AutoShape 75"/>
          <p:cNvSpPr>
            <a:spLocks noChangeArrowheads="1"/>
          </p:cNvSpPr>
          <p:nvPr/>
        </p:nvSpPr>
        <p:spPr bwMode="auto">
          <a:xfrm>
            <a:off x="6732588" y="4000500"/>
            <a:ext cx="1981200" cy="541338"/>
          </a:xfrm>
          <a:prstGeom prst="wedgeRoundRectCallout">
            <a:avLst>
              <a:gd name="adj1" fmla="val -63861"/>
              <a:gd name="adj2" fmla="val -20380"/>
              <a:gd name="adj3" fmla="val 16667"/>
            </a:avLst>
          </a:prstGeom>
          <a:noFill/>
          <a:ln w="381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l">
              <a:spcBef>
                <a:spcPct val="0"/>
              </a:spcBef>
            </a:pPr>
            <a:r>
              <a:rPr lang="en-US" b="1">
                <a:solidFill>
                  <a:schemeClr val="accent1"/>
                </a:solidFill>
              </a:rPr>
              <a:t>0 0</a:t>
            </a:r>
            <a:r>
              <a:rPr lang="en-US" b="1"/>
              <a:t> (No change)</a:t>
            </a:r>
          </a:p>
          <a:p>
            <a:pPr algn="l">
              <a:spcBef>
                <a:spcPct val="0"/>
              </a:spcBef>
            </a:pPr>
            <a:r>
              <a:rPr lang="en-US" b="1">
                <a:solidFill>
                  <a:schemeClr val="accent1"/>
                </a:solidFill>
              </a:rPr>
              <a:t>1 0</a:t>
            </a:r>
            <a:r>
              <a:rPr lang="en-US" b="1"/>
              <a:t> (</a:t>
            </a:r>
            <a:r>
              <a:rPr lang="en-US" b="1">
                <a:solidFill>
                  <a:schemeClr val="accent2"/>
                </a:solidFill>
              </a:rPr>
              <a:t>Set</a:t>
            </a:r>
            <a:r>
              <a:rPr lang="en-US" b="1"/>
              <a:t>)</a:t>
            </a:r>
          </a:p>
        </p:txBody>
      </p:sp>
      <p:graphicFrame>
        <p:nvGraphicFramePr>
          <p:cNvPr id="852044" name="Group 76"/>
          <p:cNvGraphicFramePr>
            <a:graphicFrameLocks noGrp="1"/>
          </p:cNvGraphicFramePr>
          <p:nvPr/>
        </p:nvGraphicFramePr>
        <p:xfrm>
          <a:off x="3671888" y="4576763"/>
          <a:ext cx="2697162" cy="2041526"/>
        </p:xfrm>
        <a:graphic>
          <a:graphicData uri="http://schemas.openxmlformats.org/drawingml/2006/table">
            <a:tbl>
              <a:tblPr/>
              <a:tblGrid>
                <a:gridCol w="896937"/>
                <a:gridCol w="900113"/>
                <a:gridCol w="900112"/>
              </a:tblGrid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+1)</a:t>
                      </a:r>
                      <a:endParaRPr kumimoji="0" lang="en-US" sz="2400" b="1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4079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52069" name="Rectangle 101"/>
          <p:cNvSpPr>
            <a:spLocks noChangeArrowheads="1"/>
          </p:cNvSpPr>
          <p:nvPr/>
        </p:nvSpPr>
        <p:spPr bwMode="auto">
          <a:xfrm>
            <a:off x="5472113" y="4975225"/>
            <a:ext cx="900112" cy="1643527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ct val="15000"/>
              </a:spcBef>
              <a:buClr>
                <a:srgbClr val="CC3300"/>
              </a:buClr>
              <a:buSzPct val="100000"/>
              <a:buFont typeface="Wingdings" pitchFamily="2" charset="2"/>
              <a:buNone/>
            </a:pPr>
            <a:r>
              <a:rPr lang="en-US" sz="24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 algn="ctr">
              <a:lnSpc>
                <a:spcPct val="100000"/>
              </a:lnSpc>
              <a:spcBef>
                <a:spcPct val="15000"/>
              </a:spcBef>
              <a:buClr>
                <a:srgbClr val="CC3300"/>
              </a:buClr>
              <a:buSzPct val="100000"/>
              <a:buFont typeface="Wingdings" pitchFamily="2" charset="2"/>
              <a:buNone/>
            </a:pPr>
            <a:r>
              <a:rPr lang="en-US" sz="24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pPr algn="ctr">
              <a:lnSpc>
                <a:spcPct val="100000"/>
              </a:lnSpc>
              <a:spcBef>
                <a:spcPct val="15000"/>
              </a:spcBef>
              <a:buClr>
                <a:srgbClr val="CC3300"/>
              </a:buClr>
              <a:buSzPct val="100000"/>
              <a:buFont typeface="Wingdings" pitchFamily="2" charset="2"/>
              <a:buNone/>
            </a:pPr>
            <a:r>
              <a:rPr lang="en-US" sz="24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pPr algn="ctr">
              <a:lnSpc>
                <a:spcPct val="100000"/>
              </a:lnSpc>
              <a:spcBef>
                <a:spcPct val="15000"/>
              </a:spcBef>
              <a:buClr>
                <a:srgbClr val="CC3300"/>
              </a:buClr>
              <a:buSzPct val="100000"/>
              <a:buFont typeface="Wingdings" pitchFamily="2" charset="2"/>
              <a:buNone/>
            </a:pPr>
            <a:r>
              <a:rPr lang="en-US" sz="24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51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0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520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0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520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0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520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0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520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852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52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0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520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2" dur="500"/>
                                        <p:tgtEl>
                                          <p:spTgt spid="8520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2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52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0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520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5" dur="500"/>
                                        <p:tgtEl>
                                          <p:spTgt spid="8520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2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852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0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8520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8" dur="500"/>
                                        <p:tgtEl>
                                          <p:spTgt spid="8520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2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852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0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8520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1" dur="500"/>
                                        <p:tgtEl>
                                          <p:spTgt spid="8520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2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852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0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8520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0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8520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0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8520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0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8520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2038" grpId="0" animBg="1"/>
      <p:bldP spid="852038" grpId="1" animBg="1"/>
      <p:bldP spid="852041" grpId="0" animBg="1"/>
      <p:bldP spid="852041" grpId="1" animBg="1"/>
      <p:bldP spid="852042" grpId="0" animBg="1"/>
      <p:bldP spid="852042" grpId="1" animBg="1"/>
      <p:bldP spid="852043" grpId="0" animBg="1"/>
      <p:bldP spid="852043" grpId="1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 of Clocked Sequential Circuits with </a:t>
            </a:r>
            <a:r>
              <a:rPr lang="en-US" i="1"/>
              <a:t>JK</a:t>
            </a:r>
            <a:r>
              <a:rPr lang="en-US"/>
              <a:t> F.F.</a:t>
            </a:r>
          </a:p>
        </p:txBody>
      </p:sp>
      <p:graphicFrame>
        <p:nvGraphicFramePr>
          <p:cNvPr id="854020" name="Group 4"/>
          <p:cNvGraphicFramePr>
            <a:graphicFrameLocks noGrp="1"/>
          </p:cNvGraphicFramePr>
          <p:nvPr/>
        </p:nvGraphicFramePr>
        <p:xfrm>
          <a:off x="431800" y="2549525"/>
          <a:ext cx="5037138" cy="4005264"/>
        </p:xfrm>
        <a:graphic>
          <a:graphicData uri="http://schemas.openxmlformats.org/drawingml/2006/table">
            <a:tbl>
              <a:tblPr/>
              <a:tblGrid>
                <a:gridCol w="539750"/>
                <a:gridCol w="539750"/>
                <a:gridCol w="719138"/>
                <a:gridCol w="539750"/>
                <a:gridCol w="539750"/>
                <a:gridCol w="539750"/>
                <a:gridCol w="539750"/>
                <a:gridCol w="539750"/>
                <a:gridCol w="539750"/>
              </a:tblGrid>
              <a:tr h="406400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Present State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Input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Next State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Flip-Flop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Inputs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</a:tr>
              <a:tr h="3778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J</a:t>
                      </a:r>
                      <a:r>
                        <a:rPr kumimoji="0" lang="en-US" sz="2400" b="1" i="1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kumimoji="0" lang="en-US" sz="2400" b="1" i="1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J</a:t>
                      </a:r>
                      <a:r>
                        <a:rPr kumimoji="0" lang="en-US" sz="2400" b="1" i="1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kumimoji="0" lang="en-US" sz="2400" b="1" i="1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</a:tr>
              <a:tr h="3762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</a:tr>
              <a:tr h="3778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</a:tr>
              <a:tr h="3778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</a:tr>
              <a:tr h="3762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</a:tr>
              <a:tr h="3778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</a:tr>
              <a:tr h="3762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</a:tr>
              <a:tr h="3778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54110" name="Rectangle 94"/>
          <p:cNvSpPr>
            <a:spLocks noChangeArrowheads="1"/>
          </p:cNvSpPr>
          <p:nvPr/>
        </p:nvSpPr>
        <p:spPr bwMode="auto">
          <a:xfrm>
            <a:off x="3487738" y="3538538"/>
            <a:ext cx="685800" cy="300990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0     x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0     x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0     x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1     x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x     1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x     0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x     1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x     0</a:t>
            </a:r>
          </a:p>
        </p:txBody>
      </p:sp>
      <p:grpSp>
        <p:nvGrpSpPr>
          <p:cNvPr id="2" name="Group 95"/>
          <p:cNvGrpSpPr>
            <a:grpSpLocks/>
          </p:cNvGrpSpPr>
          <p:nvPr/>
        </p:nvGrpSpPr>
        <p:grpSpPr bwMode="auto">
          <a:xfrm>
            <a:off x="7092950" y="1268413"/>
            <a:ext cx="1619250" cy="1439862"/>
            <a:chOff x="4468" y="799"/>
            <a:chExt cx="1020" cy="907"/>
          </a:xfrm>
        </p:grpSpPr>
        <p:sp>
          <p:nvSpPr>
            <p:cNvPr id="854112" name="AutoShape 96"/>
            <p:cNvSpPr>
              <a:spLocks noChangeArrowheads="1"/>
            </p:cNvSpPr>
            <p:nvPr/>
          </p:nvSpPr>
          <p:spPr bwMode="auto">
            <a:xfrm>
              <a:off x="4694" y="799"/>
              <a:ext cx="567" cy="907"/>
            </a:xfrm>
            <a:prstGeom prst="roundRect">
              <a:avLst>
                <a:gd name="adj" fmla="val 16667"/>
              </a:avLst>
            </a:prstGeom>
            <a:solidFill>
              <a:srgbClr val="66FFFF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4113" name="Line 97"/>
            <p:cNvSpPr>
              <a:spLocks noChangeShapeType="1"/>
            </p:cNvSpPr>
            <p:nvPr/>
          </p:nvSpPr>
          <p:spPr bwMode="auto">
            <a:xfrm>
              <a:off x="5261" y="1253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4114" name="Line 98"/>
            <p:cNvSpPr>
              <a:spLocks noChangeShapeType="1"/>
            </p:cNvSpPr>
            <p:nvPr/>
          </p:nvSpPr>
          <p:spPr bwMode="auto">
            <a:xfrm>
              <a:off x="4468" y="1026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4115" name="Line 99"/>
            <p:cNvSpPr>
              <a:spLocks noChangeShapeType="1"/>
            </p:cNvSpPr>
            <p:nvPr/>
          </p:nvSpPr>
          <p:spPr bwMode="auto">
            <a:xfrm>
              <a:off x="4468" y="1480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</p:grpSp>
      <p:grpSp>
        <p:nvGrpSpPr>
          <p:cNvPr id="3" name="Group 100"/>
          <p:cNvGrpSpPr>
            <a:grpSpLocks/>
          </p:cNvGrpSpPr>
          <p:nvPr/>
        </p:nvGrpSpPr>
        <p:grpSpPr bwMode="auto">
          <a:xfrm>
            <a:off x="5292725" y="1449388"/>
            <a:ext cx="1793875" cy="900112"/>
            <a:chOff x="3334" y="913"/>
            <a:chExt cx="1130" cy="567"/>
          </a:xfrm>
        </p:grpSpPr>
        <p:sp>
          <p:nvSpPr>
            <p:cNvPr id="854117" name="Line 101"/>
            <p:cNvSpPr>
              <a:spLocks noChangeShapeType="1"/>
            </p:cNvSpPr>
            <p:nvPr/>
          </p:nvSpPr>
          <p:spPr bwMode="auto">
            <a:xfrm>
              <a:off x="3334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4118" name="Line 102"/>
            <p:cNvSpPr>
              <a:spLocks noChangeShapeType="1"/>
            </p:cNvSpPr>
            <p:nvPr/>
          </p:nvSpPr>
          <p:spPr bwMode="auto">
            <a:xfrm rot="-5400000">
              <a:off x="3390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4119" name="Line 103"/>
            <p:cNvSpPr>
              <a:spLocks noChangeShapeType="1"/>
            </p:cNvSpPr>
            <p:nvPr/>
          </p:nvSpPr>
          <p:spPr bwMode="auto">
            <a:xfrm>
              <a:off x="3447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4120" name="Line 104"/>
            <p:cNvSpPr>
              <a:spLocks noChangeShapeType="1"/>
            </p:cNvSpPr>
            <p:nvPr/>
          </p:nvSpPr>
          <p:spPr bwMode="auto">
            <a:xfrm rot="5400000">
              <a:off x="3503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4121" name="Line 105"/>
            <p:cNvSpPr>
              <a:spLocks noChangeShapeType="1"/>
            </p:cNvSpPr>
            <p:nvPr/>
          </p:nvSpPr>
          <p:spPr bwMode="auto">
            <a:xfrm>
              <a:off x="3560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4122" name="Line 106"/>
            <p:cNvSpPr>
              <a:spLocks noChangeShapeType="1"/>
            </p:cNvSpPr>
            <p:nvPr/>
          </p:nvSpPr>
          <p:spPr bwMode="auto">
            <a:xfrm rot="-5400000">
              <a:off x="3616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4123" name="Line 107"/>
            <p:cNvSpPr>
              <a:spLocks noChangeShapeType="1"/>
            </p:cNvSpPr>
            <p:nvPr/>
          </p:nvSpPr>
          <p:spPr bwMode="auto">
            <a:xfrm>
              <a:off x="3673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4124" name="Line 108"/>
            <p:cNvSpPr>
              <a:spLocks noChangeShapeType="1"/>
            </p:cNvSpPr>
            <p:nvPr/>
          </p:nvSpPr>
          <p:spPr bwMode="auto">
            <a:xfrm rot="5400000">
              <a:off x="3729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4125" name="Line 109"/>
            <p:cNvSpPr>
              <a:spLocks noChangeShapeType="1"/>
            </p:cNvSpPr>
            <p:nvPr/>
          </p:nvSpPr>
          <p:spPr bwMode="auto">
            <a:xfrm>
              <a:off x="3786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4126" name="Line 110"/>
            <p:cNvSpPr>
              <a:spLocks noChangeShapeType="1"/>
            </p:cNvSpPr>
            <p:nvPr/>
          </p:nvSpPr>
          <p:spPr bwMode="auto">
            <a:xfrm rot="-5400000">
              <a:off x="3842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4127" name="Line 111"/>
            <p:cNvSpPr>
              <a:spLocks noChangeShapeType="1"/>
            </p:cNvSpPr>
            <p:nvPr/>
          </p:nvSpPr>
          <p:spPr bwMode="auto">
            <a:xfrm>
              <a:off x="3899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4128" name="Line 112"/>
            <p:cNvSpPr>
              <a:spLocks noChangeShapeType="1"/>
            </p:cNvSpPr>
            <p:nvPr/>
          </p:nvSpPr>
          <p:spPr bwMode="auto">
            <a:xfrm rot="5400000">
              <a:off x="3955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4129" name="Line 113"/>
            <p:cNvSpPr>
              <a:spLocks noChangeShapeType="1"/>
            </p:cNvSpPr>
            <p:nvPr/>
          </p:nvSpPr>
          <p:spPr bwMode="auto">
            <a:xfrm>
              <a:off x="4012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4130" name="Line 114"/>
            <p:cNvSpPr>
              <a:spLocks noChangeShapeType="1"/>
            </p:cNvSpPr>
            <p:nvPr/>
          </p:nvSpPr>
          <p:spPr bwMode="auto">
            <a:xfrm rot="-5400000">
              <a:off x="4068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4131" name="Line 115"/>
            <p:cNvSpPr>
              <a:spLocks noChangeShapeType="1"/>
            </p:cNvSpPr>
            <p:nvPr/>
          </p:nvSpPr>
          <p:spPr bwMode="auto">
            <a:xfrm>
              <a:off x="4125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4132" name="Line 116"/>
            <p:cNvSpPr>
              <a:spLocks noChangeShapeType="1"/>
            </p:cNvSpPr>
            <p:nvPr/>
          </p:nvSpPr>
          <p:spPr bwMode="auto">
            <a:xfrm rot="5400000">
              <a:off x="4181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4133" name="Line 117"/>
            <p:cNvSpPr>
              <a:spLocks noChangeShapeType="1"/>
            </p:cNvSpPr>
            <p:nvPr/>
          </p:nvSpPr>
          <p:spPr bwMode="auto">
            <a:xfrm>
              <a:off x="4238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4134" name="Line 118"/>
            <p:cNvSpPr>
              <a:spLocks noChangeShapeType="1"/>
            </p:cNvSpPr>
            <p:nvPr/>
          </p:nvSpPr>
          <p:spPr bwMode="auto">
            <a:xfrm rot="-5400000">
              <a:off x="4294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4135" name="Line 119"/>
            <p:cNvSpPr>
              <a:spLocks noChangeShapeType="1"/>
            </p:cNvSpPr>
            <p:nvPr/>
          </p:nvSpPr>
          <p:spPr bwMode="auto">
            <a:xfrm>
              <a:off x="4351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4136" name="Line 120"/>
            <p:cNvSpPr>
              <a:spLocks noChangeShapeType="1"/>
            </p:cNvSpPr>
            <p:nvPr/>
          </p:nvSpPr>
          <p:spPr bwMode="auto">
            <a:xfrm rot="5400000">
              <a:off x="3390" y="142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4137" name="Line 121"/>
            <p:cNvSpPr>
              <a:spLocks noChangeShapeType="1"/>
            </p:cNvSpPr>
            <p:nvPr/>
          </p:nvSpPr>
          <p:spPr bwMode="auto">
            <a:xfrm>
              <a:off x="3334" y="148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4138" name="Line 122"/>
            <p:cNvSpPr>
              <a:spLocks noChangeShapeType="1"/>
            </p:cNvSpPr>
            <p:nvPr/>
          </p:nvSpPr>
          <p:spPr bwMode="auto">
            <a:xfrm>
              <a:off x="3447" y="1366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4139" name="Line 123"/>
            <p:cNvSpPr>
              <a:spLocks noChangeShapeType="1"/>
            </p:cNvSpPr>
            <p:nvPr/>
          </p:nvSpPr>
          <p:spPr bwMode="auto">
            <a:xfrm>
              <a:off x="3674" y="1366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4140" name="Line 124"/>
            <p:cNvSpPr>
              <a:spLocks noChangeShapeType="1"/>
            </p:cNvSpPr>
            <p:nvPr/>
          </p:nvSpPr>
          <p:spPr bwMode="auto">
            <a:xfrm>
              <a:off x="3901" y="1366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4141" name="Line 125"/>
            <p:cNvSpPr>
              <a:spLocks noChangeShapeType="1"/>
            </p:cNvSpPr>
            <p:nvPr/>
          </p:nvSpPr>
          <p:spPr bwMode="auto">
            <a:xfrm rot="5400000">
              <a:off x="4070" y="142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4142" name="Line 126"/>
            <p:cNvSpPr>
              <a:spLocks noChangeShapeType="1"/>
            </p:cNvSpPr>
            <p:nvPr/>
          </p:nvSpPr>
          <p:spPr bwMode="auto">
            <a:xfrm>
              <a:off x="4127" y="1480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4143" name="Line 127"/>
            <p:cNvSpPr>
              <a:spLocks noChangeShapeType="1"/>
            </p:cNvSpPr>
            <p:nvPr/>
          </p:nvSpPr>
          <p:spPr bwMode="auto">
            <a:xfrm rot="5400000">
              <a:off x="3277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4144" name="Line 128"/>
            <p:cNvSpPr>
              <a:spLocks noChangeShapeType="1"/>
            </p:cNvSpPr>
            <p:nvPr/>
          </p:nvSpPr>
          <p:spPr bwMode="auto">
            <a:xfrm rot="5400000">
              <a:off x="3504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4145" name="Line 129"/>
            <p:cNvSpPr>
              <a:spLocks noChangeShapeType="1"/>
            </p:cNvSpPr>
            <p:nvPr/>
          </p:nvSpPr>
          <p:spPr bwMode="auto">
            <a:xfrm rot="5400000">
              <a:off x="3731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4146" name="Line 130"/>
            <p:cNvSpPr>
              <a:spLocks noChangeShapeType="1"/>
            </p:cNvSpPr>
            <p:nvPr/>
          </p:nvSpPr>
          <p:spPr bwMode="auto">
            <a:xfrm rot="5400000">
              <a:off x="3958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</p:grpSp>
      <p:sp>
        <p:nvSpPr>
          <p:cNvPr id="854148" name="Rectangle 132"/>
          <p:cNvSpPr>
            <a:spLocks noChangeArrowheads="1"/>
          </p:cNvSpPr>
          <p:nvPr/>
        </p:nvSpPr>
        <p:spPr bwMode="auto">
          <a:xfrm>
            <a:off x="5651500" y="3429000"/>
            <a:ext cx="3311525" cy="292100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sz="2400" b="1" i="1" baseline="-250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)  = ∑ (3)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400" b="1" i="1" baseline="-250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JA 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) = ∑ (4,5,6,7)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400" b="1" i="1" baseline="-250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)  = ∑ (4, 6)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400" b="1" i="1" baseline="-250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KA 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) = ∑ (0,1,2,3)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sz="2400" b="1" i="1" baseline="-250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B 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)  = ∑ (1, 5)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400" b="1" i="1" baseline="-250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JB 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) = ∑ (2,3,6,7)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400" b="1" i="1" baseline="-250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B 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)  = ∑ (2, 3, 6)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400" b="1" i="1" baseline="-250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KB 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) = ∑ (0,1,4,5)</a:t>
            </a:r>
          </a:p>
        </p:txBody>
      </p:sp>
      <p:sp>
        <p:nvSpPr>
          <p:cNvPr id="854149" name="AutoShape 133"/>
          <p:cNvSpPr>
            <a:spLocks noChangeArrowheads="1"/>
          </p:cNvSpPr>
          <p:nvPr/>
        </p:nvSpPr>
        <p:spPr bwMode="auto">
          <a:xfrm>
            <a:off x="5651500" y="2889250"/>
            <a:ext cx="3311525" cy="539750"/>
          </a:xfrm>
          <a:prstGeom prst="roundRect">
            <a:avLst>
              <a:gd name="adj" fmla="val 16667"/>
            </a:avLst>
          </a:prstGeom>
          <a:noFill/>
          <a:ln w="38100" algn="ctr">
            <a:solidFill>
              <a:srgbClr val="996600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r>
              <a:rPr lang="en-US" sz="2400" b="1">
                <a:latin typeface="Times New Roman" pitchFamily="18" charset="0"/>
                <a:cs typeface="Times New Roman" pitchFamily="18" charset="0"/>
              </a:rPr>
              <a:t>Synthesis using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JK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F.F.</a:t>
            </a:r>
            <a:endParaRPr lang="en-US" sz="2400" b="1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54150" name="Rectangle 134"/>
          <p:cNvSpPr>
            <a:spLocks noChangeArrowheads="1"/>
          </p:cNvSpPr>
          <p:nvPr/>
        </p:nvSpPr>
        <p:spPr bwMode="auto">
          <a:xfrm>
            <a:off x="4591050" y="3527425"/>
            <a:ext cx="685800" cy="300990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0     x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1     x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x     1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x     1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0     x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1     x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x     1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x     0</a:t>
            </a:r>
          </a:p>
        </p:txBody>
      </p:sp>
      <p:grpSp>
        <p:nvGrpSpPr>
          <p:cNvPr id="4" name="Group 135"/>
          <p:cNvGrpSpPr>
            <a:grpSpLocks/>
          </p:cNvGrpSpPr>
          <p:nvPr/>
        </p:nvGrpSpPr>
        <p:grpSpPr bwMode="auto">
          <a:xfrm>
            <a:off x="573088" y="3556000"/>
            <a:ext cx="2047875" cy="360363"/>
            <a:chOff x="361" y="2240"/>
            <a:chExt cx="1290" cy="227"/>
          </a:xfrm>
        </p:grpSpPr>
        <p:sp>
          <p:nvSpPr>
            <p:cNvPr id="854152" name="Oval 136"/>
            <p:cNvSpPr>
              <a:spLocks noChangeArrowheads="1"/>
            </p:cNvSpPr>
            <p:nvPr/>
          </p:nvSpPr>
          <p:spPr bwMode="auto">
            <a:xfrm>
              <a:off x="361" y="2240"/>
              <a:ext cx="158" cy="227"/>
            </a:xfrm>
            <a:prstGeom prst="ellipse">
              <a:avLst/>
            </a:prstGeom>
            <a:solidFill>
              <a:srgbClr val="FFFF00">
                <a:alpha val="50000"/>
              </a:srgbClr>
            </a:solidFill>
            <a:ln w="38100" cap="rnd" algn="ctr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4153" name="Oval 137"/>
            <p:cNvSpPr>
              <a:spLocks noChangeArrowheads="1"/>
            </p:cNvSpPr>
            <p:nvPr/>
          </p:nvSpPr>
          <p:spPr bwMode="auto">
            <a:xfrm>
              <a:off x="1493" y="2240"/>
              <a:ext cx="158" cy="227"/>
            </a:xfrm>
            <a:prstGeom prst="ellipse">
              <a:avLst/>
            </a:prstGeom>
            <a:solidFill>
              <a:srgbClr val="66FF33">
                <a:alpha val="50000"/>
              </a:srgbClr>
            </a:solidFill>
            <a:ln w="38100" cap="rnd" algn="ctr">
              <a:solidFill>
                <a:schemeClr val="accent2"/>
              </a:solidFill>
              <a:prstDash val="sysDot"/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4154" name="Line 138"/>
            <p:cNvSpPr>
              <a:spLocks noChangeShapeType="1"/>
            </p:cNvSpPr>
            <p:nvPr/>
          </p:nvSpPr>
          <p:spPr bwMode="auto">
            <a:xfrm>
              <a:off x="520" y="2360"/>
              <a:ext cx="96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prstDash val="sysDot"/>
              <a:round/>
              <a:headEnd/>
              <a:tailEnd type="triangle" w="med" len="med"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</p:grpSp>
      <p:sp>
        <p:nvSpPr>
          <p:cNvPr id="51" name="Content Placeholder 50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spcBef>
                <a:spcPct val="15000"/>
              </a:spcBef>
            </a:pPr>
            <a:r>
              <a:rPr lang="en-US" i="1" dirty="0" smtClean="0">
                <a:solidFill>
                  <a:srgbClr val="009900"/>
                </a:solidFill>
              </a:rPr>
              <a:t>Example</a:t>
            </a:r>
            <a:r>
              <a:rPr lang="en-US" dirty="0" smtClean="0">
                <a:solidFill>
                  <a:srgbClr val="009900"/>
                </a:solidFill>
              </a:rPr>
              <a:t>:</a:t>
            </a:r>
          </a:p>
          <a:p>
            <a:pPr>
              <a:spcBef>
                <a:spcPct val="15000"/>
              </a:spcBef>
              <a:buFont typeface="Wingdings" pitchFamily="2" charset="2"/>
              <a:buNone/>
            </a:pPr>
            <a:r>
              <a:rPr lang="en-US" dirty="0" smtClean="0"/>
              <a:t>Detect 3 or more consecutive 1’s</a:t>
            </a:r>
          </a:p>
          <a:p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54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54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54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4.07407E-6 L 0.0599 0.00069 " pathEditMode="relative" rAng="0" ptsTypes="AA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54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56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99 0.0007 L 0.00052 0.05417 " pathEditMode="relative" rAng="0" ptsTypes="AA">
                                      <p:cBhvr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" y="2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1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541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0.05416 L 0.06025 0.05416 " pathEditMode="relative" rAng="0" ptsTypes="AA">
                                      <p:cBhvr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1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541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025 0.05416 L 0.00087 0.11157 " pathEditMode="relative" ptsTypes="AA">
                                      <p:cBhvr>
                                        <p:cTn id="4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1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541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87 0.11157 L 0.0599 0.11157 " pathEditMode="relative" ptsTypes="AA">
                                      <p:cBhvr>
                                        <p:cTn id="5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1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8541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99 0.11157 L 0.00052 0.16574 " pathEditMode="relative" rAng="0" ptsTypes="AA">
                                      <p:cBhvr>
                                        <p:cTn id="6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" y="2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1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8541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0.16574 L 0.06025 0.16527 " pathEditMode="relative" rAng="0" ptsTypes="AA">
                                      <p:cBhvr>
                                        <p:cTn id="7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1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8541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025 0.16527 L 0.00122 0.22129 " pathEditMode="relative" rAng="0" ptsTypes="AA">
                                      <p:cBhvr>
                                        <p:cTn id="7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" y="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1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8541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22 0.22129 L 0.0606 0.22129 " pathEditMode="relative" ptsTypes="AA">
                                      <p:cBhvr>
                                        <p:cTn id="8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1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8541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059 0.22129 L 0.0007 0.27569 " pathEditMode="relative" rAng="0" ptsTypes="AA">
                                      <p:cBhvr>
                                        <p:cTn id="9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" y="2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1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8541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7 0.27569 L 0.06025 0.27569 " pathEditMode="relative" ptsTypes="AA">
                                      <p:cBhvr>
                                        <p:cTn id="10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1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8541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025 0.27569 L 0.00139 0.33194 " pathEditMode="relative" ptsTypes="AA">
                                      <p:cBhvr>
                                        <p:cTn id="1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1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8541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39 0.33194 L 0.0599 0.33171 " pathEditMode="relative" ptsTypes="AA">
                                      <p:cBhvr>
                                        <p:cTn id="1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1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8541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99 0.33171 L 0.0007 0.38518 " pathEditMode="relative" rAng="0" ptsTypes="AA">
                                      <p:cBhvr>
                                        <p:cTn id="1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" y="2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1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8541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500"/>
                            </p:stCondLst>
                            <p:childTnLst>
                              <p:par>
                                <p:cTn id="13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7 0.38518 L 0.06008 0.38518 " pathEditMode="relative" ptsTypes="AA">
                                      <p:cBhvr>
                                        <p:cTn id="1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1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8541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500"/>
                            </p:stCondLst>
                            <p:childTnLst>
                              <p:par>
                                <p:cTn id="142" presetID="2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000"/>
                            </p:stCondLst>
                            <p:childTnLst>
                              <p:par>
                                <p:cTn id="1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854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500"/>
                            </p:stCondLst>
                            <p:childTnLst>
                              <p:par>
                                <p:cTn id="1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854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2000"/>
                            </p:stCondLst>
                            <p:childTnLst>
                              <p:par>
                                <p:cTn id="1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854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2500"/>
                            </p:stCondLst>
                            <p:childTnLst>
                              <p:par>
                                <p:cTn id="1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854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3000"/>
                            </p:stCondLst>
                            <p:childTnLst>
                              <p:par>
                                <p:cTn id="1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854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3500"/>
                            </p:stCondLst>
                            <p:childTnLst>
                              <p:par>
                                <p:cTn id="1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1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8541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4000"/>
                            </p:stCondLst>
                            <p:childTnLst>
                              <p:par>
                                <p:cTn id="1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1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8541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4500"/>
                            </p:stCondLst>
                            <p:childTnLst>
                              <p:par>
                                <p:cTn id="1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1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8541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4149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Content Placeholder 5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spcBef>
                <a:spcPct val="15000"/>
              </a:spcBef>
            </a:pPr>
            <a:r>
              <a:rPr lang="en-US" i="1" dirty="0" smtClean="0">
                <a:solidFill>
                  <a:srgbClr val="009900"/>
                </a:solidFill>
              </a:rPr>
              <a:t>Example</a:t>
            </a:r>
            <a:r>
              <a:rPr lang="en-US" dirty="0" smtClean="0">
                <a:solidFill>
                  <a:srgbClr val="009900"/>
                </a:solidFill>
              </a:rPr>
              <a:t>:</a:t>
            </a:r>
          </a:p>
          <a:p>
            <a:pPr>
              <a:spcBef>
                <a:spcPct val="15000"/>
              </a:spcBef>
              <a:buFont typeface="Wingdings" pitchFamily="2" charset="2"/>
              <a:buNone/>
            </a:pPr>
            <a:r>
              <a:rPr lang="en-US" dirty="0" smtClean="0"/>
              <a:t>Detect 3 or more consecutive 1’s</a:t>
            </a:r>
          </a:p>
          <a:p>
            <a:endParaRPr lang="en-AU" dirty="0"/>
          </a:p>
        </p:txBody>
      </p:sp>
      <p:sp>
        <p:nvSpPr>
          <p:cNvPr id="856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 of Clocked Sequential Circuits with </a:t>
            </a:r>
            <a:r>
              <a:rPr lang="en-US" i="1"/>
              <a:t>JK</a:t>
            </a:r>
            <a:r>
              <a:rPr lang="en-US"/>
              <a:t> F.F.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092950" y="1268413"/>
            <a:ext cx="1619250" cy="1439862"/>
            <a:chOff x="4468" y="799"/>
            <a:chExt cx="1020" cy="907"/>
          </a:xfrm>
        </p:grpSpPr>
        <p:sp>
          <p:nvSpPr>
            <p:cNvPr id="856069" name="AutoShape 5"/>
            <p:cNvSpPr>
              <a:spLocks noChangeArrowheads="1"/>
            </p:cNvSpPr>
            <p:nvPr/>
          </p:nvSpPr>
          <p:spPr bwMode="auto">
            <a:xfrm>
              <a:off x="4694" y="799"/>
              <a:ext cx="567" cy="907"/>
            </a:xfrm>
            <a:prstGeom prst="roundRect">
              <a:avLst>
                <a:gd name="adj" fmla="val 16667"/>
              </a:avLst>
            </a:prstGeom>
            <a:solidFill>
              <a:srgbClr val="66FFFF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6070" name="Line 6"/>
            <p:cNvSpPr>
              <a:spLocks noChangeShapeType="1"/>
            </p:cNvSpPr>
            <p:nvPr/>
          </p:nvSpPr>
          <p:spPr bwMode="auto">
            <a:xfrm>
              <a:off x="5261" y="1253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6071" name="Line 7"/>
            <p:cNvSpPr>
              <a:spLocks noChangeShapeType="1"/>
            </p:cNvSpPr>
            <p:nvPr/>
          </p:nvSpPr>
          <p:spPr bwMode="auto">
            <a:xfrm>
              <a:off x="4468" y="1026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6072" name="Line 8"/>
            <p:cNvSpPr>
              <a:spLocks noChangeShapeType="1"/>
            </p:cNvSpPr>
            <p:nvPr/>
          </p:nvSpPr>
          <p:spPr bwMode="auto">
            <a:xfrm>
              <a:off x="4468" y="1480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5292725" y="1449388"/>
            <a:ext cx="1793875" cy="900112"/>
            <a:chOff x="3334" y="913"/>
            <a:chExt cx="1130" cy="567"/>
          </a:xfrm>
        </p:grpSpPr>
        <p:sp>
          <p:nvSpPr>
            <p:cNvPr id="856074" name="Line 10"/>
            <p:cNvSpPr>
              <a:spLocks noChangeShapeType="1"/>
            </p:cNvSpPr>
            <p:nvPr/>
          </p:nvSpPr>
          <p:spPr bwMode="auto">
            <a:xfrm>
              <a:off x="3334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6075" name="Line 11"/>
            <p:cNvSpPr>
              <a:spLocks noChangeShapeType="1"/>
            </p:cNvSpPr>
            <p:nvPr/>
          </p:nvSpPr>
          <p:spPr bwMode="auto">
            <a:xfrm rot="-5400000">
              <a:off x="3390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6076" name="Line 12"/>
            <p:cNvSpPr>
              <a:spLocks noChangeShapeType="1"/>
            </p:cNvSpPr>
            <p:nvPr/>
          </p:nvSpPr>
          <p:spPr bwMode="auto">
            <a:xfrm>
              <a:off x="3447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6077" name="Line 13"/>
            <p:cNvSpPr>
              <a:spLocks noChangeShapeType="1"/>
            </p:cNvSpPr>
            <p:nvPr/>
          </p:nvSpPr>
          <p:spPr bwMode="auto">
            <a:xfrm rot="5400000">
              <a:off x="3503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6078" name="Line 14"/>
            <p:cNvSpPr>
              <a:spLocks noChangeShapeType="1"/>
            </p:cNvSpPr>
            <p:nvPr/>
          </p:nvSpPr>
          <p:spPr bwMode="auto">
            <a:xfrm>
              <a:off x="3560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6079" name="Line 15"/>
            <p:cNvSpPr>
              <a:spLocks noChangeShapeType="1"/>
            </p:cNvSpPr>
            <p:nvPr/>
          </p:nvSpPr>
          <p:spPr bwMode="auto">
            <a:xfrm rot="-5400000">
              <a:off x="3616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6080" name="Line 16"/>
            <p:cNvSpPr>
              <a:spLocks noChangeShapeType="1"/>
            </p:cNvSpPr>
            <p:nvPr/>
          </p:nvSpPr>
          <p:spPr bwMode="auto">
            <a:xfrm>
              <a:off x="3673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6081" name="Line 17"/>
            <p:cNvSpPr>
              <a:spLocks noChangeShapeType="1"/>
            </p:cNvSpPr>
            <p:nvPr/>
          </p:nvSpPr>
          <p:spPr bwMode="auto">
            <a:xfrm rot="5400000">
              <a:off x="3729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6082" name="Line 18"/>
            <p:cNvSpPr>
              <a:spLocks noChangeShapeType="1"/>
            </p:cNvSpPr>
            <p:nvPr/>
          </p:nvSpPr>
          <p:spPr bwMode="auto">
            <a:xfrm>
              <a:off x="3786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6083" name="Line 19"/>
            <p:cNvSpPr>
              <a:spLocks noChangeShapeType="1"/>
            </p:cNvSpPr>
            <p:nvPr/>
          </p:nvSpPr>
          <p:spPr bwMode="auto">
            <a:xfrm rot="-5400000">
              <a:off x="3842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6084" name="Line 20"/>
            <p:cNvSpPr>
              <a:spLocks noChangeShapeType="1"/>
            </p:cNvSpPr>
            <p:nvPr/>
          </p:nvSpPr>
          <p:spPr bwMode="auto">
            <a:xfrm>
              <a:off x="3899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6085" name="Line 21"/>
            <p:cNvSpPr>
              <a:spLocks noChangeShapeType="1"/>
            </p:cNvSpPr>
            <p:nvPr/>
          </p:nvSpPr>
          <p:spPr bwMode="auto">
            <a:xfrm rot="5400000">
              <a:off x="3955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6086" name="Line 22"/>
            <p:cNvSpPr>
              <a:spLocks noChangeShapeType="1"/>
            </p:cNvSpPr>
            <p:nvPr/>
          </p:nvSpPr>
          <p:spPr bwMode="auto">
            <a:xfrm>
              <a:off x="4012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6087" name="Line 23"/>
            <p:cNvSpPr>
              <a:spLocks noChangeShapeType="1"/>
            </p:cNvSpPr>
            <p:nvPr/>
          </p:nvSpPr>
          <p:spPr bwMode="auto">
            <a:xfrm rot="-5400000">
              <a:off x="4068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6088" name="Line 24"/>
            <p:cNvSpPr>
              <a:spLocks noChangeShapeType="1"/>
            </p:cNvSpPr>
            <p:nvPr/>
          </p:nvSpPr>
          <p:spPr bwMode="auto">
            <a:xfrm>
              <a:off x="4125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6089" name="Line 25"/>
            <p:cNvSpPr>
              <a:spLocks noChangeShapeType="1"/>
            </p:cNvSpPr>
            <p:nvPr/>
          </p:nvSpPr>
          <p:spPr bwMode="auto">
            <a:xfrm rot="5400000">
              <a:off x="4181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6090" name="Line 26"/>
            <p:cNvSpPr>
              <a:spLocks noChangeShapeType="1"/>
            </p:cNvSpPr>
            <p:nvPr/>
          </p:nvSpPr>
          <p:spPr bwMode="auto">
            <a:xfrm>
              <a:off x="4238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6091" name="Line 27"/>
            <p:cNvSpPr>
              <a:spLocks noChangeShapeType="1"/>
            </p:cNvSpPr>
            <p:nvPr/>
          </p:nvSpPr>
          <p:spPr bwMode="auto">
            <a:xfrm rot="-5400000">
              <a:off x="4294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6092" name="Line 28"/>
            <p:cNvSpPr>
              <a:spLocks noChangeShapeType="1"/>
            </p:cNvSpPr>
            <p:nvPr/>
          </p:nvSpPr>
          <p:spPr bwMode="auto">
            <a:xfrm>
              <a:off x="4351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6093" name="Line 29"/>
            <p:cNvSpPr>
              <a:spLocks noChangeShapeType="1"/>
            </p:cNvSpPr>
            <p:nvPr/>
          </p:nvSpPr>
          <p:spPr bwMode="auto">
            <a:xfrm rot="5400000">
              <a:off x="3390" y="142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6094" name="Line 30"/>
            <p:cNvSpPr>
              <a:spLocks noChangeShapeType="1"/>
            </p:cNvSpPr>
            <p:nvPr/>
          </p:nvSpPr>
          <p:spPr bwMode="auto">
            <a:xfrm>
              <a:off x="3334" y="148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6095" name="Line 31"/>
            <p:cNvSpPr>
              <a:spLocks noChangeShapeType="1"/>
            </p:cNvSpPr>
            <p:nvPr/>
          </p:nvSpPr>
          <p:spPr bwMode="auto">
            <a:xfrm>
              <a:off x="3447" y="1366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6096" name="Line 32"/>
            <p:cNvSpPr>
              <a:spLocks noChangeShapeType="1"/>
            </p:cNvSpPr>
            <p:nvPr/>
          </p:nvSpPr>
          <p:spPr bwMode="auto">
            <a:xfrm>
              <a:off x="3674" y="1366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6097" name="Line 33"/>
            <p:cNvSpPr>
              <a:spLocks noChangeShapeType="1"/>
            </p:cNvSpPr>
            <p:nvPr/>
          </p:nvSpPr>
          <p:spPr bwMode="auto">
            <a:xfrm>
              <a:off x="3901" y="1366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6098" name="Line 34"/>
            <p:cNvSpPr>
              <a:spLocks noChangeShapeType="1"/>
            </p:cNvSpPr>
            <p:nvPr/>
          </p:nvSpPr>
          <p:spPr bwMode="auto">
            <a:xfrm rot="5400000">
              <a:off x="4070" y="142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6099" name="Line 35"/>
            <p:cNvSpPr>
              <a:spLocks noChangeShapeType="1"/>
            </p:cNvSpPr>
            <p:nvPr/>
          </p:nvSpPr>
          <p:spPr bwMode="auto">
            <a:xfrm>
              <a:off x="4127" y="1480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6100" name="Line 36"/>
            <p:cNvSpPr>
              <a:spLocks noChangeShapeType="1"/>
            </p:cNvSpPr>
            <p:nvPr/>
          </p:nvSpPr>
          <p:spPr bwMode="auto">
            <a:xfrm rot="5400000">
              <a:off x="3277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6101" name="Line 37"/>
            <p:cNvSpPr>
              <a:spLocks noChangeShapeType="1"/>
            </p:cNvSpPr>
            <p:nvPr/>
          </p:nvSpPr>
          <p:spPr bwMode="auto">
            <a:xfrm rot="5400000">
              <a:off x="3504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6102" name="Line 38"/>
            <p:cNvSpPr>
              <a:spLocks noChangeShapeType="1"/>
            </p:cNvSpPr>
            <p:nvPr/>
          </p:nvSpPr>
          <p:spPr bwMode="auto">
            <a:xfrm rot="5400000">
              <a:off x="3731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6103" name="Line 39"/>
            <p:cNvSpPr>
              <a:spLocks noChangeShapeType="1"/>
            </p:cNvSpPr>
            <p:nvPr/>
          </p:nvSpPr>
          <p:spPr bwMode="auto">
            <a:xfrm rot="5400000">
              <a:off x="3958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</p:grpSp>
      <p:sp>
        <p:nvSpPr>
          <p:cNvPr id="856105" name="Rectangle 41"/>
          <p:cNvSpPr>
            <a:spLocks noChangeArrowheads="1"/>
          </p:cNvSpPr>
          <p:nvPr/>
        </p:nvSpPr>
        <p:spPr bwMode="auto">
          <a:xfrm>
            <a:off x="611188" y="3051175"/>
            <a:ext cx="3960812" cy="98266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l"/>
            <a:r>
              <a:rPr lang="en-US" sz="28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sz="2800" b="1" i="1" baseline="-250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800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B x	K</a:t>
            </a:r>
            <a:r>
              <a:rPr lang="en-US" sz="2800" b="1" i="1" baseline="-250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800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x’</a:t>
            </a:r>
          </a:p>
          <a:p>
            <a:pPr algn="l"/>
            <a:r>
              <a:rPr lang="en-US" sz="28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sz="2800" b="1" i="1" baseline="-250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B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800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x		K</a:t>
            </a:r>
            <a:r>
              <a:rPr lang="en-US" sz="2800" b="1" i="1" baseline="-250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B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800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A’</a:t>
            </a:r>
            <a:r>
              <a:rPr lang="en-US" sz="2800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US" sz="28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x’</a:t>
            </a:r>
          </a:p>
        </p:txBody>
      </p:sp>
      <p:sp>
        <p:nvSpPr>
          <p:cNvPr id="856106" name="AutoShape 42"/>
          <p:cNvSpPr>
            <a:spLocks noChangeArrowheads="1"/>
          </p:cNvSpPr>
          <p:nvPr/>
        </p:nvSpPr>
        <p:spPr bwMode="auto">
          <a:xfrm>
            <a:off x="611188" y="2463800"/>
            <a:ext cx="3960812" cy="539750"/>
          </a:xfrm>
          <a:prstGeom prst="roundRect">
            <a:avLst>
              <a:gd name="adj" fmla="val 16667"/>
            </a:avLst>
          </a:prstGeom>
          <a:noFill/>
          <a:ln w="38100" algn="ctr">
            <a:solidFill>
              <a:srgbClr val="996600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Synthesis using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JK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Flip-Flops</a:t>
            </a:r>
            <a:endParaRPr lang="en-US" sz="2400" b="1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856107" name="Group 43"/>
          <p:cNvGraphicFramePr>
            <a:graphicFrameLocks noGrp="1"/>
          </p:cNvGraphicFramePr>
          <p:nvPr/>
        </p:nvGraphicFramePr>
        <p:xfrm>
          <a:off x="4932363" y="2889250"/>
          <a:ext cx="1617662" cy="1439865"/>
        </p:xfrm>
        <a:graphic>
          <a:graphicData uri="http://schemas.openxmlformats.org/drawingml/2006/table">
            <a:tbl>
              <a:tblPr/>
              <a:tblGrid>
                <a:gridCol w="98425"/>
                <a:gridCol w="261937"/>
                <a:gridCol w="314325"/>
                <a:gridCol w="314325"/>
                <a:gridCol w="314325"/>
                <a:gridCol w="314325"/>
              </a:tblGrid>
              <a:tr h="150813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</a:tr>
              <a:tr h="169863">
                <a:tc gridSpan="2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</a:tr>
              <a:tr h="3952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3513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3513">
                <a:tc gridSpan="2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56156" name="AutoShape 92"/>
          <p:cNvSpPr>
            <a:spLocks noChangeArrowheads="1"/>
          </p:cNvSpPr>
          <p:nvPr/>
        </p:nvSpPr>
        <p:spPr bwMode="auto">
          <a:xfrm>
            <a:off x="5905500" y="3249613"/>
            <a:ext cx="287338" cy="719137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9900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graphicFrame>
        <p:nvGraphicFramePr>
          <p:cNvPr id="856157" name="Group 93"/>
          <p:cNvGraphicFramePr>
            <a:graphicFrameLocks noGrp="1"/>
          </p:cNvGraphicFramePr>
          <p:nvPr/>
        </p:nvGraphicFramePr>
        <p:xfrm>
          <a:off x="6911975" y="2889250"/>
          <a:ext cx="1617663" cy="1439865"/>
        </p:xfrm>
        <a:graphic>
          <a:graphicData uri="http://schemas.openxmlformats.org/drawingml/2006/table">
            <a:tbl>
              <a:tblPr/>
              <a:tblGrid>
                <a:gridCol w="98425"/>
                <a:gridCol w="261938"/>
                <a:gridCol w="314325"/>
                <a:gridCol w="314325"/>
                <a:gridCol w="314325"/>
                <a:gridCol w="314325"/>
              </a:tblGrid>
              <a:tr h="150813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</a:tr>
              <a:tr h="169863">
                <a:tc gridSpan="2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</a:tr>
              <a:tr h="3952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3513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3513">
                <a:tc gridSpan="2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56206" name="Group 142"/>
          <p:cNvGraphicFramePr>
            <a:graphicFrameLocks noGrp="1"/>
          </p:cNvGraphicFramePr>
          <p:nvPr/>
        </p:nvGraphicFramePr>
        <p:xfrm>
          <a:off x="4932363" y="4329113"/>
          <a:ext cx="1617662" cy="1439865"/>
        </p:xfrm>
        <a:graphic>
          <a:graphicData uri="http://schemas.openxmlformats.org/drawingml/2006/table">
            <a:tbl>
              <a:tblPr/>
              <a:tblGrid>
                <a:gridCol w="98425"/>
                <a:gridCol w="261937"/>
                <a:gridCol w="314325"/>
                <a:gridCol w="314325"/>
                <a:gridCol w="314325"/>
                <a:gridCol w="314325"/>
              </a:tblGrid>
              <a:tr h="150813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</a:tr>
              <a:tr h="169863">
                <a:tc gridSpan="2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</a:tr>
              <a:tr h="3952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3513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3513">
                <a:tc gridSpan="2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56255" name="AutoShape 191"/>
          <p:cNvSpPr>
            <a:spLocks noChangeArrowheads="1"/>
          </p:cNvSpPr>
          <p:nvPr/>
        </p:nvSpPr>
        <p:spPr bwMode="auto">
          <a:xfrm>
            <a:off x="5651500" y="4689475"/>
            <a:ext cx="539750" cy="720725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CC00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856256" name="AutoShape 192"/>
          <p:cNvSpPr>
            <a:spLocks/>
          </p:cNvSpPr>
          <p:nvPr/>
        </p:nvSpPr>
        <p:spPr bwMode="auto">
          <a:xfrm>
            <a:off x="8264525" y="3249613"/>
            <a:ext cx="358775" cy="720725"/>
          </a:xfrm>
          <a:prstGeom prst="leftBracket">
            <a:avLst>
              <a:gd name="adj" fmla="val 14769"/>
            </a:avLst>
          </a:prstGeom>
          <a:noFill/>
          <a:ln w="28575">
            <a:solidFill>
              <a:srgbClr val="FF6600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856257" name="AutoShape 193"/>
          <p:cNvSpPr>
            <a:spLocks/>
          </p:cNvSpPr>
          <p:nvPr/>
        </p:nvSpPr>
        <p:spPr bwMode="auto">
          <a:xfrm flipH="1">
            <a:off x="7092950" y="3248025"/>
            <a:ext cx="430213" cy="720725"/>
          </a:xfrm>
          <a:prstGeom prst="leftBracket">
            <a:avLst>
              <a:gd name="adj" fmla="val 12316"/>
            </a:avLst>
          </a:prstGeom>
          <a:noFill/>
          <a:ln w="28575">
            <a:solidFill>
              <a:srgbClr val="FF6600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graphicFrame>
        <p:nvGraphicFramePr>
          <p:cNvPr id="856258" name="Group 194"/>
          <p:cNvGraphicFramePr>
            <a:graphicFrameLocks noGrp="1"/>
          </p:cNvGraphicFramePr>
          <p:nvPr/>
        </p:nvGraphicFramePr>
        <p:xfrm>
          <a:off x="6911975" y="4329113"/>
          <a:ext cx="1617663" cy="1439865"/>
        </p:xfrm>
        <a:graphic>
          <a:graphicData uri="http://schemas.openxmlformats.org/drawingml/2006/table">
            <a:tbl>
              <a:tblPr/>
              <a:tblGrid>
                <a:gridCol w="98425"/>
                <a:gridCol w="261938"/>
                <a:gridCol w="314325"/>
                <a:gridCol w="314325"/>
                <a:gridCol w="314325"/>
                <a:gridCol w="314325"/>
              </a:tblGrid>
              <a:tr h="150813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</a:tr>
              <a:tr h="169863">
                <a:tc gridSpan="2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</a:tr>
              <a:tr h="3952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3513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3513">
                <a:tc gridSpan="2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56307" name="AutoShape 243"/>
          <p:cNvSpPr>
            <a:spLocks noChangeArrowheads="1"/>
          </p:cNvSpPr>
          <p:nvPr/>
        </p:nvSpPr>
        <p:spPr bwMode="auto">
          <a:xfrm>
            <a:off x="7272338" y="4689475"/>
            <a:ext cx="1260475" cy="360363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CC00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856308" name="AutoShape 244"/>
          <p:cNvSpPr>
            <a:spLocks/>
          </p:cNvSpPr>
          <p:nvPr/>
        </p:nvSpPr>
        <p:spPr bwMode="auto">
          <a:xfrm flipH="1">
            <a:off x="7092950" y="4689475"/>
            <a:ext cx="430213" cy="720725"/>
          </a:xfrm>
          <a:prstGeom prst="leftBracket">
            <a:avLst>
              <a:gd name="adj" fmla="val 12316"/>
            </a:avLst>
          </a:prstGeom>
          <a:noFill/>
          <a:ln w="28575">
            <a:solidFill>
              <a:srgbClr val="FF6600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856309" name="AutoShape 245"/>
          <p:cNvSpPr>
            <a:spLocks/>
          </p:cNvSpPr>
          <p:nvPr/>
        </p:nvSpPr>
        <p:spPr bwMode="auto">
          <a:xfrm>
            <a:off x="8262938" y="4689475"/>
            <a:ext cx="358775" cy="720725"/>
          </a:xfrm>
          <a:prstGeom prst="leftBracket">
            <a:avLst>
              <a:gd name="adj" fmla="val 14769"/>
            </a:avLst>
          </a:prstGeom>
          <a:noFill/>
          <a:ln w="28575">
            <a:solidFill>
              <a:srgbClr val="FF6600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graphicFrame>
        <p:nvGraphicFramePr>
          <p:cNvPr id="856310" name="Object 246"/>
          <p:cNvGraphicFramePr>
            <a:graphicFrameLocks noChangeAspect="1"/>
          </p:cNvGraphicFramePr>
          <p:nvPr/>
        </p:nvGraphicFramePr>
        <p:xfrm>
          <a:off x="431800" y="4033838"/>
          <a:ext cx="3960813" cy="2690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062" name="Visio" r:id="rId4" imgW="2815133" imgH="1912437" progId="">
                  <p:embed/>
                </p:oleObj>
              </mc:Choice>
              <mc:Fallback>
                <p:oleObj name="Visio" r:id="rId4" imgW="2815133" imgH="1912437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800" y="4033838"/>
                        <a:ext cx="3960813" cy="2690812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Content Placeholder 50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spcBef>
                <a:spcPct val="15000"/>
              </a:spcBef>
            </a:pPr>
            <a:r>
              <a:rPr lang="en-US" i="1" dirty="0" smtClean="0">
                <a:solidFill>
                  <a:srgbClr val="009900"/>
                </a:solidFill>
              </a:rPr>
              <a:t>Example</a:t>
            </a:r>
            <a:r>
              <a:rPr lang="en-US" dirty="0" smtClean="0">
                <a:solidFill>
                  <a:srgbClr val="009900"/>
                </a:solidFill>
              </a:rPr>
              <a:t>:</a:t>
            </a:r>
          </a:p>
          <a:p>
            <a:pPr>
              <a:spcBef>
                <a:spcPct val="15000"/>
              </a:spcBef>
              <a:buFont typeface="Wingdings" pitchFamily="2" charset="2"/>
              <a:buNone/>
            </a:pPr>
            <a:r>
              <a:rPr lang="en-US" dirty="0" smtClean="0"/>
              <a:t>Detect 3 or more consecutive 1’s</a:t>
            </a:r>
          </a:p>
          <a:p>
            <a:endParaRPr lang="en-AU" dirty="0"/>
          </a:p>
        </p:txBody>
      </p:sp>
      <p:sp>
        <p:nvSpPr>
          <p:cNvPr id="858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 of Clocked Sequential Circuits with </a:t>
            </a:r>
            <a:r>
              <a:rPr lang="en-US" i="1"/>
              <a:t>T</a:t>
            </a:r>
            <a:r>
              <a:rPr lang="en-US"/>
              <a:t> F.F.</a:t>
            </a:r>
          </a:p>
        </p:txBody>
      </p:sp>
      <p:graphicFrame>
        <p:nvGraphicFramePr>
          <p:cNvPr id="858116" name="Group 4"/>
          <p:cNvGraphicFramePr>
            <a:graphicFrameLocks noGrp="1"/>
          </p:cNvGraphicFramePr>
          <p:nvPr/>
        </p:nvGraphicFramePr>
        <p:xfrm>
          <a:off x="614363" y="2559050"/>
          <a:ext cx="4137025" cy="4005264"/>
        </p:xfrm>
        <a:graphic>
          <a:graphicData uri="http://schemas.openxmlformats.org/drawingml/2006/table">
            <a:tbl>
              <a:tblPr/>
              <a:tblGrid>
                <a:gridCol w="539750"/>
                <a:gridCol w="539750"/>
                <a:gridCol w="719137"/>
                <a:gridCol w="539750"/>
                <a:gridCol w="539750"/>
                <a:gridCol w="1258888"/>
              </a:tblGrid>
              <a:tr h="406400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Present State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Input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Next State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F.F.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Input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r>
                        <a:rPr kumimoji="0" lang="en-US" sz="2400" b="1" i="1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r>
                        <a:rPr kumimoji="0" lang="en-US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T</a:t>
                      </a:r>
                      <a:r>
                        <a:rPr kumimoji="0" lang="en-US" sz="2400" b="1" i="1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62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62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62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58194" name="Rectangle 82"/>
          <p:cNvSpPr>
            <a:spLocks noChangeArrowheads="1"/>
          </p:cNvSpPr>
          <p:nvPr/>
        </p:nvSpPr>
        <p:spPr bwMode="auto">
          <a:xfrm>
            <a:off x="3783013" y="3546475"/>
            <a:ext cx="152400" cy="300990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grpSp>
        <p:nvGrpSpPr>
          <p:cNvPr id="2" name="Group 83"/>
          <p:cNvGrpSpPr>
            <a:grpSpLocks/>
          </p:cNvGrpSpPr>
          <p:nvPr/>
        </p:nvGrpSpPr>
        <p:grpSpPr bwMode="auto">
          <a:xfrm>
            <a:off x="7092950" y="1268413"/>
            <a:ext cx="1619250" cy="1439862"/>
            <a:chOff x="4468" y="799"/>
            <a:chExt cx="1020" cy="907"/>
          </a:xfrm>
        </p:grpSpPr>
        <p:sp>
          <p:nvSpPr>
            <p:cNvPr id="858196" name="AutoShape 84"/>
            <p:cNvSpPr>
              <a:spLocks noChangeArrowheads="1"/>
            </p:cNvSpPr>
            <p:nvPr/>
          </p:nvSpPr>
          <p:spPr bwMode="auto">
            <a:xfrm>
              <a:off x="4694" y="799"/>
              <a:ext cx="567" cy="907"/>
            </a:xfrm>
            <a:prstGeom prst="roundRect">
              <a:avLst>
                <a:gd name="adj" fmla="val 16667"/>
              </a:avLst>
            </a:prstGeom>
            <a:solidFill>
              <a:srgbClr val="66FF33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8197" name="Line 85"/>
            <p:cNvSpPr>
              <a:spLocks noChangeShapeType="1"/>
            </p:cNvSpPr>
            <p:nvPr/>
          </p:nvSpPr>
          <p:spPr bwMode="auto">
            <a:xfrm>
              <a:off x="5261" y="1253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8198" name="Line 86"/>
            <p:cNvSpPr>
              <a:spLocks noChangeShapeType="1"/>
            </p:cNvSpPr>
            <p:nvPr/>
          </p:nvSpPr>
          <p:spPr bwMode="auto">
            <a:xfrm>
              <a:off x="4468" y="1026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8199" name="Line 87"/>
            <p:cNvSpPr>
              <a:spLocks noChangeShapeType="1"/>
            </p:cNvSpPr>
            <p:nvPr/>
          </p:nvSpPr>
          <p:spPr bwMode="auto">
            <a:xfrm>
              <a:off x="4468" y="1480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</p:grpSp>
      <p:grpSp>
        <p:nvGrpSpPr>
          <p:cNvPr id="3" name="Group 88"/>
          <p:cNvGrpSpPr>
            <a:grpSpLocks/>
          </p:cNvGrpSpPr>
          <p:nvPr/>
        </p:nvGrpSpPr>
        <p:grpSpPr bwMode="auto">
          <a:xfrm>
            <a:off x="5292725" y="1449388"/>
            <a:ext cx="1793875" cy="900112"/>
            <a:chOff x="3334" y="913"/>
            <a:chExt cx="1130" cy="567"/>
          </a:xfrm>
        </p:grpSpPr>
        <p:sp>
          <p:nvSpPr>
            <p:cNvPr id="858201" name="Line 89"/>
            <p:cNvSpPr>
              <a:spLocks noChangeShapeType="1"/>
            </p:cNvSpPr>
            <p:nvPr/>
          </p:nvSpPr>
          <p:spPr bwMode="auto">
            <a:xfrm>
              <a:off x="3334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8202" name="Line 90"/>
            <p:cNvSpPr>
              <a:spLocks noChangeShapeType="1"/>
            </p:cNvSpPr>
            <p:nvPr/>
          </p:nvSpPr>
          <p:spPr bwMode="auto">
            <a:xfrm rot="-5400000">
              <a:off x="3390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8203" name="Line 91"/>
            <p:cNvSpPr>
              <a:spLocks noChangeShapeType="1"/>
            </p:cNvSpPr>
            <p:nvPr/>
          </p:nvSpPr>
          <p:spPr bwMode="auto">
            <a:xfrm>
              <a:off x="3447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8204" name="Line 92"/>
            <p:cNvSpPr>
              <a:spLocks noChangeShapeType="1"/>
            </p:cNvSpPr>
            <p:nvPr/>
          </p:nvSpPr>
          <p:spPr bwMode="auto">
            <a:xfrm rot="5400000">
              <a:off x="3503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8205" name="Line 93"/>
            <p:cNvSpPr>
              <a:spLocks noChangeShapeType="1"/>
            </p:cNvSpPr>
            <p:nvPr/>
          </p:nvSpPr>
          <p:spPr bwMode="auto">
            <a:xfrm>
              <a:off x="3560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8206" name="Line 94"/>
            <p:cNvSpPr>
              <a:spLocks noChangeShapeType="1"/>
            </p:cNvSpPr>
            <p:nvPr/>
          </p:nvSpPr>
          <p:spPr bwMode="auto">
            <a:xfrm rot="-5400000">
              <a:off x="3616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8207" name="Line 95"/>
            <p:cNvSpPr>
              <a:spLocks noChangeShapeType="1"/>
            </p:cNvSpPr>
            <p:nvPr/>
          </p:nvSpPr>
          <p:spPr bwMode="auto">
            <a:xfrm>
              <a:off x="3673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8208" name="Line 96"/>
            <p:cNvSpPr>
              <a:spLocks noChangeShapeType="1"/>
            </p:cNvSpPr>
            <p:nvPr/>
          </p:nvSpPr>
          <p:spPr bwMode="auto">
            <a:xfrm rot="5400000">
              <a:off x="3729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8209" name="Line 97"/>
            <p:cNvSpPr>
              <a:spLocks noChangeShapeType="1"/>
            </p:cNvSpPr>
            <p:nvPr/>
          </p:nvSpPr>
          <p:spPr bwMode="auto">
            <a:xfrm>
              <a:off x="3786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8210" name="Line 98"/>
            <p:cNvSpPr>
              <a:spLocks noChangeShapeType="1"/>
            </p:cNvSpPr>
            <p:nvPr/>
          </p:nvSpPr>
          <p:spPr bwMode="auto">
            <a:xfrm rot="-5400000">
              <a:off x="3842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8211" name="Line 99"/>
            <p:cNvSpPr>
              <a:spLocks noChangeShapeType="1"/>
            </p:cNvSpPr>
            <p:nvPr/>
          </p:nvSpPr>
          <p:spPr bwMode="auto">
            <a:xfrm>
              <a:off x="3899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8212" name="Line 100"/>
            <p:cNvSpPr>
              <a:spLocks noChangeShapeType="1"/>
            </p:cNvSpPr>
            <p:nvPr/>
          </p:nvSpPr>
          <p:spPr bwMode="auto">
            <a:xfrm rot="5400000">
              <a:off x="3955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8213" name="Line 101"/>
            <p:cNvSpPr>
              <a:spLocks noChangeShapeType="1"/>
            </p:cNvSpPr>
            <p:nvPr/>
          </p:nvSpPr>
          <p:spPr bwMode="auto">
            <a:xfrm>
              <a:off x="4012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8214" name="Line 102"/>
            <p:cNvSpPr>
              <a:spLocks noChangeShapeType="1"/>
            </p:cNvSpPr>
            <p:nvPr/>
          </p:nvSpPr>
          <p:spPr bwMode="auto">
            <a:xfrm rot="-5400000">
              <a:off x="4068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8215" name="Line 103"/>
            <p:cNvSpPr>
              <a:spLocks noChangeShapeType="1"/>
            </p:cNvSpPr>
            <p:nvPr/>
          </p:nvSpPr>
          <p:spPr bwMode="auto">
            <a:xfrm>
              <a:off x="4125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8216" name="Line 104"/>
            <p:cNvSpPr>
              <a:spLocks noChangeShapeType="1"/>
            </p:cNvSpPr>
            <p:nvPr/>
          </p:nvSpPr>
          <p:spPr bwMode="auto">
            <a:xfrm rot="5400000">
              <a:off x="4181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8217" name="Line 105"/>
            <p:cNvSpPr>
              <a:spLocks noChangeShapeType="1"/>
            </p:cNvSpPr>
            <p:nvPr/>
          </p:nvSpPr>
          <p:spPr bwMode="auto">
            <a:xfrm>
              <a:off x="4238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8218" name="Line 106"/>
            <p:cNvSpPr>
              <a:spLocks noChangeShapeType="1"/>
            </p:cNvSpPr>
            <p:nvPr/>
          </p:nvSpPr>
          <p:spPr bwMode="auto">
            <a:xfrm rot="-5400000">
              <a:off x="4294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8219" name="Line 107"/>
            <p:cNvSpPr>
              <a:spLocks noChangeShapeType="1"/>
            </p:cNvSpPr>
            <p:nvPr/>
          </p:nvSpPr>
          <p:spPr bwMode="auto">
            <a:xfrm>
              <a:off x="4351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8220" name="Line 108"/>
            <p:cNvSpPr>
              <a:spLocks noChangeShapeType="1"/>
            </p:cNvSpPr>
            <p:nvPr/>
          </p:nvSpPr>
          <p:spPr bwMode="auto">
            <a:xfrm rot="5400000">
              <a:off x="3390" y="142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8221" name="Line 109"/>
            <p:cNvSpPr>
              <a:spLocks noChangeShapeType="1"/>
            </p:cNvSpPr>
            <p:nvPr/>
          </p:nvSpPr>
          <p:spPr bwMode="auto">
            <a:xfrm>
              <a:off x="3334" y="148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8222" name="Line 110"/>
            <p:cNvSpPr>
              <a:spLocks noChangeShapeType="1"/>
            </p:cNvSpPr>
            <p:nvPr/>
          </p:nvSpPr>
          <p:spPr bwMode="auto">
            <a:xfrm>
              <a:off x="3447" y="1366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8223" name="Line 111"/>
            <p:cNvSpPr>
              <a:spLocks noChangeShapeType="1"/>
            </p:cNvSpPr>
            <p:nvPr/>
          </p:nvSpPr>
          <p:spPr bwMode="auto">
            <a:xfrm>
              <a:off x="3674" y="1366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8224" name="Line 112"/>
            <p:cNvSpPr>
              <a:spLocks noChangeShapeType="1"/>
            </p:cNvSpPr>
            <p:nvPr/>
          </p:nvSpPr>
          <p:spPr bwMode="auto">
            <a:xfrm>
              <a:off x="3901" y="1366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8225" name="Line 113"/>
            <p:cNvSpPr>
              <a:spLocks noChangeShapeType="1"/>
            </p:cNvSpPr>
            <p:nvPr/>
          </p:nvSpPr>
          <p:spPr bwMode="auto">
            <a:xfrm rot="5400000">
              <a:off x="4070" y="142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8226" name="Line 114"/>
            <p:cNvSpPr>
              <a:spLocks noChangeShapeType="1"/>
            </p:cNvSpPr>
            <p:nvPr/>
          </p:nvSpPr>
          <p:spPr bwMode="auto">
            <a:xfrm>
              <a:off x="4127" y="1480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8227" name="Line 115"/>
            <p:cNvSpPr>
              <a:spLocks noChangeShapeType="1"/>
            </p:cNvSpPr>
            <p:nvPr/>
          </p:nvSpPr>
          <p:spPr bwMode="auto">
            <a:xfrm rot="5400000">
              <a:off x="3277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8228" name="Line 116"/>
            <p:cNvSpPr>
              <a:spLocks noChangeShapeType="1"/>
            </p:cNvSpPr>
            <p:nvPr/>
          </p:nvSpPr>
          <p:spPr bwMode="auto">
            <a:xfrm rot="5400000">
              <a:off x="3504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8229" name="Line 117"/>
            <p:cNvSpPr>
              <a:spLocks noChangeShapeType="1"/>
            </p:cNvSpPr>
            <p:nvPr/>
          </p:nvSpPr>
          <p:spPr bwMode="auto">
            <a:xfrm rot="5400000">
              <a:off x="3731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8230" name="Line 118"/>
            <p:cNvSpPr>
              <a:spLocks noChangeShapeType="1"/>
            </p:cNvSpPr>
            <p:nvPr/>
          </p:nvSpPr>
          <p:spPr bwMode="auto">
            <a:xfrm rot="5400000">
              <a:off x="3958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</p:grpSp>
      <p:sp>
        <p:nvSpPr>
          <p:cNvPr id="858232" name="AutoShape 120"/>
          <p:cNvSpPr>
            <a:spLocks noChangeArrowheads="1"/>
          </p:cNvSpPr>
          <p:nvPr/>
        </p:nvSpPr>
        <p:spPr bwMode="auto">
          <a:xfrm>
            <a:off x="4932363" y="2889250"/>
            <a:ext cx="3960812" cy="539750"/>
          </a:xfrm>
          <a:prstGeom prst="roundRect">
            <a:avLst>
              <a:gd name="adj" fmla="val 16667"/>
            </a:avLst>
          </a:prstGeom>
          <a:noFill/>
          <a:ln w="38100" algn="ctr">
            <a:solidFill>
              <a:srgbClr val="996600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r>
              <a:rPr lang="en-US" sz="2400" b="1">
                <a:latin typeface="Times New Roman" pitchFamily="18" charset="0"/>
                <a:cs typeface="Times New Roman" pitchFamily="18" charset="0"/>
              </a:rPr>
              <a:t>Synthesis using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Flip-Flops</a:t>
            </a:r>
            <a:endParaRPr lang="en-US" sz="2400" b="1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58233" name="Rectangle 121"/>
          <p:cNvSpPr>
            <a:spLocks noChangeArrowheads="1"/>
          </p:cNvSpPr>
          <p:nvPr/>
        </p:nvSpPr>
        <p:spPr bwMode="auto">
          <a:xfrm>
            <a:off x="4240213" y="3536950"/>
            <a:ext cx="152400" cy="300990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sz="2400" b="1">
                <a:solidFill>
                  <a:srgbClr val="996600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858234" name="Rectangle 122"/>
          <p:cNvSpPr>
            <a:spLocks noChangeArrowheads="1"/>
          </p:cNvSpPr>
          <p:nvPr/>
        </p:nvSpPr>
        <p:spPr bwMode="auto">
          <a:xfrm>
            <a:off x="5111750" y="3608388"/>
            <a:ext cx="3781425" cy="7302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b="1" i="1" baseline="-250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)  = ∑ (3, 4, 6)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b="1" i="1" baseline="-250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B 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)  = ∑ (1, 2, 3, 5, 6)</a:t>
            </a:r>
          </a:p>
        </p:txBody>
      </p:sp>
      <p:grpSp>
        <p:nvGrpSpPr>
          <p:cNvPr id="4" name="Group 123"/>
          <p:cNvGrpSpPr>
            <a:grpSpLocks/>
          </p:cNvGrpSpPr>
          <p:nvPr/>
        </p:nvGrpSpPr>
        <p:grpSpPr bwMode="auto">
          <a:xfrm>
            <a:off x="747713" y="3565525"/>
            <a:ext cx="2047875" cy="360363"/>
            <a:chOff x="361" y="2240"/>
            <a:chExt cx="1290" cy="227"/>
          </a:xfrm>
        </p:grpSpPr>
        <p:sp>
          <p:nvSpPr>
            <p:cNvPr id="858236" name="Oval 124"/>
            <p:cNvSpPr>
              <a:spLocks noChangeArrowheads="1"/>
            </p:cNvSpPr>
            <p:nvPr/>
          </p:nvSpPr>
          <p:spPr bwMode="auto">
            <a:xfrm>
              <a:off x="361" y="2240"/>
              <a:ext cx="158" cy="227"/>
            </a:xfrm>
            <a:prstGeom prst="ellipse">
              <a:avLst/>
            </a:prstGeom>
            <a:solidFill>
              <a:srgbClr val="FFFF00">
                <a:alpha val="50000"/>
              </a:srgbClr>
            </a:solidFill>
            <a:ln w="38100" cap="rnd" algn="ctr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8237" name="Oval 125"/>
            <p:cNvSpPr>
              <a:spLocks noChangeArrowheads="1"/>
            </p:cNvSpPr>
            <p:nvPr/>
          </p:nvSpPr>
          <p:spPr bwMode="auto">
            <a:xfrm>
              <a:off x="1493" y="2240"/>
              <a:ext cx="158" cy="227"/>
            </a:xfrm>
            <a:prstGeom prst="ellipse">
              <a:avLst/>
            </a:prstGeom>
            <a:solidFill>
              <a:srgbClr val="66FF33">
                <a:alpha val="50000"/>
              </a:srgbClr>
            </a:solidFill>
            <a:ln w="38100" cap="rnd" algn="ctr">
              <a:solidFill>
                <a:schemeClr val="accent2"/>
              </a:solidFill>
              <a:prstDash val="sysDot"/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58238" name="Line 126"/>
            <p:cNvSpPr>
              <a:spLocks noChangeShapeType="1"/>
            </p:cNvSpPr>
            <p:nvPr/>
          </p:nvSpPr>
          <p:spPr bwMode="auto">
            <a:xfrm>
              <a:off x="520" y="2360"/>
              <a:ext cx="96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prstDash val="sysDot"/>
              <a:round/>
              <a:headEnd/>
              <a:tailEnd type="triangle" w="med" len="med"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58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58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58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4.07407E-6 L 0.0599 0.00069 " pathEditMode="relative" rAng="0" ptsTypes="AA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2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582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56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99 0.0007 L 0.00052 0.05417 " pathEditMode="relative" rAng="0" ptsTypes="AA">
                                      <p:cBhvr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" y="2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58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0.05416 L 0.06025 0.05416 " pathEditMode="relative" rAng="0" ptsTypes="AA">
                                      <p:cBhvr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2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582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025 0.05416 L 0.00087 0.11157 " pathEditMode="relative" ptsTypes="AA">
                                      <p:cBhvr>
                                        <p:cTn id="4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58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87 0.11157 L 0.0599 0.11157 " pathEditMode="relative" ptsTypes="AA">
                                      <p:cBhvr>
                                        <p:cTn id="5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2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8582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99 0.11157 L 0.00052 0.16574 " pathEditMode="relative" rAng="0" ptsTypes="AA">
                                      <p:cBhvr>
                                        <p:cTn id="6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" y="2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1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8581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0.16574 L 0.06025 0.16527 " pathEditMode="relative" rAng="0" ptsTypes="AA">
                                      <p:cBhvr>
                                        <p:cTn id="7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2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8582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025 0.16527 L 0.00122 0.22129 " pathEditMode="relative" rAng="0" ptsTypes="AA">
                                      <p:cBhvr>
                                        <p:cTn id="7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" y="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1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8581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22 0.22129 L 0.0606 0.22129 " pathEditMode="relative" ptsTypes="AA">
                                      <p:cBhvr>
                                        <p:cTn id="8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2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8582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059 0.22129 L 0.0007 0.27569 " pathEditMode="relative" rAng="0" ptsTypes="AA">
                                      <p:cBhvr>
                                        <p:cTn id="9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" y="2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1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8581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7 0.27569 L 0.06025 0.27569 " pathEditMode="relative" ptsTypes="AA">
                                      <p:cBhvr>
                                        <p:cTn id="10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2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8582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025 0.27569 L 0.00139 0.33194 " pathEditMode="relative" ptsTypes="AA">
                                      <p:cBhvr>
                                        <p:cTn id="1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1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8581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39 0.33194 L 0.0599 0.33171 " pathEditMode="relative" ptsTypes="AA">
                                      <p:cBhvr>
                                        <p:cTn id="1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2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8582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99 0.33171 L 0.0007 0.38518 " pathEditMode="relative" rAng="0" ptsTypes="AA">
                                      <p:cBhvr>
                                        <p:cTn id="1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" y="2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1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8581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500"/>
                            </p:stCondLst>
                            <p:childTnLst>
                              <p:par>
                                <p:cTn id="13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7 0.38518 L 0.06008 0.38518 " pathEditMode="relative" ptsTypes="AA">
                                      <p:cBhvr>
                                        <p:cTn id="1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2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8582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500"/>
                            </p:stCondLst>
                            <p:childTnLst>
                              <p:par>
                                <p:cTn id="142" presetID="2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000"/>
                            </p:stCondLst>
                            <p:childTnLst>
                              <p:par>
                                <p:cTn id="1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858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500"/>
                            </p:stCondLst>
                            <p:childTnLst>
                              <p:par>
                                <p:cTn id="1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2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8582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8232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Content Placeholder 5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spcBef>
                <a:spcPct val="15000"/>
              </a:spcBef>
            </a:pPr>
            <a:r>
              <a:rPr lang="en-US" i="1" dirty="0" smtClean="0">
                <a:solidFill>
                  <a:srgbClr val="009900"/>
                </a:solidFill>
              </a:rPr>
              <a:t>Example</a:t>
            </a:r>
            <a:r>
              <a:rPr lang="en-US" dirty="0" smtClean="0">
                <a:solidFill>
                  <a:srgbClr val="009900"/>
                </a:solidFill>
              </a:rPr>
              <a:t>:</a:t>
            </a:r>
          </a:p>
          <a:p>
            <a:pPr>
              <a:spcBef>
                <a:spcPct val="15000"/>
              </a:spcBef>
              <a:buFont typeface="Wingdings" pitchFamily="2" charset="2"/>
              <a:buNone/>
            </a:pPr>
            <a:r>
              <a:rPr lang="en-US" dirty="0" smtClean="0"/>
              <a:t>Detect 3 or more consecutive 1’s</a:t>
            </a:r>
          </a:p>
          <a:p>
            <a:endParaRPr lang="en-AU" dirty="0"/>
          </a:p>
        </p:txBody>
      </p:sp>
      <p:sp>
        <p:nvSpPr>
          <p:cNvPr id="860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 of Clocked Sequential Circuits with </a:t>
            </a:r>
            <a:r>
              <a:rPr lang="en-US" i="1"/>
              <a:t>T</a:t>
            </a:r>
            <a:r>
              <a:rPr lang="en-US"/>
              <a:t> F.F.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092950" y="1268413"/>
            <a:ext cx="1619250" cy="1439862"/>
            <a:chOff x="4468" y="799"/>
            <a:chExt cx="1020" cy="907"/>
          </a:xfrm>
        </p:grpSpPr>
        <p:sp>
          <p:nvSpPr>
            <p:cNvPr id="860165" name="AutoShape 5"/>
            <p:cNvSpPr>
              <a:spLocks noChangeArrowheads="1"/>
            </p:cNvSpPr>
            <p:nvPr/>
          </p:nvSpPr>
          <p:spPr bwMode="auto">
            <a:xfrm>
              <a:off x="4694" y="799"/>
              <a:ext cx="567" cy="907"/>
            </a:xfrm>
            <a:prstGeom prst="roundRect">
              <a:avLst>
                <a:gd name="adj" fmla="val 16667"/>
              </a:avLst>
            </a:prstGeom>
            <a:solidFill>
              <a:srgbClr val="66FF33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60166" name="Line 6"/>
            <p:cNvSpPr>
              <a:spLocks noChangeShapeType="1"/>
            </p:cNvSpPr>
            <p:nvPr/>
          </p:nvSpPr>
          <p:spPr bwMode="auto">
            <a:xfrm>
              <a:off x="5261" y="1253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60167" name="Line 7"/>
            <p:cNvSpPr>
              <a:spLocks noChangeShapeType="1"/>
            </p:cNvSpPr>
            <p:nvPr/>
          </p:nvSpPr>
          <p:spPr bwMode="auto">
            <a:xfrm>
              <a:off x="4468" y="1026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60168" name="Line 8"/>
            <p:cNvSpPr>
              <a:spLocks noChangeShapeType="1"/>
            </p:cNvSpPr>
            <p:nvPr/>
          </p:nvSpPr>
          <p:spPr bwMode="auto">
            <a:xfrm>
              <a:off x="4468" y="1480"/>
              <a:ext cx="22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5292725" y="1449388"/>
            <a:ext cx="1793875" cy="900112"/>
            <a:chOff x="3334" y="913"/>
            <a:chExt cx="1130" cy="567"/>
          </a:xfrm>
        </p:grpSpPr>
        <p:sp>
          <p:nvSpPr>
            <p:cNvPr id="860170" name="Line 10"/>
            <p:cNvSpPr>
              <a:spLocks noChangeShapeType="1"/>
            </p:cNvSpPr>
            <p:nvPr/>
          </p:nvSpPr>
          <p:spPr bwMode="auto">
            <a:xfrm>
              <a:off x="3334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60171" name="Line 11"/>
            <p:cNvSpPr>
              <a:spLocks noChangeShapeType="1"/>
            </p:cNvSpPr>
            <p:nvPr/>
          </p:nvSpPr>
          <p:spPr bwMode="auto">
            <a:xfrm rot="-5400000">
              <a:off x="3390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60172" name="Line 12"/>
            <p:cNvSpPr>
              <a:spLocks noChangeShapeType="1"/>
            </p:cNvSpPr>
            <p:nvPr/>
          </p:nvSpPr>
          <p:spPr bwMode="auto">
            <a:xfrm>
              <a:off x="3447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60173" name="Line 13"/>
            <p:cNvSpPr>
              <a:spLocks noChangeShapeType="1"/>
            </p:cNvSpPr>
            <p:nvPr/>
          </p:nvSpPr>
          <p:spPr bwMode="auto">
            <a:xfrm rot="5400000">
              <a:off x="3503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60174" name="Line 14"/>
            <p:cNvSpPr>
              <a:spLocks noChangeShapeType="1"/>
            </p:cNvSpPr>
            <p:nvPr/>
          </p:nvSpPr>
          <p:spPr bwMode="auto">
            <a:xfrm>
              <a:off x="3560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60175" name="Line 15"/>
            <p:cNvSpPr>
              <a:spLocks noChangeShapeType="1"/>
            </p:cNvSpPr>
            <p:nvPr/>
          </p:nvSpPr>
          <p:spPr bwMode="auto">
            <a:xfrm rot="-5400000">
              <a:off x="3616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60176" name="Line 16"/>
            <p:cNvSpPr>
              <a:spLocks noChangeShapeType="1"/>
            </p:cNvSpPr>
            <p:nvPr/>
          </p:nvSpPr>
          <p:spPr bwMode="auto">
            <a:xfrm>
              <a:off x="3673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60177" name="Line 17"/>
            <p:cNvSpPr>
              <a:spLocks noChangeShapeType="1"/>
            </p:cNvSpPr>
            <p:nvPr/>
          </p:nvSpPr>
          <p:spPr bwMode="auto">
            <a:xfrm rot="5400000">
              <a:off x="3729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60178" name="Line 18"/>
            <p:cNvSpPr>
              <a:spLocks noChangeShapeType="1"/>
            </p:cNvSpPr>
            <p:nvPr/>
          </p:nvSpPr>
          <p:spPr bwMode="auto">
            <a:xfrm>
              <a:off x="3786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60179" name="Line 19"/>
            <p:cNvSpPr>
              <a:spLocks noChangeShapeType="1"/>
            </p:cNvSpPr>
            <p:nvPr/>
          </p:nvSpPr>
          <p:spPr bwMode="auto">
            <a:xfrm rot="-5400000">
              <a:off x="3842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60180" name="Line 20"/>
            <p:cNvSpPr>
              <a:spLocks noChangeShapeType="1"/>
            </p:cNvSpPr>
            <p:nvPr/>
          </p:nvSpPr>
          <p:spPr bwMode="auto">
            <a:xfrm>
              <a:off x="3899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60181" name="Line 21"/>
            <p:cNvSpPr>
              <a:spLocks noChangeShapeType="1"/>
            </p:cNvSpPr>
            <p:nvPr/>
          </p:nvSpPr>
          <p:spPr bwMode="auto">
            <a:xfrm rot="5400000">
              <a:off x="3955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60182" name="Line 22"/>
            <p:cNvSpPr>
              <a:spLocks noChangeShapeType="1"/>
            </p:cNvSpPr>
            <p:nvPr/>
          </p:nvSpPr>
          <p:spPr bwMode="auto">
            <a:xfrm>
              <a:off x="4012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60183" name="Line 23"/>
            <p:cNvSpPr>
              <a:spLocks noChangeShapeType="1"/>
            </p:cNvSpPr>
            <p:nvPr/>
          </p:nvSpPr>
          <p:spPr bwMode="auto">
            <a:xfrm rot="-5400000">
              <a:off x="4068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60184" name="Line 24"/>
            <p:cNvSpPr>
              <a:spLocks noChangeShapeType="1"/>
            </p:cNvSpPr>
            <p:nvPr/>
          </p:nvSpPr>
          <p:spPr bwMode="auto">
            <a:xfrm>
              <a:off x="4125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60185" name="Line 25"/>
            <p:cNvSpPr>
              <a:spLocks noChangeShapeType="1"/>
            </p:cNvSpPr>
            <p:nvPr/>
          </p:nvSpPr>
          <p:spPr bwMode="auto">
            <a:xfrm rot="5400000">
              <a:off x="4181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60186" name="Line 26"/>
            <p:cNvSpPr>
              <a:spLocks noChangeShapeType="1"/>
            </p:cNvSpPr>
            <p:nvPr/>
          </p:nvSpPr>
          <p:spPr bwMode="auto">
            <a:xfrm>
              <a:off x="4238" y="1026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60187" name="Line 27"/>
            <p:cNvSpPr>
              <a:spLocks noChangeShapeType="1"/>
            </p:cNvSpPr>
            <p:nvPr/>
          </p:nvSpPr>
          <p:spPr bwMode="auto">
            <a:xfrm rot="-5400000">
              <a:off x="4294" y="97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60188" name="Line 28"/>
            <p:cNvSpPr>
              <a:spLocks noChangeShapeType="1"/>
            </p:cNvSpPr>
            <p:nvPr/>
          </p:nvSpPr>
          <p:spPr bwMode="auto">
            <a:xfrm>
              <a:off x="4351" y="91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60189" name="Line 29"/>
            <p:cNvSpPr>
              <a:spLocks noChangeShapeType="1"/>
            </p:cNvSpPr>
            <p:nvPr/>
          </p:nvSpPr>
          <p:spPr bwMode="auto">
            <a:xfrm rot="5400000">
              <a:off x="3390" y="142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60190" name="Line 30"/>
            <p:cNvSpPr>
              <a:spLocks noChangeShapeType="1"/>
            </p:cNvSpPr>
            <p:nvPr/>
          </p:nvSpPr>
          <p:spPr bwMode="auto">
            <a:xfrm>
              <a:off x="3334" y="1480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60191" name="Line 31"/>
            <p:cNvSpPr>
              <a:spLocks noChangeShapeType="1"/>
            </p:cNvSpPr>
            <p:nvPr/>
          </p:nvSpPr>
          <p:spPr bwMode="auto">
            <a:xfrm>
              <a:off x="3447" y="1366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60192" name="Line 32"/>
            <p:cNvSpPr>
              <a:spLocks noChangeShapeType="1"/>
            </p:cNvSpPr>
            <p:nvPr/>
          </p:nvSpPr>
          <p:spPr bwMode="auto">
            <a:xfrm>
              <a:off x="3674" y="1366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60193" name="Line 33"/>
            <p:cNvSpPr>
              <a:spLocks noChangeShapeType="1"/>
            </p:cNvSpPr>
            <p:nvPr/>
          </p:nvSpPr>
          <p:spPr bwMode="auto">
            <a:xfrm>
              <a:off x="3901" y="1366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60194" name="Line 34"/>
            <p:cNvSpPr>
              <a:spLocks noChangeShapeType="1"/>
            </p:cNvSpPr>
            <p:nvPr/>
          </p:nvSpPr>
          <p:spPr bwMode="auto">
            <a:xfrm rot="5400000">
              <a:off x="4070" y="1423"/>
              <a:ext cx="1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60195" name="Line 35"/>
            <p:cNvSpPr>
              <a:spLocks noChangeShapeType="1"/>
            </p:cNvSpPr>
            <p:nvPr/>
          </p:nvSpPr>
          <p:spPr bwMode="auto">
            <a:xfrm>
              <a:off x="4127" y="1480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60196" name="Line 36"/>
            <p:cNvSpPr>
              <a:spLocks noChangeShapeType="1"/>
            </p:cNvSpPr>
            <p:nvPr/>
          </p:nvSpPr>
          <p:spPr bwMode="auto">
            <a:xfrm rot="5400000">
              <a:off x="3277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60197" name="Line 37"/>
            <p:cNvSpPr>
              <a:spLocks noChangeShapeType="1"/>
            </p:cNvSpPr>
            <p:nvPr/>
          </p:nvSpPr>
          <p:spPr bwMode="auto">
            <a:xfrm rot="5400000">
              <a:off x="3504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60198" name="Line 38"/>
            <p:cNvSpPr>
              <a:spLocks noChangeShapeType="1"/>
            </p:cNvSpPr>
            <p:nvPr/>
          </p:nvSpPr>
          <p:spPr bwMode="auto">
            <a:xfrm rot="5400000">
              <a:off x="3731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860199" name="Line 39"/>
            <p:cNvSpPr>
              <a:spLocks noChangeShapeType="1"/>
            </p:cNvSpPr>
            <p:nvPr/>
          </p:nvSpPr>
          <p:spPr bwMode="auto">
            <a:xfrm rot="5400000">
              <a:off x="3958" y="1196"/>
              <a:ext cx="340" cy="0"/>
            </a:xfrm>
            <a:prstGeom prst="line">
              <a:avLst/>
            </a:prstGeom>
            <a:noFill/>
            <a:ln w="28575" cap="rnd">
              <a:solidFill>
                <a:srgbClr val="996600"/>
              </a:solidFill>
              <a:prstDash val="sysDot"/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</p:grpSp>
      <p:sp>
        <p:nvSpPr>
          <p:cNvPr id="860201" name="Rectangle 41"/>
          <p:cNvSpPr>
            <a:spLocks noChangeArrowheads="1"/>
          </p:cNvSpPr>
          <p:nvPr/>
        </p:nvSpPr>
        <p:spPr bwMode="auto">
          <a:xfrm>
            <a:off x="611188" y="3157538"/>
            <a:ext cx="3960812" cy="98266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l"/>
            <a:r>
              <a:rPr lang="en-US" sz="28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800" b="1" i="1" baseline="-250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800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 x’</a:t>
            </a:r>
            <a:r>
              <a:rPr lang="en-US" sz="2800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800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A’ B x</a:t>
            </a:r>
          </a:p>
          <a:p>
            <a:pPr algn="l"/>
            <a:r>
              <a:rPr lang="en-US" sz="28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800" b="1" i="1" baseline="-250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B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800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A’ B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800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800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</a:t>
            </a:r>
            <a:r>
              <a:rPr lang="en-US" sz="28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x</a:t>
            </a:r>
            <a:endParaRPr lang="en-US" sz="2800" b="1" dirty="0">
              <a:solidFill>
                <a:schemeClr val="accent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60202" name="AutoShape 42"/>
          <p:cNvSpPr>
            <a:spLocks noChangeArrowheads="1"/>
          </p:cNvSpPr>
          <p:nvPr/>
        </p:nvSpPr>
        <p:spPr bwMode="auto">
          <a:xfrm>
            <a:off x="611188" y="2520950"/>
            <a:ext cx="3960812" cy="539750"/>
          </a:xfrm>
          <a:prstGeom prst="roundRect">
            <a:avLst>
              <a:gd name="adj" fmla="val 16667"/>
            </a:avLst>
          </a:prstGeom>
          <a:noFill/>
          <a:ln w="38100" algn="ctr">
            <a:solidFill>
              <a:srgbClr val="996600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Synthesis using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Flip-Flops</a:t>
            </a:r>
            <a:endParaRPr lang="en-US" sz="2400" b="1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860203" name="Group 43"/>
          <p:cNvGraphicFramePr>
            <a:graphicFrameLocks noGrp="1"/>
          </p:cNvGraphicFramePr>
          <p:nvPr/>
        </p:nvGraphicFramePr>
        <p:xfrm>
          <a:off x="431800" y="4508500"/>
          <a:ext cx="1617663" cy="1439865"/>
        </p:xfrm>
        <a:graphic>
          <a:graphicData uri="http://schemas.openxmlformats.org/drawingml/2006/table">
            <a:tbl>
              <a:tblPr/>
              <a:tblGrid>
                <a:gridCol w="98425"/>
                <a:gridCol w="261938"/>
                <a:gridCol w="314325"/>
                <a:gridCol w="314325"/>
                <a:gridCol w="314325"/>
                <a:gridCol w="314325"/>
              </a:tblGrid>
              <a:tr h="150813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</a:tr>
              <a:tr h="169863">
                <a:tc gridSpan="2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</a:tr>
              <a:tr h="3952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3513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3513">
                <a:tc gridSpan="2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60252" name="AutoShape 92"/>
          <p:cNvSpPr>
            <a:spLocks noChangeArrowheads="1"/>
          </p:cNvSpPr>
          <p:nvPr/>
        </p:nvSpPr>
        <p:spPr bwMode="auto">
          <a:xfrm>
            <a:off x="3133725" y="4868863"/>
            <a:ext cx="217488" cy="719137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9900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graphicFrame>
        <p:nvGraphicFramePr>
          <p:cNvPr id="860253" name="Group 93"/>
          <p:cNvGraphicFramePr>
            <a:graphicFrameLocks noGrp="1"/>
          </p:cNvGraphicFramePr>
          <p:nvPr/>
        </p:nvGraphicFramePr>
        <p:xfrm>
          <a:off x="2413000" y="4508500"/>
          <a:ext cx="1617663" cy="1439865"/>
        </p:xfrm>
        <a:graphic>
          <a:graphicData uri="http://schemas.openxmlformats.org/drawingml/2006/table">
            <a:tbl>
              <a:tblPr/>
              <a:tblGrid>
                <a:gridCol w="98425"/>
                <a:gridCol w="261938"/>
                <a:gridCol w="314325"/>
                <a:gridCol w="314325"/>
                <a:gridCol w="314325"/>
                <a:gridCol w="314325"/>
              </a:tblGrid>
              <a:tr h="150813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</a:tr>
              <a:tr h="169863">
                <a:tc gridSpan="2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</a:tr>
              <a:tr h="3952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3513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3513">
                <a:tc gridSpan="2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60302" name="AutoShape 142"/>
          <p:cNvSpPr>
            <a:spLocks/>
          </p:cNvSpPr>
          <p:nvPr/>
        </p:nvSpPr>
        <p:spPr bwMode="auto">
          <a:xfrm>
            <a:off x="1782763" y="5227638"/>
            <a:ext cx="358775" cy="361950"/>
          </a:xfrm>
          <a:prstGeom prst="leftBracket">
            <a:avLst>
              <a:gd name="adj" fmla="val 7417"/>
            </a:avLst>
          </a:prstGeom>
          <a:noFill/>
          <a:ln w="28575">
            <a:solidFill>
              <a:srgbClr val="FF6600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860303" name="AutoShape 143"/>
          <p:cNvSpPr>
            <a:spLocks/>
          </p:cNvSpPr>
          <p:nvPr/>
        </p:nvSpPr>
        <p:spPr bwMode="auto">
          <a:xfrm flipH="1">
            <a:off x="611188" y="5227638"/>
            <a:ext cx="430212" cy="360362"/>
          </a:xfrm>
          <a:prstGeom prst="leftBracket">
            <a:avLst>
              <a:gd name="adj" fmla="val 7352"/>
            </a:avLst>
          </a:prstGeom>
          <a:noFill/>
          <a:ln w="28575">
            <a:solidFill>
              <a:srgbClr val="FF6600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860304" name="AutoShape 144"/>
          <p:cNvSpPr>
            <a:spLocks noChangeArrowheads="1"/>
          </p:cNvSpPr>
          <p:nvPr/>
        </p:nvSpPr>
        <p:spPr bwMode="auto">
          <a:xfrm>
            <a:off x="3384550" y="4867275"/>
            <a:ext cx="649288" cy="360363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CC00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860305" name="AutoShape 145"/>
          <p:cNvSpPr>
            <a:spLocks noChangeArrowheads="1"/>
          </p:cNvSpPr>
          <p:nvPr/>
        </p:nvSpPr>
        <p:spPr bwMode="auto">
          <a:xfrm>
            <a:off x="3765550" y="4868863"/>
            <a:ext cx="217488" cy="719137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9900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AU"/>
          </a:p>
        </p:txBody>
      </p:sp>
      <p:graphicFrame>
        <p:nvGraphicFramePr>
          <p:cNvPr id="860306" name="Object 146"/>
          <p:cNvGraphicFramePr>
            <a:graphicFrameLocks noChangeAspect="1"/>
          </p:cNvGraphicFramePr>
          <p:nvPr/>
        </p:nvGraphicFramePr>
        <p:xfrm>
          <a:off x="4211638" y="3068638"/>
          <a:ext cx="4759325" cy="305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086" name="Visio" r:id="rId4" imgW="3499104" imgH="2245279" progId="">
                  <p:embed/>
                </p:oleObj>
              </mc:Choice>
              <mc:Fallback>
                <p:oleObj name="Visio" r:id="rId4" imgW="3499104" imgH="2245279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3068638"/>
                        <a:ext cx="4759325" cy="3052762"/>
                      </a:xfrm>
                      <a:prstGeom prst="rect">
                        <a:avLst/>
                      </a:prstGeom>
                      <a:solidFill>
                        <a:srgbClr val="66FF33">
                          <a:alpha val="50000"/>
                        </a:srgb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Content Placeholder 50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spcBef>
                <a:spcPct val="15000"/>
              </a:spcBef>
            </a:pPr>
            <a:r>
              <a:rPr lang="en-US" i="1" dirty="0" smtClean="0">
                <a:solidFill>
                  <a:srgbClr val="009900"/>
                </a:solidFill>
              </a:rPr>
              <a:t>Example</a:t>
            </a:r>
            <a:r>
              <a:rPr lang="en-US" dirty="0" smtClean="0">
                <a:solidFill>
                  <a:srgbClr val="009900"/>
                </a:solidFill>
              </a:rPr>
              <a:t>:</a:t>
            </a:r>
          </a:p>
          <a:p>
            <a:pPr>
              <a:spcBef>
                <a:spcPct val="15000"/>
              </a:spcBef>
              <a:buFont typeface="Wingdings" pitchFamily="2" charset="2"/>
              <a:buNone/>
            </a:pPr>
            <a:r>
              <a:rPr lang="en-US" dirty="0" smtClean="0"/>
              <a:t>3-bit binary counter</a:t>
            </a:r>
          </a:p>
          <a:p>
            <a:endParaRPr lang="en-AU" dirty="0"/>
          </a:p>
        </p:txBody>
      </p:sp>
      <p:sp>
        <p:nvSpPr>
          <p:cNvPr id="858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 of Clocked Sequential Circuits with </a:t>
            </a:r>
            <a:r>
              <a:rPr lang="en-US" i="1"/>
              <a:t>T</a:t>
            </a:r>
            <a:r>
              <a:rPr lang="en-US"/>
              <a:t> F.F.</a:t>
            </a:r>
          </a:p>
        </p:txBody>
      </p:sp>
      <p:pic>
        <p:nvPicPr>
          <p:cNvPr id="49" name="Picture 2" descr="C:\jobs\Marries\ch05\tiff\AACFLQX0.t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2724150"/>
            <a:ext cx="3656013" cy="2732088"/>
          </a:xfrm>
          <a:prstGeom prst="rect">
            <a:avLst/>
          </a:prstGeom>
          <a:noFill/>
        </p:spPr>
      </p:pic>
      <p:pic>
        <p:nvPicPr>
          <p:cNvPr id="32153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52850" y="2305050"/>
            <a:ext cx="46482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Content Placeholder 50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58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 of Clocked Sequential Circuits with </a:t>
            </a:r>
            <a:r>
              <a:rPr lang="en-US" i="1"/>
              <a:t>T</a:t>
            </a:r>
            <a:r>
              <a:rPr lang="en-US"/>
              <a:t> F.F.</a:t>
            </a:r>
          </a:p>
        </p:txBody>
      </p:sp>
      <p:pic>
        <p:nvPicPr>
          <p:cNvPr id="6" name="Picture 5" descr="C:\jobs\Marries\ch05\tiff\AACFLQY0.t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1793" y="1524001"/>
            <a:ext cx="7530657" cy="2628900"/>
          </a:xfrm>
          <a:prstGeom prst="rect">
            <a:avLst/>
          </a:prstGeom>
          <a:noFill/>
        </p:spPr>
      </p:pic>
      <p:pic>
        <p:nvPicPr>
          <p:cNvPr id="7" name="Picture 2" descr="C:\jobs\Marries\ch05\tiff\AACFLQZ0.t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324099" y="4303106"/>
            <a:ext cx="4876801" cy="226315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Content Placeholder 50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Design a one-input, one-output serial 2's </a:t>
            </a:r>
            <a:r>
              <a:rPr lang="en-US" dirty="0" err="1" smtClean="0"/>
              <a:t>complementer</a:t>
            </a:r>
            <a:r>
              <a:rPr lang="en-US" dirty="0" smtClean="0"/>
              <a:t>. The circuit accepts a string of bits from the input and generates the 2's complement at the output. The circuit can be reset asynchronously to start and end the operation.</a:t>
            </a:r>
            <a:endParaRPr lang="en-AU" dirty="0"/>
          </a:p>
        </p:txBody>
      </p:sp>
      <p:sp>
        <p:nvSpPr>
          <p:cNvPr id="858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of Clocked Sequential Circuits with </a:t>
            </a:r>
            <a:r>
              <a:rPr lang="en-US" i="1" dirty="0" smtClean="0"/>
              <a:t>D</a:t>
            </a:r>
            <a:r>
              <a:rPr lang="en-US" dirty="0" smtClean="0"/>
              <a:t> </a:t>
            </a:r>
            <a:r>
              <a:rPr lang="en-US" dirty="0"/>
              <a:t>F.F.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of Clocked Sequential Circuits with </a:t>
            </a:r>
            <a:r>
              <a:rPr lang="en-US" i="1" dirty="0" smtClean="0"/>
              <a:t>D</a:t>
            </a:r>
            <a:r>
              <a:rPr lang="en-US" dirty="0" smtClean="0"/>
              <a:t> </a:t>
            </a:r>
            <a:r>
              <a:rPr lang="en-US" dirty="0"/>
              <a:t>F.F.</a:t>
            </a:r>
          </a:p>
        </p:txBody>
      </p:sp>
      <p:pic>
        <p:nvPicPr>
          <p:cNvPr id="325635" name="Picture 3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90837" y="1371600"/>
            <a:ext cx="5072063" cy="291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2563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42900" y="3162300"/>
            <a:ext cx="2633511" cy="31864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25637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929063" y="4748213"/>
            <a:ext cx="3759604" cy="1042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of Clocked Sequential Circuits with </a:t>
            </a:r>
            <a:r>
              <a:rPr lang="en-US" i="1" dirty="0" smtClean="0"/>
              <a:t>D</a:t>
            </a:r>
            <a:r>
              <a:rPr lang="en-US" dirty="0" smtClean="0"/>
              <a:t> </a:t>
            </a:r>
            <a:r>
              <a:rPr lang="en-US" dirty="0"/>
              <a:t>F.F.</a:t>
            </a:r>
          </a:p>
        </p:txBody>
      </p:sp>
      <p:pic>
        <p:nvPicPr>
          <p:cNvPr id="326658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04901" y="1462387"/>
            <a:ext cx="6115050" cy="52011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522" name="標題 3"/>
          <p:cNvSpPr>
            <a:spLocks noGrp="1"/>
          </p:cNvSpPr>
          <p:nvPr>
            <p:ph type="title" idx="4294967295"/>
          </p:nvPr>
        </p:nvSpPr>
        <p:spPr/>
        <p:txBody>
          <a:bodyPr lIns="0" tIns="0" rIns="0" bIns="0" anchor="ctr"/>
          <a:lstStyle/>
          <a:p>
            <a:r>
              <a:rPr lang="en-US" altLang="zh-TW" dirty="0" smtClean="0">
                <a:ea typeface="新細明體" pitchFamily="18" charset="-120"/>
              </a:rPr>
              <a:t/>
            </a:r>
            <a:br>
              <a:rPr lang="en-US" altLang="zh-TW" dirty="0" smtClean="0">
                <a:ea typeface="新細明體" pitchFamily="18" charset="-120"/>
              </a:rPr>
            </a:br>
            <a:r>
              <a:rPr lang="en-US" altLang="zh-TW" dirty="0" smtClean="0">
                <a:ea typeface="新細明體" pitchFamily="18" charset="-120"/>
              </a:rPr>
              <a:t>Syllabus</a:t>
            </a:r>
            <a:endParaRPr lang="zh-TW" altLang="en-US" dirty="0">
              <a:ea typeface="新細明體" pitchFamily="18" charset="-120"/>
            </a:endParaRPr>
          </a:p>
        </p:txBody>
      </p:sp>
      <p:sp>
        <p:nvSpPr>
          <p:cNvPr id="875523" name="Rectangle 3"/>
          <p:cNvSpPr>
            <a:spLocks noGrp="1" noChangeArrowheads="1"/>
          </p:cNvSpPr>
          <p:nvPr>
            <p:ph idx="4294967295"/>
          </p:nvPr>
        </p:nvSpPr>
        <p:spPr/>
        <p:txBody>
          <a:bodyPr lIns="90488" tIns="44450" rIns="90488" bIns="44450">
            <a:normAutofit/>
          </a:bodyPr>
          <a:lstStyle/>
          <a:p>
            <a:r>
              <a:rPr lang="en-AU" dirty="0" smtClean="0"/>
              <a:t>Chapter 5 (Excluding Section 5.6)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4762</TotalTime>
  <Words>5556</Words>
  <Application>Microsoft Office PowerPoint</Application>
  <PresentationFormat>On-screen Show (4:3)</PresentationFormat>
  <Paragraphs>2251</Paragraphs>
  <Slides>89</Slides>
  <Notes>77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89</vt:i4>
      </vt:variant>
    </vt:vector>
  </HeadingPairs>
  <TitlesOfParts>
    <vt:vector size="92" baseType="lpstr">
      <vt:lpstr>Oriel</vt:lpstr>
      <vt:lpstr>Visio</vt:lpstr>
      <vt:lpstr>CorelDRAW</vt:lpstr>
      <vt:lpstr>CSE 205: Digital Logic Design</vt:lpstr>
      <vt:lpstr>Textbook</vt:lpstr>
      <vt:lpstr>Combinational Logic</vt:lpstr>
      <vt:lpstr>Sequential Logic</vt:lpstr>
      <vt:lpstr>Alarm control system</vt:lpstr>
      <vt:lpstr>Sequential Circuits</vt:lpstr>
      <vt:lpstr>Two Types of Sequential Circuits</vt:lpstr>
      <vt:lpstr>PowerPoint Presentation</vt:lpstr>
      <vt:lpstr>Memory elements</vt:lpstr>
      <vt:lpstr>Memory elements</vt:lpstr>
      <vt:lpstr>Latches</vt:lpstr>
      <vt:lpstr>Latches</vt:lpstr>
      <vt:lpstr>Latches</vt:lpstr>
      <vt:lpstr>Latches</vt:lpstr>
      <vt:lpstr>Latches</vt:lpstr>
      <vt:lpstr>Latches</vt:lpstr>
      <vt:lpstr>Latches</vt:lpstr>
      <vt:lpstr>Latches</vt:lpstr>
      <vt:lpstr>Latches</vt:lpstr>
      <vt:lpstr>SR Latch</vt:lpstr>
      <vt:lpstr>SR Latch</vt:lpstr>
      <vt:lpstr>Controlled Latches</vt:lpstr>
      <vt:lpstr>Controlled Latches</vt:lpstr>
      <vt:lpstr>Controlled Latches</vt:lpstr>
      <vt:lpstr>Graphic symbols for latches</vt:lpstr>
      <vt:lpstr>Level versus edge sensitivity</vt:lpstr>
      <vt:lpstr>Flip-Flops</vt:lpstr>
      <vt:lpstr>Flip-Flops</vt:lpstr>
      <vt:lpstr>Flip-Flops</vt:lpstr>
      <vt:lpstr>Flip-Flops</vt:lpstr>
      <vt:lpstr>Flip-Flops:  Edge-Triggered D Flip-Flop</vt:lpstr>
      <vt:lpstr>Flip-Flops</vt:lpstr>
      <vt:lpstr>JK Flip-Flops</vt:lpstr>
      <vt:lpstr>JK Flip-Flops</vt:lpstr>
      <vt:lpstr>T Flip-Flops</vt:lpstr>
      <vt:lpstr>Flip-Flop Characteristic Tables</vt:lpstr>
      <vt:lpstr>Flip-Flop Characteristic Equations</vt:lpstr>
      <vt:lpstr>Flip-Flops with Asynchronous/Direct Inputs</vt:lpstr>
      <vt:lpstr>Flip-Flops with Direct Inputs</vt:lpstr>
      <vt:lpstr>Flip-Flops with Direct Inputs</vt:lpstr>
      <vt:lpstr>Analysis of Clocked Sequential Circuits: The State</vt:lpstr>
      <vt:lpstr>Analysis of Clocked Sequential Circuits: Terminology</vt:lpstr>
      <vt:lpstr>Analysis of Clocked Sequential Circuits: State/Transition Equations</vt:lpstr>
      <vt:lpstr>Analysis of Clocked Sequential Circuits: State /Transition Table </vt:lpstr>
      <vt:lpstr>Analysis of Clocked Sequential Circuits: State/Transition Table</vt:lpstr>
      <vt:lpstr>Analysis of Clocked Sequential Circuits: State Diagram</vt:lpstr>
      <vt:lpstr>Analysis of Clocked Sequential Circuits:  D Flip-Flops</vt:lpstr>
      <vt:lpstr>Analysis of Clocked Sequential Circuits: JK Flip-Flops</vt:lpstr>
      <vt:lpstr>Analysis of Clocked Sequential Circuits: JK Flip-Flops</vt:lpstr>
      <vt:lpstr>Analysis of Clocked Sequential Circuits: T Flip-Flops</vt:lpstr>
      <vt:lpstr>Analysis of Clocked Sequential Circuits: T Flip-Flops</vt:lpstr>
      <vt:lpstr>Mealy and Moore Models</vt:lpstr>
      <vt:lpstr> Mealy and Moore Models</vt:lpstr>
      <vt:lpstr>Mealy and Moore Models</vt:lpstr>
      <vt:lpstr>Moore State Diagram</vt:lpstr>
      <vt:lpstr>State reduction</vt:lpstr>
      <vt:lpstr> State Reduction</vt:lpstr>
      <vt:lpstr> State Reduction</vt:lpstr>
      <vt:lpstr> State Reduction</vt:lpstr>
      <vt:lpstr> State Reduction</vt:lpstr>
      <vt:lpstr> State Reduction</vt:lpstr>
      <vt:lpstr> State Reduction: Implication Table</vt:lpstr>
      <vt:lpstr> State Reduction: Implication Table</vt:lpstr>
      <vt:lpstr> State Reduction:Implication Table</vt:lpstr>
      <vt:lpstr> State Reduction: Implication Table</vt:lpstr>
      <vt:lpstr> State Reduction: Implication Table</vt:lpstr>
      <vt:lpstr> Implied Equivalences Extending Over a Number of States</vt:lpstr>
      <vt:lpstr> Implied Equivalences Extending Over a Number of States</vt:lpstr>
      <vt:lpstr> Implied Equivalences Extending Over a Number of States</vt:lpstr>
      <vt:lpstr> State Assignment</vt:lpstr>
      <vt:lpstr> Popular State Assignment</vt:lpstr>
      <vt:lpstr> State Assignment</vt:lpstr>
      <vt:lpstr> Design Procedure</vt:lpstr>
      <vt:lpstr>Design of Clocked Sequential Circuits</vt:lpstr>
      <vt:lpstr>Design of Clocked Sequential Circuits</vt:lpstr>
      <vt:lpstr>Design of Clocked Sequential Circuits</vt:lpstr>
      <vt:lpstr>Design of Clocked Sequential Circuits with D F.F.</vt:lpstr>
      <vt:lpstr>Design of Clocked Sequential Circuits with D F.F.</vt:lpstr>
      <vt:lpstr>Flip-Flop Excitation Tables</vt:lpstr>
      <vt:lpstr>Design of Clocked Sequential Circuits with JK F.F.</vt:lpstr>
      <vt:lpstr>Design of Clocked Sequential Circuits with JK F.F.</vt:lpstr>
      <vt:lpstr>Design of Clocked Sequential Circuits with T F.F.</vt:lpstr>
      <vt:lpstr>Design of Clocked Sequential Circuits with T F.F.</vt:lpstr>
      <vt:lpstr>Design of Clocked Sequential Circuits with T F.F.</vt:lpstr>
      <vt:lpstr>Design of Clocked Sequential Circuits with T F.F.</vt:lpstr>
      <vt:lpstr>Design of Clocked Sequential Circuits with D F.F.</vt:lpstr>
      <vt:lpstr>Design of Clocked Sequential Circuits with D F.F.</vt:lpstr>
      <vt:lpstr>Design of Clocked Sequential Circuits with D F.F.</vt:lpstr>
      <vt:lpstr> Syllabus</vt:lpstr>
    </vt:vector>
  </TitlesOfParts>
  <Company>BUET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205: Digital Logic Design</dc:title>
  <dc:creator>user</dc:creator>
  <cp:lastModifiedBy>user</cp:lastModifiedBy>
  <cp:revision>638</cp:revision>
  <dcterms:created xsi:type="dcterms:W3CDTF">2012-03-31T05:29:50Z</dcterms:created>
  <dcterms:modified xsi:type="dcterms:W3CDTF">2017-05-02T10:47:21Z</dcterms:modified>
</cp:coreProperties>
</file>