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wmf" ContentType="image/x-wmf"/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doc" ContentType="application/msword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52" r:id="rId1"/>
  </p:sldMasterIdLst>
  <p:notesMasterIdLst>
    <p:notesMasterId r:id="rId58"/>
  </p:notesMasterIdLst>
  <p:handoutMasterIdLst>
    <p:handoutMasterId r:id="rId59"/>
  </p:handoutMasterIdLst>
  <p:sldIdLst>
    <p:sldId id="256" r:id="rId2"/>
    <p:sldId id="389" r:id="rId3"/>
    <p:sldId id="417" r:id="rId4"/>
    <p:sldId id="425" r:id="rId5"/>
    <p:sldId id="418" r:id="rId6"/>
    <p:sldId id="424" r:id="rId7"/>
    <p:sldId id="428" r:id="rId8"/>
    <p:sldId id="459" r:id="rId9"/>
    <p:sldId id="458" r:id="rId10"/>
    <p:sldId id="419" r:id="rId11"/>
    <p:sldId id="438" r:id="rId12"/>
    <p:sldId id="436" r:id="rId13"/>
    <p:sldId id="439" r:id="rId14"/>
    <p:sldId id="440" r:id="rId15"/>
    <p:sldId id="441" r:id="rId16"/>
    <p:sldId id="442" r:id="rId17"/>
    <p:sldId id="443" r:id="rId18"/>
    <p:sldId id="473" r:id="rId19"/>
    <p:sldId id="460" r:id="rId20"/>
    <p:sldId id="396" r:id="rId21"/>
    <p:sldId id="397" r:id="rId22"/>
    <p:sldId id="400" r:id="rId23"/>
    <p:sldId id="401" r:id="rId24"/>
    <p:sldId id="466" r:id="rId25"/>
    <p:sldId id="467" r:id="rId26"/>
    <p:sldId id="468" r:id="rId27"/>
    <p:sldId id="469" r:id="rId28"/>
    <p:sldId id="402" r:id="rId29"/>
    <p:sldId id="403" r:id="rId30"/>
    <p:sldId id="404" r:id="rId31"/>
    <p:sldId id="405" r:id="rId32"/>
    <p:sldId id="406" r:id="rId33"/>
    <p:sldId id="407" r:id="rId34"/>
    <p:sldId id="408" r:id="rId35"/>
    <p:sldId id="409" r:id="rId36"/>
    <p:sldId id="410" r:id="rId37"/>
    <p:sldId id="411" r:id="rId38"/>
    <p:sldId id="412" r:id="rId39"/>
    <p:sldId id="413" r:id="rId40"/>
    <p:sldId id="470" r:id="rId41"/>
    <p:sldId id="414" r:id="rId42"/>
    <p:sldId id="415" r:id="rId43"/>
    <p:sldId id="471" r:id="rId44"/>
    <p:sldId id="416" r:id="rId45"/>
    <p:sldId id="445" r:id="rId46"/>
    <p:sldId id="446" r:id="rId47"/>
    <p:sldId id="447" r:id="rId48"/>
    <p:sldId id="449" r:id="rId49"/>
    <p:sldId id="450" r:id="rId50"/>
    <p:sldId id="451" r:id="rId51"/>
    <p:sldId id="452" r:id="rId52"/>
    <p:sldId id="453" r:id="rId53"/>
    <p:sldId id="454" r:id="rId54"/>
    <p:sldId id="457" r:id="rId55"/>
    <p:sldId id="456" r:id="rId56"/>
    <p:sldId id="472" r:id="rId57"/>
  </p:sldIdLst>
  <p:sldSz cx="9144000" cy="6858000" type="screen4x3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aximized">
    <p:restoredLeft sz="15620"/>
    <p:restoredTop sz="94128" autoAdjust="0"/>
  </p:normalViewPr>
  <p:slideViewPr>
    <p:cSldViewPr snapToGrid="0">
      <p:cViewPr>
        <p:scale>
          <a:sx n="80" d="100"/>
          <a:sy n="80" d="100"/>
        </p:scale>
        <p:origin x="-608" y="42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handoutMaster" Target="handoutMasters/handoutMaster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5.vml.rels><?xml version="1.0" encoding="UTF-8" standalone="yes"?>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6.v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image" Target="../media/image6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8475" cy="4651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338" y="0"/>
            <a:ext cx="3038475" cy="4651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6DDAA8-2571-4EEF-8A14-844D596EE726}" type="datetimeFigureOut">
              <a:rPr lang="en-US" smtClean="0"/>
              <a:pPr/>
              <a:t>12/3/2023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675"/>
            <a:ext cx="3038475" cy="46513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338" y="8829675"/>
            <a:ext cx="3038475" cy="46513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5FB613-7FED-4192-8E5B-1481EA2AEB1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804807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FA233E0B-8985-4C80-9212-0E2B041D2DB7}" type="datetimeFigureOut">
              <a:rPr lang="en-US" smtClean="0"/>
              <a:pPr/>
              <a:t>12/3/2023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81100" y="696913"/>
            <a:ext cx="46482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vert="horz" lIns="93177" tIns="46589" rIns="93177" bIns="46589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78E32228-077E-4C6D-9838-E60F51038F3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399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E32228-077E-4C6D-9838-E60F51038F37}" type="slidenum">
              <a:rPr lang="en-US" smtClean="0"/>
              <a:pPr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E32228-077E-4C6D-9838-E60F51038F37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E32228-077E-4C6D-9838-E60F51038F37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E32228-077E-4C6D-9838-E60F51038F37}" type="slidenum">
              <a:rPr lang="en-US" smtClean="0"/>
              <a:pPr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E32228-077E-4C6D-9838-E60F51038F37}" type="slidenum">
              <a:rPr lang="en-US" smtClean="0"/>
              <a:pPr/>
              <a:t>49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2286000" y="3124200"/>
            <a:ext cx="6172200" cy="1894362"/>
          </a:xfrm>
        </p:spPr>
        <p:txBody>
          <a:bodyPr/>
          <a:lstStyle>
            <a:lvl1pPr>
              <a:defRPr b="1"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2286000" y="5003322"/>
            <a:ext cx="6172200" cy="1371600"/>
          </a:xfrm>
        </p:spPr>
        <p:txBody>
          <a:bodyPr/>
          <a:lstStyle>
            <a:lvl1pPr marL="0" indent="0" algn="l">
              <a:buNone/>
              <a:defRPr sz="1800" b="1"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 bwMode="auto">
          <a:xfrm rot="5400000">
            <a:off x="7764621" y="1174097"/>
            <a:ext cx="2286000" cy="381000"/>
          </a:xfrm>
        </p:spPr>
        <p:txBody>
          <a:bodyPr/>
          <a:lstStyle/>
          <a:p>
            <a:fld id="{7C7ABDB8-B3F5-47A4-9711-3777097313E1}" type="datetime1">
              <a:rPr lang="en-US" smtClean="0"/>
              <a:pPr/>
              <a:t>12/3/2023</a:t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 bwMode="auto">
          <a:xfrm rot="5400000">
            <a:off x="7077269" y="4181669"/>
            <a:ext cx="3657600" cy="384048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 bwMode="auto">
          <a:xfrm>
            <a:off x="381000" y="0"/>
            <a:ext cx="609600" cy="6858000"/>
          </a:xfrm>
          <a:prstGeom prst="rect">
            <a:avLst/>
          </a:prstGeom>
          <a:solidFill>
            <a:schemeClr val="accent1">
              <a:tint val="60000"/>
              <a:alpha val="54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Rectangle 11"/>
          <p:cNvSpPr/>
          <p:nvPr/>
        </p:nvSpPr>
        <p:spPr bwMode="auto">
          <a:xfrm>
            <a:off x="276336" y="0"/>
            <a:ext cx="104664" cy="6858000"/>
          </a:xfrm>
          <a:prstGeom prst="rect">
            <a:avLst/>
          </a:prstGeom>
          <a:solidFill>
            <a:schemeClr val="accent1">
              <a:tint val="40000"/>
              <a:alpha val="36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4" name="Rectangle 13"/>
          <p:cNvSpPr/>
          <p:nvPr/>
        </p:nvSpPr>
        <p:spPr bwMode="auto">
          <a:xfrm>
            <a:off x="990600" y="0"/>
            <a:ext cx="181872" cy="6858000"/>
          </a:xfrm>
          <a:prstGeom prst="rect">
            <a:avLst/>
          </a:prstGeom>
          <a:solidFill>
            <a:schemeClr val="accent1">
              <a:tint val="40000"/>
              <a:alpha val="70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9" name="Rectangle 18"/>
          <p:cNvSpPr/>
          <p:nvPr/>
        </p:nvSpPr>
        <p:spPr bwMode="auto">
          <a:xfrm>
            <a:off x="1141320" y="0"/>
            <a:ext cx="230280" cy="6858000"/>
          </a:xfrm>
          <a:prstGeom prst="rect">
            <a:avLst/>
          </a:prstGeom>
          <a:solidFill>
            <a:schemeClr val="accent1">
              <a:tint val="20000"/>
              <a:alpha val="71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Straight Connector 10"/>
          <p:cNvSpPr>
            <a:spLocks noChangeShapeType="1"/>
          </p:cNvSpPr>
          <p:nvPr/>
        </p:nvSpPr>
        <p:spPr bwMode="auto">
          <a:xfrm>
            <a:off x="106344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60000"/>
                <a:alpha val="7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8" name="Straight Connector 17"/>
          <p:cNvSpPr>
            <a:spLocks noChangeShapeType="1"/>
          </p:cNvSpPr>
          <p:nvPr/>
        </p:nvSpPr>
        <p:spPr bwMode="auto">
          <a:xfrm>
            <a:off x="914400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20000"/>
                <a:alpha val="8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0" name="Straight Connector 19"/>
          <p:cNvSpPr>
            <a:spLocks noChangeShapeType="1"/>
          </p:cNvSpPr>
          <p:nvPr/>
        </p:nvSpPr>
        <p:spPr bwMode="auto">
          <a:xfrm>
            <a:off x="854112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6" name="Straight Connector 15"/>
          <p:cNvSpPr>
            <a:spLocks noChangeShapeType="1"/>
          </p:cNvSpPr>
          <p:nvPr/>
        </p:nvSpPr>
        <p:spPr bwMode="auto">
          <a:xfrm>
            <a:off x="1726640" y="0"/>
            <a:ext cx="0" cy="6858000"/>
          </a:xfrm>
          <a:prstGeom prst="line">
            <a:avLst/>
          </a:prstGeom>
          <a:noFill/>
          <a:ln w="28575" cap="flat" cmpd="sng" algn="ctr">
            <a:solidFill>
              <a:schemeClr val="accent1">
                <a:tint val="60000"/>
                <a:alpha val="82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5" name="Straight Connector 14"/>
          <p:cNvSpPr>
            <a:spLocks noChangeShapeType="1"/>
          </p:cNvSpPr>
          <p:nvPr/>
        </p:nvSpPr>
        <p:spPr bwMode="auto">
          <a:xfrm>
            <a:off x="1066800" y="0"/>
            <a:ext cx="0" cy="6858000"/>
          </a:xfrm>
          <a:prstGeom prst="line">
            <a:avLst/>
          </a:prstGeom>
          <a:noFill/>
          <a:ln w="9525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2" name="Straight Connector 21"/>
          <p:cNvSpPr>
            <a:spLocks noChangeShapeType="1"/>
          </p:cNvSpPr>
          <p:nvPr/>
        </p:nvSpPr>
        <p:spPr bwMode="auto">
          <a:xfrm>
            <a:off x="9113856" y="0"/>
            <a:ext cx="0" cy="6858000"/>
          </a:xfrm>
          <a:prstGeom prst="line">
            <a:avLst/>
          </a:prstGeom>
          <a:noFill/>
          <a:ln w="57150" cap="flat" cmpd="thickThin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7" name="Rectangle 26"/>
          <p:cNvSpPr/>
          <p:nvPr/>
        </p:nvSpPr>
        <p:spPr bwMode="auto">
          <a:xfrm>
            <a:off x="1219200" y="0"/>
            <a:ext cx="76200" cy="6858000"/>
          </a:xfrm>
          <a:prstGeom prst="rect">
            <a:avLst/>
          </a:prstGeom>
          <a:solidFill>
            <a:schemeClr val="accent1">
              <a:tint val="60000"/>
              <a:alpha val="51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1" name="Oval 20"/>
          <p:cNvSpPr/>
          <p:nvPr/>
        </p:nvSpPr>
        <p:spPr bwMode="auto">
          <a:xfrm>
            <a:off x="609600" y="3429000"/>
            <a:ext cx="1295400" cy="1295400"/>
          </a:xfrm>
          <a:prstGeom prst="ellipse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3" name="Oval 22"/>
          <p:cNvSpPr/>
          <p:nvPr/>
        </p:nvSpPr>
        <p:spPr bwMode="auto">
          <a:xfrm>
            <a:off x="1309632" y="4866752"/>
            <a:ext cx="641424" cy="641424"/>
          </a:xfrm>
          <a:prstGeom prst="ellipse">
            <a:avLst/>
          </a:prstGeom>
          <a:ln w="285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4" name="Oval 23"/>
          <p:cNvSpPr/>
          <p:nvPr/>
        </p:nvSpPr>
        <p:spPr bwMode="auto">
          <a:xfrm>
            <a:off x="1091080" y="5500632"/>
            <a:ext cx="137160" cy="137160"/>
          </a:xfrm>
          <a:prstGeom prst="ellipse">
            <a:avLst/>
          </a:prstGeom>
          <a:ln w="127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6" name="Oval 25"/>
          <p:cNvSpPr/>
          <p:nvPr/>
        </p:nvSpPr>
        <p:spPr bwMode="auto">
          <a:xfrm>
            <a:off x="1664208" y="5788152"/>
            <a:ext cx="274320" cy="274320"/>
          </a:xfrm>
          <a:prstGeom prst="ellipse">
            <a:avLst/>
          </a:prstGeom>
          <a:ln w="127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5" name="Oval 24"/>
          <p:cNvSpPr/>
          <p:nvPr/>
        </p:nvSpPr>
        <p:spPr>
          <a:xfrm>
            <a:off x="1905000" y="4495800"/>
            <a:ext cx="365760" cy="365760"/>
          </a:xfrm>
          <a:prstGeom prst="ellipse">
            <a:avLst/>
          </a:prstGeom>
          <a:ln w="285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 bwMode="auto">
          <a:xfrm>
            <a:off x="1325544" y="4928702"/>
            <a:ext cx="609600" cy="517524"/>
          </a:xfrm>
        </p:spPr>
        <p:txBody>
          <a:bodyPr/>
          <a:lstStyle/>
          <a:p>
            <a:fld id="{05119B53-8FEA-4BCD-AD8C-881E4C0351D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696200" cy="1143000"/>
          </a:xfrm>
        </p:spPr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600200"/>
            <a:ext cx="7696200" cy="4873752"/>
          </a:xfrm>
        </p:spPr>
        <p:txBody>
          <a:bodyPr>
            <a:normAutofit/>
          </a:bodyPr>
          <a:lstStyle>
            <a:lvl1pPr>
              <a:defRPr sz="2400" baseline="0"/>
            </a:lvl1pPr>
            <a:lvl2pPr>
              <a:defRPr sz="2400" baseline="0"/>
            </a:lvl2pPr>
            <a:lvl3pPr>
              <a:defRPr sz="2400" baseline="0"/>
            </a:lvl3pPr>
            <a:lvl4pPr>
              <a:defRPr sz="2400" baseline="0"/>
            </a:lvl4pPr>
            <a:lvl5pPr>
              <a:defRPr sz="2400" baseline="0"/>
            </a:lvl5pPr>
          </a:lstStyle>
          <a:p>
            <a:pPr lvl="0" eaLnBrk="1" latinLnBrk="0" hangingPunct="1"/>
            <a:r>
              <a:rPr lang="en-US" dirty="0" smtClean="0"/>
              <a:t>Click to edit Master text styles</a:t>
            </a:r>
          </a:p>
          <a:p>
            <a:pPr lvl="1" eaLnBrk="1" latinLnBrk="0" hangingPunct="1"/>
            <a:r>
              <a:rPr lang="en-US" dirty="0" smtClean="0"/>
              <a:t>Second level</a:t>
            </a:r>
          </a:p>
          <a:p>
            <a:pPr lvl="2" eaLnBrk="1" latinLnBrk="0" hangingPunct="1"/>
            <a:r>
              <a:rPr lang="en-US" dirty="0" smtClean="0"/>
              <a:t>Third level</a:t>
            </a:r>
          </a:p>
          <a:p>
            <a:pPr lvl="3" eaLnBrk="1" latinLnBrk="0" hangingPunct="1"/>
            <a:r>
              <a:rPr lang="en-US" dirty="0" smtClean="0"/>
              <a:t>Fourth level</a:t>
            </a:r>
          </a:p>
          <a:p>
            <a:pPr lvl="4" eaLnBrk="1" latinLnBrk="0" hangingPunct="1"/>
            <a:r>
              <a:rPr lang="en-US" dirty="0" smtClean="0"/>
              <a:t>Fifth level</a:t>
            </a:r>
            <a:endParaRPr kumimoji="0"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4"/>
          </p:nvPr>
        </p:nvSpPr>
        <p:spPr/>
        <p:txBody>
          <a:bodyPr rtlCol="0"/>
          <a:lstStyle/>
          <a:p>
            <a:fld id="{150C7453-5EB7-426C-953A-B1BEE0DC2850}" type="datetime1">
              <a:rPr lang="en-US" smtClean="0"/>
              <a:pPr/>
              <a:t>12/3/2023</a:t>
            </a:fld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/>
          <a:p>
            <a:fld id="{05119B53-8FEA-4BCD-AD8C-881E4C0351D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6"/>
          </p:nvPr>
        </p:nvSpPr>
        <p:spPr/>
        <p:txBody>
          <a:bodyPr rtlCol="0"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0" y="2895600"/>
            <a:ext cx="6172200" cy="2053590"/>
          </a:xfrm>
        </p:spPr>
        <p:txBody>
          <a:bodyPr/>
          <a:lstStyle>
            <a:lvl1pPr algn="l">
              <a:buNone/>
              <a:defRPr sz="3000" b="1" cap="small" baseline="0"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86000" y="5010150"/>
            <a:ext cx="6172200" cy="1371600"/>
          </a:xfrm>
        </p:spPr>
        <p:txBody>
          <a:bodyPr anchor="t"/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>
          <a:xfrm rot="5400000">
            <a:off x="7763256" y="1170432"/>
            <a:ext cx="2286000" cy="381000"/>
          </a:xfrm>
        </p:spPr>
        <p:txBody>
          <a:bodyPr/>
          <a:lstStyle/>
          <a:p>
            <a:fld id="{165C4C3B-E9F6-4B3F-BFA4-47000192CD50}" type="datetime1">
              <a:rPr lang="en-US" smtClean="0"/>
              <a:pPr/>
              <a:t>12/3/2023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>
          <a:xfrm rot="5400000">
            <a:off x="7077456" y="4178808"/>
            <a:ext cx="3657600" cy="384048"/>
          </a:xfrm>
        </p:spPr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 bwMode="auto">
          <a:xfrm>
            <a:off x="381000" y="0"/>
            <a:ext cx="609600" cy="6858000"/>
          </a:xfrm>
          <a:prstGeom prst="rect">
            <a:avLst/>
          </a:prstGeom>
          <a:solidFill>
            <a:schemeClr val="accent1">
              <a:tint val="60000"/>
              <a:alpha val="54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 bwMode="auto">
          <a:xfrm>
            <a:off x="276336" y="0"/>
            <a:ext cx="104664" cy="6858000"/>
          </a:xfrm>
          <a:prstGeom prst="rect">
            <a:avLst/>
          </a:prstGeom>
          <a:solidFill>
            <a:schemeClr val="accent1">
              <a:tint val="40000"/>
              <a:alpha val="36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Rectangle 10"/>
          <p:cNvSpPr/>
          <p:nvPr/>
        </p:nvSpPr>
        <p:spPr bwMode="auto">
          <a:xfrm>
            <a:off x="990600" y="0"/>
            <a:ext cx="181872" cy="6858000"/>
          </a:xfrm>
          <a:prstGeom prst="rect">
            <a:avLst/>
          </a:prstGeom>
          <a:solidFill>
            <a:schemeClr val="accent1">
              <a:tint val="40000"/>
              <a:alpha val="70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Rectangle 11"/>
          <p:cNvSpPr/>
          <p:nvPr/>
        </p:nvSpPr>
        <p:spPr bwMode="auto">
          <a:xfrm>
            <a:off x="1141320" y="0"/>
            <a:ext cx="230280" cy="6858000"/>
          </a:xfrm>
          <a:prstGeom prst="rect">
            <a:avLst/>
          </a:prstGeom>
          <a:solidFill>
            <a:schemeClr val="accent1">
              <a:tint val="20000"/>
              <a:alpha val="71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3" name="Straight Connector 12"/>
          <p:cNvSpPr>
            <a:spLocks noChangeShapeType="1"/>
          </p:cNvSpPr>
          <p:nvPr/>
        </p:nvSpPr>
        <p:spPr bwMode="auto">
          <a:xfrm>
            <a:off x="106344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60000"/>
                <a:alpha val="7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4" name="Straight Connector 13"/>
          <p:cNvSpPr>
            <a:spLocks noChangeShapeType="1"/>
          </p:cNvSpPr>
          <p:nvPr/>
        </p:nvSpPr>
        <p:spPr bwMode="auto">
          <a:xfrm>
            <a:off x="914400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20000"/>
                <a:alpha val="8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5" name="Straight Connector 14"/>
          <p:cNvSpPr>
            <a:spLocks noChangeShapeType="1"/>
          </p:cNvSpPr>
          <p:nvPr/>
        </p:nvSpPr>
        <p:spPr bwMode="auto">
          <a:xfrm>
            <a:off x="854112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6" name="Straight Connector 15"/>
          <p:cNvSpPr>
            <a:spLocks noChangeShapeType="1"/>
          </p:cNvSpPr>
          <p:nvPr/>
        </p:nvSpPr>
        <p:spPr bwMode="auto">
          <a:xfrm>
            <a:off x="1726640" y="0"/>
            <a:ext cx="0" cy="6858000"/>
          </a:xfrm>
          <a:prstGeom prst="line">
            <a:avLst/>
          </a:prstGeom>
          <a:noFill/>
          <a:ln w="28575" cap="flat" cmpd="sng" algn="ctr">
            <a:solidFill>
              <a:schemeClr val="accent1">
                <a:tint val="60000"/>
                <a:alpha val="82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7" name="Straight Connector 16"/>
          <p:cNvSpPr>
            <a:spLocks noChangeShapeType="1"/>
          </p:cNvSpPr>
          <p:nvPr/>
        </p:nvSpPr>
        <p:spPr bwMode="auto">
          <a:xfrm>
            <a:off x="1066800" y="0"/>
            <a:ext cx="0" cy="6858000"/>
          </a:xfrm>
          <a:prstGeom prst="line">
            <a:avLst/>
          </a:prstGeom>
          <a:noFill/>
          <a:ln w="9525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8" name="Rectangle 17"/>
          <p:cNvSpPr/>
          <p:nvPr/>
        </p:nvSpPr>
        <p:spPr bwMode="auto">
          <a:xfrm>
            <a:off x="1219200" y="0"/>
            <a:ext cx="76200" cy="6858000"/>
          </a:xfrm>
          <a:prstGeom prst="rect">
            <a:avLst/>
          </a:prstGeom>
          <a:solidFill>
            <a:schemeClr val="accent1">
              <a:tint val="60000"/>
              <a:alpha val="51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19" name="Oval 18"/>
          <p:cNvSpPr/>
          <p:nvPr/>
        </p:nvSpPr>
        <p:spPr bwMode="auto">
          <a:xfrm>
            <a:off x="609600" y="3429000"/>
            <a:ext cx="1295400" cy="1295400"/>
          </a:xfrm>
          <a:prstGeom prst="ellipse">
            <a:avLst/>
          </a:prstGeom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0" name="Oval 19"/>
          <p:cNvSpPr/>
          <p:nvPr/>
        </p:nvSpPr>
        <p:spPr bwMode="auto">
          <a:xfrm>
            <a:off x="1324704" y="4866752"/>
            <a:ext cx="641424" cy="641424"/>
          </a:xfrm>
          <a:prstGeom prst="ellipse">
            <a:avLst/>
          </a:prstGeom>
          <a:ln w="285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1" name="Oval 20"/>
          <p:cNvSpPr/>
          <p:nvPr/>
        </p:nvSpPr>
        <p:spPr bwMode="auto">
          <a:xfrm>
            <a:off x="1091080" y="5500632"/>
            <a:ext cx="137160" cy="137160"/>
          </a:xfrm>
          <a:prstGeom prst="ellipse">
            <a:avLst/>
          </a:prstGeom>
          <a:ln w="127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2" name="Oval 21"/>
          <p:cNvSpPr/>
          <p:nvPr/>
        </p:nvSpPr>
        <p:spPr bwMode="auto">
          <a:xfrm>
            <a:off x="1664208" y="5791200"/>
            <a:ext cx="274320" cy="274320"/>
          </a:xfrm>
          <a:prstGeom prst="ellipse">
            <a:avLst/>
          </a:prstGeom>
          <a:ln w="127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3" name="Oval 22"/>
          <p:cNvSpPr/>
          <p:nvPr/>
        </p:nvSpPr>
        <p:spPr bwMode="auto">
          <a:xfrm>
            <a:off x="1879040" y="4479888"/>
            <a:ext cx="365760" cy="365760"/>
          </a:xfrm>
          <a:prstGeom prst="ellipse">
            <a:avLst/>
          </a:prstGeom>
          <a:ln w="285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6" name="Straight Connector 25"/>
          <p:cNvSpPr>
            <a:spLocks noChangeShapeType="1"/>
          </p:cNvSpPr>
          <p:nvPr/>
        </p:nvSpPr>
        <p:spPr bwMode="auto">
          <a:xfrm>
            <a:off x="9097944" y="0"/>
            <a:ext cx="0" cy="6858000"/>
          </a:xfrm>
          <a:prstGeom prst="line">
            <a:avLst/>
          </a:prstGeom>
          <a:noFill/>
          <a:ln w="57150" cap="flat" cmpd="thickThin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340616" y="4928702"/>
            <a:ext cx="609600" cy="517524"/>
          </a:xfrm>
        </p:spPr>
        <p:txBody>
          <a:bodyPr/>
          <a:lstStyle/>
          <a:p>
            <a:fld id="{05119B53-8FEA-4BCD-AD8C-881E4C0351D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F764E5-3D11-41A1-A8FF-4233BBCB609C}" type="datetime1">
              <a:rPr lang="en-US" smtClean="0"/>
              <a:pPr/>
              <a:t>12/3/2023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19B53-8FEA-4BCD-AD8C-881E4C0351D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600200"/>
            <a:ext cx="3657600" cy="4572000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270248" y="1600200"/>
            <a:ext cx="3657600" cy="4572000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7543800" cy="1143000"/>
          </a:xfrm>
        </p:spPr>
        <p:txBody>
          <a:bodyPr anchor="b"/>
          <a:lstStyle>
            <a:lvl1pPr>
              <a:defRPr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EBB279-38B0-44CD-87B6-270BEE6682AE}" type="datetime1">
              <a:rPr lang="en-US" smtClean="0"/>
              <a:pPr/>
              <a:t>12/3/2023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19B53-8FEA-4BCD-AD8C-881E4C0351D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362200"/>
            <a:ext cx="3657600" cy="3886200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371975" y="2362200"/>
            <a:ext cx="3657600" cy="3886200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"/>
          </p:nvPr>
        </p:nvSpPr>
        <p:spPr>
          <a:xfrm>
            <a:off x="457200" y="1569720"/>
            <a:ext cx="3657600" cy="658368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</p:spPr>
        <p:txBody>
          <a:bodyPr rtlCol="0" anchor="ctr">
            <a:noAutofit/>
          </a:bodyPr>
          <a:lstStyle>
            <a:lvl1pPr marL="0" indent="0">
              <a:buFontTx/>
              <a:buNone/>
              <a:defRPr sz="2000" b="1">
                <a:solidFill>
                  <a:srgbClr val="FFFFFF"/>
                </a:solidFill>
              </a:defRPr>
            </a:lvl1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3"/>
          </p:nvPr>
        </p:nvSpPr>
        <p:spPr>
          <a:xfrm>
            <a:off x="4343400" y="1569720"/>
            <a:ext cx="3657600" cy="658368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</p:spPr>
        <p:txBody>
          <a:bodyPr rtlCol="0" anchor="ctr">
            <a:noAutofit/>
          </a:bodyPr>
          <a:lstStyle>
            <a:lvl1pPr marL="0" indent="0">
              <a:buFontTx/>
              <a:buNone/>
              <a:defRPr sz="2000" b="1">
                <a:solidFill>
                  <a:srgbClr val="FFFFFF"/>
                </a:solidFill>
              </a:defRPr>
            </a:lvl1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fld id="{23B1E256-9A78-47EF-BC62-13EC55DEEF32}" type="datetime1">
              <a:rPr lang="en-US" smtClean="0"/>
              <a:pPr/>
              <a:t>12/3/2023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/>
          <a:p>
            <a:fld id="{05119B53-8FEA-4BCD-AD8C-881E4C0351D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87023-EB44-4A49-8D1E-CA226DFA12E4}" type="datetime1">
              <a:rPr lang="en-US" smtClean="0"/>
              <a:pPr/>
              <a:t>12/3/2023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19B53-8FEA-4BCD-AD8C-881E4C0351D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traight Connector 9"/>
          <p:cNvSpPr>
            <a:spLocks noChangeShapeType="1"/>
          </p:cNvSpPr>
          <p:nvPr/>
        </p:nvSpPr>
        <p:spPr bwMode="auto">
          <a:xfrm>
            <a:off x="8763000" y="0"/>
            <a:ext cx="0" cy="6858000"/>
          </a:xfrm>
          <a:prstGeom prst="line">
            <a:avLst/>
          </a:prstGeom>
          <a:noFill/>
          <a:ln w="38100" cap="flat" cmpd="sng" algn="ctr">
            <a:solidFill>
              <a:schemeClr val="accent1">
                <a:tint val="60000"/>
                <a:alpha val="9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 rot="5400000">
            <a:off x="3371850" y="3200400"/>
            <a:ext cx="6309360" cy="457200"/>
          </a:xfrm>
        </p:spPr>
        <p:txBody>
          <a:bodyPr anchor="b"/>
          <a:lstStyle>
            <a:lvl1pPr algn="l">
              <a:buNone/>
              <a:defRPr sz="2000" b="1" cap="small" baseline="0"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812280" y="274320"/>
            <a:ext cx="1527048" cy="4983480"/>
          </a:xfrm>
        </p:spPr>
        <p:txBody>
          <a:bodyPr/>
          <a:lstStyle>
            <a:lvl1pPr marL="0" indent="0">
              <a:spcBef>
                <a:spcPts val="400"/>
              </a:spcBef>
              <a:spcAft>
                <a:spcPts val="1000"/>
              </a:spcAft>
              <a:buNone/>
              <a:defRPr sz="12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248400" y="0"/>
            <a:ext cx="0" cy="6858000"/>
          </a:xfrm>
          <a:prstGeom prst="line">
            <a:avLst/>
          </a:prstGeom>
          <a:noFill/>
          <a:ln w="38100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>
            <a:off x="6192296" y="0"/>
            <a:ext cx="0" cy="6858000"/>
          </a:xfrm>
          <a:prstGeom prst="line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11" name="Straight Connector 10"/>
          <p:cNvSpPr>
            <a:spLocks noChangeShapeType="1"/>
          </p:cNvSpPr>
          <p:nvPr/>
        </p:nvSpPr>
        <p:spPr bwMode="auto">
          <a:xfrm>
            <a:off x="8991600" y="0"/>
            <a:ext cx="0" cy="6858000"/>
          </a:xfrm>
          <a:prstGeom prst="line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2" name="Rectangle 11"/>
          <p:cNvSpPr/>
          <p:nvPr/>
        </p:nvSpPr>
        <p:spPr bwMode="auto">
          <a:xfrm>
            <a:off x="8839200" y="0"/>
            <a:ext cx="304800" cy="6858000"/>
          </a:xfrm>
          <a:prstGeom prst="rect">
            <a:avLst/>
          </a:prstGeom>
          <a:solidFill>
            <a:schemeClr val="accent1">
              <a:tint val="60000"/>
              <a:alpha val="87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3" name="Straight Connector 12"/>
          <p:cNvSpPr>
            <a:spLocks noChangeShapeType="1"/>
          </p:cNvSpPr>
          <p:nvPr/>
        </p:nvSpPr>
        <p:spPr bwMode="auto">
          <a:xfrm>
            <a:off x="8915400" y="0"/>
            <a:ext cx="0" cy="6858000"/>
          </a:xfrm>
          <a:prstGeom prst="lin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4" name="Oval 13"/>
          <p:cNvSpPr/>
          <p:nvPr/>
        </p:nvSpPr>
        <p:spPr>
          <a:xfrm>
            <a:off x="8156448" y="5715000"/>
            <a:ext cx="548640" cy="548640"/>
          </a:xfrm>
          <a:prstGeom prst="ellipse">
            <a:avLst/>
          </a:prstGeom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18" name="Content Placeholder 17"/>
          <p:cNvSpPr>
            <a:spLocks noGrp="1"/>
          </p:cNvSpPr>
          <p:nvPr>
            <p:ph sz="quarter" idx="1"/>
          </p:nvPr>
        </p:nvSpPr>
        <p:spPr>
          <a:xfrm>
            <a:off x="304800" y="274320"/>
            <a:ext cx="5638800" cy="6327648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21" name="Date Placeholder 20"/>
          <p:cNvSpPr>
            <a:spLocks noGrp="1"/>
          </p:cNvSpPr>
          <p:nvPr>
            <p:ph type="dt" sz="half" idx="14"/>
          </p:nvPr>
        </p:nvSpPr>
        <p:spPr/>
        <p:txBody>
          <a:bodyPr rtlCol="0"/>
          <a:lstStyle/>
          <a:p>
            <a:fld id="{5FF60033-61F6-4F32-B158-8B7BF2CCC4F4}" type="datetime1">
              <a:rPr lang="en-US" smtClean="0"/>
              <a:pPr/>
              <a:t>12/3/2023</a:t>
            </a:fld>
            <a:endParaRPr lang="en-US"/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/>
          <a:p>
            <a:fld id="{05119B53-8FEA-4BCD-AD8C-881E4C0351D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3" name="Footer Placeholder 22"/>
          <p:cNvSpPr>
            <a:spLocks noGrp="1"/>
          </p:cNvSpPr>
          <p:nvPr>
            <p:ph type="ftr" sz="quarter" idx="16"/>
          </p:nvPr>
        </p:nvSpPr>
        <p:spPr/>
        <p:txBody>
          <a:bodyPr rtlCol="0"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traight Connector 8"/>
          <p:cNvSpPr>
            <a:spLocks noChangeShapeType="1"/>
          </p:cNvSpPr>
          <p:nvPr/>
        </p:nvSpPr>
        <p:spPr bwMode="auto">
          <a:xfrm>
            <a:off x="8763000" y="0"/>
            <a:ext cx="0" cy="6858000"/>
          </a:xfrm>
          <a:prstGeom prst="line">
            <a:avLst/>
          </a:prstGeom>
          <a:noFill/>
          <a:ln w="38100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3" name="Oval 12"/>
          <p:cNvSpPr/>
          <p:nvPr/>
        </p:nvSpPr>
        <p:spPr>
          <a:xfrm>
            <a:off x="8156448" y="5715000"/>
            <a:ext cx="548640" cy="548640"/>
          </a:xfrm>
          <a:prstGeom prst="ellipse">
            <a:avLst/>
          </a:prstGeom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 rot="5400000">
            <a:off x="3350133" y="3200400"/>
            <a:ext cx="6309360" cy="457200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6172200" cy="6858000"/>
          </a:xfrm>
          <a:solidFill>
            <a:schemeClr val="bg2"/>
          </a:solidFill>
          <a:ln w="1270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/>
          <a:lstStyle>
            <a:lvl1pPr marL="0" indent="0">
              <a:buNone/>
              <a:defRPr sz="3200"/>
            </a:lvl1pPr>
          </a:lstStyle>
          <a:p>
            <a:pPr algn="ctr" eaLnBrk="1" latinLnBrk="0" hangingPunct="1">
              <a:buFontTx/>
              <a:buNone/>
            </a:pPr>
            <a:r>
              <a:rPr kumimoji="0" lang="en-US" smtClean="0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5798" y="264795"/>
            <a:ext cx="1524000" cy="4956048"/>
          </a:xfrm>
        </p:spPr>
        <p:txBody>
          <a:bodyPr rot="0" spcFirstLastPara="0" vertOverflow="overflow" horzOverflow="overflow" vert="horz" wrap="square" lIns="91440" tIns="45720" rIns="91440" bIns="45720" numCol="1" spcCol="274320" rtlCol="0" fromWordArt="0" anchor="t" anchorCtr="0" forceAA="0" compatLnSpc="1">
            <a:normAutofit/>
          </a:bodyPr>
          <a:lstStyle>
            <a:lvl1pPr marL="0" indent="0">
              <a:spcBef>
                <a:spcPts val="100"/>
              </a:spcBef>
              <a:spcAft>
                <a:spcPts val="400"/>
              </a:spcAft>
              <a:buFontTx/>
              <a:buNone/>
              <a:defRPr sz="12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>
            <a:off x="8991600" y="0"/>
            <a:ext cx="0" cy="68580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1" name="Rectangle 10"/>
          <p:cNvSpPr/>
          <p:nvPr/>
        </p:nvSpPr>
        <p:spPr bwMode="auto">
          <a:xfrm>
            <a:off x="8839200" y="0"/>
            <a:ext cx="304800" cy="6858000"/>
          </a:xfrm>
          <a:prstGeom prst="rect">
            <a:avLst/>
          </a:prstGeom>
          <a:solidFill>
            <a:schemeClr val="accent1">
              <a:tint val="60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Straight Connector 11"/>
          <p:cNvSpPr>
            <a:spLocks noChangeShapeType="1"/>
          </p:cNvSpPr>
          <p:nvPr/>
        </p:nvSpPr>
        <p:spPr bwMode="auto">
          <a:xfrm>
            <a:off x="8915400" y="0"/>
            <a:ext cx="0" cy="6858000"/>
          </a:xfrm>
          <a:prstGeom prst="lin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9" name="Straight Connector 18"/>
          <p:cNvSpPr>
            <a:spLocks noChangeShapeType="1"/>
          </p:cNvSpPr>
          <p:nvPr/>
        </p:nvSpPr>
        <p:spPr bwMode="auto">
          <a:xfrm>
            <a:off x="6248400" y="0"/>
            <a:ext cx="0" cy="6858000"/>
          </a:xfrm>
          <a:prstGeom prst="line">
            <a:avLst/>
          </a:prstGeom>
          <a:noFill/>
          <a:ln w="38100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20" name="Straight Connector 19"/>
          <p:cNvSpPr>
            <a:spLocks noChangeShapeType="1"/>
          </p:cNvSpPr>
          <p:nvPr/>
        </p:nvSpPr>
        <p:spPr bwMode="auto">
          <a:xfrm>
            <a:off x="6192296" y="0"/>
            <a:ext cx="0" cy="6858000"/>
          </a:xfrm>
          <a:prstGeom prst="line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17" name="Date Placeholder 1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fld id="{8C326B57-48FE-4F89-9485-22981ED8D38D}" type="datetime1">
              <a:rPr lang="en-US" smtClean="0"/>
              <a:pPr/>
              <a:t>12/3/2023</a:t>
            </a:fld>
            <a:endParaRPr lang="en-US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/>
          <a:p>
            <a:fld id="{05119B53-8FEA-4BCD-AD8C-881E4C0351D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8DB20-CB48-4E1E-B9D9-60D119054EBB}" type="datetime1">
              <a:rPr lang="en-US" smtClean="0"/>
              <a:pPr/>
              <a:t>12/3/2023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19B53-8FEA-4BCD-AD8C-881E4C0351D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9"/>
            <a:ext cx="1676400" cy="5851525"/>
          </a:xfrm>
        </p:spPr>
        <p:txBody>
          <a:bodyPr vert="eaVert"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99063-3249-449C-AA5F-8FF72848E7CE}" type="datetime1">
              <a:rPr lang="en-US" smtClean="0"/>
              <a:pPr/>
              <a:t>12/3/2023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19B53-8FEA-4BCD-AD8C-881E4C0351D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traight Connector 15"/>
          <p:cNvSpPr>
            <a:spLocks noChangeShapeType="1"/>
          </p:cNvSpPr>
          <p:nvPr/>
        </p:nvSpPr>
        <p:spPr bwMode="auto">
          <a:xfrm>
            <a:off x="8763000" y="0"/>
            <a:ext cx="0" cy="6858000"/>
          </a:xfrm>
          <a:prstGeom prst="line">
            <a:avLst/>
          </a:prstGeom>
          <a:noFill/>
          <a:ln w="38100" cap="flat" cmpd="sng" algn="ctr">
            <a:solidFill>
              <a:schemeClr val="accent1">
                <a:tint val="60000"/>
                <a:alpha val="9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467600" cy="1143000"/>
          </a:xfrm>
          <a:prstGeom prst="rect">
            <a:avLst/>
          </a:prstGeom>
        </p:spPr>
        <p:txBody>
          <a:bodyPr vert="horz" anchor="b">
            <a:normAutofit/>
          </a:bodyPr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7467600" cy="4873752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 rot="5400000">
            <a:off x="7589520" y="1081851"/>
            <a:ext cx="2011680" cy="384048"/>
          </a:xfrm>
          <a:prstGeom prst="rect">
            <a:avLst/>
          </a:prstGeom>
        </p:spPr>
        <p:txBody>
          <a:bodyPr vert="horz" anchor="ctr" anchorCtr="0"/>
          <a:lstStyle>
            <a:lvl1pPr algn="r" eaLnBrk="1" latinLnBrk="0" hangingPunct="1">
              <a:defRPr kumimoji="0" sz="1200">
                <a:solidFill>
                  <a:schemeClr val="tx2"/>
                </a:solidFill>
              </a:defRPr>
            </a:lvl1pPr>
          </a:lstStyle>
          <a:p>
            <a:fld id="{60A57B3C-C493-4246-9095-3DD941B09960}" type="datetime1">
              <a:rPr lang="en-US" smtClean="0"/>
              <a:pPr/>
              <a:t>12/3/2023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 rot="5400000">
            <a:off x="6990186" y="3737240"/>
            <a:ext cx="3200400" cy="365760"/>
          </a:xfrm>
          <a:prstGeom prst="rect">
            <a:avLst/>
          </a:prstGeom>
        </p:spPr>
        <p:txBody>
          <a:bodyPr vert="horz" anchor="ctr" anchorCtr="0"/>
          <a:lstStyle>
            <a:lvl1pPr algn="l" eaLnBrk="1" latinLnBrk="0" hangingPunct="1">
              <a:defRPr kumimoji="0" sz="120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76200" y="0"/>
            <a:ext cx="0" cy="6858000"/>
          </a:xfrm>
          <a:prstGeom prst="line">
            <a:avLst/>
          </a:prstGeom>
          <a:noFill/>
          <a:ln w="57150" cap="flat" cmpd="thickThin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>
            <a:off x="8991600" y="0"/>
            <a:ext cx="0" cy="6858000"/>
          </a:xfrm>
          <a:prstGeom prst="line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Rectangle 9"/>
          <p:cNvSpPr/>
          <p:nvPr/>
        </p:nvSpPr>
        <p:spPr bwMode="auto">
          <a:xfrm>
            <a:off x="8839200" y="0"/>
            <a:ext cx="304800" cy="6858000"/>
          </a:xfrm>
          <a:prstGeom prst="rect">
            <a:avLst/>
          </a:prstGeom>
          <a:solidFill>
            <a:schemeClr val="accent1">
              <a:tint val="60000"/>
              <a:alpha val="87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Straight Connector 10"/>
          <p:cNvSpPr>
            <a:spLocks noChangeShapeType="1"/>
          </p:cNvSpPr>
          <p:nvPr/>
        </p:nvSpPr>
        <p:spPr bwMode="auto">
          <a:xfrm>
            <a:off x="8915400" y="0"/>
            <a:ext cx="0" cy="6858000"/>
          </a:xfrm>
          <a:prstGeom prst="lin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2" name="Oval 11"/>
          <p:cNvSpPr/>
          <p:nvPr/>
        </p:nvSpPr>
        <p:spPr>
          <a:xfrm>
            <a:off x="8156448" y="5715000"/>
            <a:ext cx="548640" cy="548640"/>
          </a:xfrm>
          <a:prstGeom prst="ellipse">
            <a:avLst/>
          </a:prstGeom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8129016" y="5734050"/>
            <a:ext cx="609600" cy="521208"/>
          </a:xfrm>
          <a:prstGeom prst="rect">
            <a:avLst/>
          </a:prstGeom>
        </p:spPr>
        <p:txBody>
          <a:bodyPr vert="horz" anchor="ctr"/>
          <a:lstStyle>
            <a:lvl1pPr algn="ctr" eaLnBrk="1" latinLnBrk="0" hangingPunct="1">
              <a:defRPr kumimoji="0" sz="1400" b="1">
                <a:solidFill>
                  <a:srgbClr val="FFFFFF"/>
                </a:solidFill>
              </a:defRPr>
            </a:lvl1pPr>
          </a:lstStyle>
          <a:p>
            <a:fld id="{05119B53-8FEA-4BCD-AD8C-881E4C0351D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53" r:id="rId1"/>
    <p:sldLayoutId id="2147483854" r:id="rId2"/>
    <p:sldLayoutId id="2147483855" r:id="rId3"/>
    <p:sldLayoutId id="2147483856" r:id="rId4"/>
    <p:sldLayoutId id="2147483857" r:id="rId5"/>
    <p:sldLayoutId id="2147483858" r:id="rId6"/>
    <p:sldLayoutId id="2147483859" r:id="rId7"/>
    <p:sldLayoutId id="2147483860" r:id="rId8"/>
    <p:sldLayoutId id="2147483861" r:id="rId9"/>
    <p:sldLayoutId id="2147483862" r:id="rId10"/>
    <p:sldLayoutId id="2147483863" r:id="rId11"/>
  </p:sldLayoutIdLst>
  <p:hf sldNum="0" hdr="0" ftr="0" dt="0"/>
  <p:txStyles>
    <p:titleStyle>
      <a:lvl1pPr algn="l" rtl="0" eaLnBrk="1" latinLnBrk="0" hangingPunct="1">
        <a:spcBef>
          <a:spcPct val="0"/>
        </a:spcBef>
        <a:buNone/>
        <a:defRPr kumimoji="0" sz="3000" b="0" kern="1200" cap="small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0000"/>
        <a:buFont typeface="Wingdings"/>
        <a:buChar char="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74320" algn="l" rtl="0" eaLnBrk="1" latinLnBrk="0" hangingPunct="1">
        <a:spcBef>
          <a:spcPct val="20000"/>
        </a:spcBef>
        <a:buClr>
          <a:schemeClr val="accent1"/>
        </a:buClr>
        <a:buSzPct val="80000"/>
        <a:buFont typeface="Wingdings 2"/>
        <a:buChar char="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182880" algn="l" rtl="0" eaLnBrk="1" latinLnBrk="0" hangingPunct="1">
        <a:spcBef>
          <a:spcPct val="20000"/>
        </a:spcBef>
        <a:buClr>
          <a:schemeClr val="accent1">
            <a:shade val="75000"/>
          </a:schemeClr>
        </a:buClr>
        <a:buSzPct val="60000"/>
        <a:buFont typeface="Wingdings"/>
        <a:buChar char="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188720" indent="-182880" algn="l" rtl="0" eaLnBrk="1" latinLnBrk="0" hangingPunct="1">
        <a:spcBef>
          <a:spcPct val="20000"/>
        </a:spcBef>
        <a:buClr>
          <a:schemeClr val="accent1">
            <a:tint val="60000"/>
          </a:schemeClr>
        </a:buClr>
        <a:buSzPct val="60000"/>
        <a:buFont typeface="Wingdings"/>
        <a:buChar char="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463040" indent="-182880" algn="l" rtl="0" eaLnBrk="1" latinLnBrk="0" hangingPunct="1">
        <a:spcBef>
          <a:spcPct val="20000"/>
        </a:spcBef>
        <a:buClr>
          <a:schemeClr val="accent2">
            <a:tint val="60000"/>
          </a:schemeClr>
        </a:buClr>
        <a:buSzPct val="68000"/>
        <a:buFont typeface="Wingdings 2"/>
        <a:buChar char="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182880" algn="l" rtl="0" eaLnBrk="1" latinLnBrk="0" hangingPunct="1">
        <a:spcBef>
          <a:spcPct val="20000"/>
        </a:spcBef>
        <a:buClr>
          <a:schemeClr val="accent1"/>
        </a:buClr>
        <a:buChar char="•"/>
        <a:defRPr kumimoji="0" sz="1600" kern="1200">
          <a:solidFill>
            <a:schemeClr val="tx2"/>
          </a:solidFill>
          <a:latin typeface="+mn-lt"/>
          <a:ea typeface="+mn-ea"/>
          <a:cs typeface="+mn-cs"/>
        </a:defRPr>
      </a:lvl6pPr>
      <a:lvl7pPr marL="2011680" indent="-182880" algn="l" rtl="0" eaLnBrk="1" latinLnBrk="0" hangingPunct="1">
        <a:spcBef>
          <a:spcPct val="20000"/>
        </a:spcBef>
        <a:buClr>
          <a:schemeClr val="accent1">
            <a:tint val="60000"/>
          </a:schemeClr>
        </a:buClr>
        <a:buSzPct val="60000"/>
        <a:buFont typeface="Wingdings"/>
        <a:buChar char=""/>
        <a:defRPr kumimoji="0"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2286000" indent="-182880" algn="l" rtl="0" eaLnBrk="1" latinLnBrk="0" hangingPunct="1">
        <a:spcBef>
          <a:spcPct val="20000"/>
        </a:spcBef>
        <a:buClr>
          <a:schemeClr val="accent2"/>
        </a:buClr>
        <a:buChar char="•"/>
        <a:defRPr kumimoji="0" sz="1400" kern="1200" cap="small" baseline="0">
          <a:solidFill>
            <a:schemeClr val="tx2"/>
          </a:solidFill>
          <a:latin typeface="+mn-lt"/>
          <a:ea typeface="+mn-ea"/>
          <a:cs typeface="+mn-cs"/>
        </a:defRPr>
      </a:lvl8pPr>
      <a:lvl9pPr marL="2560320" indent="-182880" algn="l" rtl="0" eaLnBrk="1" latinLnBrk="0" hangingPunct="1">
        <a:spcBef>
          <a:spcPct val="20000"/>
        </a:spcBef>
        <a:buClr>
          <a:schemeClr val="accent1">
            <a:shade val="75000"/>
          </a:schemeClr>
        </a:buClr>
        <a:buChar char="•"/>
        <a:defRPr kumimoji="0"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Microsoft_Word_97_-_2003_Document1.doc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2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Microsoft_Word_97_-_2003_Document2.doc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.vml"/><Relationship Id="rId4" Type="http://schemas.openxmlformats.org/officeDocument/2006/relationships/image" Target="../media/image3.e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Microsoft_Word_97_-_2003_Document3.doc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3.vml"/><Relationship Id="rId4" Type="http://schemas.openxmlformats.org/officeDocument/2006/relationships/image" Target="../media/image2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Microsoft_Word_97_-_2003_Document4.doc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4.vml"/><Relationship Id="rId4" Type="http://schemas.openxmlformats.org/officeDocument/2006/relationships/image" Target="../media/image4.emf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4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Microsoft_Word_97_-_2003_Document5.doc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5.vml"/><Relationship Id="rId4" Type="http://schemas.openxmlformats.org/officeDocument/2006/relationships/image" Target="../media/image5.em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Microsoft_Word_97_-_2003_Document6.doc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6.vml"/><Relationship Id="rId6" Type="http://schemas.openxmlformats.org/officeDocument/2006/relationships/image" Target="../media/image7.emf"/><Relationship Id="rId5" Type="http://schemas.openxmlformats.org/officeDocument/2006/relationships/oleObject" Target="../embeddings/Microsoft_Word_97_-_2003_Document7.doc"/><Relationship Id="rId4" Type="http://schemas.openxmlformats.org/officeDocument/2006/relationships/image" Target="../media/image6.emf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wmf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800" y="2667000"/>
            <a:ext cx="6553200" cy="1894362"/>
          </a:xfrm>
        </p:spPr>
        <p:txBody>
          <a:bodyPr/>
          <a:lstStyle/>
          <a:p>
            <a:r>
              <a:rPr lang="en-US" dirty="0" smtClean="0"/>
              <a:t>CSE 205: Digital Logic Design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0" y="4648200"/>
            <a:ext cx="6172200" cy="1371600"/>
          </a:xfrm>
        </p:spPr>
        <p:txBody>
          <a:bodyPr>
            <a:normAutofit/>
          </a:bodyPr>
          <a:lstStyle/>
          <a:p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Boolean (Binary) Logic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AU" dirty="0" smtClean="0"/>
              <a:t>Deals with binary variables and binary logic functions</a:t>
            </a:r>
          </a:p>
          <a:p>
            <a:r>
              <a:rPr lang="en-AU" dirty="0" smtClean="0"/>
              <a:t>Has two discrete values</a:t>
            </a:r>
          </a:p>
          <a:p>
            <a:pPr lvl="1"/>
            <a:r>
              <a:rPr lang="en-AU" dirty="0" smtClean="0"/>
              <a:t>0, False, Open</a:t>
            </a:r>
          </a:p>
          <a:p>
            <a:pPr lvl="1"/>
            <a:r>
              <a:rPr lang="en-AU" dirty="0" smtClean="0"/>
              <a:t>1, True, Close</a:t>
            </a:r>
          </a:p>
          <a:p>
            <a:r>
              <a:rPr lang="en-AU" dirty="0" smtClean="0"/>
              <a:t>Three basic logical operations</a:t>
            </a:r>
          </a:p>
          <a:p>
            <a:pPr lvl="1"/>
            <a:r>
              <a:rPr lang="en-AU" dirty="0" smtClean="0"/>
              <a:t>AND (.); OR (+); NOT (‘)</a:t>
            </a:r>
          </a:p>
          <a:p>
            <a:pPr lvl="1"/>
            <a:endParaRPr lang="en-AU" dirty="0" smtClean="0"/>
          </a:p>
          <a:p>
            <a:r>
              <a:rPr lang="en-US" dirty="0" smtClean="0"/>
              <a:t>We need to define algebra for binary values</a:t>
            </a:r>
          </a:p>
          <a:p>
            <a:pPr lvl="1"/>
            <a:r>
              <a:rPr lang="en-US" b="1" dirty="0" smtClean="0"/>
              <a:t>Boolean Algebra:</a:t>
            </a:r>
            <a:r>
              <a:rPr lang="en-US" dirty="0" smtClean="0"/>
              <a:t> Developed by George Boole in 1854</a:t>
            </a:r>
          </a:p>
          <a:p>
            <a:endParaRPr lang="en-US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Boolean Algebra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Why study Boolean Algebra?</a:t>
            </a:r>
          </a:p>
          <a:p>
            <a:pPr lvl="1"/>
            <a:r>
              <a:rPr lang="en-US" dirty="0" smtClean="0"/>
              <a:t>To find the simplest circuit implementation with the smallest number of gates or wires.</a:t>
            </a:r>
          </a:p>
          <a:p>
            <a:pPr lvl="1">
              <a:buNone/>
            </a:pPr>
            <a:endParaRPr lang="en-US" dirty="0" smtClean="0"/>
          </a:p>
          <a:p>
            <a:r>
              <a:rPr lang="en-US" dirty="0" smtClean="0"/>
              <a:t>The simpler that we can make a Boolean function, the smaller the circuit that will result.</a:t>
            </a:r>
          </a:p>
          <a:p>
            <a:pPr lvl="1"/>
            <a:r>
              <a:rPr lang="en-US" dirty="0" smtClean="0"/>
              <a:t>Simpler circuits are cheaper to build, consume less power, and run faster than complex circuits.</a:t>
            </a:r>
          </a:p>
          <a:p>
            <a:pPr lvl="1">
              <a:buNone/>
            </a:pPr>
            <a:endParaRPr lang="en-US" dirty="0" smtClean="0"/>
          </a:p>
          <a:p>
            <a:r>
              <a:rPr lang="en-US" dirty="0" smtClean="0"/>
              <a:t>With this in mind, we always want to reduce our Boolean functions to their simplest form.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Algebra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pPr lvl="1"/>
            <a:endParaRPr lang="en-US" dirty="0" smtClean="0"/>
          </a:p>
          <a:p>
            <a:pPr>
              <a:lnSpc>
                <a:spcPct val="90000"/>
              </a:lnSpc>
            </a:pPr>
            <a:r>
              <a:rPr lang="en-US" dirty="0" smtClean="0"/>
              <a:t>What is an algebra?</a:t>
            </a:r>
          </a:p>
          <a:p>
            <a:pPr lvl="1">
              <a:lnSpc>
                <a:spcPct val="90000"/>
              </a:lnSpc>
            </a:pPr>
            <a:r>
              <a:rPr lang="en-US" dirty="0" smtClean="0"/>
              <a:t>Mathematical system consisting of</a:t>
            </a:r>
          </a:p>
          <a:p>
            <a:pPr lvl="2">
              <a:lnSpc>
                <a:spcPct val="90000"/>
              </a:lnSpc>
            </a:pPr>
            <a:r>
              <a:rPr lang="en-US" dirty="0" smtClean="0"/>
              <a:t>Set of elements</a:t>
            </a:r>
          </a:p>
          <a:p>
            <a:pPr lvl="2">
              <a:lnSpc>
                <a:spcPct val="90000"/>
              </a:lnSpc>
            </a:pPr>
            <a:r>
              <a:rPr lang="en-US" dirty="0" smtClean="0"/>
              <a:t>Set of operators</a:t>
            </a:r>
          </a:p>
          <a:p>
            <a:pPr lvl="2">
              <a:lnSpc>
                <a:spcPct val="90000"/>
              </a:lnSpc>
            </a:pPr>
            <a:r>
              <a:rPr lang="en-US" dirty="0" smtClean="0"/>
              <a:t>Axioms or postulates: </a:t>
            </a:r>
            <a:r>
              <a:rPr lang="en-AU" dirty="0" smtClean="0"/>
              <a:t>facts that can be taken as true; they do not require proof</a:t>
            </a:r>
            <a:endParaRPr lang="en-US" dirty="0" smtClean="0"/>
          </a:p>
          <a:p>
            <a:endParaRPr lang="en-US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604" name="Object 4"/>
          <p:cNvGraphicFramePr>
            <a:graphicFrameLocks noChangeAspect="1"/>
          </p:cNvGraphicFramePr>
          <p:nvPr/>
        </p:nvGraphicFramePr>
        <p:xfrm>
          <a:off x="304800" y="3886200"/>
          <a:ext cx="8362950" cy="3886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7159" name="Document" r:id="rId3" imgW="8046953" imgH="3759462" progId="Word.Document.8">
                  <p:embed/>
                </p:oleObj>
              </mc:Choice>
              <mc:Fallback>
                <p:oleObj name="Document" r:id="rId3" imgW="8046953" imgH="3759462" progId="Word.Document.8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4800" y="3886200"/>
                        <a:ext cx="8362950" cy="38862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5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latin typeface="Garamond" pitchFamily="18" charset="0"/>
              </a:rPr>
              <a:t>Axiomatic definition of Boolean Algebra</a:t>
            </a:r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 smtClean="0"/>
              <a:t>A Boolean algebra requires</a:t>
            </a:r>
          </a:p>
          <a:p>
            <a:pPr lvl="1"/>
            <a:r>
              <a:rPr lang="en-US" dirty="0" smtClean="0"/>
              <a:t>A set of elements </a:t>
            </a:r>
            <a:r>
              <a:rPr lang="en-US" b="1" i="1" dirty="0" smtClean="0"/>
              <a:t>B</a:t>
            </a:r>
            <a:r>
              <a:rPr lang="en-US" dirty="0" smtClean="0"/>
              <a:t>, consisting of two elements (0 and 1)</a:t>
            </a:r>
          </a:p>
          <a:p>
            <a:pPr lvl="1"/>
            <a:r>
              <a:rPr lang="en-US" dirty="0" smtClean="0"/>
              <a:t>Two binary operations OR and </a:t>
            </a:r>
            <a:r>
              <a:rPr lang="en-US" dirty="0" err="1" smtClean="0"/>
              <a:t>AND</a:t>
            </a:r>
            <a:endParaRPr lang="en-US" dirty="0" smtClean="0"/>
          </a:p>
          <a:p>
            <a:pPr lvl="1"/>
            <a:r>
              <a:rPr lang="en-US" dirty="0" smtClean="0"/>
              <a:t>The axioms below must always be true</a:t>
            </a:r>
          </a:p>
          <a:p>
            <a:pPr lvl="1">
              <a:buFontTx/>
              <a:buNone/>
            </a:pPr>
            <a:endParaRPr lang="en-US" dirty="0" smtClean="0"/>
          </a:p>
          <a:p>
            <a:pPr lvl="1">
              <a:buFontTx/>
              <a:buNone/>
            </a:pPr>
            <a:endParaRPr lang="en-US" dirty="0" smtClean="0"/>
          </a:p>
          <a:p>
            <a:pPr lvl="1">
              <a:buFontTx/>
              <a:buNone/>
            </a:pPr>
            <a:endParaRPr lang="en-US" dirty="0" smtClean="0"/>
          </a:p>
          <a:p>
            <a:pPr lvl="1">
              <a:buFontTx/>
              <a:buNone/>
            </a:pPr>
            <a:endParaRPr lang="en-US" dirty="0" smtClean="0"/>
          </a:p>
          <a:p>
            <a:pPr lvl="1">
              <a:buFontTx/>
              <a:buNone/>
            </a:pPr>
            <a:endParaRPr lang="en-US" dirty="0" smtClean="0"/>
          </a:p>
          <a:p>
            <a:pPr lvl="1">
              <a:buFontTx/>
              <a:buNone/>
            </a:pPr>
            <a:endParaRPr lang="en-US" dirty="0" smtClean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7" dur="500"/>
                                        <p:tgtEl>
                                          <p:spTgt spid="256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Slide Number Placeholder 4"/>
          <p:cNvSpPr>
            <a:spLocks noGrp="1"/>
          </p:cNvSpPr>
          <p:nvPr>
            <p:ph type="sldNum" sz="quarter" idx="4294967295"/>
          </p:nvPr>
        </p:nvSpPr>
        <p:spPr>
          <a:xfrm>
            <a:off x="6781800" y="6248400"/>
            <a:ext cx="1905000" cy="457200"/>
          </a:xfrm>
          <a:prstGeom prst="rect">
            <a:avLst/>
          </a:prstGeom>
          <a:noFill/>
        </p:spPr>
        <p:txBody>
          <a:bodyPr/>
          <a:lstStyle/>
          <a:p>
            <a:fld id="{4675C7B2-F07D-4AE4-8E55-CF82D1F9DFE2}" type="slidenum">
              <a:rPr lang="en-US"/>
              <a:pPr/>
              <a:t>6</a:t>
            </a:fld>
            <a:endParaRPr lang="en-US"/>
          </a:p>
        </p:txBody>
      </p:sp>
      <p:sp>
        <p:nvSpPr>
          <p:cNvPr id="205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latin typeface="Garamond" pitchFamily="18" charset="0"/>
              </a:rPr>
              <a:t>Axiomatic definition of Boolean Algebra</a:t>
            </a:r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pPr lvl="1">
              <a:buFontTx/>
              <a:buNone/>
            </a:pPr>
            <a:endParaRPr lang="en-US" dirty="0" smtClean="0"/>
          </a:p>
          <a:p>
            <a:r>
              <a:rPr lang="en-US" dirty="0" smtClean="0"/>
              <a:t>Based on axiom #5, we can develop a unary (one-argument) operation NOT</a:t>
            </a:r>
          </a:p>
        </p:txBody>
      </p:sp>
      <p:graphicFrame>
        <p:nvGraphicFramePr>
          <p:cNvPr id="25607" name="Object 7"/>
          <p:cNvGraphicFramePr>
            <a:graphicFrameLocks/>
          </p:cNvGraphicFramePr>
          <p:nvPr/>
        </p:nvGraphicFramePr>
        <p:xfrm>
          <a:off x="3333750" y="3448050"/>
          <a:ext cx="1485900" cy="1790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9208" name="Document" r:id="rId3" imgW="1018772" imgH="1242104" progId="Word.Document.8">
                  <p:embed/>
                </p:oleObj>
              </mc:Choice>
              <mc:Fallback>
                <p:oleObj name="Document" r:id="rId3" imgW="1018772" imgH="1242104" progId="Word.Document.8">
                  <p:embed/>
                  <p:pic>
                    <p:nvPicPr>
                      <p:cNvPr id="0" name="Object 7"/>
                      <p:cNvPicPr>
                        <a:picLocks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33750" y="3448050"/>
                        <a:ext cx="1485900" cy="1790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7" dur="500"/>
                                        <p:tgtEl>
                                          <p:spTgt spid="256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5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1" dur="500"/>
                                        <p:tgtEl>
                                          <p:spTgt spid="256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0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Slide Number Placeholder 4"/>
          <p:cNvSpPr>
            <a:spLocks noGrp="1"/>
          </p:cNvSpPr>
          <p:nvPr>
            <p:ph type="sldNum" sz="quarter" idx="4294967295"/>
          </p:nvPr>
        </p:nvSpPr>
        <p:spPr>
          <a:xfrm>
            <a:off x="6781800" y="6248400"/>
            <a:ext cx="1905000" cy="457200"/>
          </a:xfrm>
          <a:prstGeom prst="rect">
            <a:avLst/>
          </a:prstGeom>
          <a:noFill/>
        </p:spPr>
        <p:txBody>
          <a:bodyPr/>
          <a:lstStyle/>
          <a:p>
            <a:fld id="{4675C7B2-F07D-4AE4-8E55-CF82D1F9DFE2}" type="slidenum">
              <a:rPr lang="en-US"/>
              <a:pPr/>
              <a:t>7</a:t>
            </a:fld>
            <a:endParaRPr lang="en-US" dirty="0"/>
          </a:p>
        </p:txBody>
      </p:sp>
      <p:sp>
        <p:nvSpPr>
          <p:cNvPr id="205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latin typeface="Garamond" pitchFamily="18" charset="0"/>
              </a:rPr>
              <a:t>Axiomatic definition of Boolean Algebra</a:t>
            </a:r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altLang="zh-TW" dirty="0" smtClean="0">
                <a:ea typeface="新細明體" pitchFamily="18" charset="-120"/>
              </a:rPr>
              <a:t>The distributive laws</a:t>
            </a:r>
          </a:p>
          <a:p>
            <a:pPr lvl="1">
              <a:buFontTx/>
              <a:buNone/>
            </a:pPr>
            <a:endParaRPr lang="en-US" dirty="0" smtClean="0"/>
          </a:p>
        </p:txBody>
      </p:sp>
      <p:graphicFrame>
        <p:nvGraphicFramePr>
          <p:cNvPr id="6" name="Group 105"/>
          <p:cNvGraphicFramePr>
            <a:graphicFrameLocks noGrp="1"/>
          </p:cNvGraphicFramePr>
          <p:nvPr/>
        </p:nvGraphicFramePr>
        <p:xfrm>
          <a:off x="895350" y="2328863"/>
          <a:ext cx="7219950" cy="3337560"/>
        </p:xfrm>
        <a:graphic>
          <a:graphicData uri="http://schemas.openxmlformats.org/drawingml/2006/table">
            <a:tbl>
              <a:tblPr/>
              <a:tblGrid>
                <a:gridCol w="456613"/>
                <a:gridCol w="481389"/>
                <a:gridCol w="470771"/>
                <a:gridCol w="725624"/>
                <a:gridCol w="1274267"/>
                <a:gridCol w="897296"/>
                <a:gridCol w="940763"/>
                <a:gridCol w="1973227"/>
              </a:tblGrid>
              <a:tr h="3714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x</a:t>
                      </a:r>
                      <a:endParaRPr kumimoji="0" lang="zh-TW" altLang="en-US" sz="1800" b="1" i="1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y</a:t>
                      </a:r>
                      <a:endParaRPr kumimoji="0" lang="zh-TW" altLang="en-US" sz="1800" b="1" i="1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z</a:t>
                      </a:r>
                      <a:endParaRPr kumimoji="0" lang="zh-TW" altLang="en-US" sz="1800" b="1" i="1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1" i="1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y</a:t>
                      </a:r>
                      <a:r>
                        <a:rPr kumimoji="0" lang="en-US" altLang="zh-TW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+z</a:t>
                      </a:r>
                      <a:endParaRPr kumimoji="0" lang="zh-TW" altLang="en-US" sz="1800" b="1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x</a:t>
                      </a:r>
                      <a:r>
                        <a:rPr kumimoji="0" lang="zh-TW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．</a:t>
                      </a:r>
                      <a:r>
                        <a:rPr kumimoji="0" lang="en-US" altLang="zh-TW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(</a:t>
                      </a:r>
                      <a:r>
                        <a:rPr kumimoji="0" lang="en-US" altLang="zh-TW" sz="1800" b="1" i="1" u="none" strike="noStrike" cap="none" normalizeH="0" baseline="0" dirty="0" err="1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y+z</a:t>
                      </a:r>
                      <a:r>
                        <a:rPr kumimoji="0" lang="en-US" altLang="zh-TW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)</a:t>
                      </a:r>
                      <a:endParaRPr kumimoji="0" lang="zh-TW" altLang="en-US" sz="1800" b="1" i="0" u="none" strike="noStrike" cap="none" normalizeH="0" baseline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x</a:t>
                      </a:r>
                      <a:r>
                        <a:rPr kumimoji="0" lang="zh-TW" altLang="en-US" sz="18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．</a:t>
                      </a:r>
                      <a:r>
                        <a:rPr kumimoji="0" lang="en-US" altLang="zh-TW" sz="18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y</a:t>
                      </a:r>
                      <a:endParaRPr kumimoji="0" lang="zh-TW" altLang="en-US" sz="1800" b="1" i="1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x</a:t>
                      </a:r>
                      <a:r>
                        <a:rPr kumimoji="0" lang="zh-TW" altLang="en-US" sz="18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．</a:t>
                      </a:r>
                      <a:r>
                        <a:rPr kumimoji="0" lang="en-US" altLang="zh-TW" sz="18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z</a:t>
                      </a:r>
                      <a:endParaRPr kumimoji="0" lang="zh-TW" altLang="en-US" sz="1800" b="1" i="1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(</a:t>
                      </a:r>
                      <a:r>
                        <a:rPr kumimoji="0" lang="en-US" altLang="zh-TW" sz="18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x</a:t>
                      </a:r>
                      <a:r>
                        <a:rPr kumimoji="0" lang="zh-TW" altLang="en-US" sz="18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．</a:t>
                      </a:r>
                      <a:r>
                        <a:rPr kumimoji="0" lang="en-US" altLang="zh-TW" sz="18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y)</a:t>
                      </a:r>
                      <a:r>
                        <a:rPr kumimoji="0" lang="en-US" altLang="zh-TW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+(</a:t>
                      </a:r>
                      <a:r>
                        <a:rPr kumimoji="0" lang="en-US" altLang="zh-TW" sz="18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x</a:t>
                      </a:r>
                      <a:r>
                        <a:rPr kumimoji="0" lang="zh-TW" altLang="en-US" sz="18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．</a:t>
                      </a:r>
                      <a:r>
                        <a:rPr kumimoji="0" lang="en-US" altLang="zh-TW" sz="18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z</a:t>
                      </a:r>
                      <a:r>
                        <a:rPr kumimoji="0" lang="en-US" altLang="zh-TW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)</a:t>
                      </a:r>
                      <a:endParaRPr kumimoji="0" lang="zh-TW" altLang="en-US" sz="1800" b="1" i="0" u="none" strike="noStrike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18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1800" b="0" i="0" u="none" strike="noStrike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alpha val="20000"/>
                      </a:schemeClr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1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1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1800" b="0" i="0" u="none" strike="noStrike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45757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1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1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1800" b="0" i="0" u="none" strike="noStrike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alpha val="20000"/>
                      </a:schemeClr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1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1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1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1800" b="0" i="0" u="none" strike="noStrike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1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1800" b="0" i="0" u="none" strike="noStrike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alpha val="20000"/>
                      </a:schemeClr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1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1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1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1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18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1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1</a:t>
                      </a:r>
                      <a:endParaRPr kumimoji="0" lang="zh-TW" altLang="en-US" sz="1800" b="0" i="0" u="none" strike="noStrike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1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1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1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1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1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1</a:t>
                      </a:r>
                      <a:endParaRPr kumimoji="0" lang="zh-TW" altLang="en-US" sz="1800" b="0" i="0" u="none" strike="noStrike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alpha val="20000"/>
                      </a:schemeClr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1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1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1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1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1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1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1</a:t>
                      </a:r>
                      <a:endParaRPr kumimoji="0" lang="zh-TW" altLang="en-US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1</a:t>
                      </a:r>
                      <a:endParaRPr kumimoji="0" lang="zh-TW" altLang="en-US" sz="1800" b="0" i="0" u="none" strike="noStrike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Duality principle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If an expression is valid in Boolean algebra, the dual of that expression is also valid.</a:t>
            </a:r>
          </a:p>
          <a:p>
            <a:endParaRPr lang="en-US" dirty="0" smtClean="0"/>
          </a:p>
          <a:p>
            <a:r>
              <a:rPr lang="en-US" dirty="0" smtClean="0"/>
              <a:t>To form the dual of an expression, replace all + operators with . operators, all . operators with + operators, all ones with zeros, and all zeros with ones.</a:t>
            </a:r>
          </a:p>
          <a:p>
            <a:r>
              <a:rPr lang="en-US" dirty="0" smtClean="0"/>
              <a:t>Form the dual of the expression</a:t>
            </a:r>
          </a:p>
          <a:p>
            <a:pPr lvl="1">
              <a:buFont typeface="Wingdings" pitchFamily="2" charset="2"/>
              <a:buNone/>
            </a:pPr>
            <a:r>
              <a:rPr lang="en-US" i="1" dirty="0" smtClean="0"/>
              <a:t>a</a:t>
            </a:r>
            <a:r>
              <a:rPr lang="en-US" dirty="0" smtClean="0"/>
              <a:t> + (</a:t>
            </a:r>
            <a:r>
              <a:rPr lang="en-US" i="1" dirty="0" err="1" smtClean="0"/>
              <a:t>bc</a:t>
            </a:r>
            <a:r>
              <a:rPr lang="en-US" dirty="0" smtClean="0"/>
              <a:t>) = (</a:t>
            </a:r>
            <a:r>
              <a:rPr lang="en-US" i="1" dirty="0" smtClean="0"/>
              <a:t>a</a:t>
            </a:r>
            <a:r>
              <a:rPr lang="en-US" dirty="0" smtClean="0"/>
              <a:t> + </a:t>
            </a:r>
            <a:r>
              <a:rPr lang="en-US" i="1" dirty="0" smtClean="0"/>
              <a:t>b</a:t>
            </a:r>
            <a:r>
              <a:rPr lang="en-US" dirty="0" smtClean="0"/>
              <a:t>)(</a:t>
            </a:r>
            <a:r>
              <a:rPr lang="en-US" i="1" dirty="0" smtClean="0"/>
              <a:t>a</a:t>
            </a:r>
            <a:r>
              <a:rPr lang="en-US" dirty="0" smtClean="0"/>
              <a:t> + </a:t>
            </a:r>
            <a:r>
              <a:rPr lang="en-US" i="1" dirty="0" smtClean="0"/>
              <a:t>c</a:t>
            </a:r>
            <a:r>
              <a:rPr lang="en-US" dirty="0" smtClean="0"/>
              <a:t>)</a:t>
            </a:r>
          </a:p>
          <a:p>
            <a:r>
              <a:rPr lang="en-US" dirty="0" smtClean="0"/>
              <a:t>Following the replacement rules…</a:t>
            </a:r>
          </a:p>
          <a:p>
            <a:pPr lvl="1">
              <a:buFont typeface="Wingdings" pitchFamily="2" charset="2"/>
              <a:buNone/>
            </a:pPr>
            <a:r>
              <a:rPr lang="en-US" i="1" dirty="0" smtClean="0"/>
              <a:t>a</a:t>
            </a:r>
            <a:r>
              <a:rPr lang="en-US" dirty="0" smtClean="0"/>
              <a:t>(</a:t>
            </a:r>
            <a:r>
              <a:rPr lang="en-US" i="1" dirty="0" smtClean="0"/>
              <a:t>b</a:t>
            </a:r>
            <a:r>
              <a:rPr lang="en-US" dirty="0" smtClean="0"/>
              <a:t> + </a:t>
            </a:r>
            <a:r>
              <a:rPr lang="en-US" i="1" dirty="0" smtClean="0"/>
              <a:t>c</a:t>
            </a:r>
            <a:r>
              <a:rPr lang="en-US" dirty="0" smtClean="0"/>
              <a:t>) = </a:t>
            </a:r>
            <a:r>
              <a:rPr lang="en-US" i="1" dirty="0" err="1" smtClean="0"/>
              <a:t>ab</a:t>
            </a:r>
            <a:r>
              <a:rPr lang="en-US" dirty="0" smtClean="0"/>
              <a:t> + </a:t>
            </a:r>
            <a:r>
              <a:rPr lang="en-US" i="1" dirty="0" smtClean="0"/>
              <a:t>ac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0" name="Slide Number Placeholder 4"/>
          <p:cNvSpPr>
            <a:spLocks noGrp="1"/>
          </p:cNvSpPr>
          <p:nvPr>
            <p:ph type="sldNum" sz="quarter" idx="4294967295"/>
          </p:nvPr>
        </p:nvSpPr>
        <p:spPr>
          <a:xfrm>
            <a:off x="6781800" y="6248400"/>
            <a:ext cx="1905000" cy="457200"/>
          </a:xfrm>
          <a:prstGeom prst="rect">
            <a:avLst/>
          </a:prstGeom>
          <a:noFill/>
        </p:spPr>
        <p:txBody>
          <a:bodyPr/>
          <a:lstStyle/>
          <a:p>
            <a:fld id="{B0BBF25A-AFB7-44EE-9321-F45BE4AC70B7}" type="slidenum">
              <a:rPr lang="en-US"/>
              <a:pPr/>
              <a:t>9</a:t>
            </a:fld>
            <a:endParaRPr lang="en-US"/>
          </a:p>
        </p:txBody>
      </p:sp>
      <p:sp>
        <p:nvSpPr>
          <p:cNvPr id="410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Duality principle</a:t>
            </a:r>
          </a:p>
        </p:txBody>
      </p:sp>
      <p:sp>
        <p:nvSpPr>
          <p:cNvPr id="419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The left and right columns of axioms are </a:t>
            </a:r>
            <a:r>
              <a:rPr lang="en-US" dirty="0" smtClean="0">
                <a:solidFill>
                  <a:srgbClr val="FF0033"/>
                </a:solidFill>
              </a:rPr>
              <a:t>duals</a:t>
            </a:r>
            <a:endParaRPr lang="en-US" dirty="0" smtClean="0"/>
          </a:p>
          <a:p>
            <a:pPr lvl="1"/>
            <a:r>
              <a:rPr lang="en-US" dirty="0" smtClean="0"/>
              <a:t>exchange all ANDs with ORs, and 0s with 1s</a:t>
            </a:r>
          </a:p>
          <a:p>
            <a:pPr lvl="1">
              <a:buFontTx/>
              <a:buNone/>
            </a:pPr>
            <a:endParaRPr lang="en-US" sz="1800" dirty="0" smtClean="0"/>
          </a:p>
          <a:p>
            <a:pPr lvl="1">
              <a:buFontTx/>
              <a:buNone/>
            </a:pPr>
            <a:endParaRPr lang="en-US" sz="1800" dirty="0" smtClean="0"/>
          </a:p>
          <a:p>
            <a:pPr lvl="1">
              <a:buFontTx/>
              <a:buNone/>
            </a:pPr>
            <a:endParaRPr lang="en-US" sz="1800" dirty="0" smtClean="0"/>
          </a:p>
          <a:p>
            <a:pPr lvl="1">
              <a:buFontTx/>
              <a:buNone/>
            </a:pPr>
            <a:endParaRPr lang="en-US" sz="1800" dirty="0" smtClean="0"/>
          </a:p>
          <a:p>
            <a:pPr lvl="1">
              <a:buFontTx/>
              <a:buNone/>
            </a:pPr>
            <a:endParaRPr lang="en-US" sz="1800" dirty="0" smtClean="0"/>
          </a:p>
          <a:p>
            <a:pPr lvl="1">
              <a:buFontTx/>
              <a:buNone/>
            </a:pPr>
            <a:endParaRPr lang="en-US" sz="1800" dirty="0" smtClean="0"/>
          </a:p>
        </p:txBody>
      </p:sp>
      <p:graphicFrame>
        <p:nvGraphicFramePr>
          <p:cNvPr id="25604" name="Object 4"/>
          <p:cNvGraphicFramePr>
            <a:graphicFrameLocks noChangeAspect="1"/>
          </p:cNvGraphicFramePr>
          <p:nvPr/>
        </p:nvGraphicFramePr>
        <p:xfrm>
          <a:off x="228600" y="2971800"/>
          <a:ext cx="8362950" cy="3886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4023" name="Document" r:id="rId3" imgW="8046953" imgH="3759462" progId="Word.Document.8">
                  <p:embed/>
                </p:oleObj>
              </mc:Choice>
              <mc:Fallback>
                <p:oleObj name="Document" r:id="rId3" imgW="8046953" imgH="3759462" progId="Word.Document.8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8600" y="2971800"/>
                        <a:ext cx="8362950" cy="38862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7" dur="500"/>
                                        <p:tgtEl>
                                          <p:spTgt spid="41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8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10" dur="500"/>
                                        <p:tgtEl>
                                          <p:spTgt spid="419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8" presetClass="entr" presetSubtype="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14" dur="500"/>
                                        <p:tgtEl>
                                          <p:spTgt spid="256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987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Garamond" pitchFamily="18" charset="0"/>
              </a:rPr>
              <a:t>Basic theorems of Boolean Algebra</a:t>
            </a:r>
          </a:p>
        </p:txBody>
      </p:sp>
      <p:sp>
        <p:nvSpPr>
          <p:cNvPr id="307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smtClean="0"/>
              <a:t>In addition to the axioms, additional laws can be derived; they are called theorems of Boolean Algebra</a:t>
            </a:r>
          </a:p>
          <a:p>
            <a:r>
              <a:rPr lang="en-US" sz="1800" smtClean="0"/>
              <a:t>These theorems are useful in performing algebraic manipulations of Boolean expressions</a:t>
            </a:r>
          </a:p>
        </p:txBody>
      </p:sp>
      <p:graphicFrame>
        <p:nvGraphicFramePr>
          <p:cNvPr id="98308" name="Object 4"/>
          <p:cNvGraphicFramePr>
            <a:graphicFrameLocks noChangeAspect="1"/>
          </p:cNvGraphicFramePr>
          <p:nvPr/>
        </p:nvGraphicFramePr>
        <p:xfrm>
          <a:off x="590550" y="3143250"/>
          <a:ext cx="7353300" cy="2971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8183" name="Document" r:id="rId3" imgW="8184049" imgH="3309899" progId="Word.Document.8">
                  <p:embed/>
                </p:oleObj>
              </mc:Choice>
              <mc:Fallback>
                <p:oleObj name="Document" r:id="rId3" imgW="8184049" imgH="3309899" progId="Word.Document.8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0550" y="3143250"/>
                        <a:ext cx="7353300" cy="29718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7" dur="500"/>
                                        <p:tgtEl>
                                          <p:spTgt spid="983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 smtClean="0"/>
              <a:t>Proof of </a:t>
            </a:r>
            <a:r>
              <a:rPr lang="en-US" sz="3200" i="1" dirty="0" err="1" smtClean="0"/>
              <a:t>x+x</a:t>
            </a:r>
            <a:r>
              <a:rPr lang="en-US" sz="3200" i="1" dirty="0" smtClean="0"/>
              <a:t>=x</a:t>
            </a:r>
            <a:endParaRPr lang="en-US" dirty="0" smtClean="0">
              <a:latin typeface="Garamond" pitchFamily="18" charset="0"/>
            </a:endParaRPr>
          </a:p>
        </p:txBody>
      </p:sp>
      <p:sp>
        <p:nvSpPr>
          <p:cNvPr id="307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We can only use</a:t>
            </a:r>
            <a:br>
              <a:rPr lang="en-US" dirty="0" smtClean="0"/>
            </a:br>
            <a:r>
              <a:rPr lang="en-US" dirty="0" smtClean="0"/>
              <a:t>Huntington postulates:</a:t>
            </a:r>
          </a:p>
          <a:p>
            <a:endParaRPr lang="en-US" dirty="0" smtClean="0"/>
          </a:p>
          <a:p>
            <a:endParaRPr lang="en-US" dirty="0" smtClean="0"/>
          </a:p>
          <a:p>
            <a:r>
              <a:rPr lang="en-US" dirty="0" smtClean="0"/>
              <a:t>Show that </a:t>
            </a:r>
            <a:r>
              <a:rPr lang="en-US" i="1" dirty="0" err="1" smtClean="0"/>
              <a:t>x+x</a:t>
            </a:r>
            <a:r>
              <a:rPr lang="en-US" i="1" dirty="0" smtClean="0"/>
              <a:t>=x</a:t>
            </a:r>
            <a:r>
              <a:rPr lang="en-US" dirty="0" smtClean="0"/>
              <a:t>.</a:t>
            </a:r>
          </a:p>
          <a:p>
            <a:pPr lvl="1">
              <a:buFont typeface="Wingdings" pitchFamily="2" charset="2"/>
              <a:buNone/>
            </a:pPr>
            <a:r>
              <a:rPr lang="en-US" dirty="0" smtClean="0"/>
              <a:t>		 </a:t>
            </a:r>
            <a:r>
              <a:rPr lang="en-US" i="1" dirty="0" err="1" smtClean="0"/>
              <a:t>x+x</a:t>
            </a:r>
            <a:r>
              <a:rPr lang="en-US" i="1" dirty="0" smtClean="0"/>
              <a:t> 	= </a:t>
            </a:r>
            <a:r>
              <a:rPr lang="en-US" dirty="0" smtClean="0"/>
              <a:t>(</a:t>
            </a:r>
            <a:r>
              <a:rPr lang="en-US" i="1" dirty="0" err="1" smtClean="0"/>
              <a:t>x+x</a:t>
            </a:r>
            <a:r>
              <a:rPr lang="en-US" dirty="0" smtClean="0"/>
              <a:t>)</a:t>
            </a:r>
            <a:r>
              <a:rPr lang="en-US" i="1" dirty="0" smtClean="0"/>
              <a:t>·</a:t>
            </a:r>
            <a:r>
              <a:rPr lang="en-US" dirty="0" smtClean="0"/>
              <a:t>1 	by 2(b)</a:t>
            </a:r>
          </a:p>
          <a:p>
            <a:pPr lvl="1">
              <a:buFont typeface="Wingdings" pitchFamily="2" charset="2"/>
              <a:buNone/>
            </a:pPr>
            <a:r>
              <a:rPr lang="en-US" dirty="0" smtClean="0"/>
              <a:t>			= (</a:t>
            </a:r>
            <a:r>
              <a:rPr lang="en-US" i="1" dirty="0" err="1" smtClean="0"/>
              <a:t>x+x</a:t>
            </a:r>
            <a:r>
              <a:rPr lang="en-US" dirty="0" smtClean="0"/>
              <a:t>)(</a:t>
            </a:r>
            <a:r>
              <a:rPr lang="en-US" i="1" dirty="0" err="1" smtClean="0"/>
              <a:t>x+x</a:t>
            </a:r>
            <a:r>
              <a:rPr lang="en-US" i="1" dirty="0" smtClean="0"/>
              <a:t>’</a:t>
            </a:r>
            <a:r>
              <a:rPr lang="en-US" dirty="0" smtClean="0"/>
              <a:t>)	by 5(a)</a:t>
            </a:r>
          </a:p>
          <a:p>
            <a:pPr lvl="1">
              <a:buFont typeface="Wingdings" pitchFamily="2" charset="2"/>
              <a:buNone/>
            </a:pPr>
            <a:r>
              <a:rPr lang="en-US" dirty="0" smtClean="0"/>
              <a:t>			= </a:t>
            </a:r>
            <a:r>
              <a:rPr lang="en-US" i="1" dirty="0" err="1" smtClean="0"/>
              <a:t>x+xx</a:t>
            </a:r>
            <a:r>
              <a:rPr lang="en-US" i="1" dirty="0" smtClean="0"/>
              <a:t>’</a:t>
            </a:r>
            <a:r>
              <a:rPr lang="en-US" dirty="0" smtClean="0"/>
              <a:t>	by 4(b)</a:t>
            </a:r>
          </a:p>
          <a:p>
            <a:pPr lvl="1">
              <a:buFont typeface="Wingdings" pitchFamily="2" charset="2"/>
              <a:buNone/>
            </a:pPr>
            <a:r>
              <a:rPr lang="en-US" dirty="0" smtClean="0"/>
              <a:t>			= </a:t>
            </a:r>
            <a:r>
              <a:rPr lang="en-US" i="1" dirty="0" smtClean="0"/>
              <a:t>x+</a:t>
            </a:r>
            <a:r>
              <a:rPr lang="en-US" dirty="0" smtClean="0"/>
              <a:t>0		by 5(b)</a:t>
            </a:r>
          </a:p>
          <a:p>
            <a:pPr lvl="1">
              <a:buFont typeface="Wingdings" pitchFamily="2" charset="2"/>
              <a:buNone/>
            </a:pPr>
            <a:r>
              <a:rPr lang="en-US" dirty="0" smtClean="0"/>
              <a:t>			= </a:t>
            </a:r>
            <a:r>
              <a:rPr lang="en-US" i="1" dirty="0" smtClean="0"/>
              <a:t>x</a:t>
            </a:r>
            <a:r>
              <a:rPr lang="en-US" dirty="0" smtClean="0"/>
              <a:t>		by 2(a)</a:t>
            </a:r>
          </a:p>
          <a:p>
            <a:r>
              <a:rPr lang="en-US" dirty="0" smtClean="0"/>
              <a:t>We can now use Theorem 1(a) in future proofs</a:t>
            </a:r>
          </a:p>
          <a:p>
            <a:pPr lvl="1">
              <a:buFont typeface="Wingdings" pitchFamily="2" charset="2"/>
              <a:buNone/>
            </a:pPr>
            <a:endParaRPr lang="en-US" dirty="0" smtClean="0"/>
          </a:p>
        </p:txBody>
      </p:sp>
      <p:sp>
        <p:nvSpPr>
          <p:cNvPr id="5" name="Text Box 4"/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4171950" y="1733550"/>
            <a:ext cx="4495800" cy="1477328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eaLnBrk="0" hangingPunct="0"/>
            <a:r>
              <a:rPr lang="en-US" b="1" dirty="0" smtClean="0">
                <a:latin typeface="Verdana" pitchFamily="34" charset="0"/>
              </a:rPr>
              <a:t>Post</a:t>
            </a:r>
            <a:r>
              <a:rPr lang="en-US" b="1" dirty="0">
                <a:latin typeface="Verdana" pitchFamily="34" charset="0"/>
              </a:rPr>
              <a:t>. 2</a:t>
            </a:r>
            <a:r>
              <a:rPr lang="en-US" dirty="0">
                <a:latin typeface="Verdana" pitchFamily="34" charset="0"/>
              </a:rPr>
              <a:t>:  (a) </a:t>
            </a:r>
            <a:r>
              <a:rPr lang="en-US" i="1" dirty="0">
                <a:latin typeface="Verdana" pitchFamily="34" charset="0"/>
              </a:rPr>
              <a:t>x+0=x</a:t>
            </a:r>
            <a:r>
              <a:rPr lang="en-US" dirty="0">
                <a:latin typeface="Verdana" pitchFamily="34" charset="0"/>
              </a:rPr>
              <a:t>, 	(b) </a:t>
            </a:r>
            <a:r>
              <a:rPr lang="en-US" i="1" dirty="0">
                <a:latin typeface="Verdana" pitchFamily="34" charset="0"/>
              </a:rPr>
              <a:t>x·1=x</a:t>
            </a:r>
          </a:p>
          <a:p>
            <a:pPr eaLnBrk="0" hangingPunct="0"/>
            <a:r>
              <a:rPr lang="en-US" b="1" dirty="0">
                <a:latin typeface="Verdana" pitchFamily="34" charset="0"/>
              </a:rPr>
              <a:t>Post. 3</a:t>
            </a:r>
            <a:r>
              <a:rPr lang="en-US" dirty="0">
                <a:latin typeface="Verdana" pitchFamily="34" charset="0"/>
              </a:rPr>
              <a:t>:  (a) </a:t>
            </a:r>
            <a:r>
              <a:rPr lang="en-US" i="1" dirty="0" err="1">
                <a:latin typeface="Verdana" pitchFamily="34" charset="0"/>
              </a:rPr>
              <a:t>x+y</a:t>
            </a:r>
            <a:r>
              <a:rPr lang="en-US" i="1" dirty="0">
                <a:latin typeface="Verdana" pitchFamily="34" charset="0"/>
              </a:rPr>
              <a:t>=</a:t>
            </a:r>
            <a:r>
              <a:rPr lang="en-US" i="1" dirty="0" err="1">
                <a:latin typeface="Verdana" pitchFamily="34" charset="0"/>
              </a:rPr>
              <a:t>y+x</a:t>
            </a:r>
            <a:r>
              <a:rPr lang="en-US" dirty="0">
                <a:latin typeface="Verdana" pitchFamily="34" charset="0"/>
              </a:rPr>
              <a:t>, (b) </a:t>
            </a:r>
            <a:r>
              <a:rPr lang="en-US" i="1" dirty="0" err="1">
                <a:latin typeface="Verdana" pitchFamily="34" charset="0"/>
              </a:rPr>
              <a:t>x·y</a:t>
            </a:r>
            <a:r>
              <a:rPr lang="en-US" i="1" dirty="0">
                <a:latin typeface="Verdana" pitchFamily="34" charset="0"/>
              </a:rPr>
              <a:t>=</a:t>
            </a:r>
            <a:r>
              <a:rPr lang="en-US" i="1" dirty="0" err="1">
                <a:latin typeface="Verdana" pitchFamily="34" charset="0"/>
              </a:rPr>
              <a:t>y·x</a:t>
            </a:r>
            <a:endParaRPr lang="en-US" i="1" dirty="0">
              <a:latin typeface="Verdana" pitchFamily="34" charset="0"/>
            </a:endParaRPr>
          </a:p>
          <a:p>
            <a:pPr eaLnBrk="0" hangingPunct="0"/>
            <a:r>
              <a:rPr lang="en-US" b="1" dirty="0">
                <a:latin typeface="Verdana" pitchFamily="34" charset="0"/>
              </a:rPr>
              <a:t>Post. 4</a:t>
            </a:r>
            <a:r>
              <a:rPr lang="en-US" dirty="0">
                <a:latin typeface="Verdana" pitchFamily="34" charset="0"/>
              </a:rPr>
              <a:t>:  (a) </a:t>
            </a:r>
            <a:r>
              <a:rPr lang="en-US" i="1" dirty="0">
                <a:latin typeface="Verdana" pitchFamily="34" charset="0"/>
              </a:rPr>
              <a:t>x</a:t>
            </a:r>
            <a:r>
              <a:rPr lang="en-US" dirty="0">
                <a:latin typeface="Verdana" pitchFamily="34" charset="0"/>
              </a:rPr>
              <a:t>(</a:t>
            </a:r>
            <a:r>
              <a:rPr lang="en-US" i="1" dirty="0" err="1">
                <a:latin typeface="Verdana" pitchFamily="34" charset="0"/>
              </a:rPr>
              <a:t>y+z</a:t>
            </a:r>
            <a:r>
              <a:rPr lang="en-US" dirty="0">
                <a:latin typeface="Verdana" pitchFamily="34" charset="0"/>
              </a:rPr>
              <a:t>)</a:t>
            </a:r>
            <a:r>
              <a:rPr lang="en-US" i="1" dirty="0">
                <a:latin typeface="Verdana" pitchFamily="34" charset="0"/>
              </a:rPr>
              <a:t> = </a:t>
            </a:r>
            <a:r>
              <a:rPr lang="en-US" i="1" dirty="0" err="1">
                <a:latin typeface="Verdana" pitchFamily="34" charset="0"/>
              </a:rPr>
              <a:t>xy+xz</a:t>
            </a:r>
            <a:r>
              <a:rPr lang="en-US" dirty="0">
                <a:latin typeface="Verdana" pitchFamily="34" charset="0"/>
              </a:rPr>
              <a:t>, </a:t>
            </a:r>
            <a:br>
              <a:rPr lang="en-US" dirty="0">
                <a:latin typeface="Verdana" pitchFamily="34" charset="0"/>
              </a:rPr>
            </a:br>
            <a:r>
              <a:rPr lang="en-US" dirty="0">
                <a:latin typeface="Verdana" pitchFamily="34" charset="0"/>
              </a:rPr>
              <a:t>	   (b) </a:t>
            </a:r>
            <a:r>
              <a:rPr lang="en-US" i="1" dirty="0" err="1">
                <a:latin typeface="Verdana" pitchFamily="34" charset="0"/>
              </a:rPr>
              <a:t>x+yz</a:t>
            </a:r>
            <a:r>
              <a:rPr lang="en-US" i="1" dirty="0">
                <a:latin typeface="Verdana" pitchFamily="34" charset="0"/>
              </a:rPr>
              <a:t> = </a:t>
            </a:r>
            <a:r>
              <a:rPr lang="en-US" dirty="0">
                <a:latin typeface="Verdana" pitchFamily="34" charset="0"/>
              </a:rPr>
              <a:t>(</a:t>
            </a:r>
            <a:r>
              <a:rPr lang="en-US" i="1" dirty="0" err="1">
                <a:latin typeface="Verdana" pitchFamily="34" charset="0"/>
              </a:rPr>
              <a:t>x+y</a:t>
            </a:r>
            <a:r>
              <a:rPr lang="en-US" dirty="0">
                <a:latin typeface="Verdana" pitchFamily="34" charset="0"/>
              </a:rPr>
              <a:t>)(</a:t>
            </a:r>
            <a:r>
              <a:rPr lang="en-US" i="1" dirty="0" err="1">
                <a:latin typeface="Verdana" pitchFamily="34" charset="0"/>
              </a:rPr>
              <a:t>x+z</a:t>
            </a:r>
            <a:r>
              <a:rPr lang="en-US" dirty="0">
                <a:latin typeface="Verdana" pitchFamily="34" charset="0"/>
              </a:rPr>
              <a:t>)</a:t>
            </a:r>
          </a:p>
          <a:p>
            <a:pPr eaLnBrk="0" hangingPunct="0"/>
            <a:r>
              <a:rPr lang="en-US" b="1" dirty="0">
                <a:latin typeface="Verdana" pitchFamily="34" charset="0"/>
              </a:rPr>
              <a:t>Post. 5</a:t>
            </a:r>
            <a:r>
              <a:rPr lang="en-US" dirty="0">
                <a:latin typeface="Verdana" pitchFamily="34" charset="0"/>
              </a:rPr>
              <a:t>:  (a) </a:t>
            </a:r>
            <a:r>
              <a:rPr lang="en-US" i="1" dirty="0" err="1">
                <a:latin typeface="Verdana" pitchFamily="34" charset="0"/>
              </a:rPr>
              <a:t>x+x</a:t>
            </a:r>
            <a:r>
              <a:rPr lang="en-US" i="1" dirty="0">
                <a:latin typeface="Verdana" pitchFamily="34" charset="0"/>
              </a:rPr>
              <a:t>’=1</a:t>
            </a:r>
            <a:r>
              <a:rPr lang="en-US" dirty="0">
                <a:latin typeface="Verdana" pitchFamily="34" charset="0"/>
              </a:rPr>
              <a:t>, 	(b) </a:t>
            </a:r>
            <a:r>
              <a:rPr lang="en-US" i="1" dirty="0" err="1">
                <a:latin typeface="Verdana" pitchFamily="34" charset="0"/>
              </a:rPr>
              <a:t>x·x</a:t>
            </a:r>
            <a:r>
              <a:rPr lang="en-US" i="1" dirty="0">
                <a:latin typeface="Verdana" pitchFamily="34" charset="0"/>
              </a:rPr>
              <a:t>’=0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78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sz="3800" dirty="0"/>
              <a:t>Proof of </a:t>
            </a:r>
            <a:r>
              <a:rPr lang="en-US" sz="3800" i="1" dirty="0" err="1"/>
              <a:t>x·x</a:t>
            </a:r>
            <a:r>
              <a:rPr lang="en-US" sz="3800" i="1" dirty="0"/>
              <a:t>=x</a:t>
            </a:r>
          </a:p>
        </p:txBody>
      </p:sp>
      <p:sp>
        <p:nvSpPr>
          <p:cNvPr id="502787" name="Rectangle 3"/>
          <p:cNvSpPr>
            <a:spLocks noGrp="1" noChangeArrowheads="1"/>
          </p:cNvSpPr>
          <p:nvPr>
            <p:ph type="body" idx="1"/>
            <p:custDataLst>
              <p:tags r:id="rId2"/>
            </p:custDataLst>
          </p:nvPr>
        </p:nvSpPr>
        <p:spPr/>
        <p:txBody>
          <a:bodyPr>
            <a:noAutofit/>
          </a:bodyPr>
          <a:lstStyle/>
          <a:p>
            <a:r>
              <a:rPr lang="en-US" dirty="0"/>
              <a:t>Similar to previous </a:t>
            </a:r>
            <a:br>
              <a:rPr lang="en-US" dirty="0"/>
            </a:br>
            <a:r>
              <a:rPr lang="en-US" dirty="0"/>
              <a:t>proof</a:t>
            </a:r>
          </a:p>
          <a:p>
            <a:endParaRPr lang="en-US" dirty="0"/>
          </a:p>
          <a:p>
            <a:endParaRPr lang="en-US" dirty="0"/>
          </a:p>
          <a:p>
            <a:pPr>
              <a:buNone/>
            </a:pPr>
            <a:endParaRPr lang="en-US" dirty="0"/>
          </a:p>
          <a:p>
            <a:r>
              <a:rPr lang="en-US" dirty="0"/>
              <a:t>Show that </a:t>
            </a:r>
            <a:r>
              <a:rPr lang="en-US" i="1" dirty="0" err="1"/>
              <a:t>x·x</a:t>
            </a:r>
            <a:r>
              <a:rPr lang="en-US" i="1" dirty="0"/>
              <a:t> = x</a:t>
            </a:r>
            <a:r>
              <a:rPr lang="en-US" dirty="0"/>
              <a:t>.</a:t>
            </a:r>
          </a:p>
          <a:p>
            <a:pPr lvl="1">
              <a:buFont typeface="Wingdings" pitchFamily="2" charset="2"/>
              <a:buNone/>
            </a:pPr>
            <a:r>
              <a:rPr lang="en-US" dirty="0"/>
              <a:t>		   </a:t>
            </a:r>
            <a:r>
              <a:rPr lang="en-US" i="1" dirty="0" err="1"/>
              <a:t>x·x</a:t>
            </a:r>
            <a:r>
              <a:rPr lang="en-US" i="1" dirty="0"/>
              <a:t> 	= xx+</a:t>
            </a:r>
            <a:r>
              <a:rPr lang="en-US" dirty="0"/>
              <a:t>0 	</a:t>
            </a:r>
            <a:r>
              <a:rPr lang="en-US" dirty="0" smtClean="0"/>
              <a:t>by </a:t>
            </a:r>
            <a:r>
              <a:rPr lang="en-US" dirty="0"/>
              <a:t>2(a)</a:t>
            </a:r>
          </a:p>
          <a:p>
            <a:pPr lvl="1">
              <a:buFont typeface="Wingdings" pitchFamily="2" charset="2"/>
              <a:buNone/>
            </a:pPr>
            <a:r>
              <a:rPr lang="en-US" dirty="0"/>
              <a:t>			= </a:t>
            </a:r>
            <a:r>
              <a:rPr lang="en-US" i="1" dirty="0" err="1"/>
              <a:t>xx+xx</a:t>
            </a:r>
            <a:r>
              <a:rPr lang="en-US" i="1" dirty="0"/>
              <a:t>’</a:t>
            </a:r>
            <a:r>
              <a:rPr lang="en-US" dirty="0"/>
              <a:t>	by 5(b)</a:t>
            </a:r>
          </a:p>
          <a:p>
            <a:pPr lvl="1">
              <a:buFont typeface="Wingdings" pitchFamily="2" charset="2"/>
              <a:buNone/>
            </a:pPr>
            <a:r>
              <a:rPr lang="en-US" dirty="0"/>
              <a:t>			= </a:t>
            </a:r>
            <a:r>
              <a:rPr lang="en-US" i="1" dirty="0"/>
              <a:t>x</a:t>
            </a:r>
            <a:r>
              <a:rPr lang="en-US" dirty="0"/>
              <a:t>(</a:t>
            </a:r>
            <a:r>
              <a:rPr lang="en-US" i="1" dirty="0" err="1"/>
              <a:t>x+x</a:t>
            </a:r>
            <a:r>
              <a:rPr lang="en-US" i="1" dirty="0"/>
              <a:t>’</a:t>
            </a:r>
            <a:r>
              <a:rPr lang="en-US" dirty="0"/>
              <a:t>)	by 4(a)</a:t>
            </a:r>
          </a:p>
          <a:p>
            <a:pPr lvl="1">
              <a:buFont typeface="Wingdings" pitchFamily="2" charset="2"/>
              <a:buNone/>
            </a:pPr>
            <a:r>
              <a:rPr lang="en-US" dirty="0"/>
              <a:t>			= </a:t>
            </a:r>
            <a:r>
              <a:rPr lang="en-US" i="1" dirty="0"/>
              <a:t>x·</a:t>
            </a:r>
            <a:r>
              <a:rPr lang="en-US" dirty="0"/>
              <a:t>1		by 5(a)</a:t>
            </a:r>
          </a:p>
          <a:p>
            <a:pPr lvl="1">
              <a:buFont typeface="Wingdings" pitchFamily="2" charset="2"/>
              <a:buNone/>
            </a:pPr>
            <a:r>
              <a:rPr lang="en-US" dirty="0"/>
              <a:t>			= </a:t>
            </a:r>
            <a:r>
              <a:rPr lang="en-US" i="1" dirty="0"/>
              <a:t>x</a:t>
            </a:r>
            <a:r>
              <a:rPr lang="en-US" dirty="0"/>
              <a:t>		by 2(b)</a:t>
            </a:r>
          </a:p>
          <a:p>
            <a:pPr lvl="1">
              <a:buFont typeface="Wingdings" pitchFamily="2" charset="2"/>
              <a:buNone/>
            </a:pPr>
            <a:r>
              <a:rPr lang="en-US" dirty="0"/>
              <a:t>			</a:t>
            </a:r>
          </a:p>
        </p:txBody>
      </p:sp>
      <p:sp>
        <p:nvSpPr>
          <p:cNvPr id="502788" name="Text Box 4"/>
          <p:cNvSpPr txBox="1"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3686299" y="1744933"/>
            <a:ext cx="4876800" cy="1754326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eaLnBrk="0" hangingPunct="0"/>
            <a:r>
              <a:rPr lang="en-US" b="1" dirty="0" smtClean="0">
                <a:latin typeface="Verdana" pitchFamily="34" charset="0"/>
              </a:rPr>
              <a:t>Post</a:t>
            </a:r>
            <a:r>
              <a:rPr lang="en-US" b="1" dirty="0">
                <a:latin typeface="Verdana" pitchFamily="34" charset="0"/>
              </a:rPr>
              <a:t>. 2</a:t>
            </a:r>
            <a:r>
              <a:rPr lang="en-US" dirty="0">
                <a:latin typeface="Verdana" pitchFamily="34" charset="0"/>
              </a:rPr>
              <a:t>: (a) </a:t>
            </a:r>
            <a:r>
              <a:rPr lang="en-US" i="1" dirty="0">
                <a:latin typeface="Verdana" pitchFamily="34" charset="0"/>
              </a:rPr>
              <a:t>x+0=x</a:t>
            </a:r>
            <a:r>
              <a:rPr lang="en-US" dirty="0">
                <a:latin typeface="Verdana" pitchFamily="34" charset="0"/>
              </a:rPr>
              <a:t>, 	(b) </a:t>
            </a:r>
            <a:r>
              <a:rPr lang="en-US" i="1" dirty="0">
                <a:latin typeface="Verdana" pitchFamily="34" charset="0"/>
              </a:rPr>
              <a:t>x·1=x</a:t>
            </a:r>
          </a:p>
          <a:p>
            <a:pPr eaLnBrk="0" hangingPunct="0"/>
            <a:r>
              <a:rPr lang="en-US" b="1" dirty="0">
                <a:latin typeface="Verdana" pitchFamily="34" charset="0"/>
              </a:rPr>
              <a:t>Post. 3</a:t>
            </a:r>
            <a:r>
              <a:rPr lang="en-US" dirty="0">
                <a:latin typeface="Verdana" pitchFamily="34" charset="0"/>
              </a:rPr>
              <a:t>: (a) </a:t>
            </a:r>
            <a:r>
              <a:rPr lang="en-US" i="1" dirty="0" err="1">
                <a:latin typeface="Verdana" pitchFamily="34" charset="0"/>
              </a:rPr>
              <a:t>x+y</a:t>
            </a:r>
            <a:r>
              <a:rPr lang="en-US" i="1" dirty="0">
                <a:latin typeface="Verdana" pitchFamily="34" charset="0"/>
              </a:rPr>
              <a:t>=</a:t>
            </a:r>
            <a:r>
              <a:rPr lang="en-US" i="1" dirty="0" err="1">
                <a:latin typeface="Verdana" pitchFamily="34" charset="0"/>
              </a:rPr>
              <a:t>y+x</a:t>
            </a:r>
            <a:r>
              <a:rPr lang="en-US" dirty="0">
                <a:latin typeface="Verdana" pitchFamily="34" charset="0"/>
              </a:rPr>
              <a:t>, (b) </a:t>
            </a:r>
            <a:r>
              <a:rPr lang="en-US" i="1" dirty="0" err="1">
                <a:latin typeface="Verdana" pitchFamily="34" charset="0"/>
              </a:rPr>
              <a:t>x·y</a:t>
            </a:r>
            <a:r>
              <a:rPr lang="en-US" i="1" dirty="0">
                <a:latin typeface="Verdana" pitchFamily="34" charset="0"/>
              </a:rPr>
              <a:t>=</a:t>
            </a:r>
            <a:r>
              <a:rPr lang="en-US" i="1" dirty="0" err="1">
                <a:latin typeface="Verdana" pitchFamily="34" charset="0"/>
              </a:rPr>
              <a:t>y·x</a:t>
            </a:r>
            <a:endParaRPr lang="en-US" i="1" dirty="0">
              <a:latin typeface="Verdana" pitchFamily="34" charset="0"/>
            </a:endParaRPr>
          </a:p>
          <a:p>
            <a:pPr eaLnBrk="0" hangingPunct="0"/>
            <a:r>
              <a:rPr lang="en-US" b="1" dirty="0">
                <a:latin typeface="Verdana" pitchFamily="34" charset="0"/>
              </a:rPr>
              <a:t>Post. 4</a:t>
            </a:r>
            <a:r>
              <a:rPr lang="en-US" dirty="0">
                <a:latin typeface="Verdana" pitchFamily="34" charset="0"/>
              </a:rPr>
              <a:t>: (a) </a:t>
            </a:r>
            <a:r>
              <a:rPr lang="en-US" i="1" dirty="0">
                <a:latin typeface="Verdana" pitchFamily="34" charset="0"/>
              </a:rPr>
              <a:t>x</a:t>
            </a:r>
            <a:r>
              <a:rPr lang="en-US" dirty="0">
                <a:latin typeface="Verdana" pitchFamily="34" charset="0"/>
              </a:rPr>
              <a:t>(</a:t>
            </a:r>
            <a:r>
              <a:rPr lang="en-US" i="1" dirty="0" err="1">
                <a:latin typeface="Verdana" pitchFamily="34" charset="0"/>
              </a:rPr>
              <a:t>y+z</a:t>
            </a:r>
            <a:r>
              <a:rPr lang="en-US" dirty="0">
                <a:latin typeface="Verdana" pitchFamily="34" charset="0"/>
              </a:rPr>
              <a:t>)</a:t>
            </a:r>
            <a:r>
              <a:rPr lang="en-US" i="1" dirty="0">
                <a:latin typeface="Verdana" pitchFamily="34" charset="0"/>
              </a:rPr>
              <a:t> = </a:t>
            </a:r>
            <a:r>
              <a:rPr lang="en-US" i="1" dirty="0" err="1">
                <a:latin typeface="Verdana" pitchFamily="34" charset="0"/>
              </a:rPr>
              <a:t>xy+xz</a:t>
            </a:r>
            <a:r>
              <a:rPr lang="en-US" dirty="0">
                <a:latin typeface="Verdana" pitchFamily="34" charset="0"/>
              </a:rPr>
              <a:t>, </a:t>
            </a:r>
            <a:br>
              <a:rPr lang="en-US" dirty="0">
                <a:latin typeface="Verdana" pitchFamily="34" charset="0"/>
              </a:rPr>
            </a:br>
            <a:r>
              <a:rPr lang="en-US" dirty="0">
                <a:latin typeface="Verdana" pitchFamily="34" charset="0"/>
              </a:rPr>
              <a:t>	  (b) </a:t>
            </a:r>
            <a:r>
              <a:rPr lang="en-US" i="1" dirty="0" err="1">
                <a:latin typeface="Verdana" pitchFamily="34" charset="0"/>
              </a:rPr>
              <a:t>x+yz</a:t>
            </a:r>
            <a:r>
              <a:rPr lang="en-US" i="1" dirty="0">
                <a:latin typeface="Verdana" pitchFamily="34" charset="0"/>
              </a:rPr>
              <a:t> = </a:t>
            </a:r>
            <a:r>
              <a:rPr lang="en-US" dirty="0">
                <a:latin typeface="Verdana" pitchFamily="34" charset="0"/>
              </a:rPr>
              <a:t>(</a:t>
            </a:r>
            <a:r>
              <a:rPr lang="en-US" i="1" dirty="0" err="1">
                <a:latin typeface="Verdana" pitchFamily="34" charset="0"/>
              </a:rPr>
              <a:t>x+y</a:t>
            </a:r>
            <a:r>
              <a:rPr lang="en-US" dirty="0">
                <a:latin typeface="Verdana" pitchFamily="34" charset="0"/>
              </a:rPr>
              <a:t>)(</a:t>
            </a:r>
            <a:r>
              <a:rPr lang="en-US" i="1" dirty="0" err="1">
                <a:latin typeface="Verdana" pitchFamily="34" charset="0"/>
              </a:rPr>
              <a:t>x+z</a:t>
            </a:r>
            <a:r>
              <a:rPr lang="en-US" dirty="0">
                <a:latin typeface="Verdana" pitchFamily="34" charset="0"/>
              </a:rPr>
              <a:t>)</a:t>
            </a:r>
          </a:p>
          <a:p>
            <a:pPr eaLnBrk="0" hangingPunct="0"/>
            <a:r>
              <a:rPr lang="en-US" b="1" dirty="0">
                <a:latin typeface="Verdana" pitchFamily="34" charset="0"/>
              </a:rPr>
              <a:t>Post. 5</a:t>
            </a:r>
            <a:r>
              <a:rPr lang="en-US" dirty="0">
                <a:latin typeface="Verdana" pitchFamily="34" charset="0"/>
              </a:rPr>
              <a:t>: (a) </a:t>
            </a:r>
            <a:r>
              <a:rPr lang="en-US" i="1" dirty="0" err="1">
                <a:latin typeface="Verdana" pitchFamily="34" charset="0"/>
              </a:rPr>
              <a:t>x+x</a:t>
            </a:r>
            <a:r>
              <a:rPr lang="en-US" i="1" dirty="0">
                <a:latin typeface="Verdana" pitchFamily="34" charset="0"/>
              </a:rPr>
              <a:t>’=1</a:t>
            </a:r>
            <a:r>
              <a:rPr lang="en-US" dirty="0">
                <a:latin typeface="Verdana" pitchFamily="34" charset="0"/>
              </a:rPr>
              <a:t>, 	(b) </a:t>
            </a:r>
            <a:r>
              <a:rPr lang="en-US" i="1" dirty="0" err="1">
                <a:latin typeface="Verdana" pitchFamily="34" charset="0"/>
              </a:rPr>
              <a:t>x·x</a:t>
            </a:r>
            <a:r>
              <a:rPr lang="en-US" i="1" dirty="0">
                <a:latin typeface="Verdana" pitchFamily="34" charset="0"/>
              </a:rPr>
              <a:t>’=0</a:t>
            </a:r>
          </a:p>
          <a:p>
            <a:pPr eaLnBrk="0" hangingPunct="0"/>
            <a:r>
              <a:rPr lang="en-US" b="1" dirty="0">
                <a:latin typeface="Verdana" pitchFamily="34" charset="0"/>
              </a:rPr>
              <a:t>Th. 1</a:t>
            </a:r>
            <a:r>
              <a:rPr lang="en-US" dirty="0">
                <a:latin typeface="Verdana" pitchFamily="34" charset="0"/>
              </a:rPr>
              <a:t>:	  (a) </a:t>
            </a:r>
            <a:r>
              <a:rPr lang="en-US" i="1" dirty="0" err="1">
                <a:latin typeface="Verdana" pitchFamily="34" charset="0"/>
              </a:rPr>
              <a:t>x+x</a:t>
            </a:r>
            <a:r>
              <a:rPr lang="en-US" i="1" dirty="0">
                <a:latin typeface="Verdana" pitchFamily="34" charset="0"/>
              </a:rPr>
              <a:t>=x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 smtClean="0"/>
              <a:t>Proof of </a:t>
            </a:r>
            <a:r>
              <a:rPr lang="en-US" sz="3200" i="1" dirty="0" smtClean="0"/>
              <a:t>x</a:t>
            </a:r>
            <a:r>
              <a:rPr lang="tr-TR" sz="3200" i="1" dirty="0" smtClean="0"/>
              <a:t>+</a:t>
            </a:r>
            <a:r>
              <a:rPr lang="tr-TR" sz="3200" dirty="0" smtClean="0"/>
              <a:t>1</a:t>
            </a:r>
            <a:r>
              <a:rPr lang="en-US" sz="3200" i="1" dirty="0" smtClean="0"/>
              <a:t>=</a:t>
            </a:r>
            <a:r>
              <a:rPr lang="tr-TR" sz="3200" dirty="0" smtClean="0"/>
              <a:t>1</a:t>
            </a:r>
            <a:endParaRPr lang="en-US" dirty="0" smtClean="0">
              <a:latin typeface="Garamond" pitchFamily="18" charset="0"/>
            </a:endParaRPr>
          </a:p>
        </p:txBody>
      </p:sp>
      <p:sp>
        <p:nvSpPr>
          <p:cNvPr id="307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581150"/>
            <a:ext cx="7696200" cy="4873752"/>
          </a:xfrm>
        </p:spPr>
        <p:txBody>
          <a:bodyPr>
            <a:normAutofit/>
          </a:bodyPr>
          <a:lstStyle/>
          <a:p>
            <a:r>
              <a:rPr lang="en-US" altLang="zh-TW" dirty="0" smtClean="0">
                <a:ea typeface="新細明體" pitchFamily="18" charset="-120"/>
              </a:rPr>
              <a:t>Theorem 2(a): </a:t>
            </a:r>
            <a:r>
              <a:rPr lang="en-US" altLang="zh-TW" i="1" dirty="0" smtClean="0">
                <a:ea typeface="新細明體" pitchFamily="18" charset="-120"/>
              </a:rPr>
              <a:t>x + </a:t>
            </a:r>
            <a:r>
              <a:rPr lang="en-US" altLang="zh-TW" dirty="0" smtClean="0">
                <a:ea typeface="新細明體" pitchFamily="18" charset="-120"/>
              </a:rPr>
              <a:t>1 = 1</a:t>
            </a:r>
          </a:p>
          <a:p>
            <a:pPr>
              <a:buFont typeface="Wingdings" pitchFamily="2" charset="2"/>
              <a:buNone/>
            </a:pPr>
            <a:r>
              <a:rPr lang="en-US" altLang="zh-TW" dirty="0" smtClean="0">
                <a:ea typeface="新細明體" pitchFamily="18" charset="-120"/>
              </a:rPr>
              <a:t>	</a:t>
            </a:r>
            <a:r>
              <a:rPr lang="en-US" altLang="zh-TW" i="1" dirty="0" smtClean="0">
                <a:ea typeface="新細明體" pitchFamily="18" charset="-120"/>
              </a:rPr>
              <a:t>x + </a:t>
            </a:r>
            <a:r>
              <a:rPr lang="en-US" altLang="zh-TW" dirty="0" smtClean="0">
                <a:ea typeface="新細明體" pitchFamily="18" charset="-120"/>
              </a:rPr>
              <a:t>1 = 1</a:t>
            </a:r>
            <a:r>
              <a:rPr lang="zh-TW" altLang="en-US" dirty="0" smtClean="0">
                <a:ea typeface="新細明體" pitchFamily="18" charset="-120"/>
              </a:rPr>
              <a:t>．</a:t>
            </a:r>
            <a:r>
              <a:rPr lang="en-US" altLang="zh-TW" dirty="0" smtClean="0">
                <a:ea typeface="新細明體" pitchFamily="18" charset="-120"/>
              </a:rPr>
              <a:t>(</a:t>
            </a:r>
            <a:r>
              <a:rPr lang="en-US" altLang="zh-TW" i="1" dirty="0" smtClean="0">
                <a:ea typeface="新細明體" pitchFamily="18" charset="-120"/>
              </a:rPr>
              <a:t>x</a:t>
            </a:r>
            <a:r>
              <a:rPr lang="en-US" altLang="zh-TW" dirty="0" smtClean="0">
                <a:ea typeface="新細明體" pitchFamily="18" charset="-120"/>
              </a:rPr>
              <a:t> + 1)</a:t>
            </a:r>
            <a:r>
              <a:rPr lang="tr-TR" altLang="zh-TW" dirty="0" smtClean="0"/>
              <a:t>    by </a:t>
            </a:r>
            <a:r>
              <a:rPr lang="en-US" altLang="zh-TW" dirty="0" smtClean="0">
                <a:ea typeface="新細明體" pitchFamily="18" charset="-120"/>
              </a:rPr>
              <a:t>2(b)</a:t>
            </a:r>
          </a:p>
          <a:p>
            <a:pPr lvl="1">
              <a:buFont typeface="Wingdings" pitchFamily="2" charset="2"/>
              <a:buNone/>
            </a:pPr>
            <a:r>
              <a:rPr lang="en-US" altLang="zh-TW" dirty="0" smtClean="0">
                <a:ea typeface="新細明體" pitchFamily="18" charset="-120"/>
              </a:rPr>
              <a:t>		 =(</a:t>
            </a:r>
            <a:r>
              <a:rPr lang="en-US" altLang="zh-TW" i="1" dirty="0" smtClean="0">
                <a:ea typeface="新細明體" pitchFamily="18" charset="-120"/>
              </a:rPr>
              <a:t>x + x'</a:t>
            </a:r>
            <a:r>
              <a:rPr lang="en-US" altLang="zh-TW" dirty="0" smtClean="0">
                <a:ea typeface="新細明體" pitchFamily="18" charset="-120"/>
              </a:rPr>
              <a:t>)(</a:t>
            </a:r>
            <a:r>
              <a:rPr lang="en-US" altLang="zh-TW" i="1" dirty="0" smtClean="0">
                <a:ea typeface="新細明體" pitchFamily="18" charset="-120"/>
              </a:rPr>
              <a:t>x +</a:t>
            </a:r>
            <a:r>
              <a:rPr lang="en-US" altLang="zh-TW" dirty="0" smtClean="0">
                <a:ea typeface="新細明體" pitchFamily="18" charset="-120"/>
              </a:rPr>
              <a:t> 1)    5(a)</a:t>
            </a:r>
          </a:p>
          <a:p>
            <a:pPr lvl="1">
              <a:buFont typeface="Wingdings" pitchFamily="2" charset="2"/>
              <a:buNone/>
            </a:pPr>
            <a:r>
              <a:rPr lang="en-US" altLang="zh-TW" dirty="0" smtClean="0">
                <a:ea typeface="新細明體" pitchFamily="18" charset="-120"/>
              </a:rPr>
              <a:t>		 = </a:t>
            </a:r>
            <a:r>
              <a:rPr lang="en-US" altLang="zh-TW" i="1" dirty="0" smtClean="0">
                <a:ea typeface="新細明體" pitchFamily="18" charset="-120"/>
              </a:rPr>
              <a:t>x + x'</a:t>
            </a:r>
            <a:r>
              <a:rPr lang="en-US" altLang="zh-TW" dirty="0" smtClean="0">
                <a:ea typeface="新細明體" pitchFamily="18" charset="-120"/>
              </a:rPr>
              <a:t> 1	       4(b)</a:t>
            </a:r>
          </a:p>
          <a:p>
            <a:pPr lvl="1">
              <a:buFont typeface="Wingdings" pitchFamily="2" charset="2"/>
              <a:buNone/>
            </a:pPr>
            <a:r>
              <a:rPr lang="en-US" altLang="zh-TW" i="1" dirty="0" smtClean="0">
                <a:ea typeface="新細明體" pitchFamily="18" charset="-120"/>
              </a:rPr>
              <a:t>		 = x + x' 	       </a:t>
            </a:r>
            <a:r>
              <a:rPr lang="en-US" altLang="zh-TW" dirty="0" smtClean="0">
                <a:ea typeface="新細明體" pitchFamily="18" charset="-120"/>
              </a:rPr>
              <a:t>2(b)</a:t>
            </a:r>
          </a:p>
          <a:p>
            <a:pPr lvl="1">
              <a:buFont typeface="Wingdings" pitchFamily="2" charset="2"/>
              <a:buNone/>
            </a:pPr>
            <a:r>
              <a:rPr lang="en-US" altLang="zh-TW" i="1" dirty="0" smtClean="0">
                <a:ea typeface="新細明體" pitchFamily="18" charset="-120"/>
              </a:rPr>
              <a:t>  		 </a:t>
            </a:r>
            <a:r>
              <a:rPr lang="en-US" altLang="zh-TW" dirty="0" smtClean="0">
                <a:ea typeface="新細明體" pitchFamily="18" charset="-120"/>
              </a:rPr>
              <a:t>= 1</a:t>
            </a:r>
          </a:p>
          <a:p>
            <a:r>
              <a:rPr lang="en-US" altLang="zh-TW" dirty="0" smtClean="0">
                <a:ea typeface="新細明體" pitchFamily="18" charset="-120"/>
              </a:rPr>
              <a:t>Theorem 2(b): </a:t>
            </a:r>
            <a:r>
              <a:rPr lang="en-US" altLang="zh-TW" i="1" dirty="0" smtClean="0">
                <a:ea typeface="新細明體" pitchFamily="18" charset="-120"/>
              </a:rPr>
              <a:t>x</a:t>
            </a:r>
            <a:r>
              <a:rPr lang="zh-TW" altLang="en-US" dirty="0" smtClean="0">
                <a:ea typeface="新細明體" pitchFamily="18" charset="-120"/>
              </a:rPr>
              <a:t>．</a:t>
            </a:r>
            <a:r>
              <a:rPr lang="en-US" altLang="zh-TW" dirty="0" smtClean="0">
                <a:ea typeface="新細明體" pitchFamily="18" charset="-120"/>
              </a:rPr>
              <a:t>0 = 0	by duality</a:t>
            </a:r>
          </a:p>
          <a:p>
            <a:r>
              <a:rPr lang="en-US" altLang="zh-TW" dirty="0" smtClean="0">
                <a:ea typeface="新細明體" pitchFamily="18" charset="-120"/>
              </a:rPr>
              <a:t>Theorem 4: (</a:t>
            </a:r>
            <a:r>
              <a:rPr lang="en-US" altLang="zh-TW" i="1" dirty="0" smtClean="0">
                <a:ea typeface="新細明體" pitchFamily="18" charset="-120"/>
              </a:rPr>
              <a:t>x'</a:t>
            </a:r>
            <a:r>
              <a:rPr lang="en-US" altLang="zh-TW" dirty="0" smtClean="0">
                <a:ea typeface="新細明體" pitchFamily="18" charset="-120"/>
              </a:rPr>
              <a:t>)</a:t>
            </a:r>
            <a:r>
              <a:rPr lang="en-US" altLang="zh-TW" i="1" dirty="0" smtClean="0">
                <a:ea typeface="新細明體" pitchFamily="18" charset="-120"/>
              </a:rPr>
              <a:t>'</a:t>
            </a:r>
            <a:r>
              <a:rPr lang="en-US" altLang="zh-TW" dirty="0" smtClean="0">
                <a:ea typeface="新細明體" pitchFamily="18" charset="-120"/>
              </a:rPr>
              <a:t> = </a:t>
            </a:r>
            <a:r>
              <a:rPr lang="en-US" altLang="zh-TW" i="1" dirty="0" smtClean="0">
                <a:ea typeface="新細明體" pitchFamily="18" charset="-120"/>
              </a:rPr>
              <a:t>x</a:t>
            </a:r>
            <a:endParaRPr lang="en-US" altLang="zh-TW" dirty="0" smtClean="0">
              <a:ea typeface="新細明體" pitchFamily="18" charset="-120"/>
            </a:endParaRPr>
          </a:p>
          <a:p>
            <a:pPr lvl="1"/>
            <a:r>
              <a:rPr lang="en-US" altLang="zh-TW" dirty="0" smtClean="0">
                <a:ea typeface="新細明體" pitchFamily="18" charset="-120"/>
              </a:rPr>
              <a:t>Postulate 5 defines the complement of </a:t>
            </a:r>
            <a:r>
              <a:rPr lang="en-US" altLang="zh-TW" i="1" dirty="0" smtClean="0">
                <a:ea typeface="新細明體" pitchFamily="18" charset="-120"/>
              </a:rPr>
              <a:t>x, x + x' = </a:t>
            </a:r>
            <a:r>
              <a:rPr lang="en-US" altLang="zh-TW" dirty="0" smtClean="0">
                <a:ea typeface="新細明體" pitchFamily="18" charset="-120"/>
              </a:rPr>
              <a:t>1 and </a:t>
            </a:r>
            <a:r>
              <a:rPr lang="en-US" altLang="zh-TW" i="1" dirty="0" smtClean="0">
                <a:ea typeface="新細明體" pitchFamily="18" charset="-120"/>
              </a:rPr>
              <a:t>x </a:t>
            </a:r>
            <a:r>
              <a:rPr lang="en-US" altLang="zh-TW" i="1" dirty="0" err="1" smtClean="0">
                <a:ea typeface="新細明體" pitchFamily="18" charset="-120"/>
              </a:rPr>
              <a:t>x</a:t>
            </a:r>
            <a:r>
              <a:rPr lang="en-US" altLang="zh-TW" i="1" dirty="0" smtClean="0">
                <a:ea typeface="新細明體" pitchFamily="18" charset="-120"/>
              </a:rPr>
              <a:t>' = </a:t>
            </a:r>
            <a:r>
              <a:rPr lang="en-US" altLang="zh-TW" dirty="0" smtClean="0">
                <a:ea typeface="新細明體" pitchFamily="18" charset="-120"/>
              </a:rPr>
              <a:t>0</a:t>
            </a:r>
          </a:p>
          <a:p>
            <a:pPr lvl="1"/>
            <a:r>
              <a:rPr lang="en-US" altLang="zh-TW" dirty="0" smtClean="0">
                <a:ea typeface="新細明體" pitchFamily="18" charset="-120"/>
              </a:rPr>
              <a:t>The complement of </a:t>
            </a:r>
            <a:r>
              <a:rPr lang="en-US" altLang="zh-TW" i="1" dirty="0" smtClean="0">
                <a:ea typeface="新細明體" pitchFamily="18" charset="-120"/>
              </a:rPr>
              <a:t>x' </a:t>
            </a:r>
            <a:r>
              <a:rPr lang="en-US" altLang="zh-TW" dirty="0" smtClean="0">
                <a:ea typeface="新細明體" pitchFamily="18" charset="-120"/>
              </a:rPr>
              <a:t>is </a:t>
            </a:r>
            <a:r>
              <a:rPr lang="en-US" altLang="zh-TW" i="1" dirty="0" smtClean="0">
                <a:ea typeface="新細明體" pitchFamily="18" charset="-120"/>
              </a:rPr>
              <a:t>x </a:t>
            </a:r>
            <a:r>
              <a:rPr lang="en-US" altLang="zh-TW" dirty="0" smtClean="0">
                <a:ea typeface="新細明體" pitchFamily="18" charset="-120"/>
              </a:rPr>
              <a:t>is also (</a:t>
            </a:r>
            <a:r>
              <a:rPr lang="en-US" altLang="zh-TW" i="1" dirty="0" smtClean="0">
                <a:ea typeface="新細明體" pitchFamily="18" charset="-120"/>
              </a:rPr>
              <a:t>x'</a:t>
            </a:r>
            <a:r>
              <a:rPr lang="en-US" altLang="zh-TW" dirty="0" smtClean="0">
                <a:ea typeface="新細明體" pitchFamily="18" charset="-120"/>
              </a:rPr>
              <a:t>)</a:t>
            </a:r>
            <a:r>
              <a:rPr lang="en-US" altLang="zh-TW" i="1" dirty="0" smtClean="0">
                <a:ea typeface="新細明體" pitchFamily="18" charset="-120"/>
              </a:rPr>
              <a:t>'</a:t>
            </a:r>
          </a:p>
          <a:p>
            <a:pPr lvl="1">
              <a:buFont typeface="Wingdings" pitchFamily="2" charset="2"/>
              <a:buNone/>
            </a:pPr>
            <a:endParaRPr lang="en-US" dirty="0" smtClean="0"/>
          </a:p>
        </p:txBody>
      </p:sp>
      <p:sp>
        <p:nvSpPr>
          <p:cNvPr id="6" name="Text Box 4"/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4552950" y="1657350"/>
            <a:ext cx="4419600" cy="1754326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eaLnBrk="0" hangingPunct="0"/>
            <a:r>
              <a:rPr lang="en-US" b="1" dirty="0" smtClean="0">
                <a:latin typeface="Verdana" pitchFamily="34" charset="0"/>
              </a:rPr>
              <a:t>Post</a:t>
            </a:r>
            <a:r>
              <a:rPr lang="en-US" b="1" dirty="0">
                <a:latin typeface="Verdana" pitchFamily="34" charset="0"/>
              </a:rPr>
              <a:t>. 2</a:t>
            </a:r>
            <a:r>
              <a:rPr lang="en-US" dirty="0">
                <a:latin typeface="Verdana" pitchFamily="34" charset="0"/>
              </a:rPr>
              <a:t>: (a) </a:t>
            </a:r>
            <a:r>
              <a:rPr lang="en-US" i="1" dirty="0">
                <a:latin typeface="Verdana" pitchFamily="34" charset="0"/>
              </a:rPr>
              <a:t>x+0=x</a:t>
            </a:r>
            <a:r>
              <a:rPr lang="en-US" dirty="0">
                <a:latin typeface="Verdana" pitchFamily="34" charset="0"/>
              </a:rPr>
              <a:t>, 	(b) </a:t>
            </a:r>
            <a:r>
              <a:rPr lang="en-US" i="1" dirty="0">
                <a:latin typeface="Verdana" pitchFamily="34" charset="0"/>
              </a:rPr>
              <a:t>x·1=x</a:t>
            </a:r>
          </a:p>
          <a:p>
            <a:pPr eaLnBrk="0" hangingPunct="0"/>
            <a:r>
              <a:rPr lang="en-US" b="1" dirty="0">
                <a:latin typeface="Verdana" pitchFamily="34" charset="0"/>
              </a:rPr>
              <a:t>Post. 3</a:t>
            </a:r>
            <a:r>
              <a:rPr lang="en-US" dirty="0">
                <a:latin typeface="Verdana" pitchFamily="34" charset="0"/>
              </a:rPr>
              <a:t>: (a) </a:t>
            </a:r>
            <a:r>
              <a:rPr lang="en-US" i="1" dirty="0" err="1">
                <a:latin typeface="Verdana" pitchFamily="34" charset="0"/>
              </a:rPr>
              <a:t>x+y</a:t>
            </a:r>
            <a:r>
              <a:rPr lang="en-US" i="1" dirty="0">
                <a:latin typeface="Verdana" pitchFamily="34" charset="0"/>
              </a:rPr>
              <a:t>=</a:t>
            </a:r>
            <a:r>
              <a:rPr lang="en-US" i="1" dirty="0" err="1">
                <a:latin typeface="Verdana" pitchFamily="34" charset="0"/>
              </a:rPr>
              <a:t>y+x</a:t>
            </a:r>
            <a:r>
              <a:rPr lang="en-US" dirty="0">
                <a:latin typeface="Verdana" pitchFamily="34" charset="0"/>
              </a:rPr>
              <a:t>, (b) </a:t>
            </a:r>
            <a:r>
              <a:rPr lang="en-US" i="1" dirty="0" err="1">
                <a:latin typeface="Verdana" pitchFamily="34" charset="0"/>
              </a:rPr>
              <a:t>x·y</a:t>
            </a:r>
            <a:r>
              <a:rPr lang="en-US" i="1" dirty="0">
                <a:latin typeface="Verdana" pitchFamily="34" charset="0"/>
              </a:rPr>
              <a:t>=</a:t>
            </a:r>
            <a:r>
              <a:rPr lang="en-US" i="1" dirty="0" err="1">
                <a:latin typeface="Verdana" pitchFamily="34" charset="0"/>
              </a:rPr>
              <a:t>y·x</a:t>
            </a:r>
            <a:endParaRPr lang="en-US" i="1" dirty="0">
              <a:latin typeface="Verdana" pitchFamily="34" charset="0"/>
            </a:endParaRPr>
          </a:p>
          <a:p>
            <a:pPr eaLnBrk="0" hangingPunct="0"/>
            <a:r>
              <a:rPr lang="en-US" b="1" dirty="0">
                <a:latin typeface="Verdana" pitchFamily="34" charset="0"/>
              </a:rPr>
              <a:t>Post. 4</a:t>
            </a:r>
            <a:r>
              <a:rPr lang="en-US" dirty="0">
                <a:latin typeface="Verdana" pitchFamily="34" charset="0"/>
              </a:rPr>
              <a:t>: (a) </a:t>
            </a:r>
            <a:r>
              <a:rPr lang="en-US" i="1" dirty="0">
                <a:latin typeface="Verdana" pitchFamily="34" charset="0"/>
              </a:rPr>
              <a:t>x</a:t>
            </a:r>
            <a:r>
              <a:rPr lang="en-US" dirty="0">
                <a:latin typeface="Verdana" pitchFamily="34" charset="0"/>
              </a:rPr>
              <a:t>(</a:t>
            </a:r>
            <a:r>
              <a:rPr lang="en-US" i="1" dirty="0" err="1">
                <a:latin typeface="Verdana" pitchFamily="34" charset="0"/>
              </a:rPr>
              <a:t>y+z</a:t>
            </a:r>
            <a:r>
              <a:rPr lang="en-US" dirty="0">
                <a:latin typeface="Verdana" pitchFamily="34" charset="0"/>
              </a:rPr>
              <a:t>)</a:t>
            </a:r>
            <a:r>
              <a:rPr lang="en-US" i="1" dirty="0">
                <a:latin typeface="Verdana" pitchFamily="34" charset="0"/>
              </a:rPr>
              <a:t> = </a:t>
            </a:r>
            <a:r>
              <a:rPr lang="en-US" i="1" dirty="0" err="1">
                <a:latin typeface="Verdana" pitchFamily="34" charset="0"/>
              </a:rPr>
              <a:t>xy+xz</a:t>
            </a:r>
            <a:r>
              <a:rPr lang="en-US" dirty="0">
                <a:latin typeface="Verdana" pitchFamily="34" charset="0"/>
              </a:rPr>
              <a:t>, </a:t>
            </a:r>
            <a:br>
              <a:rPr lang="en-US" dirty="0">
                <a:latin typeface="Verdana" pitchFamily="34" charset="0"/>
              </a:rPr>
            </a:br>
            <a:r>
              <a:rPr lang="en-US" dirty="0">
                <a:latin typeface="Verdana" pitchFamily="34" charset="0"/>
              </a:rPr>
              <a:t>	  (b) </a:t>
            </a:r>
            <a:r>
              <a:rPr lang="en-US" i="1" dirty="0" err="1">
                <a:latin typeface="Verdana" pitchFamily="34" charset="0"/>
              </a:rPr>
              <a:t>x+yz</a:t>
            </a:r>
            <a:r>
              <a:rPr lang="en-US" i="1" dirty="0">
                <a:latin typeface="Verdana" pitchFamily="34" charset="0"/>
              </a:rPr>
              <a:t> = </a:t>
            </a:r>
            <a:r>
              <a:rPr lang="en-US" dirty="0">
                <a:latin typeface="Verdana" pitchFamily="34" charset="0"/>
              </a:rPr>
              <a:t>(</a:t>
            </a:r>
            <a:r>
              <a:rPr lang="en-US" i="1" dirty="0" err="1">
                <a:latin typeface="Verdana" pitchFamily="34" charset="0"/>
              </a:rPr>
              <a:t>x+y</a:t>
            </a:r>
            <a:r>
              <a:rPr lang="en-US" dirty="0">
                <a:latin typeface="Verdana" pitchFamily="34" charset="0"/>
              </a:rPr>
              <a:t>)(</a:t>
            </a:r>
            <a:r>
              <a:rPr lang="en-US" i="1" dirty="0" err="1">
                <a:latin typeface="Verdana" pitchFamily="34" charset="0"/>
              </a:rPr>
              <a:t>x+z</a:t>
            </a:r>
            <a:r>
              <a:rPr lang="en-US" dirty="0">
                <a:latin typeface="Verdana" pitchFamily="34" charset="0"/>
              </a:rPr>
              <a:t>)</a:t>
            </a:r>
          </a:p>
          <a:p>
            <a:pPr eaLnBrk="0" hangingPunct="0"/>
            <a:r>
              <a:rPr lang="en-US" b="1" dirty="0">
                <a:latin typeface="Verdana" pitchFamily="34" charset="0"/>
              </a:rPr>
              <a:t>Post. 5</a:t>
            </a:r>
            <a:r>
              <a:rPr lang="en-US" dirty="0">
                <a:latin typeface="Verdana" pitchFamily="34" charset="0"/>
              </a:rPr>
              <a:t>: (a) </a:t>
            </a:r>
            <a:r>
              <a:rPr lang="en-US" i="1" dirty="0" err="1">
                <a:latin typeface="Verdana" pitchFamily="34" charset="0"/>
              </a:rPr>
              <a:t>x+x</a:t>
            </a:r>
            <a:r>
              <a:rPr lang="en-US" i="1" dirty="0">
                <a:latin typeface="Verdana" pitchFamily="34" charset="0"/>
              </a:rPr>
              <a:t>’=1</a:t>
            </a:r>
            <a:r>
              <a:rPr lang="en-US" dirty="0">
                <a:latin typeface="Verdana" pitchFamily="34" charset="0"/>
              </a:rPr>
              <a:t>, 	(b) </a:t>
            </a:r>
            <a:r>
              <a:rPr lang="en-US" i="1" dirty="0" err="1">
                <a:latin typeface="Verdana" pitchFamily="34" charset="0"/>
              </a:rPr>
              <a:t>x·x</a:t>
            </a:r>
            <a:r>
              <a:rPr lang="en-US" i="1" dirty="0">
                <a:latin typeface="Verdana" pitchFamily="34" charset="0"/>
              </a:rPr>
              <a:t>’=0</a:t>
            </a:r>
          </a:p>
          <a:p>
            <a:pPr eaLnBrk="0" hangingPunct="0"/>
            <a:r>
              <a:rPr lang="en-US" b="1" dirty="0">
                <a:latin typeface="Verdana" pitchFamily="34" charset="0"/>
              </a:rPr>
              <a:t>Th. 1</a:t>
            </a:r>
            <a:r>
              <a:rPr lang="en-US" dirty="0">
                <a:latin typeface="Verdana" pitchFamily="34" charset="0"/>
              </a:rPr>
              <a:t>:	  (a) </a:t>
            </a:r>
            <a:r>
              <a:rPr lang="en-US" i="1" dirty="0" err="1" smtClean="0">
                <a:latin typeface="Verdana" pitchFamily="34" charset="0"/>
              </a:rPr>
              <a:t>x+x</a:t>
            </a:r>
            <a:r>
              <a:rPr lang="en-US" i="1" dirty="0" smtClean="0">
                <a:latin typeface="Verdana" pitchFamily="34" charset="0"/>
              </a:rPr>
              <a:t>=x,	</a:t>
            </a:r>
            <a:r>
              <a:rPr lang="en-US" dirty="0" smtClean="0">
                <a:latin typeface="Verdana" pitchFamily="34" charset="0"/>
              </a:rPr>
              <a:t>(b) </a:t>
            </a:r>
            <a:r>
              <a:rPr lang="en-US" i="1" dirty="0" err="1" smtClean="0">
                <a:latin typeface="Verdana" pitchFamily="34" charset="0"/>
              </a:rPr>
              <a:t>x.x</a:t>
            </a:r>
            <a:r>
              <a:rPr lang="en-US" dirty="0" smtClean="0">
                <a:latin typeface="Verdana" pitchFamily="34" charset="0"/>
              </a:rPr>
              <a:t> =</a:t>
            </a:r>
            <a:r>
              <a:rPr lang="en-US" i="1" dirty="0" smtClean="0">
                <a:latin typeface="Verdana" pitchFamily="34" charset="0"/>
              </a:rPr>
              <a:t>x</a:t>
            </a:r>
            <a:endParaRPr lang="en-US" i="1" dirty="0">
              <a:latin typeface="Verdana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 smtClean="0"/>
              <a:t>Absorption Property (Covering)</a:t>
            </a:r>
            <a:endParaRPr lang="en-US" dirty="0" smtClean="0">
              <a:latin typeface="Garamond" pitchFamily="18" charset="0"/>
            </a:endParaRPr>
          </a:p>
        </p:txBody>
      </p:sp>
      <p:sp>
        <p:nvSpPr>
          <p:cNvPr id="307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581150"/>
            <a:ext cx="7696200" cy="4873752"/>
          </a:xfrm>
        </p:spPr>
        <p:txBody>
          <a:bodyPr>
            <a:normAutofit/>
          </a:bodyPr>
          <a:lstStyle/>
          <a:p>
            <a:pPr marL="609600" indent="-609600">
              <a:lnSpc>
                <a:spcPct val="90000"/>
              </a:lnSpc>
              <a:buNone/>
            </a:pPr>
            <a:r>
              <a:rPr lang="en-US" altLang="zh-TW" dirty="0" smtClean="0">
                <a:ea typeface="新細明體" pitchFamily="18" charset="-120"/>
              </a:rPr>
              <a:t>Theorem 6(a): </a:t>
            </a:r>
            <a:r>
              <a:rPr lang="en-US" altLang="zh-TW" i="1" dirty="0" smtClean="0">
                <a:ea typeface="新細明體" pitchFamily="18" charset="-120"/>
              </a:rPr>
              <a:t>x</a:t>
            </a:r>
            <a:r>
              <a:rPr lang="en-US" altLang="zh-TW" dirty="0" smtClean="0">
                <a:ea typeface="新細明體" pitchFamily="18" charset="-120"/>
              </a:rPr>
              <a:t> + </a:t>
            </a:r>
            <a:r>
              <a:rPr lang="en-US" altLang="zh-TW" i="1" dirty="0" err="1" smtClean="0">
                <a:ea typeface="新細明體" pitchFamily="18" charset="-120"/>
              </a:rPr>
              <a:t>xy</a:t>
            </a:r>
            <a:r>
              <a:rPr lang="en-US" altLang="zh-TW" dirty="0" smtClean="0">
                <a:ea typeface="新細明體" pitchFamily="18" charset="-120"/>
              </a:rPr>
              <a:t> = </a:t>
            </a:r>
            <a:r>
              <a:rPr lang="en-US" altLang="zh-TW" i="1" dirty="0" smtClean="0">
                <a:ea typeface="新細明體" pitchFamily="18" charset="-120"/>
              </a:rPr>
              <a:t>x</a:t>
            </a:r>
            <a:endParaRPr lang="en-US" altLang="zh-TW" dirty="0" smtClean="0">
              <a:ea typeface="新細明體" pitchFamily="18" charset="-120"/>
            </a:endParaRPr>
          </a:p>
          <a:p>
            <a:pPr marL="624840" indent="-533400">
              <a:lnSpc>
                <a:spcPct val="90000"/>
              </a:lnSpc>
              <a:buNone/>
            </a:pPr>
            <a:r>
              <a:rPr lang="en-US" altLang="zh-TW" i="1" dirty="0" smtClean="0">
                <a:ea typeface="新細明體" pitchFamily="18" charset="-120"/>
              </a:rPr>
              <a:t>  x + </a:t>
            </a:r>
            <a:r>
              <a:rPr lang="en-US" altLang="zh-TW" i="1" dirty="0" err="1" smtClean="0">
                <a:ea typeface="新細明體" pitchFamily="18" charset="-120"/>
              </a:rPr>
              <a:t>xy</a:t>
            </a:r>
            <a:r>
              <a:rPr lang="en-US" altLang="zh-TW" i="1" dirty="0" smtClean="0">
                <a:ea typeface="新細明體" pitchFamily="18" charset="-120"/>
              </a:rPr>
              <a:t> = x</a:t>
            </a:r>
            <a:r>
              <a:rPr lang="zh-TW" altLang="en-US" dirty="0" smtClean="0">
                <a:ea typeface="新細明體" pitchFamily="18" charset="-120"/>
              </a:rPr>
              <a:t>．</a:t>
            </a:r>
            <a:r>
              <a:rPr lang="en-US" altLang="zh-TW" dirty="0" smtClean="0">
                <a:ea typeface="新細明體" pitchFamily="18" charset="-120"/>
              </a:rPr>
              <a:t>1 + </a:t>
            </a:r>
            <a:r>
              <a:rPr lang="en-US" altLang="zh-TW" i="1" dirty="0" err="1" smtClean="0">
                <a:ea typeface="新細明體" pitchFamily="18" charset="-120"/>
              </a:rPr>
              <a:t>xy</a:t>
            </a:r>
            <a:r>
              <a:rPr lang="en-AU" altLang="zh-TW" i="1" dirty="0" smtClean="0"/>
              <a:t> </a:t>
            </a:r>
            <a:r>
              <a:rPr lang="tr-TR" altLang="zh-TW" i="1" dirty="0" smtClean="0"/>
              <a:t>by </a:t>
            </a:r>
            <a:r>
              <a:rPr lang="en-AU" altLang="zh-TW" i="1" dirty="0" smtClean="0"/>
              <a:t> </a:t>
            </a:r>
            <a:r>
              <a:rPr lang="en-US" altLang="zh-TW" dirty="0" smtClean="0">
                <a:ea typeface="新細明體" pitchFamily="18" charset="-120"/>
              </a:rPr>
              <a:t>2(b)</a:t>
            </a:r>
          </a:p>
          <a:p>
            <a:pPr marL="624840" indent="-533400">
              <a:lnSpc>
                <a:spcPct val="90000"/>
              </a:lnSpc>
              <a:buFont typeface="Wingdings" pitchFamily="2" charset="2"/>
              <a:buNone/>
            </a:pPr>
            <a:r>
              <a:rPr lang="en-US" altLang="zh-TW" i="1" dirty="0" smtClean="0">
                <a:ea typeface="新細明體" pitchFamily="18" charset="-120"/>
              </a:rPr>
              <a:t>	= x </a:t>
            </a:r>
            <a:r>
              <a:rPr lang="en-US" altLang="zh-TW" dirty="0" smtClean="0">
                <a:ea typeface="新細明體" pitchFamily="18" charset="-120"/>
              </a:rPr>
              <a:t>(1 + </a:t>
            </a:r>
            <a:r>
              <a:rPr lang="en-US" altLang="zh-TW" i="1" dirty="0" smtClean="0">
                <a:ea typeface="新細明體" pitchFamily="18" charset="-120"/>
              </a:rPr>
              <a:t>y</a:t>
            </a:r>
            <a:r>
              <a:rPr lang="en-US" altLang="zh-TW" dirty="0" smtClean="0">
                <a:ea typeface="新細明體" pitchFamily="18" charset="-120"/>
              </a:rPr>
              <a:t>) 	</a:t>
            </a:r>
            <a:r>
              <a:rPr lang="tr-TR" altLang="zh-TW" dirty="0" smtClean="0"/>
              <a:t>     </a:t>
            </a:r>
            <a:r>
              <a:rPr lang="en-AU" altLang="zh-TW" dirty="0" smtClean="0"/>
              <a:t> </a:t>
            </a:r>
            <a:r>
              <a:rPr lang="en-US" altLang="zh-TW" dirty="0" smtClean="0">
                <a:ea typeface="新細明體" pitchFamily="18" charset="-120"/>
              </a:rPr>
              <a:t>4(a)</a:t>
            </a:r>
          </a:p>
          <a:p>
            <a:pPr marL="624840" indent="-533400">
              <a:lnSpc>
                <a:spcPct val="90000"/>
              </a:lnSpc>
              <a:buFont typeface="Wingdings" pitchFamily="2" charset="2"/>
              <a:buNone/>
            </a:pPr>
            <a:r>
              <a:rPr lang="en-US" altLang="zh-TW" dirty="0" smtClean="0">
                <a:ea typeface="新細明體" pitchFamily="18" charset="-120"/>
              </a:rPr>
              <a:t>	= </a:t>
            </a:r>
            <a:r>
              <a:rPr lang="en-US" altLang="zh-TW" i="1" dirty="0" smtClean="0">
                <a:ea typeface="新細明體" pitchFamily="18" charset="-120"/>
              </a:rPr>
              <a:t>x </a:t>
            </a:r>
            <a:r>
              <a:rPr lang="en-US" altLang="zh-TW" dirty="0" smtClean="0">
                <a:ea typeface="新細明體" pitchFamily="18" charset="-120"/>
              </a:rPr>
              <a:t>(</a:t>
            </a:r>
            <a:r>
              <a:rPr lang="en-US" altLang="zh-TW" i="1" dirty="0" smtClean="0">
                <a:ea typeface="新細明體" pitchFamily="18" charset="-120"/>
              </a:rPr>
              <a:t>y</a:t>
            </a:r>
            <a:r>
              <a:rPr lang="en-US" altLang="zh-TW" dirty="0" smtClean="0">
                <a:ea typeface="新細明體" pitchFamily="18" charset="-120"/>
              </a:rPr>
              <a:t> + 1)	</a:t>
            </a:r>
            <a:r>
              <a:rPr lang="tr-TR" altLang="zh-TW" dirty="0" smtClean="0"/>
              <a:t>     </a:t>
            </a:r>
            <a:r>
              <a:rPr lang="en-AU" altLang="zh-TW" dirty="0" smtClean="0"/>
              <a:t> </a:t>
            </a:r>
            <a:r>
              <a:rPr lang="en-US" altLang="zh-TW" dirty="0" smtClean="0">
                <a:ea typeface="新細明體" pitchFamily="18" charset="-120"/>
              </a:rPr>
              <a:t>3(a)</a:t>
            </a:r>
          </a:p>
          <a:p>
            <a:pPr marL="624840" indent="-533400">
              <a:lnSpc>
                <a:spcPct val="90000"/>
              </a:lnSpc>
              <a:buFont typeface="Wingdings" pitchFamily="2" charset="2"/>
              <a:buNone/>
            </a:pPr>
            <a:r>
              <a:rPr lang="en-US" altLang="zh-TW" dirty="0" smtClean="0">
                <a:ea typeface="新細明體" pitchFamily="18" charset="-120"/>
              </a:rPr>
              <a:t>	= </a:t>
            </a:r>
            <a:r>
              <a:rPr lang="en-US" altLang="zh-TW" i="1" dirty="0" smtClean="0">
                <a:ea typeface="新細明體" pitchFamily="18" charset="-120"/>
              </a:rPr>
              <a:t>x</a:t>
            </a:r>
            <a:r>
              <a:rPr lang="zh-TW" altLang="en-US" dirty="0" smtClean="0">
                <a:ea typeface="新細明體" pitchFamily="18" charset="-120"/>
              </a:rPr>
              <a:t>．</a:t>
            </a:r>
            <a:r>
              <a:rPr lang="en-US" altLang="zh-TW" dirty="0" smtClean="0">
                <a:ea typeface="新細明體" pitchFamily="18" charset="-120"/>
              </a:rPr>
              <a:t>1		</a:t>
            </a:r>
            <a:r>
              <a:rPr lang="tr-TR" altLang="zh-TW" dirty="0" smtClean="0"/>
              <a:t>Th </a:t>
            </a:r>
            <a:r>
              <a:rPr lang="en-US" altLang="zh-TW" dirty="0" smtClean="0">
                <a:ea typeface="新細明體" pitchFamily="18" charset="-120"/>
              </a:rPr>
              <a:t>2(a)</a:t>
            </a:r>
          </a:p>
          <a:p>
            <a:pPr marL="624840" indent="-533400">
              <a:lnSpc>
                <a:spcPct val="90000"/>
              </a:lnSpc>
              <a:buFont typeface="Wingdings" pitchFamily="2" charset="2"/>
              <a:buNone/>
            </a:pPr>
            <a:r>
              <a:rPr lang="en-US" altLang="zh-TW" dirty="0" smtClean="0">
                <a:ea typeface="新細明體" pitchFamily="18" charset="-120"/>
              </a:rPr>
              <a:t>	= </a:t>
            </a:r>
            <a:r>
              <a:rPr lang="en-US" altLang="zh-TW" i="1" dirty="0" smtClean="0">
                <a:ea typeface="新細明體" pitchFamily="18" charset="-120"/>
              </a:rPr>
              <a:t>x		</a:t>
            </a:r>
            <a:r>
              <a:rPr lang="tr-TR" altLang="zh-TW" i="1" dirty="0" smtClean="0"/>
              <a:t>     </a:t>
            </a:r>
            <a:r>
              <a:rPr lang="en-AU" altLang="zh-TW" i="1" dirty="0" smtClean="0"/>
              <a:t> </a:t>
            </a:r>
            <a:r>
              <a:rPr lang="en-US" altLang="zh-TW" dirty="0" smtClean="0">
                <a:ea typeface="新細明體" pitchFamily="18" charset="-120"/>
              </a:rPr>
              <a:t>2(b)</a:t>
            </a:r>
          </a:p>
          <a:p>
            <a:pPr marL="624840" indent="-533400">
              <a:lnSpc>
                <a:spcPct val="90000"/>
              </a:lnSpc>
              <a:buNone/>
            </a:pPr>
            <a:endParaRPr lang="tr-TR" altLang="zh-TW" dirty="0" smtClean="0"/>
          </a:p>
          <a:p>
            <a:pPr marL="609600" indent="-609600">
              <a:lnSpc>
                <a:spcPct val="90000"/>
              </a:lnSpc>
            </a:pPr>
            <a:r>
              <a:rPr lang="en-US" altLang="zh-TW" dirty="0" smtClean="0">
                <a:ea typeface="新細明體" pitchFamily="18" charset="-120"/>
              </a:rPr>
              <a:t>Theorem 6(b): </a:t>
            </a:r>
            <a:r>
              <a:rPr lang="en-US" altLang="zh-TW" i="1" dirty="0" smtClean="0">
                <a:ea typeface="新細明體" pitchFamily="18" charset="-120"/>
              </a:rPr>
              <a:t>x </a:t>
            </a:r>
            <a:r>
              <a:rPr lang="en-US" altLang="zh-TW" dirty="0" smtClean="0">
                <a:ea typeface="新細明體" pitchFamily="18" charset="-120"/>
              </a:rPr>
              <a:t>(</a:t>
            </a:r>
            <a:r>
              <a:rPr lang="en-US" altLang="zh-TW" i="1" dirty="0" smtClean="0">
                <a:ea typeface="新細明體" pitchFamily="18" charset="-120"/>
              </a:rPr>
              <a:t>x + y</a:t>
            </a:r>
            <a:r>
              <a:rPr lang="en-US" altLang="zh-TW" dirty="0" smtClean="0">
                <a:ea typeface="新細明體" pitchFamily="18" charset="-120"/>
              </a:rPr>
              <a:t>) = </a:t>
            </a:r>
            <a:r>
              <a:rPr lang="en-US" altLang="zh-TW" i="1" dirty="0" smtClean="0">
                <a:ea typeface="新細明體" pitchFamily="18" charset="-120"/>
              </a:rPr>
              <a:t>x	</a:t>
            </a:r>
            <a:r>
              <a:rPr lang="en-US" altLang="zh-TW" dirty="0" smtClean="0">
                <a:ea typeface="新細明體" pitchFamily="18" charset="-120"/>
              </a:rPr>
              <a:t>by duality</a:t>
            </a:r>
          </a:p>
          <a:p>
            <a:pPr marL="609600" indent="-609600">
              <a:lnSpc>
                <a:spcPct val="90000"/>
              </a:lnSpc>
            </a:pPr>
            <a:r>
              <a:rPr lang="en-US" altLang="zh-TW" dirty="0" smtClean="0">
                <a:ea typeface="新細明體" pitchFamily="18" charset="-120"/>
              </a:rPr>
              <a:t>By means of truth table (another way to proof )</a:t>
            </a:r>
            <a:endParaRPr lang="en-US" altLang="zh-TW" dirty="0">
              <a:ea typeface="新細明體" pitchFamily="18" charset="-120"/>
            </a:endParaRPr>
          </a:p>
        </p:txBody>
      </p:sp>
      <p:sp>
        <p:nvSpPr>
          <p:cNvPr id="6" name="Text Box 4"/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4552950" y="1740475"/>
            <a:ext cx="4419600" cy="203132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eaLnBrk="0" hangingPunct="0"/>
            <a:r>
              <a:rPr lang="en-US" b="1" dirty="0" smtClean="0">
                <a:latin typeface="Verdana" pitchFamily="34" charset="0"/>
              </a:rPr>
              <a:t>Post</a:t>
            </a:r>
            <a:r>
              <a:rPr lang="en-US" b="1" dirty="0">
                <a:latin typeface="Verdana" pitchFamily="34" charset="0"/>
              </a:rPr>
              <a:t>. 2</a:t>
            </a:r>
            <a:r>
              <a:rPr lang="en-US" dirty="0">
                <a:latin typeface="Verdana" pitchFamily="34" charset="0"/>
              </a:rPr>
              <a:t>: (a) </a:t>
            </a:r>
            <a:r>
              <a:rPr lang="en-US" i="1" dirty="0">
                <a:latin typeface="Verdana" pitchFamily="34" charset="0"/>
              </a:rPr>
              <a:t>x+0=x</a:t>
            </a:r>
            <a:r>
              <a:rPr lang="en-US" dirty="0">
                <a:latin typeface="Verdana" pitchFamily="34" charset="0"/>
              </a:rPr>
              <a:t>, 	(b) </a:t>
            </a:r>
            <a:r>
              <a:rPr lang="en-US" i="1" dirty="0">
                <a:latin typeface="Verdana" pitchFamily="34" charset="0"/>
              </a:rPr>
              <a:t>x·1=x</a:t>
            </a:r>
          </a:p>
          <a:p>
            <a:pPr eaLnBrk="0" hangingPunct="0"/>
            <a:r>
              <a:rPr lang="en-US" b="1" dirty="0">
                <a:latin typeface="Verdana" pitchFamily="34" charset="0"/>
              </a:rPr>
              <a:t>Post. 3</a:t>
            </a:r>
            <a:r>
              <a:rPr lang="en-US" dirty="0">
                <a:latin typeface="Verdana" pitchFamily="34" charset="0"/>
              </a:rPr>
              <a:t>: (a) </a:t>
            </a:r>
            <a:r>
              <a:rPr lang="en-US" i="1" dirty="0" err="1">
                <a:latin typeface="Verdana" pitchFamily="34" charset="0"/>
              </a:rPr>
              <a:t>x+y</a:t>
            </a:r>
            <a:r>
              <a:rPr lang="en-US" i="1" dirty="0">
                <a:latin typeface="Verdana" pitchFamily="34" charset="0"/>
              </a:rPr>
              <a:t>=</a:t>
            </a:r>
            <a:r>
              <a:rPr lang="en-US" i="1" dirty="0" err="1">
                <a:latin typeface="Verdana" pitchFamily="34" charset="0"/>
              </a:rPr>
              <a:t>y+x</a:t>
            </a:r>
            <a:r>
              <a:rPr lang="en-US" dirty="0">
                <a:latin typeface="Verdana" pitchFamily="34" charset="0"/>
              </a:rPr>
              <a:t>, (b) </a:t>
            </a:r>
            <a:r>
              <a:rPr lang="en-US" i="1" dirty="0" err="1">
                <a:latin typeface="Verdana" pitchFamily="34" charset="0"/>
              </a:rPr>
              <a:t>x·y</a:t>
            </a:r>
            <a:r>
              <a:rPr lang="en-US" i="1" dirty="0">
                <a:latin typeface="Verdana" pitchFamily="34" charset="0"/>
              </a:rPr>
              <a:t>=</a:t>
            </a:r>
            <a:r>
              <a:rPr lang="en-US" i="1" dirty="0" err="1">
                <a:latin typeface="Verdana" pitchFamily="34" charset="0"/>
              </a:rPr>
              <a:t>y·x</a:t>
            </a:r>
            <a:endParaRPr lang="en-US" i="1" dirty="0">
              <a:latin typeface="Verdana" pitchFamily="34" charset="0"/>
            </a:endParaRPr>
          </a:p>
          <a:p>
            <a:pPr eaLnBrk="0" hangingPunct="0"/>
            <a:r>
              <a:rPr lang="en-US" b="1" dirty="0">
                <a:latin typeface="Verdana" pitchFamily="34" charset="0"/>
              </a:rPr>
              <a:t>Post. 4</a:t>
            </a:r>
            <a:r>
              <a:rPr lang="en-US" dirty="0">
                <a:latin typeface="Verdana" pitchFamily="34" charset="0"/>
              </a:rPr>
              <a:t>: (a) </a:t>
            </a:r>
            <a:r>
              <a:rPr lang="en-US" i="1" dirty="0">
                <a:latin typeface="Verdana" pitchFamily="34" charset="0"/>
              </a:rPr>
              <a:t>x</a:t>
            </a:r>
            <a:r>
              <a:rPr lang="en-US" dirty="0">
                <a:latin typeface="Verdana" pitchFamily="34" charset="0"/>
              </a:rPr>
              <a:t>(</a:t>
            </a:r>
            <a:r>
              <a:rPr lang="en-US" i="1" dirty="0" err="1">
                <a:latin typeface="Verdana" pitchFamily="34" charset="0"/>
              </a:rPr>
              <a:t>y+z</a:t>
            </a:r>
            <a:r>
              <a:rPr lang="en-US" dirty="0">
                <a:latin typeface="Verdana" pitchFamily="34" charset="0"/>
              </a:rPr>
              <a:t>)</a:t>
            </a:r>
            <a:r>
              <a:rPr lang="en-US" i="1" dirty="0">
                <a:latin typeface="Verdana" pitchFamily="34" charset="0"/>
              </a:rPr>
              <a:t> = </a:t>
            </a:r>
            <a:r>
              <a:rPr lang="en-US" i="1" dirty="0" err="1">
                <a:latin typeface="Verdana" pitchFamily="34" charset="0"/>
              </a:rPr>
              <a:t>xy+xz</a:t>
            </a:r>
            <a:r>
              <a:rPr lang="en-US" dirty="0">
                <a:latin typeface="Verdana" pitchFamily="34" charset="0"/>
              </a:rPr>
              <a:t>, </a:t>
            </a:r>
            <a:br>
              <a:rPr lang="en-US" dirty="0">
                <a:latin typeface="Verdana" pitchFamily="34" charset="0"/>
              </a:rPr>
            </a:br>
            <a:r>
              <a:rPr lang="en-US" dirty="0">
                <a:latin typeface="Verdana" pitchFamily="34" charset="0"/>
              </a:rPr>
              <a:t>	  (b) </a:t>
            </a:r>
            <a:r>
              <a:rPr lang="en-US" i="1" dirty="0" err="1">
                <a:latin typeface="Verdana" pitchFamily="34" charset="0"/>
              </a:rPr>
              <a:t>x+yz</a:t>
            </a:r>
            <a:r>
              <a:rPr lang="en-US" i="1" dirty="0">
                <a:latin typeface="Verdana" pitchFamily="34" charset="0"/>
              </a:rPr>
              <a:t> = </a:t>
            </a:r>
            <a:r>
              <a:rPr lang="en-US" dirty="0">
                <a:latin typeface="Verdana" pitchFamily="34" charset="0"/>
              </a:rPr>
              <a:t>(</a:t>
            </a:r>
            <a:r>
              <a:rPr lang="en-US" i="1" dirty="0" err="1">
                <a:latin typeface="Verdana" pitchFamily="34" charset="0"/>
              </a:rPr>
              <a:t>x+y</a:t>
            </a:r>
            <a:r>
              <a:rPr lang="en-US" dirty="0">
                <a:latin typeface="Verdana" pitchFamily="34" charset="0"/>
              </a:rPr>
              <a:t>)(</a:t>
            </a:r>
            <a:r>
              <a:rPr lang="en-US" i="1" dirty="0" err="1">
                <a:latin typeface="Verdana" pitchFamily="34" charset="0"/>
              </a:rPr>
              <a:t>x+z</a:t>
            </a:r>
            <a:r>
              <a:rPr lang="en-US" dirty="0">
                <a:latin typeface="Verdana" pitchFamily="34" charset="0"/>
              </a:rPr>
              <a:t>)</a:t>
            </a:r>
          </a:p>
          <a:p>
            <a:pPr eaLnBrk="0" hangingPunct="0"/>
            <a:r>
              <a:rPr lang="en-US" b="1" dirty="0">
                <a:latin typeface="Verdana" pitchFamily="34" charset="0"/>
              </a:rPr>
              <a:t>Post. 5</a:t>
            </a:r>
            <a:r>
              <a:rPr lang="en-US" dirty="0">
                <a:latin typeface="Verdana" pitchFamily="34" charset="0"/>
              </a:rPr>
              <a:t>: (a) </a:t>
            </a:r>
            <a:r>
              <a:rPr lang="en-US" i="1" dirty="0" err="1">
                <a:latin typeface="Verdana" pitchFamily="34" charset="0"/>
              </a:rPr>
              <a:t>x+x</a:t>
            </a:r>
            <a:r>
              <a:rPr lang="en-US" i="1" dirty="0">
                <a:latin typeface="Verdana" pitchFamily="34" charset="0"/>
              </a:rPr>
              <a:t>’=1</a:t>
            </a:r>
            <a:r>
              <a:rPr lang="en-US" dirty="0">
                <a:latin typeface="Verdana" pitchFamily="34" charset="0"/>
              </a:rPr>
              <a:t>, 	(b) </a:t>
            </a:r>
            <a:r>
              <a:rPr lang="en-US" i="1" dirty="0" err="1">
                <a:latin typeface="Verdana" pitchFamily="34" charset="0"/>
              </a:rPr>
              <a:t>x·x</a:t>
            </a:r>
            <a:r>
              <a:rPr lang="en-US" i="1" dirty="0">
                <a:latin typeface="Verdana" pitchFamily="34" charset="0"/>
              </a:rPr>
              <a:t>’=0</a:t>
            </a:r>
          </a:p>
          <a:p>
            <a:pPr eaLnBrk="0" hangingPunct="0"/>
            <a:r>
              <a:rPr lang="en-US" b="1" dirty="0" smtClean="0">
                <a:latin typeface="Verdana" pitchFamily="34" charset="0"/>
              </a:rPr>
              <a:t>Th. 1</a:t>
            </a:r>
            <a:r>
              <a:rPr lang="en-US" dirty="0" smtClean="0">
                <a:latin typeface="Verdana" pitchFamily="34" charset="0"/>
              </a:rPr>
              <a:t>:	  (a) </a:t>
            </a:r>
            <a:r>
              <a:rPr lang="en-US" i="1" dirty="0" err="1" smtClean="0">
                <a:latin typeface="Verdana" pitchFamily="34" charset="0"/>
              </a:rPr>
              <a:t>x+x</a:t>
            </a:r>
            <a:r>
              <a:rPr lang="en-US" i="1" dirty="0" smtClean="0">
                <a:latin typeface="Verdana" pitchFamily="34" charset="0"/>
              </a:rPr>
              <a:t>=x,	</a:t>
            </a:r>
            <a:r>
              <a:rPr lang="en-US" dirty="0" smtClean="0">
                <a:latin typeface="Verdana" pitchFamily="34" charset="0"/>
              </a:rPr>
              <a:t>(b) </a:t>
            </a:r>
            <a:r>
              <a:rPr lang="en-US" i="1" dirty="0" err="1" smtClean="0">
                <a:latin typeface="Verdana" pitchFamily="34" charset="0"/>
              </a:rPr>
              <a:t>x.x</a:t>
            </a:r>
            <a:r>
              <a:rPr lang="en-US" dirty="0" smtClean="0">
                <a:latin typeface="Verdana" pitchFamily="34" charset="0"/>
              </a:rPr>
              <a:t> =</a:t>
            </a:r>
            <a:r>
              <a:rPr lang="en-US" i="1" dirty="0" smtClean="0">
                <a:latin typeface="Verdana" pitchFamily="34" charset="0"/>
              </a:rPr>
              <a:t>x</a:t>
            </a:r>
          </a:p>
          <a:p>
            <a:pPr eaLnBrk="0" hangingPunct="0"/>
            <a:r>
              <a:rPr lang="en-US" b="1" dirty="0" smtClean="0">
                <a:latin typeface="Verdana" pitchFamily="34" charset="0"/>
              </a:rPr>
              <a:t>Th. 2</a:t>
            </a:r>
            <a:r>
              <a:rPr lang="en-US" dirty="0" smtClean="0">
                <a:latin typeface="Verdana" pitchFamily="34" charset="0"/>
              </a:rPr>
              <a:t>:	  (a) </a:t>
            </a:r>
            <a:r>
              <a:rPr lang="en-US" altLang="zh-TW" i="1" dirty="0" smtClean="0">
                <a:latin typeface="Verdana" pitchFamily="34" charset="0"/>
                <a:ea typeface="新細明體" pitchFamily="18" charset="-120"/>
              </a:rPr>
              <a:t>x + </a:t>
            </a:r>
            <a:r>
              <a:rPr lang="en-US" altLang="zh-TW" dirty="0" smtClean="0">
                <a:latin typeface="Verdana" pitchFamily="34" charset="0"/>
                <a:ea typeface="新細明體" pitchFamily="18" charset="-120"/>
              </a:rPr>
              <a:t>1 = 1</a:t>
            </a:r>
            <a:r>
              <a:rPr lang="en-US" i="1" dirty="0" smtClean="0">
                <a:latin typeface="Verdana" pitchFamily="34" charset="0"/>
              </a:rPr>
              <a:t>,	</a:t>
            </a:r>
            <a:r>
              <a:rPr lang="en-US" dirty="0" smtClean="0">
                <a:latin typeface="Verdana" pitchFamily="34" charset="0"/>
              </a:rPr>
              <a:t>(b) </a:t>
            </a:r>
            <a:r>
              <a:rPr lang="en-US" i="1" dirty="0" smtClean="0">
                <a:latin typeface="Verdana" pitchFamily="34" charset="0"/>
              </a:rPr>
              <a:t>x.</a:t>
            </a:r>
            <a:r>
              <a:rPr lang="en-US" dirty="0" smtClean="0">
                <a:latin typeface="Verdana" pitchFamily="34" charset="0"/>
              </a:rPr>
              <a:t>0 =0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 smtClean="0"/>
              <a:t>Absorption Property (Covering)</a:t>
            </a:r>
            <a:endParaRPr lang="en-US" dirty="0" smtClean="0">
              <a:latin typeface="Garamond" pitchFamily="18" charset="0"/>
            </a:endParaRPr>
          </a:p>
        </p:txBody>
      </p:sp>
      <p:sp>
        <p:nvSpPr>
          <p:cNvPr id="307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581150"/>
            <a:ext cx="7696200" cy="4873752"/>
          </a:xfrm>
        </p:spPr>
        <p:txBody>
          <a:bodyPr>
            <a:normAutofit/>
          </a:bodyPr>
          <a:lstStyle/>
          <a:p>
            <a:pPr marL="609600" indent="-609600">
              <a:lnSpc>
                <a:spcPct val="90000"/>
              </a:lnSpc>
              <a:buNone/>
            </a:pPr>
            <a:r>
              <a:rPr lang="en-US" altLang="zh-TW" dirty="0" smtClean="0">
                <a:ea typeface="新細明體" pitchFamily="18" charset="-120"/>
              </a:rPr>
              <a:t>Theorem 6(a): </a:t>
            </a:r>
            <a:r>
              <a:rPr lang="en-US" altLang="zh-TW" i="1" dirty="0" smtClean="0">
                <a:ea typeface="新細明體" pitchFamily="18" charset="-120"/>
              </a:rPr>
              <a:t>x</a:t>
            </a:r>
            <a:r>
              <a:rPr lang="en-US" altLang="zh-TW" dirty="0" smtClean="0">
                <a:ea typeface="新細明體" pitchFamily="18" charset="-120"/>
              </a:rPr>
              <a:t> + </a:t>
            </a:r>
            <a:r>
              <a:rPr lang="en-US" altLang="zh-TW" i="1" dirty="0" err="1" smtClean="0">
                <a:ea typeface="新細明體" pitchFamily="18" charset="-120"/>
              </a:rPr>
              <a:t>xy</a:t>
            </a:r>
            <a:r>
              <a:rPr lang="en-US" altLang="zh-TW" dirty="0" smtClean="0">
                <a:ea typeface="新細明體" pitchFamily="18" charset="-120"/>
              </a:rPr>
              <a:t> = </a:t>
            </a:r>
            <a:r>
              <a:rPr lang="en-US" altLang="zh-TW" i="1" dirty="0" smtClean="0">
                <a:ea typeface="新細明體" pitchFamily="18" charset="-120"/>
              </a:rPr>
              <a:t>x</a:t>
            </a:r>
            <a:endParaRPr lang="en-US" altLang="zh-TW" dirty="0" smtClean="0">
              <a:ea typeface="新細明體" pitchFamily="18" charset="-120"/>
            </a:endParaRPr>
          </a:p>
        </p:txBody>
      </p:sp>
      <p:graphicFrame>
        <p:nvGraphicFramePr>
          <p:cNvPr id="5" name="Group 43"/>
          <p:cNvGraphicFramePr>
            <a:graphicFrameLocks/>
          </p:cNvGraphicFramePr>
          <p:nvPr/>
        </p:nvGraphicFramePr>
        <p:xfrm>
          <a:off x="2597150" y="2384425"/>
          <a:ext cx="3670300" cy="2036764"/>
        </p:xfrm>
        <a:graphic>
          <a:graphicData uri="http://schemas.openxmlformats.org/drawingml/2006/table">
            <a:tbl>
              <a:tblPr/>
              <a:tblGrid>
                <a:gridCol w="916161"/>
                <a:gridCol w="919931"/>
                <a:gridCol w="918047"/>
                <a:gridCol w="916161"/>
              </a:tblGrid>
              <a:tr h="4079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20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x</a:t>
                      </a:r>
                      <a:endParaRPr kumimoji="0" lang="zh-TW" altLang="en-US" sz="2000" b="0" i="1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y</a:t>
                      </a:r>
                      <a:endParaRPr kumimoji="0" lang="zh-TW" altLang="en-US" sz="2000" b="0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xy</a:t>
                      </a:r>
                      <a:endParaRPr kumimoji="0" lang="zh-TW" altLang="en-US" sz="2000" b="0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x+xy</a:t>
                      </a:r>
                      <a:endParaRPr kumimoji="0" lang="zh-TW" altLang="en-US" sz="2000" b="0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2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2000" b="0" i="0" u="none" strike="noStrike" cap="none" normalizeH="0" baseline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2000" b="0" i="0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2000" b="0" i="0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2000" b="0" i="0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7E7"/>
                    </a:solidFill>
                  </a:tcPr>
                </a:tc>
              </a:tr>
              <a:tr h="4079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2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2000" b="0" i="0" u="none" strike="noStrike" cap="none" normalizeH="0" baseline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2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1</a:t>
                      </a:r>
                      <a:endParaRPr kumimoji="0" lang="zh-TW" altLang="en-US" sz="2000" b="0" i="0" u="none" strike="noStrike" cap="none" normalizeH="0" baseline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2000" b="0" i="0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2000" b="0" i="0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1</a:t>
                      </a:r>
                      <a:endParaRPr kumimoji="0" lang="zh-TW" altLang="en-US" sz="2000" b="0" i="0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2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2000" b="0" i="0" u="none" strike="noStrike" cap="none" normalizeH="0" baseline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2000" b="0" i="0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2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1</a:t>
                      </a:r>
                      <a:endParaRPr kumimoji="0" lang="zh-TW" altLang="en-US" sz="2000" b="0" i="0" u="none" strike="noStrike" cap="none" normalizeH="0" baseline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7E7"/>
                    </a:solidFill>
                  </a:tcPr>
                </a:tc>
              </a:tr>
              <a:tr h="4079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1</a:t>
                      </a:r>
                      <a:endParaRPr kumimoji="0" lang="zh-TW" altLang="en-US" sz="2000" b="0" i="0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2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1</a:t>
                      </a:r>
                      <a:endParaRPr kumimoji="0" lang="zh-TW" altLang="en-US" sz="2000" b="0" i="0" u="none" strike="noStrike" cap="none" normalizeH="0" baseline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2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1</a:t>
                      </a:r>
                      <a:endParaRPr kumimoji="0" lang="zh-TW" altLang="en-US" sz="2000" b="0" i="0" u="none" strike="noStrike" cap="none" normalizeH="0" baseline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2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omic Sans MS" pitchFamily="66" charset="0"/>
                          <a:ea typeface="新細明體" pitchFamily="18" charset="-120"/>
                          <a:cs typeface="Arial" charset="0"/>
                        </a:rPr>
                        <a:t>1</a:t>
                      </a:r>
                      <a:endParaRPr kumimoji="0" lang="zh-TW" altLang="en-US" sz="2000" b="0" i="0" u="none" strike="noStrike" cap="none" normalizeH="0" baseline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omic Sans MS" pitchFamily="66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tr-TR" sz="3200" dirty="0" smtClean="0"/>
              <a:t>DeMorgan’s Theorem</a:t>
            </a:r>
            <a:endParaRPr lang="en-US" dirty="0" smtClean="0">
              <a:latin typeface="Garamond" pitchFamily="18" charset="0"/>
            </a:endParaRPr>
          </a:p>
        </p:txBody>
      </p:sp>
      <p:sp>
        <p:nvSpPr>
          <p:cNvPr id="307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581150"/>
            <a:ext cx="7696200" cy="4873752"/>
          </a:xfrm>
        </p:spPr>
        <p:txBody>
          <a:bodyPr>
            <a:normAutofit/>
          </a:bodyPr>
          <a:lstStyle/>
          <a:p>
            <a:pPr marL="609600" indent="-609600"/>
            <a:r>
              <a:rPr lang="en-US" altLang="zh-TW" dirty="0" smtClean="0">
                <a:ea typeface="新細明體" pitchFamily="18" charset="-120"/>
              </a:rPr>
              <a:t>Theorem </a:t>
            </a:r>
            <a:r>
              <a:rPr lang="tr-TR" altLang="zh-TW" dirty="0" smtClean="0"/>
              <a:t>5</a:t>
            </a:r>
            <a:r>
              <a:rPr lang="en-US" altLang="zh-TW" dirty="0" smtClean="0">
                <a:ea typeface="新細明體" pitchFamily="18" charset="-120"/>
              </a:rPr>
              <a:t>(a): </a:t>
            </a:r>
            <a:r>
              <a:rPr lang="tr-TR" altLang="zh-TW" dirty="0" smtClean="0"/>
              <a:t>(</a:t>
            </a:r>
            <a:r>
              <a:rPr lang="en-US" altLang="zh-TW" i="1" dirty="0" smtClean="0">
                <a:ea typeface="新細明體" pitchFamily="18" charset="-120"/>
              </a:rPr>
              <a:t>x</a:t>
            </a:r>
            <a:r>
              <a:rPr lang="en-US" altLang="zh-TW" dirty="0" smtClean="0">
                <a:ea typeface="新細明體" pitchFamily="18" charset="-120"/>
              </a:rPr>
              <a:t> + </a:t>
            </a:r>
            <a:r>
              <a:rPr lang="en-US" altLang="zh-TW" i="1" dirty="0" smtClean="0">
                <a:ea typeface="新細明體" pitchFamily="18" charset="-120"/>
              </a:rPr>
              <a:t>y</a:t>
            </a:r>
            <a:r>
              <a:rPr lang="tr-TR" altLang="zh-TW" i="1" dirty="0" smtClean="0"/>
              <a:t>)’</a:t>
            </a:r>
            <a:r>
              <a:rPr lang="en-US" altLang="zh-TW" dirty="0" smtClean="0">
                <a:ea typeface="新細明體" pitchFamily="18" charset="-120"/>
              </a:rPr>
              <a:t> = </a:t>
            </a:r>
            <a:r>
              <a:rPr lang="en-US" altLang="zh-TW" i="1" dirty="0" smtClean="0">
                <a:ea typeface="新細明體" pitchFamily="18" charset="-120"/>
              </a:rPr>
              <a:t>x</a:t>
            </a:r>
            <a:r>
              <a:rPr lang="tr-TR" altLang="zh-TW" i="1" dirty="0" smtClean="0"/>
              <a:t>’y’</a:t>
            </a:r>
            <a:endParaRPr lang="en-US" altLang="zh-TW" dirty="0" smtClean="0">
              <a:ea typeface="新細明體" pitchFamily="18" charset="-120"/>
            </a:endParaRPr>
          </a:p>
          <a:p>
            <a:pPr marL="609600" indent="-609600"/>
            <a:r>
              <a:rPr lang="en-US" altLang="zh-TW" dirty="0" smtClean="0">
                <a:ea typeface="新細明體" pitchFamily="18" charset="-120"/>
              </a:rPr>
              <a:t>Theorem </a:t>
            </a:r>
            <a:r>
              <a:rPr lang="tr-TR" altLang="zh-TW" dirty="0" smtClean="0"/>
              <a:t>5</a:t>
            </a:r>
            <a:r>
              <a:rPr lang="en-US" altLang="zh-TW" dirty="0" smtClean="0">
                <a:ea typeface="新細明體" pitchFamily="18" charset="-120"/>
              </a:rPr>
              <a:t>(b): </a:t>
            </a:r>
            <a:r>
              <a:rPr lang="tr-TR" altLang="zh-TW" dirty="0" smtClean="0"/>
              <a:t>(</a:t>
            </a:r>
            <a:r>
              <a:rPr lang="en-US" altLang="zh-TW" i="1" dirty="0" smtClean="0">
                <a:ea typeface="新細明體" pitchFamily="18" charset="-120"/>
              </a:rPr>
              <a:t>x</a:t>
            </a:r>
            <a:r>
              <a:rPr lang="tr-TR" altLang="zh-TW" i="1" dirty="0" smtClean="0"/>
              <a:t>y)’</a:t>
            </a:r>
            <a:r>
              <a:rPr lang="en-US" altLang="zh-TW" i="1" dirty="0" smtClean="0">
                <a:ea typeface="新細明體" pitchFamily="18" charset="-120"/>
              </a:rPr>
              <a:t> </a:t>
            </a:r>
            <a:r>
              <a:rPr lang="tr-TR" altLang="zh-TW" i="1" dirty="0" smtClean="0"/>
              <a:t>= </a:t>
            </a:r>
            <a:r>
              <a:rPr lang="en-US" altLang="zh-TW" i="1" dirty="0" smtClean="0">
                <a:ea typeface="新細明體" pitchFamily="18" charset="-120"/>
              </a:rPr>
              <a:t>x</a:t>
            </a:r>
            <a:r>
              <a:rPr lang="tr-TR" altLang="zh-TW" i="1" dirty="0" smtClean="0"/>
              <a:t>’</a:t>
            </a:r>
            <a:r>
              <a:rPr lang="en-US" altLang="zh-TW" i="1" dirty="0" smtClean="0">
                <a:ea typeface="新細明體" pitchFamily="18" charset="-120"/>
              </a:rPr>
              <a:t> + y</a:t>
            </a:r>
            <a:r>
              <a:rPr lang="tr-TR" altLang="zh-TW" i="1" dirty="0" smtClean="0"/>
              <a:t>’</a:t>
            </a:r>
            <a:endParaRPr lang="en-US" altLang="zh-TW" dirty="0" smtClean="0">
              <a:ea typeface="新細明體" pitchFamily="18" charset="-120"/>
            </a:endParaRPr>
          </a:p>
          <a:p>
            <a:pPr marL="609600" indent="-609600"/>
            <a:r>
              <a:rPr lang="en-US" altLang="zh-TW" dirty="0" smtClean="0">
                <a:ea typeface="新細明體" pitchFamily="18" charset="-120"/>
              </a:rPr>
              <a:t>By means of truth table</a:t>
            </a:r>
            <a:endParaRPr lang="zh-TW" altLang="en-US" dirty="0">
              <a:ea typeface="新細明體" pitchFamily="18" charset="-120"/>
            </a:endParaRPr>
          </a:p>
        </p:txBody>
      </p:sp>
      <p:graphicFrame>
        <p:nvGraphicFramePr>
          <p:cNvPr id="6" name="Group 95"/>
          <p:cNvGraphicFramePr>
            <a:graphicFrameLocks/>
          </p:cNvGraphicFramePr>
          <p:nvPr/>
        </p:nvGraphicFramePr>
        <p:xfrm>
          <a:off x="419100" y="3200400"/>
          <a:ext cx="7924800" cy="2430463"/>
        </p:xfrm>
        <a:graphic>
          <a:graphicData uri="http://schemas.openxmlformats.org/drawingml/2006/table">
            <a:tbl>
              <a:tblPr/>
              <a:tblGrid>
                <a:gridCol w="792163"/>
                <a:gridCol w="792162"/>
                <a:gridCol w="793750"/>
                <a:gridCol w="792163"/>
                <a:gridCol w="792162"/>
                <a:gridCol w="792163"/>
                <a:gridCol w="792162"/>
                <a:gridCol w="793750"/>
                <a:gridCol w="792163"/>
                <a:gridCol w="792162"/>
              </a:tblGrid>
              <a:tr h="6096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20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x</a:t>
                      </a:r>
                      <a:endParaRPr kumimoji="0" lang="zh-TW" altLang="en-US" sz="2000" b="1" i="1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y</a:t>
                      </a:r>
                      <a:endParaRPr kumimoji="0" lang="zh-TW" altLang="en-US" sz="2000" b="1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altLang="zh-TW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x’</a:t>
                      </a:r>
                      <a:endParaRPr kumimoji="0" lang="en-US" altLang="zh-TW" sz="2000" b="1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altLang="zh-TW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y’</a:t>
                      </a:r>
                      <a:endParaRPr kumimoji="0" lang="en-US" altLang="zh-TW" sz="2000" b="1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x</a:t>
                      </a:r>
                      <a:r>
                        <a:rPr kumimoji="0" lang="tr-TR" altLang="zh-TW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+</a:t>
                      </a:r>
                      <a:r>
                        <a:rPr kumimoji="0" lang="en-US" altLang="zh-TW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y</a:t>
                      </a:r>
                      <a:endParaRPr kumimoji="0" lang="zh-TW" altLang="en-US" sz="2000" b="1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altLang="zh-TW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(x+y)’</a:t>
                      </a:r>
                      <a:endParaRPr kumimoji="0" lang="en-US" altLang="zh-TW" sz="2000" b="1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altLang="zh-TW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x’y’</a:t>
                      </a:r>
                      <a:endParaRPr kumimoji="0" lang="en-US" altLang="zh-TW" sz="2000" b="1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altLang="zh-TW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xy</a:t>
                      </a:r>
                      <a:endParaRPr kumimoji="0" lang="en-US" altLang="zh-TW" sz="2000" b="1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altLang="zh-TW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x’+y'</a:t>
                      </a:r>
                      <a:endParaRPr kumimoji="0" lang="en-US" altLang="zh-TW" sz="2000" b="1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EC1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altLang="zh-TW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(xy)’</a:t>
                      </a:r>
                      <a:endParaRPr kumimoji="0" lang="en-US" altLang="zh-TW" sz="2000" b="1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EC1D8"/>
                    </a:solidFill>
                  </a:tcPr>
                </a:tc>
              </a:tr>
              <a:tr h="45402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Book Antiqua" pitchFamily="18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2000" b="0" i="0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Book Antiqua" pitchFamily="18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Book Antiqua" pitchFamily="18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2000" b="0" i="0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Book Antiqua" pitchFamily="18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altLang="zh-TW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cs typeface="Arial" charset="0"/>
                        </a:rPr>
                        <a:t>1</a:t>
                      </a:r>
                      <a:endParaRPr kumimoji="0" lang="en-US" altLang="zh-TW" sz="2000" b="0" i="0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altLang="zh-TW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cs typeface="Arial" charset="0"/>
                        </a:rPr>
                        <a:t>1</a:t>
                      </a:r>
                      <a:endParaRPr kumimoji="0" lang="en-US" altLang="zh-TW" sz="2000" b="0" i="0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Book Antiqua" pitchFamily="18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2000" b="0" i="0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Book Antiqua" pitchFamily="18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altLang="zh-TW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cs typeface="Arial" charset="0"/>
                        </a:rPr>
                        <a:t>1</a:t>
                      </a:r>
                      <a:endParaRPr kumimoji="0" lang="en-US" altLang="zh-TW" sz="2000" b="0" i="0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altLang="zh-TW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cs typeface="Arial" charset="0"/>
                        </a:rPr>
                        <a:t>1</a:t>
                      </a:r>
                      <a:endParaRPr kumimoji="0" lang="en-US" altLang="zh-TW" sz="2000" b="0" i="0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altLang="zh-TW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cs typeface="Arial" charset="0"/>
                        </a:rPr>
                        <a:t>0</a:t>
                      </a:r>
                      <a:endParaRPr kumimoji="0" lang="en-US" altLang="zh-TW" sz="2000" b="0" i="0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altLang="zh-TW" sz="2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cs typeface="Arial" charset="0"/>
                        </a:rPr>
                        <a:t>1</a:t>
                      </a:r>
                      <a:endParaRPr kumimoji="0" lang="en-US" altLang="zh-TW" sz="2000" b="0" i="0" u="none" strike="noStrike" cap="none" normalizeH="0" baseline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EC1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altLang="zh-TW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cs typeface="Arial" charset="0"/>
                        </a:rPr>
                        <a:t>1</a:t>
                      </a:r>
                      <a:endParaRPr kumimoji="0" lang="en-US" altLang="zh-TW" sz="2000" b="0" i="0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EC1D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Book Antiqua" pitchFamily="18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2000" b="0" i="0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Book Antiqua" pitchFamily="18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Book Antiqua" pitchFamily="18" charset="0"/>
                          <a:ea typeface="新細明體" pitchFamily="18" charset="-120"/>
                          <a:cs typeface="Arial" charset="0"/>
                        </a:rPr>
                        <a:t>1</a:t>
                      </a:r>
                      <a:endParaRPr kumimoji="0" lang="zh-TW" altLang="en-US" sz="2000" b="0" i="0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Book Antiqua" pitchFamily="18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altLang="zh-TW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cs typeface="Arial" charset="0"/>
                        </a:rPr>
                        <a:t>1</a:t>
                      </a:r>
                      <a:endParaRPr kumimoji="0" lang="en-US" altLang="zh-TW" sz="2000" b="0" i="0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altLang="zh-TW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cs typeface="Arial" charset="0"/>
                        </a:rPr>
                        <a:t>0</a:t>
                      </a:r>
                      <a:endParaRPr kumimoji="0" lang="en-US" altLang="zh-TW" sz="2000" b="0" i="0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altLang="zh-TW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cs typeface="Arial" charset="0"/>
                        </a:rPr>
                        <a:t>1</a:t>
                      </a:r>
                      <a:endParaRPr kumimoji="0" lang="zh-TW" altLang="en-US" sz="2000" b="0" i="0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altLang="zh-TW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cs typeface="Arial" charset="0"/>
                        </a:rPr>
                        <a:t>0</a:t>
                      </a:r>
                      <a:endParaRPr kumimoji="0" lang="en-US" altLang="zh-TW" sz="2000" b="0" i="0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altLang="zh-TW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cs typeface="Arial" charset="0"/>
                        </a:rPr>
                        <a:t>0</a:t>
                      </a:r>
                      <a:endParaRPr kumimoji="0" lang="en-US" altLang="zh-TW" sz="2000" b="0" i="0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altLang="zh-TW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cs typeface="Arial" charset="0"/>
                        </a:rPr>
                        <a:t>0</a:t>
                      </a:r>
                      <a:endParaRPr kumimoji="0" lang="en-US" altLang="zh-TW" sz="2000" b="0" i="0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altLang="zh-TW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cs typeface="Arial" charset="0"/>
                        </a:rPr>
                        <a:t>1</a:t>
                      </a:r>
                      <a:endParaRPr kumimoji="0" lang="en-US" altLang="zh-TW" sz="2000" b="0" i="0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EC1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altLang="zh-TW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cs typeface="Arial" charset="0"/>
                        </a:rPr>
                        <a:t>1</a:t>
                      </a:r>
                      <a:endParaRPr kumimoji="0" lang="en-US" altLang="zh-TW" sz="2000" b="0" i="0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EC1D8"/>
                    </a:solidFill>
                  </a:tcPr>
                </a:tc>
              </a:tr>
              <a:tr h="45402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Book Antiqua" pitchFamily="18" charset="0"/>
                          <a:ea typeface="新細明體" pitchFamily="18" charset="-120"/>
                          <a:cs typeface="Arial" charset="0"/>
                        </a:rPr>
                        <a:t>1</a:t>
                      </a:r>
                      <a:endParaRPr kumimoji="0" lang="zh-TW" altLang="en-US" sz="2000" b="0" i="0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Book Antiqua" pitchFamily="18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Book Antiqua" pitchFamily="18" charset="0"/>
                          <a:ea typeface="新細明體" pitchFamily="18" charset="-120"/>
                          <a:cs typeface="Arial" charset="0"/>
                        </a:rPr>
                        <a:t>0</a:t>
                      </a:r>
                      <a:endParaRPr kumimoji="0" lang="zh-TW" altLang="en-US" sz="2000" b="0" i="0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Book Antiqua" pitchFamily="18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altLang="zh-TW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cs typeface="Arial" charset="0"/>
                        </a:rPr>
                        <a:t>0</a:t>
                      </a:r>
                      <a:endParaRPr kumimoji="0" lang="en-US" altLang="zh-TW" sz="2000" b="0" i="0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altLang="zh-TW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cs typeface="Arial" charset="0"/>
                        </a:rPr>
                        <a:t>1</a:t>
                      </a:r>
                      <a:endParaRPr kumimoji="0" lang="en-US" altLang="zh-TW" sz="2000" b="0" i="0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altLang="zh-TW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cs typeface="Arial" charset="0"/>
                        </a:rPr>
                        <a:t>1</a:t>
                      </a:r>
                      <a:endParaRPr kumimoji="0" lang="zh-TW" altLang="en-US" sz="2000" b="0" i="0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altLang="zh-TW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cs typeface="Arial" charset="0"/>
                        </a:rPr>
                        <a:t>0</a:t>
                      </a:r>
                      <a:endParaRPr kumimoji="0" lang="en-US" altLang="zh-TW" sz="2000" b="0" i="0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altLang="zh-TW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cs typeface="Arial" charset="0"/>
                        </a:rPr>
                        <a:t>0</a:t>
                      </a:r>
                      <a:endParaRPr kumimoji="0" lang="en-US" altLang="zh-TW" sz="2000" b="0" i="0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altLang="zh-TW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cs typeface="Arial" charset="0"/>
                        </a:rPr>
                        <a:t>0</a:t>
                      </a:r>
                      <a:endParaRPr kumimoji="0" lang="en-US" altLang="zh-TW" sz="2000" b="0" i="0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altLang="zh-TW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cs typeface="Arial" charset="0"/>
                        </a:rPr>
                        <a:t>1</a:t>
                      </a:r>
                      <a:endParaRPr kumimoji="0" lang="en-US" altLang="zh-TW" sz="2000" b="0" i="0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EC1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altLang="zh-TW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cs typeface="Arial" charset="0"/>
                        </a:rPr>
                        <a:t>1</a:t>
                      </a:r>
                      <a:endParaRPr kumimoji="0" lang="en-US" altLang="zh-TW" sz="2000" b="0" i="0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EC1D8"/>
                    </a:solidFill>
                  </a:tcPr>
                </a:tc>
              </a:tr>
              <a:tr h="4556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Book Antiqua" pitchFamily="18" charset="0"/>
                          <a:ea typeface="新細明體" pitchFamily="18" charset="-120"/>
                          <a:cs typeface="Arial" charset="0"/>
                        </a:rPr>
                        <a:t>1</a:t>
                      </a:r>
                      <a:endParaRPr kumimoji="0" lang="zh-TW" altLang="en-US" sz="2000" b="0" i="0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Book Antiqua" pitchFamily="18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Book Antiqua" pitchFamily="18" charset="0"/>
                          <a:ea typeface="新細明體" pitchFamily="18" charset="-120"/>
                          <a:cs typeface="Arial" charset="0"/>
                        </a:rPr>
                        <a:t>1</a:t>
                      </a:r>
                      <a:endParaRPr kumimoji="0" lang="zh-TW" altLang="en-US" sz="2000" b="0" i="0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Book Antiqua" pitchFamily="18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altLang="zh-TW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cs typeface="Arial" charset="0"/>
                        </a:rPr>
                        <a:t>0</a:t>
                      </a:r>
                      <a:endParaRPr kumimoji="0" lang="en-US" altLang="zh-TW" sz="2000" b="0" i="0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altLang="zh-TW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cs typeface="Arial" charset="0"/>
                        </a:rPr>
                        <a:t>0</a:t>
                      </a:r>
                      <a:endParaRPr kumimoji="0" lang="en-US" altLang="zh-TW" sz="2000" b="0" i="0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2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Book Antiqua" pitchFamily="18" charset="0"/>
                          <a:ea typeface="新細明體" pitchFamily="18" charset="-120"/>
                          <a:cs typeface="Arial" charset="0"/>
                        </a:rPr>
                        <a:t>1</a:t>
                      </a:r>
                      <a:endParaRPr kumimoji="0" lang="zh-TW" altLang="en-US" sz="2000" b="0" i="0" u="none" strike="noStrike" cap="none" normalizeH="0" baseline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Book Antiqua" pitchFamily="18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altLang="zh-TW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cs typeface="Arial" charset="0"/>
                        </a:rPr>
                        <a:t>0</a:t>
                      </a:r>
                      <a:endParaRPr kumimoji="0" lang="en-US" altLang="zh-TW" sz="2000" b="0" i="0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altLang="zh-TW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cs typeface="Arial" charset="0"/>
                        </a:rPr>
                        <a:t>0</a:t>
                      </a:r>
                      <a:endParaRPr kumimoji="0" lang="en-US" altLang="zh-TW" sz="2000" b="0" i="0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altLang="zh-TW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cs typeface="Arial" charset="0"/>
                        </a:rPr>
                        <a:t>1</a:t>
                      </a:r>
                      <a:endParaRPr kumimoji="0" lang="en-US" altLang="zh-TW" sz="2000" b="0" i="0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altLang="zh-TW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cs typeface="Arial" charset="0"/>
                        </a:rPr>
                        <a:t>0</a:t>
                      </a:r>
                      <a:endParaRPr kumimoji="0" lang="en-US" altLang="zh-TW" sz="2000" b="0" i="0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EC1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altLang="zh-TW" sz="2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cs typeface="Arial" charset="0"/>
                        </a:rPr>
                        <a:t>0</a:t>
                      </a:r>
                      <a:endParaRPr kumimoji="0" lang="en-US" altLang="zh-TW" sz="2000" b="0" i="0" u="none" strike="noStrike" cap="none" normalizeH="0" baseline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新細明體" pitchFamily="18" charset="-120"/>
                        <a:cs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54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EC1D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6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buFont typeface="Wingdings" pitchFamily="2" charset="2"/>
              <a:buNone/>
            </a:pPr>
            <a:r>
              <a:rPr lang="en-US" dirty="0"/>
              <a:t> Consensus Theorem</a:t>
            </a:r>
          </a:p>
        </p:txBody>
      </p:sp>
      <p:sp>
        <p:nvSpPr>
          <p:cNvPr id="4956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480935"/>
            <a:ext cx="7696200" cy="4873752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 smtClean="0"/>
          </a:p>
          <a:p>
            <a:pPr marL="0" indent="0">
              <a:buNone/>
            </a:pPr>
            <a:r>
              <a:rPr lang="en-US" dirty="0" smtClean="0"/>
              <a:t>                    AB </a:t>
            </a:r>
            <a:r>
              <a:rPr lang="en-US" dirty="0"/>
              <a:t>+ A'C + BC = AB + </a:t>
            </a:r>
            <a:r>
              <a:rPr lang="en-US" dirty="0" smtClean="0"/>
              <a:t>A'C</a:t>
            </a:r>
          </a:p>
          <a:p>
            <a:pPr marL="0" indent="0">
              <a:buNone/>
            </a:pPr>
            <a:r>
              <a:rPr lang="en-US" dirty="0" smtClean="0"/>
              <a:t> </a:t>
            </a:r>
          </a:p>
          <a:p>
            <a:pPr>
              <a:lnSpc>
                <a:spcPct val="150000"/>
              </a:lnSpc>
              <a:buFont typeface="Wingdings" pitchFamily="2" charset="2"/>
              <a:buChar char="q"/>
            </a:pPr>
            <a:r>
              <a:rPr lang="en-US" dirty="0" smtClean="0"/>
              <a:t>The </a:t>
            </a:r>
            <a:r>
              <a:rPr lang="en-US" dirty="0"/>
              <a:t>consensus or </a:t>
            </a:r>
            <a:r>
              <a:rPr lang="en-US" dirty="0" err="1"/>
              <a:t>resolvent</a:t>
            </a:r>
            <a:r>
              <a:rPr lang="en-US" dirty="0"/>
              <a:t> of the terms AB and A'C is </a:t>
            </a:r>
            <a:r>
              <a:rPr lang="en-US" dirty="0" smtClean="0"/>
              <a:t>BC</a:t>
            </a:r>
          </a:p>
          <a:p>
            <a:pPr>
              <a:lnSpc>
                <a:spcPct val="150000"/>
              </a:lnSpc>
              <a:buFont typeface="Wingdings" pitchFamily="2" charset="2"/>
              <a:buChar char="q"/>
            </a:pPr>
            <a:r>
              <a:rPr lang="en-US" dirty="0" smtClean="0"/>
              <a:t> </a:t>
            </a:r>
            <a:r>
              <a:rPr lang="en-US" dirty="0"/>
              <a:t>It is the conjunction of all the unique literals of the terms, excluding the literal that appears </a:t>
            </a:r>
            <a:r>
              <a:rPr lang="en-US" dirty="0" err="1"/>
              <a:t>unnegated</a:t>
            </a:r>
            <a:r>
              <a:rPr lang="en-US" dirty="0"/>
              <a:t> in one term and negated in </a:t>
            </a:r>
            <a:r>
              <a:rPr lang="en-US"/>
              <a:t>the </a:t>
            </a:r>
            <a:r>
              <a:rPr lang="en-US" smtClean="0"/>
              <a:t>other</a:t>
            </a:r>
            <a:endParaRPr lang="en-US" dirty="0"/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6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buFont typeface="Wingdings" pitchFamily="2" charset="2"/>
              <a:buNone/>
            </a:pPr>
            <a:r>
              <a:rPr lang="en-US" dirty="0"/>
              <a:t> Consensus Theorem</a:t>
            </a:r>
          </a:p>
        </p:txBody>
      </p:sp>
      <p:sp>
        <p:nvSpPr>
          <p:cNvPr id="4956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609600" indent="-609600">
              <a:buFont typeface="Wingdings" pitchFamily="2" charset="2"/>
              <a:buAutoNum type="arabicPeriod"/>
            </a:pPr>
            <a:r>
              <a:rPr lang="en-US" i="1" dirty="0" err="1"/>
              <a:t>xy</a:t>
            </a:r>
            <a:r>
              <a:rPr lang="en-US" dirty="0"/>
              <a:t> + </a:t>
            </a:r>
            <a:r>
              <a:rPr lang="en-US" i="1" dirty="0" err="1"/>
              <a:t>x’z</a:t>
            </a:r>
            <a:r>
              <a:rPr lang="en-US" dirty="0"/>
              <a:t> + </a:t>
            </a:r>
            <a:r>
              <a:rPr lang="en-US" i="1" dirty="0" err="1">
                <a:solidFill>
                  <a:srgbClr val="FF0000"/>
                </a:solidFill>
              </a:rPr>
              <a:t>yz</a:t>
            </a:r>
            <a:r>
              <a:rPr lang="en-US" dirty="0"/>
              <a:t> = </a:t>
            </a:r>
            <a:r>
              <a:rPr lang="en-US" i="1" dirty="0" err="1"/>
              <a:t>xy</a:t>
            </a:r>
            <a:r>
              <a:rPr lang="en-US" dirty="0"/>
              <a:t> + </a:t>
            </a:r>
            <a:r>
              <a:rPr lang="en-US" i="1" dirty="0" err="1" smtClean="0"/>
              <a:t>x’z</a:t>
            </a:r>
            <a:endParaRPr lang="en-US" i="1" dirty="0"/>
          </a:p>
          <a:p>
            <a:pPr marL="609600" indent="-609600">
              <a:buFont typeface="Wingdings" pitchFamily="2" charset="2"/>
              <a:buAutoNum type="arabicPeriod"/>
            </a:pPr>
            <a:r>
              <a:rPr lang="en-US" dirty="0"/>
              <a:t>(</a:t>
            </a:r>
            <a:r>
              <a:rPr lang="en-US" i="1" dirty="0" err="1"/>
              <a:t>x</a:t>
            </a:r>
            <a:r>
              <a:rPr lang="en-US" dirty="0" err="1"/>
              <a:t>+</a:t>
            </a:r>
            <a:r>
              <a:rPr lang="en-US" i="1" dirty="0" err="1"/>
              <a:t>y</a:t>
            </a:r>
            <a:r>
              <a:rPr lang="en-US" dirty="0"/>
              <a:t>)•(</a:t>
            </a:r>
            <a:r>
              <a:rPr lang="en-US" i="1" dirty="0" err="1"/>
              <a:t>x’</a:t>
            </a:r>
            <a:r>
              <a:rPr lang="en-US" dirty="0" err="1"/>
              <a:t>+</a:t>
            </a:r>
            <a:r>
              <a:rPr lang="en-US" i="1" dirty="0" err="1"/>
              <a:t>z</a:t>
            </a:r>
            <a:r>
              <a:rPr lang="en-US" dirty="0"/>
              <a:t>)•</a:t>
            </a:r>
            <a:r>
              <a:rPr lang="en-US" dirty="0">
                <a:solidFill>
                  <a:srgbClr val="FF0000"/>
                </a:solidFill>
              </a:rPr>
              <a:t>(</a:t>
            </a:r>
            <a:r>
              <a:rPr lang="en-US" i="1" dirty="0" err="1">
                <a:solidFill>
                  <a:srgbClr val="FF0000"/>
                </a:solidFill>
              </a:rPr>
              <a:t>y</a:t>
            </a:r>
            <a:r>
              <a:rPr lang="en-US" dirty="0" err="1">
                <a:solidFill>
                  <a:srgbClr val="FF0000"/>
                </a:solidFill>
              </a:rPr>
              <a:t>+</a:t>
            </a:r>
            <a:r>
              <a:rPr lang="en-US" i="1" dirty="0" err="1">
                <a:solidFill>
                  <a:srgbClr val="FF0000"/>
                </a:solidFill>
              </a:rPr>
              <a:t>z</a:t>
            </a:r>
            <a:r>
              <a:rPr lang="en-US" dirty="0">
                <a:solidFill>
                  <a:srgbClr val="FF0000"/>
                </a:solidFill>
              </a:rPr>
              <a:t>) </a:t>
            </a:r>
            <a:r>
              <a:rPr lang="en-US" dirty="0"/>
              <a:t>= (</a:t>
            </a:r>
            <a:r>
              <a:rPr lang="en-US" i="1" dirty="0" err="1"/>
              <a:t>x</a:t>
            </a:r>
            <a:r>
              <a:rPr lang="en-US" dirty="0" err="1"/>
              <a:t>+</a:t>
            </a:r>
            <a:r>
              <a:rPr lang="en-US" i="1" dirty="0" err="1"/>
              <a:t>y</a:t>
            </a:r>
            <a:r>
              <a:rPr lang="en-US" dirty="0"/>
              <a:t>)•(</a:t>
            </a:r>
            <a:r>
              <a:rPr lang="en-US" i="1" dirty="0" err="1"/>
              <a:t>x’</a:t>
            </a:r>
            <a:r>
              <a:rPr lang="en-US" dirty="0" err="1"/>
              <a:t>+</a:t>
            </a:r>
            <a:r>
              <a:rPr lang="en-US" i="1" dirty="0" err="1"/>
              <a:t>z</a:t>
            </a:r>
            <a:r>
              <a:rPr lang="en-US" dirty="0"/>
              <a:t>)  -- (dual)</a:t>
            </a:r>
          </a:p>
          <a:p>
            <a:pPr marL="609600" indent="-609600"/>
            <a:r>
              <a:rPr lang="en-US" b="1" dirty="0"/>
              <a:t>Proof:</a:t>
            </a:r>
            <a:br>
              <a:rPr lang="en-US" b="1" dirty="0"/>
            </a:br>
            <a:r>
              <a:rPr lang="en-US" i="1" dirty="0" err="1"/>
              <a:t>xy</a:t>
            </a:r>
            <a:r>
              <a:rPr lang="en-US" dirty="0"/>
              <a:t> + </a:t>
            </a:r>
            <a:r>
              <a:rPr lang="en-US" i="1" dirty="0" err="1"/>
              <a:t>x’z</a:t>
            </a:r>
            <a:r>
              <a:rPr lang="en-US" dirty="0"/>
              <a:t> + </a:t>
            </a:r>
            <a:r>
              <a:rPr lang="en-US" i="1" dirty="0" err="1"/>
              <a:t>yz</a:t>
            </a:r>
            <a:r>
              <a:rPr lang="en-US" dirty="0"/>
              <a:t> </a:t>
            </a:r>
            <a:r>
              <a:rPr lang="en-US" dirty="0" smtClean="0"/>
              <a:t> = </a:t>
            </a:r>
            <a:r>
              <a:rPr lang="en-US" i="1" dirty="0" err="1"/>
              <a:t>xy</a:t>
            </a:r>
            <a:r>
              <a:rPr lang="en-US" dirty="0"/>
              <a:t> + </a:t>
            </a:r>
            <a:r>
              <a:rPr lang="en-US" i="1" dirty="0" err="1"/>
              <a:t>x’z</a:t>
            </a:r>
            <a:r>
              <a:rPr lang="en-US" dirty="0"/>
              <a:t> + (</a:t>
            </a:r>
            <a:r>
              <a:rPr lang="en-US" i="1" dirty="0" err="1"/>
              <a:t>x</a:t>
            </a:r>
            <a:r>
              <a:rPr lang="en-US" dirty="0" err="1"/>
              <a:t>+</a:t>
            </a:r>
            <a:r>
              <a:rPr lang="en-US" i="1" dirty="0" err="1"/>
              <a:t>x</a:t>
            </a:r>
            <a:r>
              <a:rPr lang="en-US" i="1" dirty="0"/>
              <a:t>’</a:t>
            </a:r>
            <a:r>
              <a:rPr lang="en-US" dirty="0"/>
              <a:t>)</a:t>
            </a:r>
            <a:r>
              <a:rPr lang="en-US" i="1" dirty="0" err="1"/>
              <a:t>yz</a:t>
            </a:r>
            <a:r>
              <a:rPr lang="en-US" dirty="0"/>
              <a:t/>
            </a:r>
            <a:br>
              <a:rPr lang="en-US" dirty="0"/>
            </a:br>
            <a:r>
              <a:rPr lang="en-US" dirty="0"/>
              <a:t>		</a:t>
            </a:r>
            <a:r>
              <a:rPr lang="en-US" dirty="0" smtClean="0"/>
              <a:t>       = </a:t>
            </a:r>
            <a:r>
              <a:rPr lang="en-US" i="1" dirty="0" err="1"/>
              <a:t>xy</a:t>
            </a:r>
            <a:r>
              <a:rPr lang="en-US" dirty="0"/>
              <a:t> + </a:t>
            </a:r>
            <a:r>
              <a:rPr lang="en-US" i="1" dirty="0" err="1"/>
              <a:t>x’z</a:t>
            </a:r>
            <a:r>
              <a:rPr lang="en-US" dirty="0"/>
              <a:t> + </a:t>
            </a:r>
            <a:r>
              <a:rPr lang="en-US" i="1" dirty="0"/>
              <a:t>xyz</a:t>
            </a:r>
            <a:r>
              <a:rPr lang="en-US" dirty="0"/>
              <a:t> + </a:t>
            </a:r>
            <a:r>
              <a:rPr lang="en-US" i="1" dirty="0" err="1"/>
              <a:t>x’yz</a:t>
            </a:r>
            <a:r>
              <a:rPr lang="en-US" dirty="0"/>
              <a:t/>
            </a:r>
            <a:br>
              <a:rPr lang="en-US" dirty="0"/>
            </a:br>
            <a:r>
              <a:rPr lang="en-US" dirty="0"/>
              <a:t>		</a:t>
            </a:r>
            <a:r>
              <a:rPr lang="en-US" dirty="0" smtClean="0"/>
              <a:t>       = </a:t>
            </a:r>
            <a:r>
              <a:rPr lang="en-US" dirty="0"/>
              <a:t>(</a:t>
            </a:r>
            <a:r>
              <a:rPr lang="en-US" i="1" dirty="0" err="1"/>
              <a:t>xy</a:t>
            </a:r>
            <a:r>
              <a:rPr lang="en-US" dirty="0"/>
              <a:t> + </a:t>
            </a:r>
            <a:r>
              <a:rPr lang="en-US" i="1" dirty="0"/>
              <a:t>xyz</a:t>
            </a:r>
            <a:r>
              <a:rPr lang="en-US" dirty="0"/>
              <a:t>) + (</a:t>
            </a:r>
            <a:r>
              <a:rPr lang="en-US" i="1" dirty="0" err="1"/>
              <a:t>x’z</a:t>
            </a:r>
            <a:r>
              <a:rPr lang="en-US" dirty="0"/>
              <a:t> + </a:t>
            </a:r>
            <a:r>
              <a:rPr lang="en-US" i="1" dirty="0" err="1"/>
              <a:t>x’zy</a:t>
            </a:r>
            <a:r>
              <a:rPr lang="en-US" dirty="0" smtClean="0"/>
              <a:t>) </a:t>
            </a:r>
          </a:p>
          <a:p>
            <a:pPr marL="609600" indent="-609600">
              <a:buNone/>
            </a:pPr>
            <a:r>
              <a:rPr lang="en-US" dirty="0" smtClean="0"/>
              <a:t>			       = </a:t>
            </a:r>
            <a:r>
              <a:rPr lang="en-US" i="1" dirty="0" err="1" smtClean="0"/>
              <a:t>xy</a:t>
            </a:r>
            <a:r>
              <a:rPr lang="en-US" dirty="0" smtClean="0"/>
              <a:t>(1+</a:t>
            </a:r>
            <a:r>
              <a:rPr lang="en-US" i="1" dirty="0" smtClean="0"/>
              <a:t>z</a:t>
            </a:r>
            <a:r>
              <a:rPr lang="en-US" dirty="0" smtClean="0"/>
              <a:t>) + </a:t>
            </a:r>
            <a:r>
              <a:rPr lang="en-US" i="1" dirty="0" err="1" smtClean="0"/>
              <a:t>x’z</a:t>
            </a:r>
            <a:r>
              <a:rPr lang="en-US" dirty="0" smtClean="0"/>
              <a:t> (1+</a:t>
            </a:r>
            <a:r>
              <a:rPr lang="en-US" i="1" dirty="0" smtClean="0"/>
              <a:t>y</a:t>
            </a:r>
            <a:r>
              <a:rPr lang="en-US" dirty="0" smtClean="0"/>
              <a:t>)</a:t>
            </a:r>
            <a:r>
              <a:rPr lang="en-US" dirty="0"/>
              <a:t/>
            </a:r>
            <a:br>
              <a:rPr lang="en-US" dirty="0"/>
            </a:br>
            <a:r>
              <a:rPr lang="en-US" dirty="0"/>
              <a:t>		</a:t>
            </a:r>
            <a:r>
              <a:rPr lang="en-US" dirty="0" smtClean="0"/>
              <a:t>       = </a:t>
            </a:r>
            <a:r>
              <a:rPr lang="en-US" i="1" dirty="0" err="1"/>
              <a:t>xy</a:t>
            </a:r>
            <a:r>
              <a:rPr lang="en-US" dirty="0"/>
              <a:t> + </a:t>
            </a:r>
            <a:r>
              <a:rPr lang="en-US" i="1" dirty="0" err="1"/>
              <a:t>x’z</a:t>
            </a:r>
            <a:r>
              <a:rPr lang="en-US" dirty="0"/>
              <a:t/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364882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6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6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Boolean Function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AU" dirty="0" smtClean="0"/>
              <a:t>A Boolean function expresses the logical relationship between binary variables and is evaluated by determining the binary value of the expression for all possible values of the variables.</a:t>
            </a:r>
          </a:p>
          <a:p>
            <a:pPr algn="ctr">
              <a:buNone/>
            </a:pPr>
            <a:r>
              <a:rPr lang="en-US" i="1" dirty="0" smtClean="0">
                <a:solidFill>
                  <a:srgbClr val="3333FF"/>
                </a:solidFill>
              </a:rPr>
              <a:t>f</a:t>
            </a:r>
            <a:r>
              <a:rPr lang="en-US" dirty="0" smtClean="0">
                <a:solidFill>
                  <a:srgbClr val="3333FF"/>
                </a:solidFill>
              </a:rPr>
              <a:t>(</a:t>
            </a:r>
            <a:r>
              <a:rPr lang="en-US" i="1" dirty="0" err="1" smtClean="0">
                <a:solidFill>
                  <a:srgbClr val="3333FF"/>
                </a:solidFill>
              </a:rPr>
              <a:t>x</a:t>
            </a:r>
            <a:r>
              <a:rPr lang="en-US" dirty="0" err="1" smtClean="0">
                <a:solidFill>
                  <a:srgbClr val="3333FF"/>
                </a:solidFill>
              </a:rPr>
              <a:t>,</a:t>
            </a:r>
            <a:r>
              <a:rPr lang="en-US" i="1" dirty="0" err="1" smtClean="0">
                <a:solidFill>
                  <a:srgbClr val="3333FF"/>
                </a:solidFill>
              </a:rPr>
              <a:t>y</a:t>
            </a:r>
            <a:r>
              <a:rPr lang="en-US" dirty="0" err="1" smtClean="0">
                <a:solidFill>
                  <a:srgbClr val="3333FF"/>
                </a:solidFill>
              </a:rPr>
              <a:t>,</a:t>
            </a:r>
            <a:r>
              <a:rPr lang="en-US" i="1" dirty="0" err="1" smtClean="0">
                <a:solidFill>
                  <a:srgbClr val="3333FF"/>
                </a:solidFill>
              </a:rPr>
              <a:t>z</a:t>
            </a:r>
            <a:r>
              <a:rPr lang="en-US" dirty="0" smtClean="0">
                <a:solidFill>
                  <a:srgbClr val="3333FF"/>
                </a:solidFill>
              </a:rPr>
              <a:t>) = (</a:t>
            </a:r>
            <a:r>
              <a:rPr lang="en-US" i="1" dirty="0" smtClean="0">
                <a:solidFill>
                  <a:srgbClr val="3333FF"/>
                </a:solidFill>
              </a:rPr>
              <a:t>x</a:t>
            </a:r>
            <a:r>
              <a:rPr lang="en-US" dirty="0" smtClean="0">
                <a:solidFill>
                  <a:srgbClr val="3333FF"/>
                </a:solidFill>
              </a:rPr>
              <a:t> + </a:t>
            </a:r>
            <a:r>
              <a:rPr lang="en-US" i="1" dirty="0" smtClean="0">
                <a:solidFill>
                  <a:srgbClr val="3333FF"/>
                </a:solidFill>
              </a:rPr>
              <a:t>y’</a:t>
            </a:r>
            <a:r>
              <a:rPr lang="en-US" dirty="0" smtClean="0">
                <a:solidFill>
                  <a:srgbClr val="3333FF"/>
                </a:solidFill>
              </a:rPr>
              <a:t>)</a:t>
            </a:r>
            <a:r>
              <a:rPr lang="en-US" i="1" dirty="0" smtClean="0">
                <a:solidFill>
                  <a:srgbClr val="3333FF"/>
                </a:solidFill>
              </a:rPr>
              <a:t>z</a:t>
            </a:r>
            <a:r>
              <a:rPr lang="en-US" dirty="0" smtClean="0">
                <a:solidFill>
                  <a:srgbClr val="3333FF"/>
                </a:solidFill>
              </a:rPr>
              <a:t> + </a:t>
            </a:r>
            <a:r>
              <a:rPr lang="en-US" i="1" dirty="0" smtClean="0">
                <a:solidFill>
                  <a:srgbClr val="3333FF"/>
                </a:solidFill>
              </a:rPr>
              <a:t>x’</a:t>
            </a:r>
          </a:p>
          <a:p>
            <a:r>
              <a:rPr lang="en-US" dirty="0" smtClean="0"/>
              <a:t>Some terminology, notation and precedence:</a:t>
            </a:r>
          </a:p>
          <a:p>
            <a:pPr lvl="1">
              <a:buClr>
                <a:schemeClr val="tx1"/>
              </a:buClr>
            </a:pPr>
            <a:r>
              <a:rPr lang="en-US" i="1" dirty="0" smtClean="0">
                <a:solidFill>
                  <a:srgbClr val="3333FF"/>
                </a:solidFill>
              </a:rPr>
              <a:t>f</a:t>
            </a:r>
            <a:r>
              <a:rPr lang="en-US" dirty="0" smtClean="0"/>
              <a:t> is the name of the function.</a:t>
            </a:r>
          </a:p>
          <a:p>
            <a:pPr lvl="1">
              <a:buClr>
                <a:schemeClr val="tx1"/>
              </a:buClr>
            </a:pPr>
            <a:r>
              <a:rPr lang="en-US" dirty="0" smtClean="0">
                <a:solidFill>
                  <a:srgbClr val="3333FF"/>
                </a:solidFill>
              </a:rPr>
              <a:t>(</a:t>
            </a:r>
            <a:r>
              <a:rPr lang="en-US" i="1" dirty="0" err="1" smtClean="0">
                <a:solidFill>
                  <a:srgbClr val="3333FF"/>
                </a:solidFill>
              </a:rPr>
              <a:t>x</a:t>
            </a:r>
            <a:r>
              <a:rPr lang="en-US" dirty="0" err="1" smtClean="0">
                <a:solidFill>
                  <a:srgbClr val="3333FF"/>
                </a:solidFill>
              </a:rPr>
              <a:t>,</a:t>
            </a:r>
            <a:r>
              <a:rPr lang="en-US" i="1" dirty="0" err="1" smtClean="0">
                <a:solidFill>
                  <a:srgbClr val="3333FF"/>
                </a:solidFill>
              </a:rPr>
              <a:t>y</a:t>
            </a:r>
            <a:r>
              <a:rPr lang="en-US" dirty="0" err="1" smtClean="0">
                <a:solidFill>
                  <a:srgbClr val="3333FF"/>
                </a:solidFill>
              </a:rPr>
              <a:t>,</a:t>
            </a:r>
            <a:r>
              <a:rPr lang="en-US" i="1" dirty="0" err="1" smtClean="0">
                <a:solidFill>
                  <a:srgbClr val="3333FF"/>
                </a:solidFill>
              </a:rPr>
              <a:t>z</a:t>
            </a:r>
            <a:r>
              <a:rPr lang="en-US" dirty="0" smtClean="0">
                <a:solidFill>
                  <a:srgbClr val="3333FF"/>
                </a:solidFill>
              </a:rPr>
              <a:t>)</a:t>
            </a:r>
            <a:r>
              <a:rPr lang="en-US" dirty="0" smtClean="0"/>
              <a:t> are the </a:t>
            </a:r>
            <a:r>
              <a:rPr lang="en-US" dirty="0" smtClean="0">
                <a:solidFill>
                  <a:srgbClr val="FF0033"/>
                </a:solidFill>
              </a:rPr>
              <a:t>input variables</a:t>
            </a:r>
            <a:r>
              <a:rPr lang="en-US" dirty="0" smtClean="0"/>
              <a:t>, each representing 1 or 0. </a:t>
            </a:r>
          </a:p>
          <a:p>
            <a:pPr lvl="1"/>
            <a:r>
              <a:rPr lang="en-US" dirty="0" smtClean="0"/>
              <a:t>A </a:t>
            </a:r>
            <a:r>
              <a:rPr lang="en-US" dirty="0" smtClean="0">
                <a:solidFill>
                  <a:srgbClr val="FF0033"/>
                </a:solidFill>
              </a:rPr>
              <a:t>literal</a:t>
            </a:r>
            <a:r>
              <a:rPr lang="en-US" dirty="0" smtClean="0"/>
              <a:t> is a single variable within a term, in complemented or </a:t>
            </a:r>
            <a:r>
              <a:rPr lang="en-US" dirty="0" err="1" smtClean="0"/>
              <a:t>uncomplemented</a:t>
            </a:r>
            <a:r>
              <a:rPr lang="en-US" dirty="0" smtClean="0"/>
              <a:t> form. The function above has four literals: </a:t>
            </a:r>
            <a:r>
              <a:rPr lang="en-US" i="1" dirty="0" smtClean="0">
                <a:solidFill>
                  <a:srgbClr val="3333FF"/>
                </a:solidFill>
              </a:rPr>
              <a:t>x</a:t>
            </a:r>
            <a:r>
              <a:rPr lang="en-US" dirty="0" smtClean="0"/>
              <a:t>, </a:t>
            </a:r>
            <a:r>
              <a:rPr lang="en-US" i="1" dirty="0" smtClean="0">
                <a:solidFill>
                  <a:srgbClr val="3333FF"/>
                </a:solidFill>
              </a:rPr>
              <a:t>y’</a:t>
            </a:r>
            <a:r>
              <a:rPr lang="en-US" dirty="0" smtClean="0"/>
              <a:t>, </a:t>
            </a:r>
            <a:r>
              <a:rPr lang="en-US" i="1" dirty="0" smtClean="0">
                <a:solidFill>
                  <a:srgbClr val="3333FF"/>
                </a:solidFill>
              </a:rPr>
              <a:t>z</a:t>
            </a:r>
            <a:r>
              <a:rPr lang="en-US" dirty="0" smtClean="0"/>
              <a:t>, and </a:t>
            </a:r>
            <a:r>
              <a:rPr lang="en-US" i="1" dirty="0" smtClean="0">
                <a:solidFill>
                  <a:srgbClr val="3333FF"/>
                </a:solidFill>
              </a:rPr>
              <a:t>x’</a:t>
            </a:r>
            <a:r>
              <a:rPr lang="en-US" dirty="0" smtClean="0"/>
              <a:t>.</a:t>
            </a:r>
          </a:p>
          <a:p>
            <a:pPr lvl="1"/>
            <a:r>
              <a:rPr lang="en-US" dirty="0" smtClean="0"/>
              <a:t>NOT has the highest precedence, followed by AND, and then OR.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Boolean Function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AU" dirty="0" smtClean="0"/>
              <a:t>A Boolean function can be represented in a truth table.</a:t>
            </a:r>
          </a:p>
          <a:p>
            <a:endParaRPr lang="en-US" dirty="0" smtClean="0"/>
          </a:p>
        </p:txBody>
      </p:sp>
      <p:graphicFrame>
        <p:nvGraphicFramePr>
          <p:cNvPr id="4" name="Object 4"/>
          <p:cNvGraphicFramePr>
            <a:graphicFrameLocks noChangeAspect="1"/>
          </p:cNvGraphicFramePr>
          <p:nvPr/>
        </p:nvGraphicFramePr>
        <p:xfrm>
          <a:off x="5791200" y="2746375"/>
          <a:ext cx="2830513" cy="3730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1559" name="Document" r:id="rId3" imgW="2880466" imgH="3770999" progId="Word.Document.8">
                  <p:embed/>
                </p:oleObj>
              </mc:Choice>
              <mc:Fallback>
                <p:oleObj name="Document" r:id="rId3" imgW="2880466" imgH="3770999" progId="Word.Document.8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91200" y="2746375"/>
                        <a:ext cx="2830513" cy="37306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" name="Group 5"/>
          <p:cNvGrpSpPr>
            <a:grpSpLocks/>
          </p:cNvGrpSpPr>
          <p:nvPr/>
        </p:nvGrpSpPr>
        <p:grpSpPr bwMode="auto">
          <a:xfrm>
            <a:off x="1052513" y="2324099"/>
            <a:ext cx="3384551" cy="3543300"/>
            <a:chOff x="663" y="1873"/>
            <a:chExt cx="2132" cy="2232"/>
          </a:xfrm>
        </p:grpSpPr>
        <p:sp>
          <p:nvSpPr>
            <p:cNvPr id="6" name="Text Box 6"/>
            <p:cNvSpPr txBox="1">
              <a:spLocks noChangeArrowheads="1"/>
            </p:cNvSpPr>
            <p:nvPr/>
          </p:nvSpPr>
          <p:spPr bwMode="auto">
            <a:xfrm>
              <a:off x="735" y="2496"/>
              <a:ext cx="2060" cy="1609"/>
            </a:xfrm>
            <a:prstGeom prst="rect">
              <a:avLst/>
            </a:prstGeom>
            <a:noFill/>
            <a:ln w="25400">
              <a:noFill/>
              <a:miter lim="800000"/>
              <a:headEnd type="none" w="sm" len="sm"/>
              <a:tailEnd type="none" w="sm" len="sm"/>
            </a:ln>
          </p:spPr>
          <p:txBody>
            <a:bodyPr wrap="none">
              <a:spAutoFit/>
            </a:bodyPr>
            <a:lstStyle/>
            <a:p>
              <a:pPr>
                <a:tabLst>
                  <a:tab pos="855663" algn="l"/>
                  <a:tab pos="2176463" algn="l"/>
                </a:tabLst>
              </a:pPr>
              <a:r>
                <a:rPr lang="en-US" sz="2000" dirty="0"/>
                <a:t>f(0,0,0)	= (0 + 1)0 + 1	= 1</a:t>
              </a:r>
            </a:p>
            <a:p>
              <a:pPr>
                <a:tabLst>
                  <a:tab pos="855663" algn="l"/>
                  <a:tab pos="2176463" algn="l"/>
                </a:tabLst>
              </a:pPr>
              <a:r>
                <a:rPr lang="en-US" sz="2000" dirty="0"/>
                <a:t>f(0,0,1)	= (0 + 1)1 + 1	= 1</a:t>
              </a:r>
            </a:p>
            <a:p>
              <a:pPr>
                <a:tabLst>
                  <a:tab pos="855663" algn="l"/>
                  <a:tab pos="2176463" algn="l"/>
                </a:tabLst>
              </a:pPr>
              <a:r>
                <a:rPr lang="en-US" sz="2000" dirty="0"/>
                <a:t>f(0,1,0)	= (0 + 0)0 + 1	= 1</a:t>
              </a:r>
            </a:p>
            <a:p>
              <a:pPr>
                <a:tabLst>
                  <a:tab pos="855663" algn="l"/>
                  <a:tab pos="2176463" algn="l"/>
                </a:tabLst>
              </a:pPr>
              <a:r>
                <a:rPr lang="en-US" sz="2000" dirty="0"/>
                <a:t>f(0,1,1)	= (0 + 0)1 + 1	= 1</a:t>
              </a:r>
            </a:p>
            <a:p>
              <a:pPr>
                <a:tabLst>
                  <a:tab pos="855663" algn="l"/>
                  <a:tab pos="2176463" algn="l"/>
                </a:tabLst>
              </a:pPr>
              <a:r>
                <a:rPr lang="en-US" sz="2000" dirty="0"/>
                <a:t>f(1,0,0)	= (1 + 1)0 + 0	= 0</a:t>
              </a:r>
            </a:p>
            <a:p>
              <a:pPr>
                <a:tabLst>
                  <a:tab pos="855663" algn="l"/>
                  <a:tab pos="2176463" algn="l"/>
                </a:tabLst>
              </a:pPr>
              <a:r>
                <a:rPr lang="en-US" sz="2000" dirty="0"/>
                <a:t>f(1,0,1)	= (1 + 1)1 + 0	= 1</a:t>
              </a:r>
            </a:p>
            <a:p>
              <a:pPr>
                <a:tabLst>
                  <a:tab pos="855663" algn="l"/>
                  <a:tab pos="2176463" algn="l"/>
                </a:tabLst>
              </a:pPr>
              <a:r>
                <a:rPr lang="en-US" sz="2000" dirty="0"/>
                <a:t>f(1,1,0)	= (1 + 0)0 + 0	= 0</a:t>
              </a:r>
            </a:p>
            <a:p>
              <a:pPr>
                <a:tabLst>
                  <a:tab pos="855663" algn="l"/>
                  <a:tab pos="2176463" algn="l"/>
                </a:tabLst>
              </a:pPr>
              <a:r>
                <a:rPr lang="en-US" sz="2000" dirty="0"/>
                <a:t>f(1,1,1)	= (1 + 0)1 + 0	= 1</a:t>
              </a:r>
            </a:p>
          </p:txBody>
        </p:sp>
        <p:sp>
          <p:nvSpPr>
            <p:cNvPr id="7" name="Rectangle 7"/>
            <p:cNvSpPr>
              <a:spLocks noChangeArrowheads="1"/>
            </p:cNvSpPr>
            <p:nvPr/>
          </p:nvSpPr>
          <p:spPr bwMode="auto">
            <a:xfrm>
              <a:off x="663" y="1873"/>
              <a:ext cx="2013" cy="29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2075" tIns="46038" rIns="92075" bIns="46038">
              <a:spAutoFit/>
            </a:bodyPr>
            <a:lstStyle/>
            <a:p>
              <a:pPr algn="ctr">
                <a:buNone/>
              </a:pPr>
              <a:r>
                <a:rPr lang="en-US" sz="2400" i="1" dirty="0" smtClean="0">
                  <a:solidFill>
                    <a:srgbClr val="3333FF"/>
                  </a:solidFill>
                </a:rPr>
                <a:t>f</a:t>
              </a:r>
              <a:r>
                <a:rPr lang="en-US" sz="2400" dirty="0" smtClean="0">
                  <a:solidFill>
                    <a:srgbClr val="3333FF"/>
                  </a:solidFill>
                </a:rPr>
                <a:t>(</a:t>
              </a:r>
              <a:r>
                <a:rPr lang="en-US" sz="2400" i="1" dirty="0" err="1" smtClean="0">
                  <a:solidFill>
                    <a:srgbClr val="3333FF"/>
                  </a:solidFill>
                </a:rPr>
                <a:t>x</a:t>
              </a:r>
              <a:r>
                <a:rPr lang="en-US" sz="2400" dirty="0" err="1" smtClean="0">
                  <a:solidFill>
                    <a:srgbClr val="3333FF"/>
                  </a:solidFill>
                </a:rPr>
                <a:t>,</a:t>
              </a:r>
              <a:r>
                <a:rPr lang="en-US" sz="2400" i="1" dirty="0" err="1" smtClean="0">
                  <a:solidFill>
                    <a:srgbClr val="3333FF"/>
                  </a:solidFill>
                </a:rPr>
                <a:t>y</a:t>
              </a:r>
              <a:r>
                <a:rPr lang="en-US" sz="2400" dirty="0" err="1" smtClean="0">
                  <a:solidFill>
                    <a:srgbClr val="3333FF"/>
                  </a:solidFill>
                </a:rPr>
                <a:t>,</a:t>
              </a:r>
              <a:r>
                <a:rPr lang="en-US" sz="2400" i="1" dirty="0" err="1" smtClean="0">
                  <a:solidFill>
                    <a:srgbClr val="3333FF"/>
                  </a:solidFill>
                </a:rPr>
                <a:t>z</a:t>
              </a:r>
              <a:r>
                <a:rPr lang="en-US" sz="2400" dirty="0" smtClean="0">
                  <a:solidFill>
                    <a:srgbClr val="3333FF"/>
                  </a:solidFill>
                </a:rPr>
                <a:t>) = (</a:t>
              </a:r>
              <a:r>
                <a:rPr lang="en-US" sz="2400" i="1" dirty="0" smtClean="0">
                  <a:solidFill>
                    <a:srgbClr val="3333FF"/>
                  </a:solidFill>
                </a:rPr>
                <a:t>x</a:t>
              </a:r>
              <a:r>
                <a:rPr lang="en-US" sz="2400" dirty="0" smtClean="0">
                  <a:solidFill>
                    <a:srgbClr val="3333FF"/>
                  </a:solidFill>
                </a:rPr>
                <a:t> + </a:t>
              </a:r>
              <a:r>
                <a:rPr lang="en-US" sz="2400" i="1" dirty="0" smtClean="0">
                  <a:solidFill>
                    <a:srgbClr val="3333FF"/>
                  </a:solidFill>
                </a:rPr>
                <a:t>y’</a:t>
              </a:r>
              <a:r>
                <a:rPr lang="en-US" sz="2400" dirty="0" smtClean="0">
                  <a:solidFill>
                    <a:srgbClr val="3333FF"/>
                  </a:solidFill>
                </a:rPr>
                <a:t>)</a:t>
              </a:r>
              <a:r>
                <a:rPr lang="en-US" sz="2400" i="1" dirty="0" smtClean="0">
                  <a:solidFill>
                    <a:srgbClr val="3333FF"/>
                  </a:solidFill>
                </a:rPr>
                <a:t>z</a:t>
              </a:r>
              <a:r>
                <a:rPr lang="en-US" sz="2400" dirty="0" smtClean="0">
                  <a:solidFill>
                    <a:srgbClr val="3333FF"/>
                  </a:solidFill>
                </a:rPr>
                <a:t> + </a:t>
              </a:r>
              <a:r>
                <a:rPr lang="en-US" sz="2400" i="1" dirty="0" smtClean="0">
                  <a:solidFill>
                    <a:srgbClr val="3333FF"/>
                  </a:solidFill>
                </a:rPr>
                <a:t>x’</a:t>
              </a:r>
            </a:p>
          </p:txBody>
        </p:sp>
        <p:sp>
          <p:nvSpPr>
            <p:cNvPr id="8" name="AutoShape 8"/>
            <p:cNvSpPr>
              <a:spLocks noChangeArrowheads="1"/>
            </p:cNvSpPr>
            <p:nvPr/>
          </p:nvSpPr>
          <p:spPr bwMode="auto">
            <a:xfrm>
              <a:off x="1632" y="2156"/>
              <a:ext cx="192" cy="336"/>
            </a:xfrm>
            <a:prstGeom prst="downArrow">
              <a:avLst>
                <a:gd name="adj1" fmla="val 53704"/>
                <a:gd name="adj2" fmla="val 79212"/>
              </a:avLst>
            </a:prstGeom>
            <a:gradFill rotWithShape="0">
              <a:gsLst>
                <a:gs pos="0">
                  <a:schemeClr val="accent2">
                    <a:gamma/>
                    <a:tint val="73725"/>
                    <a:invGamma/>
                  </a:schemeClr>
                </a:gs>
                <a:gs pos="100000">
                  <a:schemeClr val="accent2"/>
                </a:gs>
              </a:gsLst>
              <a:lin ang="5400000" scaled="1"/>
            </a:gradFill>
            <a:ln w="25400">
              <a:noFill/>
              <a:miter lim="800000"/>
              <a:headEnd type="none" w="sm" len="sm"/>
              <a:tailEnd type="none" w="sm" len="sm"/>
            </a:ln>
            <a:effectLst>
              <a:outerShdw dist="56796" dir="6993903" algn="ctr" rotWithShape="0">
                <a:schemeClr val="bg2"/>
              </a:outerShdw>
            </a:effectLst>
          </p:spPr>
          <p:txBody>
            <a:bodyPr wrap="none" anchor="ctr"/>
            <a:lstStyle/>
            <a:p>
              <a:pPr>
                <a:defRPr/>
              </a:pPr>
              <a:endParaRPr lang="en-US"/>
            </a:p>
          </p:txBody>
        </p:sp>
      </p:grpSp>
      <p:sp>
        <p:nvSpPr>
          <p:cNvPr id="9" name="AutoShape 9"/>
          <p:cNvSpPr>
            <a:spLocks noChangeArrowheads="1"/>
          </p:cNvSpPr>
          <p:nvPr/>
        </p:nvSpPr>
        <p:spPr bwMode="auto">
          <a:xfrm>
            <a:off x="4419600" y="4144962"/>
            <a:ext cx="1295400" cy="533400"/>
          </a:xfrm>
          <a:prstGeom prst="rightArrow">
            <a:avLst>
              <a:gd name="adj1" fmla="val 45833"/>
              <a:gd name="adj2" fmla="val 91341"/>
            </a:avLst>
          </a:prstGeom>
          <a:gradFill rotWithShape="0">
            <a:gsLst>
              <a:gs pos="0">
                <a:schemeClr val="accent2">
                  <a:gamma/>
                  <a:tint val="73725"/>
                  <a:invGamma/>
                </a:schemeClr>
              </a:gs>
              <a:gs pos="100000">
                <a:schemeClr val="accent2"/>
              </a:gs>
            </a:gsLst>
            <a:lin ang="0" scaled="1"/>
          </a:gradFill>
          <a:ln w="25400">
            <a:noFill/>
            <a:miter lim="800000"/>
            <a:headEnd type="none" w="sm" len="sm"/>
            <a:tailEnd type="none" w="sm" len="sm"/>
          </a:ln>
          <a:effectLst>
            <a:outerShdw dist="63500" dir="3187806" algn="ctr" rotWithShape="0">
              <a:schemeClr val="bg2"/>
            </a:outerShdw>
          </a:effectLst>
        </p:spPr>
        <p:txBody>
          <a:bodyPr wrap="none" anchor="ctr"/>
          <a:lstStyle/>
          <a:p>
            <a:pPr>
              <a:defRPr/>
            </a:pP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Complement of a Function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The complement of a function always outputs 0 where the original function outputted 1, and 1 where the original produced 0.</a:t>
            </a:r>
          </a:p>
        </p:txBody>
      </p:sp>
      <p:graphicFrame>
        <p:nvGraphicFramePr>
          <p:cNvPr id="5" name="Object 5"/>
          <p:cNvGraphicFramePr>
            <a:graphicFrameLocks noChangeAspect="1"/>
          </p:cNvGraphicFramePr>
          <p:nvPr/>
        </p:nvGraphicFramePr>
        <p:xfrm>
          <a:off x="1219200" y="3279775"/>
          <a:ext cx="2395538" cy="3482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2588" name="Document" r:id="rId3" imgW="2456222" imgH="3586414" progId="Word.Document.8">
                  <p:embed/>
                </p:oleObj>
              </mc:Choice>
              <mc:Fallback>
                <p:oleObj name="Document" r:id="rId3" imgW="2456222" imgH="3586414" progId="Word.Document.8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19200" y="3279775"/>
                        <a:ext cx="2395538" cy="34829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Object 6"/>
          <p:cNvGraphicFramePr>
            <a:graphicFrameLocks noChangeAspect="1"/>
          </p:cNvGraphicFramePr>
          <p:nvPr/>
        </p:nvGraphicFramePr>
        <p:xfrm>
          <a:off x="5413375" y="3279775"/>
          <a:ext cx="2395538" cy="3482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2589" name="Document" r:id="rId5" imgW="2456222" imgH="3586414" progId="Word.Document.8">
                  <p:embed/>
                </p:oleObj>
              </mc:Choice>
              <mc:Fallback>
                <p:oleObj name="Document" r:id="rId5" imgW="2456222" imgH="3586414" progId="Word.Document.8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13375" y="3279775"/>
                        <a:ext cx="2395538" cy="34829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AutoShape 7"/>
          <p:cNvSpPr>
            <a:spLocks noChangeArrowheads="1"/>
          </p:cNvSpPr>
          <p:nvPr/>
        </p:nvSpPr>
        <p:spPr bwMode="auto">
          <a:xfrm>
            <a:off x="3730625" y="4545012"/>
            <a:ext cx="1447800" cy="609600"/>
          </a:xfrm>
          <a:prstGeom prst="rightArrow">
            <a:avLst>
              <a:gd name="adj1" fmla="val 45833"/>
              <a:gd name="adj2" fmla="val 89326"/>
            </a:avLst>
          </a:prstGeom>
          <a:gradFill rotWithShape="0">
            <a:gsLst>
              <a:gs pos="0">
                <a:schemeClr val="accent2">
                  <a:gamma/>
                  <a:tint val="73725"/>
                  <a:invGamma/>
                </a:schemeClr>
              </a:gs>
              <a:gs pos="100000">
                <a:schemeClr val="accent2"/>
              </a:gs>
            </a:gsLst>
            <a:lin ang="0" scaled="1"/>
          </a:gradFill>
          <a:ln w="25400">
            <a:noFill/>
            <a:miter lim="800000"/>
            <a:headEnd type="none" w="sm" len="sm"/>
            <a:tailEnd type="none" w="sm" len="sm"/>
          </a:ln>
          <a:effectLst>
            <a:outerShdw dist="107763" dir="2700000" algn="ctr" rotWithShape="0">
              <a:schemeClr val="bg2"/>
            </a:outerShdw>
          </a:effectLst>
        </p:spPr>
        <p:txBody>
          <a:bodyPr wrap="none" anchor="ctr"/>
          <a:lstStyle/>
          <a:p>
            <a:pPr>
              <a:defRPr/>
            </a:pPr>
            <a:endParaRPr lang="en-US"/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2728912" y="2762250"/>
            <a:ext cx="3233738" cy="4623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 algn="ctr">
              <a:buNone/>
            </a:pPr>
            <a:r>
              <a:rPr lang="en-US" sz="2400" i="1" dirty="0" smtClean="0">
                <a:solidFill>
                  <a:srgbClr val="3333FF"/>
                </a:solidFill>
              </a:rPr>
              <a:t>f</a:t>
            </a:r>
            <a:r>
              <a:rPr lang="en-US" sz="2400" dirty="0" smtClean="0">
                <a:solidFill>
                  <a:srgbClr val="3333FF"/>
                </a:solidFill>
              </a:rPr>
              <a:t>(</a:t>
            </a:r>
            <a:r>
              <a:rPr lang="en-US" sz="2400" i="1" dirty="0" err="1" smtClean="0">
                <a:solidFill>
                  <a:srgbClr val="3333FF"/>
                </a:solidFill>
              </a:rPr>
              <a:t>x</a:t>
            </a:r>
            <a:r>
              <a:rPr lang="en-US" sz="2400" dirty="0" err="1" smtClean="0">
                <a:solidFill>
                  <a:srgbClr val="3333FF"/>
                </a:solidFill>
              </a:rPr>
              <a:t>,</a:t>
            </a:r>
            <a:r>
              <a:rPr lang="en-US" sz="2400" i="1" dirty="0" err="1" smtClean="0">
                <a:solidFill>
                  <a:srgbClr val="3333FF"/>
                </a:solidFill>
              </a:rPr>
              <a:t>y</a:t>
            </a:r>
            <a:r>
              <a:rPr lang="en-US" sz="2400" dirty="0" err="1" smtClean="0">
                <a:solidFill>
                  <a:srgbClr val="3333FF"/>
                </a:solidFill>
              </a:rPr>
              <a:t>,</a:t>
            </a:r>
            <a:r>
              <a:rPr lang="en-US" sz="2400" i="1" dirty="0" err="1" smtClean="0">
                <a:solidFill>
                  <a:srgbClr val="3333FF"/>
                </a:solidFill>
              </a:rPr>
              <a:t>z</a:t>
            </a:r>
            <a:r>
              <a:rPr lang="en-US" sz="2400" dirty="0" smtClean="0">
                <a:solidFill>
                  <a:srgbClr val="3333FF"/>
                </a:solidFill>
              </a:rPr>
              <a:t>) = (</a:t>
            </a:r>
            <a:r>
              <a:rPr lang="en-US" sz="2400" i="1" dirty="0" smtClean="0">
                <a:solidFill>
                  <a:srgbClr val="3333FF"/>
                </a:solidFill>
              </a:rPr>
              <a:t>x</a:t>
            </a:r>
            <a:r>
              <a:rPr lang="en-US" sz="2400" dirty="0" smtClean="0">
                <a:solidFill>
                  <a:srgbClr val="3333FF"/>
                </a:solidFill>
              </a:rPr>
              <a:t> + </a:t>
            </a:r>
            <a:r>
              <a:rPr lang="en-US" sz="2400" i="1" dirty="0" smtClean="0">
                <a:solidFill>
                  <a:srgbClr val="3333FF"/>
                </a:solidFill>
              </a:rPr>
              <a:t>y’</a:t>
            </a:r>
            <a:r>
              <a:rPr lang="en-US" sz="2400" dirty="0" smtClean="0">
                <a:solidFill>
                  <a:srgbClr val="3333FF"/>
                </a:solidFill>
              </a:rPr>
              <a:t>)</a:t>
            </a:r>
            <a:r>
              <a:rPr lang="en-US" sz="2400" i="1" dirty="0" smtClean="0">
                <a:solidFill>
                  <a:srgbClr val="3333FF"/>
                </a:solidFill>
              </a:rPr>
              <a:t>z</a:t>
            </a:r>
            <a:r>
              <a:rPr lang="en-US" sz="2400" dirty="0" smtClean="0">
                <a:solidFill>
                  <a:srgbClr val="3333FF"/>
                </a:solidFill>
              </a:rPr>
              <a:t> + </a:t>
            </a:r>
            <a:r>
              <a:rPr lang="en-US" sz="2400" i="1" dirty="0" smtClean="0">
                <a:solidFill>
                  <a:srgbClr val="3333FF"/>
                </a:solidFill>
              </a:rPr>
              <a:t>x’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Gate Implementation of a Function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pPr lvl="1">
              <a:buNone/>
            </a:pPr>
            <a:endParaRPr lang="en-US" sz="1800" dirty="0" smtClean="0"/>
          </a:p>
        </p:txBody>
      </p:sp>
      <p:pic>
        <p:nvPicPr>
          <p:cNvPr id="4" name="Picture 2" descr="C:\jobs\Marries\ch02\tiff\AACFLMO0.tif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600" y="2209800"/>
            <a:ext cx="7289263" cy="259080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Gate Implementation of a Function</a:t>
            </a:r>
            <a:endParaRPr lang="en-US" dirty="0"/>
          </a:p>
        </p:txBody>
      </p:sp>
      <p:pic>
        <p:nvPicPr>
          <p:cNvPr id="5" name="Picture 2" descr="C:\jobs\Marries\ch02\tiff\AACFLMP0.tif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2" cstate="print"/>
          <a:stretch>
            <a:fillRect/>
          </a:stretch>
        </p:blipFill>
        <p:spPr bwMode="auto">
          <a:xfrm>
            <a:off x="1516625" y="1600200"/>
            <a:ext cx="5348749" cy="4873625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346" name="標題 1"/>
          <p:cNvSpPr>
            <a:spLocks noGrp="1"/>
          </p:cNvSpPr>
          <p:nvPr>
            <p:ph type="title" idx="4294967295"/>
          </p:nvPr>
        </p:nvSpPr>
        <p:spPr/>
        <p:txBody>
          <a:bodyPr lIns="0" tIns="0" rIns="0" bIns="0"/>
          <a:lstStyle/>
          <a:p>
            <a:r>
              <a:rPr lang="en-US" altLang="zh-TW" dirty="0" smtClean="0">
                <a:ea typeface="新細明體" pitchFamily="18" charset="-120"/>
              </a:rPr>
              <a:t>Practice</a:t>
            </a:r>
            <a:endParaRPr lang="zh-TW" altLang="en-US" sz="2500" dirty="0">
              <a:ea typeface="新細明體" pitchFamily="18" charset="-120"/>
            </a:endParaRPr>
          </a:p>
        </p:txBody>
      </p:sp>
      <p:sp>
        <p:nvSpPr>
          <p:cNvPr id="569347" name="內容版面配置區 2"/>
          <p:cNvSpPr>
            <a:spLocks noGrp="1"/>
          </p:cNvSpPr>
          <p:nvPr>
            <p:ph idx="4294967295"/>
          </p:nvPr>
        </p:nvSpPr>
        <p:spPr>
          <a:xfrm>
            <a:off x="457199" y="1600200"/>
            <a:ext cx="7689273" cy="4873752"/>
          </a:xfrm>
        </p:spPr>
        <p:txBody>
          <a:bodyPr lIns="90488" tIns="44450" rIns="90488" bIns="44450">
            <a:normAutofit/>
          </a:bodyPr>
          <a:lstStyle/>
          <a:p>
            <a:r>
              <a:rPr lang="en-US" dirty="0" smtClean="0"/>
              <a:t>Simplify the following Boolean expressions to a minimum number of literals:</a:t>
            </a:r>
          </a:p>
          <a:p>
            <a:pPr lvl="1"/>
            <a:r>
              <a:rPr lang="en-US" sz="2400" i="1" dirty="0" smtClean="0"/>
              <a:t>xyz + </a:t>
            </a:r>
            <a:r>
              <a:rPr lang="en-US" sz="2400" i="1" dirty="0" err="1" smtClean="0"/>
              <a:t>x'y</a:t>
            </a:r>
            <a:r>
              <a:rPr lang="en-US" sz="2400" i="1" dirty="0" smtClean="0"/>
              <a:t> + xyz’</a:t>
            </a:r>
          </a:p>
          <a:p>
            <a:pPr lvl="1"/>
            <a:r>
              <a:rPr lang="en-US" sz="2400" dirty="0" smtClean="0"/>
              <a:t>(</a:t>
            </a:r>
            <a:r>
              <a:rPr lang="en-US" sz="2400" i="1" dirty="0" smtClean="0"/>
              <a:t>A + B</a:t>
            </a:r>
            <a:r>
              <a:rPr lang="en-US" sz="2400" dirty="0" smtClean="0"/>
              <a:t>)</a:t>
            </a:r>
            <a:r>
              <a:rPr lang="en-US" sz="2400" i="1" dirty="0" smtClean="0"/>
              <a:t>'</a:t>
            </a:r>
            <a:r>
              <a:rPr lang="en-US" sz="2400" dirty="0" smtClean="0"/>
              <a:t>(</a:t>
            </a:r>
            <a:r>
              <a:rPr lang="en-US" sz="2400" i="1" dirty="0" smtClean="0"/>
              <a:t>A' + B'</a:t>
            </a:r>
            <a:r>
              <a:rPr lang="en-US" sz="2400" dirty="0" smtClean="0"/>
              <a:t>)</a:t>
            </a:r>
            <a:r>
              <a:rPr lang="en-US" sz="2400" i="1" dirty="0" smtClean="0"/>
              <a:t> ' </a:t>
            </a:r>
            <a:endParaRPr lang="en-US" sz="2400" dirty="0" smtClean="0"/>
          </a:p>
          <a:p>
            <a:pPr lvl="1"/>
            <a:endParaRPr lang="en-US" sz="2400" dirty="0" smtClean="0"/>
          </a:p>
          <a:p>
            <a:r>
              <a:rPr lang="en-US" i="1" dirty="0" smtClean="0"/>
              <a:t>xyz + </a:t>
            </a:r>
            <a:r>
              <a:rPr lang="en-US" i="1" dirty="0" err="1" smtClean="0"/>
              <a:t>x'y</a:t>
            </a:r>
            <a:r>
              <a:rPr lang="en-US" i="1" dirty="0" smtClean="0"/>
              <a:t> + xyz' = </a:t>
            </a:r>
            <a:r>
              <a:rPr lang="en-US" i="1" dirty="0" err="1" smtClean="0"/>
              <a:t>xy</a:t>
            </a:r>
            <a:r>
              <a:rPr lang="en-US" dirty="0" smtClean="0"/>
              <a:t>(</a:t>
            </a:r>
            <a:r>
              <a:rPr lang="en-US" i="1" dirty="0" smtClean="0"/>
              <a:t>z + z'</a:t>
            </a:r>
            <a:r>
              <a:rPr lang="en-US" dirty="0" smtClean="0"/>
              <a:t>)</a:t>
            </a:r>
            <a:r>
              <a:rPr lang="en-US" i="1" dirty="0" smtClean="0"/>
              <a:t> + </a:t>
            </a:r>
            <a:r>
              <a:rPr lang="en-US" i="1" dirty="0" err="1" smtClean="0"/>
              <a:t>x'y</a:t>
            </a:r>
            <a:r>
              <a:rPr lang="en-US" i="1" dirty="0" smtClean="0"/>
              <a:t> = </a:t>
            </a:r>
            <a:r>
              <a:rPr lang="en-US" i="1" dirty="0" err="1" smtClean="0"/>
              <a:t>xy</a:t>
            </a:r>
            <a:r>
              <a:rPr lang="en-US" i="1" dirty="0" smtClean="0"/>
              <a:t> + </a:t>
            </a:r>
            <a:r>
              <a:rPr lang="en-US" i="1" dirty="0" err="1" smtClean="0"/>
              <a:t>x'y</a:t>
            </a:r>
            <a:r>
              <a:rPr lang="en-US" i="1" dirty="0" smtClean="0"/>
              <a:t> = y</a:t>
            </a:r>
          </a:p>
          <a:p>
            <a:pPr>
              <a:buNone/>
            </a:pPr>
            <a:endParaRPr lang="en-US" i="1" dirty="0" smtClean="0"/>
          </a:p>
          <a:p>
            <a:r>
              <a:rPr lang="en-US" dirty="0" smtClean="0"/>
              <a:t>(</a:t>
            </a:r>
            <a:r>
              <a:rPr lang="en-US" i="1" dirty="0" smtClean="0"/>
              <a:t>A + B</a:t>
            </a:r>
            <a:r>
              <a:rPr lang="en-US" dirty="0" smtClean="0"/>
              <a:t>)</a:t>
            </a:r>
            <a:r>
              <a:rPr lang="en-US" i="1" dirty="0" smtClean="0"/>
              <a:t>'</a:t>
            </a:r>
            <a:r>
              <a:rPr lang="en-US" dirty="0" smtClean="0"/>
              <a:t>(</a:t>
            </a:r>
            <a:r>
              <a:rPr lang="en-US" i="1" dirty="0" smtClean="0"/>
              <a:t>A' + B'</a:t>
            </a:r>
            <a:r>
              <a:rPr lang="en-US" dirty="0" smtClean="0"/>
              <a:t>)</a:t>
            </a:r>
            <a:r>
              <a:rPr lang="en-US" i="1" dirty="0" smtClean="0"/>
              <a:t>' = </a:t>
            </a:r>
            <a:r>
              <a:rPr lang="en-US" dirty="0" smtClean="0"/>
              <a:t>(</a:t>
            </a:r>
            <a:r>
              <a:rPr lang="en-US" i="1" dirty="0" smtClean="0"/>
              <a:t>A'B'</a:t>
            </a:r>
            <a:r>
              <a:rPr lang="en-US" dirty="0" smtClean="0"/>
              <a:t>)(</a:t>
            </a:r>
            <a:r>
              <a:rPr lang="en-US" i="1" dirty="0" smtClean="0"/>
              <a:t>A B</a:t>
            </a:r>
            <a:r>
              <a:rPr lang="en-US" dirty="0" smtClean="0"/>
              <a:t>)</a:t>
            </a:r>
            <a:r>
              <a:rPr lang="en-US" i="1" dirty="0" smtClean="0"/>
              <a:t> = </a:t>
            </a:r>
            <a:r>
              <a:rPr lang="en-US" dirty="0" smtClean="0"/>
              <a:t>(</a:t>
            </a:r>
            <a:r>
              <a:rPr lang="en-US" i="1" dirty="0" smtClean="0"/>
              <a:t>A'B'</a:t>
            </a:r>
            <a:r>
              <a:rPr lang="en-US" dirty="0" smtClean="0"/>
              <a:t>)(</a:t>
            </a:r>
            <a:r>
              <a:rPr lang="en-US" i="1" dirty="0" smtClean="0"/>
              <a:t>BA</a:t>
            </a:r>
            <a:r>
              <a:rPr lang="en-US" dirty="0" smtClean="0"/>
              <a:t>)</a:t>
            </a:r>
            <a:r>
              <a:rPr lang="en-US" i="1" dirty="0" smtClean="0"/>
              <a:t> = </a:t>
            </a:r>
            <a:r>
              <a:rPr lang="en-US" dirty="0" smtClean="0"/>
              <a:t>0</a:t>
            </a:r>
          </a:p>
          <a:p>
            <a:endParaRPr lang="en-US" sz="2700" dirty="0" smtClean="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93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93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Complement of a Function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Applying  </a:t>
            </a:r>
            <a:r>
              <a:rPr lang="en-US" dirty="0" err="1" smtClean="0"/>
              <a:t>DeMorgan’s</a:t>
            </a:r>
            <a:r>
              <a:rPr lang="en-US" dirty="0" smtClean="0"/>
              <a:t> theorems:</a:t>
            </a:r>
          </a:p>
        </p:txBody>
      </p:sp>
      <p:sp>
        <p:nvSpPr>
          <p:cNvPr id="4" name="Text Box 4"/>
          <p:cNvSpPr txBox="1">
            <a:spLocks noChangeArrowheads="1"/>
          </p:cNvSpPr>
          <p:nvPr/>
        </p:nvSpPr>
        <p:spPr bwMode="auto">
          <a:xfrm>
            <a:off x="795564" y="2590800"/>
            <a:ext cx="8005718" cy="2123658"/>
          </a:xfrm>
          <a:prstGeom prst="rect">
            <a:avLst/>
          </a:prstGeom>
          <a:noFill/>
          <a:ln w="25400">
            <a:noFill/>
            <a:miter lim="800000"/>
            <a:headEnd type="none" w="sm" len="sm"/>
            <a:tailEnd type="none" w="sm" len="sm"/>
          </a:ln>
        </p:spPr>
        <p:txBody>
          <a:bodyPr wrap="none">
            <a:spAutoFit/>
          </a:bodyPr>
          <a:lstStyle/>
          <a:p>
            <a:pPr>
              <a:tabLst>
                <a:tab pos="912813" algn="l"/>
                <a:tab pos="3197225" algn="l"/>
              </a:tabLst>
            </a:pPr>
            <a:r>
              <a:rPr lang="en-US" sz="2400" i="1" dirty="0"/>
              <a:t>f</a:t>
            </a:r>
            <a:r>
              <a:rPr lang="en-US" sz="2400" dirty="0"/>
              <a:t>(</a:t>
            </a:r>
            <a:r>
              <a:rPr lang="en-US" sz="2400" i="1" dirty="0" err="1"/>
              <a:t>x</a:t>
            </a:r>
            <a:r>
              <a:rPr lang="en-US" sz="2400" dirty="0" err="1"/>
              <a:t>,</a:t>
            </a:r>
            <a:r>
              <a:rPr lang="en-US" sz="2400" i="1" dirty="0" err="1"/>
              <a:t>y</a:t>
            </a:r>
            <a:r>
              <a:rPr lang="en-US" sz="2400" dirty="0" err="1"/>
              <a:t>,</a:t>
            </a:r>
            <a:r>
              <a:rPr lang="en-US" sz="2400" i="1" dirty="0" err="1"/>
              <a:t>z</a:t>
            </a:r>
            <a:r>
              <a:rPr lang="en-US" sz="2400" dirty="0" smtClean="0"/>
              <a:t>) = </a:t>
            </a:r>
            <a:r>
              <a:rPr lang="en-US" sz="2400" i="1" dirty="0"/>
              <a:t>x</a:t>
            </a:r>
            <a:r>
              <a:rPr lang="en-US" sz="2400" dirty="0"/>
              <a:t>(</a:t>
            </a:r>
            <a:r>
              <a:rPr lang="en-US" sz="2400" i="1" dirty="0" err="1"/>
              <a:t>y’z</a:t>
            </a:r>
            <a:r>
              <a:rPr lang="en-US" sz="2400" i="1" dirty="0"/>
              <a:t>’</a:t>
            </a:r>
            <a:r>
              <a:rPr lang="en-US" sz="2400" dirty="0"/>
              <a:t> + </a:t>
            </a:r>
            <a:r>
              <a:rPr lang="en-US" sz="2400" i="1" dirty="0" err="1"/>
              <a:t>yz</a:t>
            </a:r>
            <a:r>
              <a:rPr lang="en-US" sz="2400" dirty="0"/>
              <a:t>)</a:t>
            </a:r>
          </a:p>
          <a:p>
            <a:pPr>
              <a:tabLst>
                <a:tab pos="912813" algn="l"/>
                <a:tab pos="3197225" algn="l"/>
              </a:tabLst>
            </a:pPr>
            <a:endParaRPr lang="en-US" sz="2400" dirty="0"/>
          </a:p>
          <a:p>
            <a:pPr>
              <a:lnSpc>
                <a:spcPct val="50000"/>
              </a:lnSpc>
              <a:tabLst>
                <a:tab pos="912813" algn="l"/>
                <a:tab pos="3197225" algn="l"/>
              </a:tabLst>
            </a:pPr>
            <a:r>
              <a:rPr lang="en-US" sz="2400" i="1" dirty="0" smtClean="0"/>
              <a:t>f </a:t>
            </a:r>
            <a:r>
              <a:rPr lang="en-US" sz="2400" dirty="0" smtClean="0"/>
              <a:t>’(</a:t>
            </a:r>
            <a:r>
              <a:rPr lang="en-US" sz="2400" i="1" dirty="0" err="1"/>
              <a:t>x</a:t>
            </a:r>
            <a:r>
              <a:rPr lang="en-US" sz="2400" dirty="0" err="1"/>
              <a:t>,</a:t>
            </a:r>
            <a:r>
              <a:rPr lang="en-US" sz="2400" i="1" dirty="0" err="1"/>
              <a:t>y</a:t>
            </a:r>
            <a:r>
              <a:rPr lang="en-US" sz="2400" dirty="0" err="1"/>
              <a:t>,</a:t>
            </a:r>
            <a:r>
              <a:rPr lang="en-US" sz="2400" i="1" dirty="0" err="1"/>
              <a:t>z</a:t>
            </a:r>
            <a:r>
              <a:rPr lang="en-US" sz="2400" dirty="0" smtClean="0"/>
              <a:t>) = (</a:t>
            </a:r>
            <a:r>
              <a:rPr lang="en-US" sz="2400" i="1" dirty="0" smtClean="0"/>
              <a:t>x</a:t>
            </a:r>
            <a:r>
              <a:rPr lang="en-US" sz="2400" dirty="0" smtClean="0"/>
              <a:t>(</a:t>
            </a:r>
            <a:r>
              <a:rPr lang="en-US" sz="2400" i="1" dirty="0" err="1" smtClean="0"/>
              <a:t>y’z</a:t>
            </a:r>
            <a:r>
              <a:rPr lang="en-US" sz="2400" dirty="0"/>
              <a:t>’ + </a:t>
            </a:r>
            <a:r>
              <a:rPr lang="en-US" sz="2400" i="1" dirty="0" err="1"/>
              <a:t>yz</a:t>
            </a:r>
            <a:r>
              <a:rPr lang="en-US" sz="2400" dirty="0" smtClean="0"/>
              <a:t>))</a:t>
            </a:r>
            <a:r>
              <a:rPr lang="en-US" sz="2400" i="1" dirty="0" smtClean="0"/>
              <a:t>’</a:t>
            </a:r>
            <a:r>
              <a:rPr lang="en-US" sz="2400" dirty="0"/>
              <a:t>	</a:t>
            </a:r>
            <a:r>
              <a:rPr lang="en-US" sz="2400" dirty="0" smtClean="0"/>
              <a:t>[ </a:t>
            </a:r>
            <a:r>
              <a:rPr lang="en-US" sz="2400" dirty="0"/>
              <a:t>complement both sides ]</a:t>
            </a:r>
          </a:p>
          <a:p>
            <a:pPr>
              <a:tabLst>
                <a:tab pos="912813" algn="l"/>
                <a:tab pos="3197225" algn="l"/>
              </a:tabLst>
            </a:pPr>
            <a:r>
              <a:rPr lang="en-US" sz="2400" dirty="0"/>
              <a:t>	</a:t>
            </a:r>
            <a:r>
              <a:rPr lang="en-US" sz="2400" dirty="0" smtClean="0"/>
              <a:t>= </a:t>
            </a:r>
            <a:r>
              <a:rPr lang="en-US" sz="2400" i="1" dirty="0"/>
              <a:t>x’</a:t>
            </a:r>
            <a:r>
              <a:rPr lang="en-US" sz="2400" dirty="0"/>
              <a:t> + (</a:t>
            </a:r>
            <a:r>
              <a:rPr lang="en-US" sz="2400" i="1" dirty="0" err="1"/>
              <a:t>y’z</a:t>
            </a:r>
            <a:r>
              <a:rPr lang="en-US" sz="2400" i="1" dirty="0"/>
              <a:t>’</a:t>
            </a:r>
            <a:r>
              <a:rPr lang="en-US" sz="2400" dirty="0"/>
              <a:t> + </a:t>
            </a:r>
            <a:r>
              <a:rPr lang="en-US" sz="2400" i="1" dirty="0" err="1"/>
              <a:t>yz</a:t>
            </a:r>
            <a:r>
              <a:rPr lang="en-US" sz="2400" dirty="0"/>
              <a:t>)</a:t>
            </a:r>
            <a:r>
              <a:rPr lang="en-US" sz="2400" i="1" dirty="0"/>
              <a:t>’</a:t>
            </a:r>
            <a:r>
              <a:rPr lang="en-US" sz="2400" dirty="0"/>
              <a:t>	[ because (</a:t>
            </a:r>
            <a:r>
              <a:rPr lang="en-US" sz="2400" i="1" dirty="0" err="1"/>
              <a:t>xy</a:t>
            </a:r>
            <a:r>
              <a:rPr lang="en-US" sz="2400" dirty="0"/>
              <a:t>)</a:t>
            </a:r>
            <a:r>
              <a:rPr lang="en-US" sz="2400" i="1" dirty="0"/>
              <a:t>’</a:t>
            </a:r>
            <a:r>
              <a:rPr lang="en-US" sz="2400" dirty="0"/>
              <a:t> = </a:t>
            </a:r>
            <a:r>
              <a:rPr lang="en-US" sz="2400" i="1" dirty="0"/>
              <a:t>x’</a:t>
            </a:r>
            <a:r>
              <a:rPr lang="en-US" sz="2400" dirty="0"/>
              <a:t> + </a:t>
            </a:r>
            <a:r>
              <a:rPr lang="en-US" sz="2400" i="1" dirty="0"/>
              <a:t>y’</a:t>
            </a:r>
            <a:r>
              <a:rPr lang="en-US" sz="2400" dirty="0"/>
              <a:t> ]</a:t>
            </a:r>
          </a:p>
          <a:p>
            <a:pPr>
              <a:tabLst>
                <a:tab pos="912813" algn="l"/>
                <a:tab pos="3197225" algn="l"/>
              </a:tabLst>
            </a:pPr>
            <a:r>
              <a:rPr lang="en-US" sz="2400" dirty="0"/>
              <a:t>	</a:t>
            </a:r>
            <a:r>
              <a:rPr lang="en-US" sz="2400" dirty="0" smtClean="0"/>
              <a:t>= </a:t>
            </a:r>
            <a:r>
              <a:rPr lang="en-US" sz="2400" i="1" dirty="0"/>
              <a:t>x’</a:t>
            </a:r>
            <a:r>
              <a:rPr lang="en-US" sz="2400" dirty="0"/>
              <a:t> + (</a:t>
            </a:r>
            <a:r>
              <a:rPr lang="en-US" sz="2400" i="1" dirty="0" err="1"/>
              <a:t>y’z</a:t>
            </a:r>
            <a:r>
              <a:rPr lang="en-US" sz="2400" i="1" dirty="0"/>
              <a:t>’</a:t>
            </a:r>
            <a:r>
              <a:rPr lang="en-US" sz="2400" dirty="0"/>
              <a:t>)</a:t>
            </a:r>
            <a:r>
              <a:rPr lang="en-US" sz="2400" i="1" dirty="0"/>
              <a:t>’</a:t>
            </a:r>
            <a:r>
              <a:rPr lang="en-US" sz="2400" dirty="0"/>
              <a:t> (</a:t>
            </a:r>
            <a:r>
              <a:rPr lang="en-US" sz="2400" i="1" dirty="0" err="1"/>
              <a:t>yz</a:t>
            </a:r>
            <a:r>
              <a:rPr lang="en-US" sz="2400" dirty="0"/>
              <a:t>)</a:t>
            </a:r>
            <a:r>
              <a:rPr lang="en-US" sz="2400" i="1" dirty="0"/>
              <a:t>’</a:t>
            </a:r>
            <a:r>
              <a:rPr lang="en-US" sz="2400" dirty="0"/>
              <a:t>	[ because (</a:t>
            </a:r>
            <a:r>
              <a:rPr lang="en-US" sz="2400" i="1" dirty="0"/>
              <a:t>x</a:t>
            </a:r>
            <a:r>
              <a:rPr lang="en-US" sz="2400" dirty="0"/>
              <a:t> + </a:t>
            </a:r>
            <a:r>
              <a:rPr lang="en-US" sz="2400" i="1" dirty="0"/>
              <a:t>y</a:t>
            </a:r>
            <a:r>
              <a:rPr lang="en-US" sz="2400" dirty="0"/>
              <a:t>)</a:t>
            </a:r>
            <a:r>
              <a:rPr lang="en-US" sz="2400" i="1" dirty="0"/>
              <a:t>’</a:t>
            </a:r>
            <a:r>
              <a:rPr lang="en-US" sz="2400" dirty="0"/>
              <a:t> = </a:t>
            </a:r>
            <a:r>
              <a:rPr lang="en-US" sz="2400" i="1" dirty="0"/>
              <a:t>x’ y’</a:t>
            </a:r>
            <a:r>
              <a:rPr lang="en-US" sz="2400" dirty="0"/>
              <a:t> ]</a:t>
            </a:r>
          </a:p>
          <a:p>
            <a:pPr>
              <a:tabLst>
                <a:tab pos="912813" algn="l"/>
                <a:tab pos="3197225" algn="l"/>
              </a:tabLst>
            </a:pPr>
            <a:r>
              <a:rPr lang="en-US" sz="2400" dirty="0"/>
              <a:t>	</a:t>
            </a:r>
            <a:r>
              <a:rPr lang="en-US" sz="2400" dirty="0" smtClean="0"/>
              <a:t>= </a:t>
            </a:r>
            <a:r>
              <a:rPr lang="en-US" sz="2400" i="1" dirty="0"/>
              <a:t>x’</a:t>
            </a:r>
            <a:r>
              <a:rPr lang="en-US" sz="2400" dirty="0"/>
              <a:t> + (</a:t>
            </a:r>
            <a:r>
              <a:rPr lang="en-US" sz="2400" i="1" dirty="0"/>
              <a:t>y</a:t>
            </a:r>
            <a:r>
              <a:rPr lang="en-US" sz="2400" dirty="0"/>
              <a:t> + </a:t>
            </a:r>
            <a:r>
              <a:rPr lang="en-US" sz="2400" i="1" dirty="0"/>
              <a:t>z</a:t>
            </a:r>
            <a:r>
              <a:rPr lang="en-US" sz="2400" dirty="0"/>
              <a:t>)(</a:t>
            </a:r>
            <a:r>
              <a:rPr lang="en-US" sz="2400" i="1" dirty="0"/>
              <a:t>y’</a:t>
            </a:r>
            <a:r>
              <a:rPr lang="en-US" sz="2400" dirty="0"/>
              <a:t> + </a:t>
            </a:r>
            <a:r>
              <a:rPr lang="en-US" sz="2400" i="1" dirty="0"/>
              <a:t>z’</a:t>
            </a:r>
            <a:r>
              <a:rPr lang="en-US" sz="2400" dirty="0"/>
              <a:t>)	[ because (</a:t>
            </a:r>
            <a:r>
              <a:rPr lang="en-US" sz="2400" i="1" dirty="0" err="1"/>
              <a:t>xy</a:t>
            </a:r>
            <a:r>
              <a:rPr lang="en-US" sz="2400" dirty="0"/>
              <a:t>)</a:t>
            </a:r>
            <a:r>
              <a:rPr lang="en-US" sz="2400" i="1" dirty="0"/>
              <a:t>’</a:t>
            </a:r>
            <a:r>
              <a:rPr lang="en-US" sz="2400" dirty="0"/>
              <a:t> = </a:t>
            </a:r>
            <a:r>
              <a:rPr lang="en-US" sz="2400" i="1" dirty="0"/>
              <a:t>x’</a:t>
            </a:r>
            <a:r>
              <a:rPr lang="en-US" sz="2400" dirty="0"/>
              <a:t> + </a:t>
            </a:r>
            <a:r>
              <a:rPr lang="en-US" sz="2400" i="1" dirty="0"/>
              <a:t>y’</a:t>
            </a:r>
            <a:r>
              <a:rPr lang="en-US" sz="2400" dirty="0"/>
              <a:t>, twice]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8" presetClass="entr" presetSubtype="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8" presetClass="entr" presetSubtype="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8" presetClass="entr" presetSubtype="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8" presetClass="entr" presetSubtype="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Complement of a Function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By taking the dual of </a:t>
            </a:r>
            <a:r>
              <a:rPr lang="en-US" i="1" dirty="0" smtClean="0"/>
              <a:t>f</a:t>
            </a:r>
            <a:r>
              <a:rPr lang="en-US" dirty="0" smtClean="0"/>
              <a:t> and complementing each literal:</a:t>
            </a:r>
          </a:p>
          <a:p>
            <a:pPr lvl="1">
              <a:buNone/>
            </a:pPr>
            <a:endParaRPr lang="en-US" dirty="0" smtClean="0"/>
          </a:p>
          <a:p>
            <a:pPr lvl="1"/>
            <a:r>
              <a:rPr lang="en-US" dirty="0" smtClean="0"/>
              <a:t>If </a:t>
            </a:r>
            <a:r>
              <a:rPr lang="en-US" i="1" dirty="0" smtClean="0"/>
              <a:t>f</a:t>
            </a:r>
            <a:r>
              <a:rPr lang="en-US" dirty="0" smtClean="0"/>
              <a:t>(</a:t>
            </a:r>
            <a:r>
              <a:rPr lang="en-US" i="1" dirty="0" err="1" smtClean="0"/>
              <a:t>x</a:t>
            </a:r>
            <a:r>
              <a:rPr lang="en-US" dirty="0" err="1" smtClean="0"/>
              <a:t>,</a:t>
            </a:r>
            <a:r>
              <a:rPr lang="en-US" i="1" dirty="0" err="1" smtClean="0"/>
              <a:t>y</a:t>
            </a:r>
            <a:r>
              <a:rPr lang="en-US" dirty="0" err="1" smtClean="0"/>
              <a:t>,</a:t>
            </a:r>
            <a:r>
              <a:rPr lang="en-US" i="1" dirty="0" err="1" smtClean="0"/>
              <a:t>z</a:t>
            </a:r>
            <a:r>
              <a:rPr lang="en-US" dirty="0" smtClean="0"/>
              <a:t>) = </a:t>
            </a:r>
            <a:r>
              <a:rPr lang="en-US" i="1" dirty="0" smtClean="0">
                <a:solidFill>
                  <a:schemeClr val="accent2"/>
                </a:solidFill>
              </a:rPr>
              <a:t>x</a:t>
            </a:r>
            <a:r>
              <a:rPr lang="en-US" dirty="0" smtClean="0">
                <a:solidFill>
                  <a:schemeClr val="accent2"/>
                </a:solidFill>
              </a:rPr>
              <a:t>(</a:t>
            </a:r>
            <a:r>
              <a:rPr lang="en-US" i="1" dirty="0" err="1" smtClean="0">
                <a:solidFill>
                  <a:schemeClr val="accent2"/>
                </a:solidFill>
              </a:rPr>
              <a:t>y’z</a:t>
            </a:r>
            <a:r>
              <a:rPr lang="en-US" i="1" dirty="0" smtClean="0">
                <a:solidFill>
                  <a:schemeClr val="accent2"/>
                </a:solidFill>
              </a:rPr>
              <a:t>’</a:t>
            </a:r>
            <a:r>
              <a:rPr lang="en-US" dirty="0" smtClean="0">
                <a:solidFill>
                  <a:schemeClr val="accent2"/>
                </a:solidFill>
              </a:rPr>
              <a:t> + </a:t>
            </a:r>
            <a:r>
              <a:rPr lang="en-US" i="1" dirty="0" err="1" smtClean="0">
                <a:solidFill>
                  <a:schemeClr val="accent2"/>
                </a:solidFill>
              </a:rPr>
              <a:t>yz</a:t>
            </a:r>
            <a:r>
              <a:rPr lang="en-US" dirty="0" smtClean="0">
                <a:solidFill>
                  <a:schemeClr val="accent2"/>
                </a:solidFill>
              </a:rPr>
              <a:t>)</a:t>
            </a:r>
            <a:r>
              <a:rPr lang="en-US" dirty="0" smtClean="0"/>
              <a:t>…</a:t>
            </a:r>
          </a:p>
          <a:p>
            <a:pPr lvl="1"/>
            <a:r>
              <a:rPr lang="en-US" dirty="0" smtClean="0"/>
              <a:t>…the dual of f is </a:t>
            </a:r>
            <a:r>
              <a:rPr lang="en-US" i="1" dirty="0" smtClean="0">
                <a:solidFill>
                  <a:schemeClr val="accent2"/>
                </a:solidFill>
              </a:rPr>
              <a:t>x</a:t>
            </a:r>
            <a:r>
              <a:rPr lang="en-US" dirty="0" smtClean="0">
                <a:solidFill>
                  <a:schemeClr val="accent2"/>
                </a:solidFill>
              </a:rPr>
              <a:t> + (</a:t>
            </a:r>
            <a:r>
              <a:rPr lang="en-US" i="1" dirty="0" smtClean="0">
                <a:solidFill>
                  <a:schemeClr val="accent2"/>
                </a:solidFill>
              </a:rPr>
              <a:t>y’</a:t>
            </a:r>
            <a:r>
              <a:rPr lang="en-US" dirty="0" smtClean="0">
                <a:solidFill>
                  <a:schemeClr val="accent2"/>
                </a:solidFill>
              </a:rPr>
              <a:t> + </a:t>
            </a:r>
            <a:r>
              <a:rPr lang="en-US" i="1" dirty="0" smtClean="0">
                <a:solidFill>
                  <a:schemeClr val="accent2"/>
                </a:solidFill>
              </a:rPr>
              <a:t>z’</a:t>
            </a:r>
            <a:r>
              <a:rPr lang="en-US" dirty="0" smtClean="0">
                <a:solidFill>
                  <a:schemeClr val="accent2"/>
                </a:solidFill>
              </a:rPr>
              <a:t>)(</a:t>
            </a:r>
            <a:r>
              <a:rPr lang="en-US" i="1" dirty="0" smtClean="0">
                <a:solidFill>
                  <a:schemeClr val="accent2"/>
                </a:solidFill>
              </a:rPr>
              <a:t>y</a:t>
            </a:r>
            <a:r>
              <a:rPr lang="en-US" dirty="0" smtClean="0">
                <a:solidFill>
                  <a:schemeClr val="accent2"/>
                </a:solidFill>
              </a:rPr>
              <a:t> + </a:t>
            </a:r>
            <a:r>
              <a:rPr lang="en-US" i="1" dirty="0" smtClean="0">
                <a:solidFill>
                  <a:schemeClr val="accent2"/>
                </a:solidFill>
              </a:rPr>
              <a:t>z</a:t>
            </a:r>
            <a:r>
              <a:rPr lang="en-US" dirty="0" smtClean="0">
                <a:solidFill>
                  <a:schemeClr val="accent2"/>
                </a:solidFill>
              </a:rPr>
              <a:t>)</a:t>
            </a:r>
            <a:r>
              <a:rPr lang="en-US" dirty="0" smtClean="0"/>
              <a:t>…</a:t>
            </a:r>
          </a:p>
          <a:p>
            <a:pPr lvl="1"/>
            <a:r>
              <a:rPr lang="en-US" dirty="0" smtClean="0"/>
              <a:t>…then complementing each literal gives</a:t>
            </a:r>
          </a:p>
          <a:p>
            <a:pPr lvl="1">
              <a:buNone/>
            </a:pPr>
            <a:r>
              <a:rPr lang="en-US" dirty="0" smtClean="0"/>
              <a:t>		 </a:t>
            </a:r>
            <a:r>
              <a:rPr lang="en-US" i="1" dirty="0" smtClean="0">
                <a:solidFill>
                  <a:schemeClr val="accent2"/>
                </a:solidFill>
              </a:rPr>
              <a:t>x’</a:t>
            </a:r>
            <a:r>
              <a:rPr lang="en-US" dirty="0" smtClean="0">
                <a:solidFill>
                  <a:schemeClr val="accent2"/>
                </a:solidFill>
              </a:rPr>
              <a:t> + (</a:t>
            </a:r>
            <a:r>
              <a:rPr lang="en-US" i="1" dirty="0" smtClean="0">
                <a:solidFill>
                  <a:schemeClr val="accent2"/>
                </a:solidFill>
              </a:rPr>
              <a:t>y</a:t>
            </a:r>
            <a:r>
              <a:rPr lang="en-US" dirty="0" smtClean="0">
                <a:solidFill>
                  <a:schemeClr val="accent2"/>
                </a:solidFill>
              </a:rPr>
              <a:t> + </a:t>
            </a:r>
            <a:r>
              <a:rPr lang="en-US" i="1" dirty="0" smtClean="0">
                <a:solidFill>
                  <a:schemeClr val="accent2"/>
                </a:solidFill>
              </a:rPr>
              <a:t>z</a:t>
            </a:r>
            <a:r>
              <a:rPr lang="en-US" dirty="0" smtClean="0">
                <a:solidFill>
                  <a:schemeClr val="accent2"/>
                </a:solidFill>
              </a:rPr>
              <a:t>)(</a:t>
            </a:r>
            <a:r>
              <a:rPr lang="en-US" i="1" dirty="0" smtClean="0">
                <a:solidFill>
                  <a:schemeClr val="accent2"/>
                </a:solidFill>
              </a:rPr>
              <a:t>y’</a:t>
            </a:r>
            <a:r>
              <a:rPr lang="en-US" dirty="0" smtClean="0">
                <a:solidFill>
                  <a:schemeClr val="accent2"/>
                </a:solidFill>
              </a:rPr>
              <a:t> + </a:t>
            </a:r>
            <a:r>
              <a:rPr lang="en-US" i="1" dirty="0" smtClean="0">
                <a:solidFill>
                  <a:schemeClr val="accent2"/>
                </a:solidFill>
              </a:rPr>
              <a:t>z’</a:t>
            </a:r>
            <a:r>
              <a:rPr lang="en-US" dirty="0" smtClean="0">
                <a:solidFill>
                  <a:schemeClr val="accent2"/>
                </a:solidFill>
              </a:rPr>
              <a:t>)</a:t>
            </a:r>
            <a:r>
              <a:rPr lang="en-US" dirty="0" smtClean="0"/>
              <a:t>…</a:t>
            </a:r>
          </a:p>
          <a:p>
            <a:pPr lvl="1"/>
            <a:r>
              <a:rPr lang="en-US" dirty="0" smtClean="0"/>
              <a:t>…so </a:t>
            </a:r>
            <a:r>
              <a:rPr lang="en-US" i="1" dirty="0" smtClean="0"/>
              <a:t>f’</a:t>
            </a:r>
            <a:r>
              <a:rPr lang="en-US" dirty="0" smtClean="0"/>
              <a:t>(</a:t>
            </a:r>
            <a:r>
              <a:rPr lang="en-US" i="1" dirty="0" err="1" smtClean="0"/>
              <a:t>x</a:t>
            </a:r>
            <a:r>
              <a:rPr lang="en-US" dirty="0" err="1" smtClean="0"/>
              <a:t>,</a:t>
            </a:r>
            <a:r>
              <a:rPr lang="en-US" i="1" dirty="0" err="1" smtClean="0"/>
              <a:t>y</a:t>
            </a:r>
            <a:r>
              <a:rPr lang="en-US" dirty="0" err="1" smtClean="0"/>
              <a:t>,</a:t>
            </a:r>
            <a:r>
              <a:rPr lang="en-US" i="1" dirty="0" err="1" smtClean="0"/>
              <a:t>z</a:t>
            </a:r>
            <a:r>
              <a:rPr lang="en-US" dirty="0" smtClean="0"/>
              <a:t>) = </a:t>
            </a:r>
            <a:r>
              <a:rPr lang="en-US" i="1" dirty="0" smtClean="0"/>
              <a:t>x’</a:t>
            </a:r>
            <a:r>
              <a:rPr lang="en-US" dirty="0" smtClean="0"/>
              <a:t> + (</a:t>
            </a:r>
            <a:r>
              <a:rPr lang="en-US" i="1" dirty="0" smtClean="0"/>
              <a:t>y</a:t>
            </a:r>
            <a:r>
              <a:rPr lang="en-US" dirty="0" smtClean="0"/>
              <a:t> + </a:t>
            </a:r>
            <a:r>
              <a:rPr lang="en-US" i="1" dirty="0" smtClean="0"/>
              <a:t>z</a:t>
            </a:r>
            <a:r>
              <a:rPr lang="en-US" dirty="0" smtClean="0"/>
              <a:t>)(</a:t>
            </a:r>
            <a:r>
              <a:rPr lang="en-US" i="1" dirty="0" smtClean="0"/>
              <a:t>y’</a:t>
            </a:r>
            <a:r>
              <a:rPr lang="en-US" dirty="0" smtClean="0"/>
              <a:t> + </a:t>
            </a:r>
            <a:r>
              <a:rPr lang="en-US" i="1" dirty="0" smtClean="0"/>
              <a:t>z’</a:t>
            </a:r>
            <a:r>
              <a:rPr lang="en-US" dirty="0" smtClean="0"/>
              <a:t>)</a:t>
            </a:r>
          </a:p>
          <a:p>
            <a:pPr lvl="1"/>
            <a:endParaRPr lang="en-US" sz="18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346" name="標題 1"/>
          <p:cNvSpPr>
            <a:spLocks noGrp="1"/>
          </p:cNvSpPr>
          <p:nvPr>
            <p:ph type="title" idx="4294967295"/>
          </p:nvPr>
        </p:nvSpPr>
        <p:spPr/>
        <p:txBody>
          <a:bodyPr lIns="0" tIns="0" rIns="0" bIns="0"/>
          <a:lstStyle/>
          <a:p>
            <a:r>
              <a:rPr lang="en-US" altLang="zh-TW" dirty="0" smtClean="0">
                <a:ea typeface="新細明體" pitchFamily="18" charset="-120"/>
              </a:rPr>
              <a:t>Practice</a:t>
            </a:r>
            <a:endParaRPr lang="zh-TW" altLang="en-US" sz="2500" dirty="0">
              <a:ea typeface="新細明體" pitchFamily="18" charset="-120"/>
            </a:endParaRPr>
          </a:p>
        </p:txBody>
      </p:sp>
      <p:sp>
        <p:nvSpPr>
          <p:cNvPr id="569347" name="內容版面配置區 2"/>
          <p:cNvSpPr>
            <a:spLocks noGrp="1"/>
          </p:cNvSpPr>
          <p:nvPr>
            <p:ph idx="4294967295"/>
          </p:nvPr>
        </p:nvSpPr>
        <p:spPr>
          <a:xfrm>
            <a:off x="457199" y="1600200"/>
            <a:ext cx="7689273" cy="4873752"/>
          </a:xfrm>
        </p:spPr>
        <p:txBody>
          <a:bodyPr lIns="90488" tIns="44450" rIns="90488" bIns="44450">
            <a:normAutofit/>
          </a:bodyPr>
          <a:lstStyle/>
          <a:p>
            <a:r>
              <a:rPr lang="en-US" dirty="0" smtClean="0"/>
              <a:t>Find the complement of the following expressions:</a:t>
            </a:r>
          </a:p>
          <a:p>
            <a:pPr lvl="1"/>
            <a:r>
              <a:rPr lang="en-US" sz="2400" i="1" dirty="0" err="1" smtClean="0"/>
              <a:t>xy</a:t>
            </a:r>
            <a:r>
              <a:rPr lang="en-US" sz="2400" i="1" dirty="0" smtClean="0"/>
              <a:t>' + </a:t>
            </a:r>
            <a:r>
              <a:rPr lang="en-US" sz="2400" i="1" dirty="0" err="1" smtClean="0"/>
              <a:t>x'y</a:t>
            </a:r>
            <a:endParaRPr lang="en-US" sz="2400" i="1" dirty="0" smtClean="0"/>
          </a:p>
          <a:p>
            <a:pPr lvl="1"/>
            <a:r>
              <a:rPr lang="es-ES" sz="2400" dirty="0" smtClean="0"/>
              <a:t>[(</a:t>
            </a:r>
            <a:r>
              <a:rPr lang="es-ES" sz="2400" i="1" dirty="0" smtClean="0"/>
              <a:t>x' + y + z'</a:t>
            </a:r>
            <a:r>
              <a:rPr lang="es-ES" sz="2400" dirty="0" smtClean="0"/>
              <a:t>)(</a:t>
            </a:r>
            <a:r>
              <a:rPr lang="es-ES" sz="2400" i="1" dirty="0" smtClean="0"/>
              <a:t>x + y'</a:t>
            </a:r>
            <a:r>
              <a:rPr lang="es-ES" sz="2400" dirty="0" smtClean="0"/>
              <a:t>)(</a:t>
            </a:r>
            <a:r>
              <a:rPr lang="es-ES" sz="2400" i="1" dirty="0" smtClean="0"/>
              <a:t>x + </a:t>
            </a:r>
            <a:r>
              <a:rPr lang="es-ES" sz="2400" i="1" smtClean="0"/>
              <a:t>z</a:t>
            </a:r>
            <a:r>
              <a:rPr lang="es-ES" sz="2400" smtClean="0"/>
              <a:t>)]</a:t>
            </a:r>
            <a:endParaRPr lang="en-US" sz="2400" dirty="0" smtClean="0"/>
          </a:p>
          <a:p>
            <a:r>
              <a:rPr lang="en-US" i="1" dirty="0" smtClean="0"/>
              <a:t>F' = </a:t>
            </a:r>
            <a:r>
              <a:rPr lang="en-US" dirty="0" smtClean="0"/>
              <a:t>(</a:t>
            </a:r>
            <a:r>
              <a:rPr lang="en-US" i="1" dirty="0" err="1" smtClean="0"/>
              <a:t>xy</a:t>
            </a:r>
            <a:r>
              <a:rPr lang="en-US" i="1" dirty="0" smtClean="0"/>
              <a:t>' + </a:t>
            </a:r>
            <a:r>
              <a:rPr lang="en-US" i="1" dirty="0" err="1" smtClean="0"/>
              <a:t>x'y</a:t>
            </a:r>
            <a:r>
              <a:rPr lang="en-US" dirty="0" smtClean="0"/>
              <a:t>)</a:t>
            </a:r>
            <a:r>
              <a:rPr lang="en-US" i="1" dirty="0" smtClean="0"/>
              <a:t>' </a:t>
            </a:r>
          </a:p>
          <a:p>
            <a:pPr>
              <a:buNone/>
            </a:pPr>
            <a:r>
              <a:rPr lang="en-US" i="1" dirty="0" smtClean="0"/>
              <a:t>	    = </a:t>
            </a:r>
            <a:r>
              <a:rPr lang="en-US" dirty="0" smtClean="0"/>
              <a:t>(</a:t>
            </a:r>
            <a:r>
              <a:rPr lang="en-US" i="1" dirty="0" err="1" smtClean="0"/>
              <a:t>xy</a:t>
            </a:r>
            <a:r>
              <a:rPr lang="en-US" i="1" dirty="0" smtClean="0"/>
              <a:t>'</a:t>
            </a:r>
            <a:r>
              <a:rPr lang="en-US" dirty="0" smtClean="0"/>
              <a:t>)</a:t>
            </a:r>
            <a:r>
              <a:rPr lang="en-US" i="1" dirty="0" smtClean="0"/>
              <a:t>'</a:t>
            </a:r>
            <a:r>
              <a:rPr lang="en-US" dirty="0" smtClean="0"/>
              <a:t>(</a:t>
            </a:r>
            <a:r>
              <a:rPr lang="en-US" i="1" dirty="0" err="1" smtClean="0"/>
              <a:t>x'y</a:t>
            </a:r>
            <a:r>
              <a:rPr lang="en-US" dirty="0" smtClean="0"/>
              <a:t>)</a:t>
            </a:r>
            <a:r>
              <a:rPr lang="en-US" i="1" dirty="0" smtClean="0"/>
              <a:t>' </a:t>
            </a:r>
          </a:p>
          <a:p>
            <a:pPr>
              <a:buNone/>
            </a:pPr>
            <a:r>
              <a:rPr lang="en-US" i="1" dirty="0" smtClean="0"/>
              <a:t>       = </a:t>
            </a:r>
            <a:r>
              <a:rPr lang="en-US" dirty="0" smtClean="0"/>
              <a:t>(</a:t>
            </a:r>
            <a:r>
              <a:rPr lang="en-US" i="1" dirty="0" smtClean="0"/>
              <a:t>x' + y</a:t>
            </a:r>
            <a:r>
              <a:rPr lang="en-US" dirty="0" smtClean="0"/>
              <a:t>)(</a:t>
            </a:r>
            <a:r>
              <a:rPr lang="en-US" i="1" dirty="0" smtClean="0"/>
              <a:t>x + y'</a:t>
            </a:r>
            <a:r>
              <a:rPr lang="en-US" dirty="0" smtClean="0"/>
              <a:t>)</a:t>
            </a:r>
            <a:r>
              <a:rPr lang="en-US" i="1" dirty="0" smtClean="0"/>
              <a:t> </a:t>
            </a:r>
          </a:p>
          <a:p>
            <a:pPr>
              <a:buNone/>
            </a:pPr>
            <a:r>
              <a:rPr lang="en-US" i="1" dirty="0" smtClean="0"/>
              <a:t>       = </a:t>
            </a:r>
            <a:r>
              <a:rPr lang="en-US" i="1" dirty="0" err="1" smtClean="0"/>
              <a:t>xy</a:t>
            </a:r>
            <a:r>
              <a:rPr lang="en-US" i="1" dirty="0" smtClean="0"/>
              <a:t> + </a:t>
            </a:r>
            <a:r>
              <a:rPr lang="en-US" i="1" dirty="0" err="1" smtClean="0"/>
              <a:t>x'y</a:t>
            </a:r>
            <a:r>
              <a:rPr lang="en-US" i="1" dirty="0" smtClean="0"/>
              <a:t>‘</a:t>
            </a:r>
          </a:p>
          <a:p>
            <a:r>
              <a:rPr lang="es-ES" i="1" dirty="0" smtClean="0"/>
              <a:t>F' = </a:t>
            </a:r>
            <a:r>
              <a:rPr lang="es-ES" dirty="0" smtClean="0"/>
              <a:t>[(</a:t>
            </a:r>
            <a:r>
              <a:rPr lang="es-ES" i="1" dirty="0" smtClean="0"/>
              <a:t>x' + y + z'</a:t>
            </a:r>
            <a:r>
              <a:rPr lang="es-ES" dirty="0" smtClean="0"/>
              <a:t>)(</a:t>
            </a:r>
            <a:r>
              <a:rPr lang="es-ES" i="1" dirty="0" smtClean="0"/>
              <a:t>x + y'</a:t>
            </a:r>
            <a:r>
              <a:rPr lang="es-ES" dirty="0" smtClean="0"/>
              <a:t>)(</a:t>
            </a:r>
            <a:r>
              <a:rPr lang="es-ES" i="1" dirty="0" smtClean="0"/>
              <a:t>x + z</a:t>
            </a:r>
            <a:r>
              <a:rPr lang="es-ES" dirty="0" smtClean="0"/>
              <a:t>)]</a:t>
            </a:r>
            <a:r>
              <a:rPr lang="es-ES" i="1" dirty="0" smtClean="0"/>
              <a:t>' </a:t>
            </a:r>
          </a:p>
          <a:p>
            <a:pPr>
              <a:buNone/>
            </a:pPr>
            <a:r>
              <a:rPr lang="es-ES" i="1" dirty="0" smtClean="0"/>
              <a:t>	    = </a:t>
            </a:r>
            <a:r>
              <a:rPr lang="es-ES" dirty="0" smtClean="0"/>
              <a:t>(</a:t>
            </a:r>
            <a:r>
              <a:rPr lang="es-ES" i="1" dirty="0" smtClean="0"/>
              <a:t>x' + y + z'</a:t>
            </a:r>
            <a:r>
              <a:rPr lang="es-ES" dirty="0" smtClean="0"/>
              <a:t>)</a:t>
            </a:r>
            <a:r>
              <a:rPr lang="es-ES" i="1" dirty="0" smtClean="0"/>
              <a:t>' + </a:t>
            </a:r>
            <a:r>
              <a:rPr lang="es-ES" dirty="0" smtClean="0"/>
              <a:t>(</a:t>
            </a:r>
            <a:r>
              <a:rPr lang="es-ES" i="1" dirty="0" smtClean="0"/>
              <a:t>x + y'</a:t>
            </a:r>
            <a:r>
              <a:rPr lang="es-ES" dirty="0" smtClean="0"/>
              <a:t>)</a:t>
            </a:r>
            <a:r>
              <a:rPr lang="es-ES" i="1" dirty="0" smtClean="0"/>
              <a:t>' + </a:t>
            </a:r>
            <a:r>
              <a:rPr lang="es-ES" dirty="0" smtClean="0"/>
              <a:t>(</a:t>
            </a:r>
            <a:r>
              <a:rPr lang="es-ES" i="1" dirty="0" smtClean="0"/>
              <a:t>x + z</a:t>
            </a:r>
            <a:r>
              <a:rPr lang="es-ES" dirty="0" smtClean="0"/>
              <a:t>)</a:t>
            </a:r>
            <a:r>
              <a:rPr lang="es-ES" i="1" dirty="0" smtClean="0"/>
              <a:t>' </a:t>
            </a:r>
          </a:p>
          <a:p>
            <a:pPr>
              <a:buNone/>
            </a:pPr>
            <a:r>
              <a:rPr lang="es-ES" i="1" dirty="0" smtClean="0"/>
              <a:t>	    </a:t>
            </a:r>
            <a:r>
              <a:rPr lang="en-US" i="1" dirty="0" smtClean="0"/>
              <a:t>= </a:t>
            </a:r>
            <a:r>
              <a:rPr lang="en-US" i="1" dirty="0" err="1" smtClean="0"/>
              <a:t>xy'z</a:t>
            </a:r>
            <a:r>
              <a:rPr lang="en-US" i="1" dirty="0" smtClean="0"/>
              <a:t> + </a:t>
            </a:r>
            <a:r>
              <a:rPr lang="en-US" i="1" dirty="0" err="1" smtClean="0"/>
              <a:t>x'y</a:t>
            </a:r>
            <a:r>
              <a:rPr lang="en-US" i="1" dirty="0" smtClean="0"/>
              <a:t> + </a:t>
            </a:r>
            <a:r>
              <a:rPr lang="en-US" i="1" dirty="0" err="1" smtClean="0"/>
              <a:t>x'z</a:t>
            </a:r>
            <a:r>
              <a:rPr lang="en-US" i="1" dirty="0" smtClean="0"/>
              <a:t>'</a:t>
            </a:r>
            <a:endParaRPr lang="en-US" dirty="0" smtClean="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93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93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93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93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934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934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934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Minterms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A </a:t>
            </a:r>
            <a:r>
              <a:rPr lang="en-US" dirty="0" err="1" smtClean="0"/>
              <a:t>minterm</a:t>
            </a:r>
            <a:r>
              <a:rPr lang="en-US" dirty="0" smtClean="0"/>
              <a:t> is an AND term in which every variable or its complement in a function occurs once. </a:t>
            </a:r>
          </a:p>
          <a:p>
            <a:pPr lvl="1"/>
            <a:r>
              <a:rPr lang="en-US" dirty="0" smtClean="0"/>
              <a:t>F(</a:t>
            </a:r>
            <a:r>
              <a:rPr lang="en-US" i="1" dirty="0" err="1" smtClean="0"/>
              <a:t>x</a:t>
            </a:r>
            <a:r>
              <a:rPr lang="en-US" dirty="0" err="1" smtClean="0"/>
              <a:t>,</a:t>
            </a:r>
            <a:r>
              <a:rPr lang="en-US" i="1" dirty="0" err="1" smtClean="0"/>
              <a:t>y</a:t>
            </a:r>
            <a:r>
              <a:rPr lang="en-US" dirty="0" smtClean="0"/>
              <a:t>) has 4 </a:t>
            </a:r>
            <a:r>
              <a:rPr lang="en-US" dirty="0" err="1" smtClean="0"/>
              <a:t>minterms</a:t>
            </a:r>
            <a:r>
              <a:rPr lang="en-US" dirty="0" smtClean="0"/>
              <a:t>  </a:t>
            </a:r>
            <a:r>
              <a:rPr lang="en-US" i="1" dirty="0" err="1" smtClean="0"/>
              <a:t>x</a:t>
            </a:r>
            <a:r>
              <a:rPr lang="en-US" dirty="0" err="1" smtClean="0"/>
              <a:t>’</a:t>
            </a:r>
            <a:r>
              <a:rPr lang="en-US" i="1" dirty="0" err="1" smtClean="0"/>
              <a:t>y</a:t>
            </a:r>
            <a:r>
              <a:rPr lang="en-US" dirty="0" smtClean="0"/>
              <a:t>’,</a:t>
            </a:r>
            <a:r>
              <a:rPr lang="en-US" i="1" dirty="0" smtClean="0"/>
              <a:t> </a:t>
            </a:r>
            <a:r>
              <a:rPr lang="en-US" i="1" dirty="0" err="1" smtClean="0"/>
              <a:t>x</a:t>
            </a:r>
            <a:r>
              <a:rPr lang="en-US" dirty="0" err="1" smtClean="0"/>
              <a:t>’</a:t>
            </a:r>
            <a:r>
              <a:rPr lang="en-US" i="1" dirty="0" err="1" smtClean="0"/>
              <a:t>y</a:t>
            </a:r>
            <a:r>
              <a:rPr lang="en-US" dirty="0" smtClean="0"/>
              <a:t>,</a:t>
            </a:r>
            <a:r>
              <a:rPr lang="en-US" i="1" dirty="0" smtClean="0"/>
              <a:t> </a:t>
            </a:r>
            <a:r>
              <a:rPr lang="en-US" i="1" dirty="0" err="1" smtClean="0"/>
              <a:t>xy</a:t>
            </a:r>
            <a:r>
              <a:rPr lang="en-US" dirty="0" smtClean="0"/>
              <a:t>’,</a:t>
            </a:r>
            <a:r>
              <a:rPr lang="en-US" i="1" dirty="0" smtClean="0"/>
              <a:t> </a:t>
            </a:r>
            <a:r>
              <a:rPr lang="en-US" i="1" dirty="0" err="1" smtClean="0"/>
              <a:t>xy</a:t>
            </a:r>
            <a:endParaRPr lang="en-US" i="1" dirty="0" smtClean="0"/>
          </a:p>
          <a:p>
            <a:pPr lvl="1">
              <a:buNone/>
            </a:pPr>
            <a:endParaRPr lang="en-US" i="1" dirty="0" smtClean="0"/>
          </a:p>
          <a:p>
            <a:r>
              <a:rPr lang="en-AU" dirty="0" smtClean="0"/>
              <a:t>An </a:t>
            </a:r>
            <a:r>
              <a:rPr lang="en-AU" i="1" dirty="0" smtClean="0"/>
              <a:t>n variable function has 2</a:t>
            </a:r>
            <a:r>
              <a:rPr lang="en-AU" i="1" baseline="30000" dirty="0" smtClean="0"/>
              <a:t>n</a:t>
            </a:r>
            <a:r>
              <a:rPr lang="en-AU" i="1" dirty="0" smtClean="0"/>
              <a:t> valid </a:t>
            </a:r>
            <a:r>
              <a:rPr lang="en-AU" i="1" dirty="0" err="1" smtClean="0"/>
              <a:t>minterms</a:t>
            </a:r>
            <a:endParaRPr lang="en-AU" i="1" dirty="0" smtClean="0"/>
          </a:p>
          <a:p>
            <a:endParaRPr lang="en-US" dirty="0" smtClean="0"/>
          </a:p>
          <a:p>
            <a:r>
              <a:rPr lang="en-US" dirty="0" smtClean="0"/>
              <a:t>A </a:t>
            </a:r>
            <a:r>
              <a:rPr lang="en-US" dirty="0" err="1" smtClean="0"/>
              <a:t>minterm</a:t>
            </a:r>
            <a:r>
              <a:rPr lang="en-US" dirty="0" smtClean="0"/>
              <a:t> equals 1 at exactly one input combination and is equal to 0 otherwise </a:t>
            </a:r>
          </a:p>
          <a:p>
            <a:pPr lvl="1"/>
            <a:r>
              <a:rPr lang="en-US" dirty="0" smtClean="0"/>
              <a:t>Example: </a:t>
            </a:r>
            <a:r>
              <a:rPr lang="en-US" i="1" dirty="0" err="1" smtClean="0"/>
              <a:t>x’y’z</a:t>
            </a:r>
            <a:r>
              <a:rPr lang="en-US" i="1" dirty="0" smtClean="0"/>
              <a:t>’</a:t>
            </a:r>
            <a:r>
              <a:rPr lang="en-US" dirty="0" smtClean="0"/>
              <a:t> = 1 only when </a:t>
            </a:r>
            <a:r>
              <a:rPr lang="en-US" i="1" dirty="0" smtClean="0"/>
              <a:t>x</a:t>
            </a:r>
            <a:r>
              <a:rPr lang="en-US" dirty="0" smtClean="0"/>
              <a:t>=0, </a:t>
            </a:r>
            <a:r>
              <a:rPr lang="en-US" i="1" dirty="0" smtClean="0"/>
              <a:t>y</a:t>
            </a:r>
            <a:r>
              <a:rPr lang="en-US" dirty="0" smtClean="0"/>
              <a:t>=0, </a:t>
            </a:r>
            <a:r>
              <a:rPr lang="en-US" i="1" dirty="0" smtClean="0"/>
              <a:t>z</a:t>
            </a:r>
            <a:r>
              <a:rPr lang="en-US" dirty="0" smtClean="0"/>
              <a:t>=0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Maxterms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A </a:t>
            </a:r>
            <a:r>
              <a:rPr lang="en-US" dirty="0" err="1" smtClean="0"/>
              <a:t>maxterm</a:t>
            </a:r>
            <a:r>
              <a:rPr lang="en-US" dirty="0" smtClean="0"/>
              <a:t> is an OR term in which every variable or its complement in a function occurs once </a:t>
            </a:r>
          </a:p>
          <a:p>
            <a:pPr lvl="1"/>
            <a:r>
              <a:rPr lang="en-US" dirty="0" smtClean="0"/>
              <a:t>F(</a:t>
            </a:r>
            <a:r>
              <a:rPr lang="en-US" i="1" dirty="0" err="1" smtClean="0"/>
              <a:t>x</a:t>
            </a:r>
            <a:r>
              <a:rPr lang="en-US" dirty="0" err="1" smtClean="0"/>
              <a:t>,</a:t>
            </a:r>
            <a:r>
              <a:rPr lang="en-US" i="1" dirty="0" err="1" smtClean="0"/>
              <a:t>y</a:t>
            </a:r>
            <a:r>
              <a:rPr lang="en-US" dirty="0" smtClean="0"/>
              <a:t>) has 4 </a:t>
            </a:r>
            <a:r>
              <a:rPr lang="en-US" dirty="0" err="1" smtClean="0"/>
              <a:t>maxterms</a:t>
            </a:r>
            <a:r>
              <a:rPr lang="en-US" dirty="0" smtClean="0"/>
              <a:t>  </a:t>
            </a:r>
            <a:r>
              <a:rPr lang="en-US" i="1" dirty="0" err="1" smtClean="0"/>
              <a:t>x</a:t>
            </a:r>
            <a:r>
              <a:rPr lang="en-US" dirty="0" err="1" smtClean="0"/>
              <a:t>’+</a:t>
            </a:r>
            <a:r>
              <a:rPr lang="en-US" i="1" dirty="0" err="1" smtClean="0"/>
              <a:t>y</a:t>
            </a:r>
            <a:r>
              <a:rPr lang="en-US" dirty="0" smtClean="0"/>
              <a:t>’,</a:t>
            </a:r>
            <a:r>
              <a:rPr lang="en-US" i="1" dirty="0" smtClean="0"/>
              <a:t> </a:t>
            </a:r>
            <a:r>
              <a:rPr lang="en-US" i="1" dirty="0" err="1" smtClean="0"/>
              <a:t>x</a:t>
            </a:r>
            <a:r>
              <a:rPr lang="en-US" dirty="0" err="1" smtClean="0"/>
              <a:t>’+</a:t>
            </a:r>
            <a:r>
              <a:rPr lang="en-US" i="1" dirty="0" err="1" smtClean="0"/>
              <a:t>y</a:t>
            </a:r>
            <a:r>
              <a:rPr lang="en-US" dirty="0" smtClean="0"/>
              <a:t>,</a:t>
            </a:r>
            <a:r>
              <a:rPr lang="en-US" i="1" dirty="0" smtClean="0"/>
              <a:t> </a:t>
            </a:r>
            <a:r>
              <a:rPr lang="en-US" i="1" dirty="0" err="1" smtClean="0"/>
              <a:t>x+y</a:t>
            </a:r>
            <a:r>
              <a:rPr lang="en-US" dirty="0" smtClean="0"/>
              <a:t>’,</a:t>
            </a:r>
            <a:r>
              <a:rPr lang="en-US" i="1" dirty="0" smtClean="0"/>
              <a:t> </a:t>
            </a:r>
            <a:r>
              <a:rPr lang="en-US" i="1" dirty="0" err="1" smtClean="0"/>
              <a:t>x+y</a:t>
            </a:r>
            <a:endParaRPr lang="en-US" i="1" dirty="0" smtClean="0"/>
          </a:p>
          <a:p>
            <a:pPr lvl="1"/>
            <a:endParaRPr lang="en-US" dirty="0" smtClean="0"/>
          </a:p>
          <a:p>
            <a:r>
              <a:rPr lang="en-AU" dirty="0" smtClean="0"/>
              <a:t>An </a:t>
            </a:r>
            <a:r>
              <a:rPr lang="en-AU" i="1" dirty="0" smtClean="0"/>
              <a:t>n</a:t>
            </a:r>
            <a:r>
              <a:rPr lang="en-AU" dirty="0" smtClean="0"/>
              <a:t> variable function has 2</a:t>
            </a:r>
            <a:r>
              <a:rPr lang="en-AU" i="1" baseline="30000" dirty="0" smtClean="0"/>
              <a:t>n</a:t>
            </a:r>
            <a:r>
              <a:rPr lang="en-AU" dirty="0" smtClean="0"/>
              <a:t> valid </a:t>
            </a:r>
            <a:r>
              <a:rPr lang="en-AU" dirty="0" err="1" smtClean="0"/>
              <a:t>maxterms</a:t>
            </a:r>
            <a:endParaRPr lang="en-AU" dirty="0" smtClean="0"/>
          </a:p>
          <a:p>
            <a:pPr>
              <a:buNone/>
            </a:pPr>
            <a:endParaRPr lang="en-AU" dirty="0" smtClean="0"/>
          </a:p>
          <a:p>
            <a:r>
              <a:rPr lang="en-US" dirty="0" smtClean="0"/>
              <a:t>A </a:t>
            </a:r>
            <a:r>
              <a:rPr lang="en-US" dirty="0" err="1" smtClean="0"/>
              <a:t>maxterm</a:t>
            </a:r>
            <a:r>
              <a:rPr lang="en-US" dirty="0" smtClean="0"/>
              <a:t> equals 0 at exactly one input combination and is equal to 1 otherwise</a:t>
            </a:r>
          </a:p>
          <a:p>
            <a:pPr lvl="1"/>
            <a:r>
              <a:rPr lang="en-US" dirty="0" smtClean="0"/>
              <a:t>Example: (</a:t>
            </a:r>
            <a:r>
              <a:rPr lang="en-US" dirty="0" err="1" smtClean="0"/>
              <a:t>x+y+z</a:t>
            </a:r>
            <a:r>
              <a:rPr lang="en-US" dirty="0" smtClean="0"/>
              <a:t>) = 0 only when x=0, y=0, z=0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Example: Three Binary Variables </a:t>
            </a:r>
            <a:endParaRPr lang="en-US" dirty="0"/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2" cstate="print"/>
          <a:stretch>
            <a:fillRect/>
          </a:stretch>
        </p:blipFill>
        <p:spPr bwMode="auto">
          <a:xfrm>
            <a:off x="661987" y="2151062"/>
            <a:ext cx="7058025" cy="3771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Canonical Form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 smtClean="0"/>
              <a:t>Any </a:t>
            </a:r>
            <a:r>
              <a:rPr lang="en-US" dirty="0" err="1" smtClean="0"/>
              <a:t>boolean</a:t>
            </a:r>
            <a:r>
              <a:rPr lang="en-US" dirty="0" smtClean="0"/>
              <a:t> function that is expressed as a </a:t>
            </a:r>
            <a:r>
              <a:rPr lang="en-US" b="1" dirty="0" smtClean="0"/>
              <a:t>sum of </a:t>
            </a:r>
            <a:r>
              <a:rPr lang="en-US" b="1" dirty="0" err="1" smtClean="0"/>
              <a:t>minterms</a:t>
            </a:r>
            <a:r>
              <a:rPr lang="en-US" dirty="0" smtClean="0"/>
              <a:t> or as a </a:t>
            </a:r>
            <a:r>
              <a:rPr lang="en-US" b="1" dirty="0" smtClean="0"/>
              <a:t>product of </a:t>
            </a:r>
            <a:r>
              <a:rPr lang="en-US" b="1" dirty="0" err="1" smtClean="0"/>
              <a:t>maxterms</a:t>
            </a:r>
            <a:r>
              <a:rPr lang="en-US" dirty="0" smtClean="0"/>
              <a:t> is said to be in its canonical form.</a:t>
            </a:r>
            <a:endParaRPr lang="id-ID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Sum of </a:t>
            </a:r>
            <a:r>
              <a:rPr lang="en-US" dirty="0" err="1" smtClean="0"/>
              <a:t>Minterms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endParaRPr lang="en-US" dirty="0" smtClean="0"/>
          </a:p>
          <a:p>
            <a:r>
              <a:rPr lang="en-US" dirty="0" smtClean="0"/>
              <a:t>A Boolean function can be expressed algebraically from a given truth table </a:t>
            </a:r>
          </a:p>
          <a:p>
            <a:pPr lvl="1"/>
            <a:r>
              <a:rPr lang="en-US" dirty="0" smtClean="0"/>
              <a:t>by forming a </a:t>
            </a:r>
            <a:r>
              <a:rPr lang="en-US" dirty="0" err="1" smtClean="0"/>
              <a:t>minterm</a:t>
            </a:r>
            <a:r>
              <a:rPr lang="en-US" dirty="0" smtClean="0"/>
              <a:t> for each combination of the variables that produces a 1 in the function and </a:t>
            </a:r>
          </a:p>
          <a:p>
            <a:pPr lvl="1"/>
            <a:r>
              <a:rPr lang="en-US" dirty="0" smtClean="0"/>
              <a:t>then taking the OR of all those terms.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Sum of </a:t>
            </a:r>
            <a:r>
              <a:rPr lang="en-US" dirty="0" err="1" smtClean="0"/>
              <a:t>Minterms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 dirty="0" smtClean="0"/>
          </a:p>
          <a:p>
            <a:endParaRPr lang="en-US" dirty="0" smtClean="0"/>
          </a:p>
          <a:p>
            <a:endParaRPr lang="en-US" dirty="0" smtClean="0"/>
          </a:p>
          <a:p>
            <a:endParaRPr lang="en-US" dirty="0" smtClean="0"/>
          </a:p>
          <a:p>
            <a:endParaRPr lang="en-US" dirty="0" smtClean="0"/>
          </a:p>
          <a:p>
            <a:endParaRPr lang="en-US" dirty="0" smtClean="0"/>
          </a:p>
          <a:p>
            <a:endParaRPr lang="en-US" i="1" dirty="0" smtClean="0"/>
          </a:p>
          <a:p>
            <a:r>
              <a:rPr lang="pl-PL" i="1" dirty="0" smtClean="0"/>
              <a:t>F</a:t>
            </a:r>
            <a:r>
              <a:rPr lang="pl-PL" i="1" baseline="-25000" dirty="0" smtClean="0"/>
              <a:t>1</a:t>
            </a:r>
            <a:r>
              <a:rPr lang="pl-PL" dirty="0" smtClean="0"/>
              <a:t>(</a:t>
            </a:r>
            <a:r>
              <a:rPr lang="pl-PL" i="1" dirty="0" smtClean="0"/>
              <a:t>x, y, z</a:t>
            </a:r>
            <a:r>
              <a:rPr lang="pl-PL" dirty="0" smtClean="0"/>
              <a:t>)</a:t>
            </a:r>
            <a:r>
              <a:rPr lang="pl-PL" i="1" dirty="0" smtClean="0"/>
              <a:t> = </a:t>
            </a:r>
            <a:r>
              <a:rPr lang="pl-PL" dirty="0" smtClean="0"/>
              <a:t>∑(1,4,5,6,7)</a:t>
            </a:r>
            <a:r>
              <a:rPr lang="pl-PL" i="1" dirty="0" smtClean="0"/>
              <a:t> = m</a:t>
            </a:r>
            <a:r>
              <a:rPr lang="pl-PL" baseline="-25000" dirty="0" smtClean="0"/>
              <a:t>1</a:t>
            </a:r>
            <a:r>
              <a:rPr lang="pl-PL" i="1" dirty="0" smtClean="0"/>
              <a:t> + m</a:t>
            </a:r>
            <a:r>
              <a:rPr lang="pl-PL" baseline="-25000" dirty="0" smtClean="0"/>
              <a:t>4</a:t>
            </a:r>
            <a:r>
              <a:rPr lang="pl-PL" i="1" dirty="0" smtClean="0"/>
              <a:t> + m</a:t>
            </a:r>
            <a:r>
              <a:rPr lang="pl-PL" i="1" baseline="-25000" dirty="0" smtClean="0"/>
              <a:t>5</a:t>
            </a:r>
            <a:r>
              <a:rPr lang="pl-PL" i="1" dirty="0" smtClean="0"/>
              <a:t> + m</a:t>
            </a:r>
            <a:r>
              <a:rPr lang="pl-PL" baseline="-25000" dirty="0" smtClean="0"/>
              <a:t>6</a:t>
            </a:r>
            <a:r>
              <a:rPr lang="pl-PL" i="1" dirty="0" smtClean="0"/>
              <a:t> + m</a:t>
            </a:r>
            <a:r>
              <a:rPr lang="pl-PL" baseline="-25000" dirty="0" smtClean="0"/>
              <a:t>7</a:t>
            </a:r>
          </a:p>
          <a:p>
            <a:pPr lvl="3">
              <a:buNone/>
            </a:pPr>
            <a:r>
              <a:rPr lang="en-US" dirty="0" smtClean="0"/>
              <a:t>    </a:t>
            </a:r>
            <a:r>
              <a:rPr lang="pl-PL" dirty="0" smtClean="0"/>
              <a:t>=</a:t>
            </a:r>
            <a:r>
              <a:rPr lang="pl-PL" i="1" dirty="0" smtClean="0"/>
              <a:t>x' y' z + xy' z’ + xy' z + xyz’ + xyz</a:t>
            </a:r>
            <a:endParaRPr lang="en-US" dirty="0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91777" y="1562100"/>
            <a:ext cx="4866223" cy="31314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Sum of </a:t>
            </a:r>
            <a:r>
              <a:rPr lang="en-US" dirty="0" err="1" smtClean="0"/>
              <a:t>Minterms</a:t>
            </a:r>
            <a:r>
              <a:rPr lang="en-US" dirty="0" smtClean="0"/>
              <a:t>: Example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i="1" dirty="0" smtClean="0"/>
              <a:t>F</a:t>
            </a:r>
            <a:r>
              <a:rPr lang="en-US" dirty="0" smtClean="0"/>
              <a:t> = </a:t>
            </a:r>
            <a:r>
              <a:rPr lang="en-US" i="1" dirty="0" smtClean="0"/>
              <a:t>x</a:t>
            </a:r>
            <a:r>
              <a:rPr lang="en-US" dirty="0" smtClean="0"/>
              <a:t> + </a:t>
            </a:r>
            <a:r>
              <a:rPr lang="en-US" i="1" dirty="0" err="1" smtClean="0"/>
              <a:t>yz</a:t>
            </a:r>
            <a:endParaRPr lang="en-US" dirty="0" smtClean="0"/>
          </a:p>
          <a:p>
            <a:pPr>
              <a:buFontTx/>
              <a:buNone/>
            </a:pPr>
            <a:r>
              <a:rPr lang="en-US" dirty="0" smtClean="0"/>
              <a:t>	   = </a:t>
            </a:r>
            <a:r>
              <a:rPr lang="en-US" i="1" dirty="0" smtClean="0"/>
              <a:t>x</a:t>
            </a:r>
            <a:r>
              <a:rPr lang="en-US" dirty="0" smtClean="0"/>
              <a:t>(</a:t>
            </a:r>
            <a:r>
              <a:rPr lang="en-US" i="1" dirty="0" smtClean="0"/>
              <a:t>y</a:t>
            </a:r>
            <a:r>
              <a:rPr lang="en-US" dirty="0" smtClean="0"/>
              <a:t> + </a:t>
            </a:r>
            <a:r>
              <a:rPr lang="en-US" i="1" dirty="0" smtClean="0"/>
              <a:t>y’</a:t>
            </a:r>
            <a:r>
              <a:rPr lang="en-US" dirty="0" smtClean="0"/>
              <a:t>)(</a:t>
            </a:r>
            <a:r>
              <a:rPr lang="en-US" i="1" dirty="0" smtClean="0"/>
              <a:t>z</a:t>
            </a:r>
            <a:r>
              <a:rPr lang="en-US" dirty="0" smtClean="0"/>
              <a:t> + </a:t>
            </a:r>
            <a:r>
              <a:rPr lang="en-US" i="1" dirty="0" smtClean="0"/>
              <a:t>z’</a:t>
            </a:r>
            <a:r>
              <a:rPr lang="en-US" dirty="0" smtClean="0"/>
              <a:t>) + (</a:t>
            </a:r>
            <a:r>
              <a:rPr lang="en-US" i="1" dirty="0" smtClean="0"/>
              <a:t>x</a:t>
            </a:r>
            <a:r>
              <a:rPr lang="en-US" dirty="0" smtClean="0"/>
              <a:t> + </a:t>
            </a:r>
            <a:r>
              <a:rPr lang="en-US" i="1" dirty="0" smtClean="0"/>
              <a:t>x’</a:t>
            </a:r>
            <a:r>
              <a:rPr lang="en-US" dirty="0" smtClean="0"/>
              <a:t>)</a:t>
            </a:r>
            <a:r>
              <a:rPr lang="en-US" i="1" dirty="0" err="1" smtClean="0"/>
              <a:t>yz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dirty="0" smtClean="0"/>
              <a:t>   = </a:t>
            </a:r>
            <a:r>
              <a:rPr lang="en-US" i="1" dirty="0" smtClean="0"/>
              <a:t>xyz </a:t>
            </a:r>
            <a:r>
              <a:rPr lang="en-US" dirty="0" smtClean="0"/>
              <a:t>+</a:t>
            </a:r>
            <a:r>
              <a:rPr lang="en-US" i="1" dirty="0" smtClean="0"/>
              <a:t> xyz’ </a:t>
            </a:r>
            <a:r>
              <a:rPr lang="en-US" dirty="0" smtClean="0"/>
              <a:t>+</a:t>
            </a:r>
            <a:r>
              <a:rPr lang="en-US" i="1" dirty="0" smtClean="0"/>
              <a:t> </a:t>
            </a:r>
            <a:r>
              <a:rPr lang="en-US" i="1" dirty="0" err="1" smtClean="0"/>
              <a:t>xy’z</a:t>
            </a:r>
            <a:r>
              <a:rPr lang="en-US" i="1" dirty="0" smtClean="0"/>
              <a:t> </a:t>
            </a:r>
            <a:r>
              <a:rPr lang="en-US" dirty="0" smtClean="0"/>
              <a:t>+</a:t>
            </a:r>
            <a:r>
              <a:rPr lang="en-US" i="1" dirty="0" smtClean="0"/>
              <a:t> </a:t>
            </a:r>
            <a:r>
              <a:rPr lang="en-US" i="1" dirty="0" err="1" smtClean="0"/>
              <a:t>xy’z</a:t>
            </a:r>
            <a:r>
              <a:rPr lang="en-US" i="1" dirty="0" smtClean="0"/>
              <a:t>’ </a:t>
            </a:r>
            <a:r>
              <a:rPr lang="en-US" dirty="0" smtClean="0"/>
              <a:t>+</a:t>
            </a:r>
            <a:r>
              <a:rPr lang="en-US" i="1" dirty="0" smtClean="0"/>
              <a:t> xyz </a:t>
            </a:r>
            <a:r>
              <a:rPr lang="en-US" dirty="0" smtClean="0"/>
              <a:t>+</a:t>
            </a:r>
            <a:r>
              <a:rPr lang="en-US" i="1" dirty="0" smtClean="0"/>
              <a:t> </a:t>
            </a:r>
            <a:r>
              <a:rPr lang="en-US" i="1" dirty="0" err="1" smtClean="0"/>
              <a:t>x’yz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dirty="0" smtClean="0"/>
              <a:t>   = </a:t>
            </a:r>
            <a:r>
              <a:rPr lang="en-US" i="1" dirty="0" err="1" smtClean="0"/>
              <a:t>x’yz</a:t>
            </a:r>
            <a:r>
              <a:rPr lang="en-US" i="1" dirty="0" smtClean="0"/>
              <a:t> </a:t>
            </a:r>
            <a:r>
              <a:rPr lang="en-US" dirty="0" smtClean="0"/>
              <a:t>+</a:t>
            </a:r>
            <a:r>
              <a:rPr lang="en-US" i="1" dirty="0" smtClean="0"/>
              <a:t> </a:t>
            </a:r>
            <a:r>
              <a:rPr lang="en-US" i="1" dirty="0" err="1" smtClean="0"/>
              <a:t>xy’z</a:t>
            </a:r>
            <a:r>
              <a:rPr lang="en-US" i="1" dirty="0" smtClean="0"/>
              <a:t>’ </a:t>
            </a:r>
            <a:r>
              <a:rPr lang="en-US" dirty="0" smtClean="0"/>
              <a:t>+</a:t>
            </a:r>
            <a:r>
              <a:rPr lang="en-US" i="1" dirty="0" smtClean="0"/>
              <a:t> </a:t>
            </a:r>
            <a:r>
              <a:rPr lang="en-US" i="1" dirty="0" err="1" smtClean="0"/>
              <a:t>xy’z</a:t>
            </a:r>
            <a:r>
              <a:rPr lang="en-US" i="1" dirty="0" smtClean="0"/>
              <a:t> </a:t>
            </a:r>
            <a:r>
              <a:rPr lang="en-US" dirty="0" smtClean="0"/>
              <a:t>+</a:t>
            </a:r>
            <a:r>
              <a:rPr lang="en-US" i="1" dirty="0" smtClean="0"/>
              <a:t> xyz’ </a:t>
            </a:r>
            <a:r>
              <a:rPr lang="en-US" dirty="0" smtClean="0"/>
              <a:t>+</a:t>
            </a:r>
            <a:r>
              <a:rPr lang="en-US" i="1" dirty="0" smtClean="0"/>
              <a:t> xyz</a:t>
            </a:r>
            <a:br>
              <a:rPr lang="en-US" i="1" dirty="0" smtClean="0"/>
            </a:br>
            <a:r>
              <a:rPr lang="en-US" dirty="0" smtClean="0"/>
              <a:t>   = </a:t>
            </a:r>
            <a:r>
              <a:rPr lang="en-US" dirty="0" smtClean="0">
                <a:sym typeface="Symbol" pitchFamily="18" charset="2"/>
              </a:rPr>
              <a:t>(3,4,5,6,7)</a:t>
            </a:r>
          </a:p>
          <a:p>
            <a:pPr>
              <a:buFontTx/>
              <a:buNone/>
            </a:pPr>
            <a:endParaRPr lang="en-US" dirty="0" smtClean="0">
              <a:sym typeface="Symbol" pitchFamily="18" charset="2"/>
            </a:endParaRPr>
          </a:p>
          <a:p>
            <a:r>
              <a:rPr lang="en-US" dirty="0" smtClean="0">
                <a:sym typeface="Symbol" pitchFamily="18" charset="2"/>
              </a:rPr>
              <a:t>Or convert the expression into truth-table and then read the </a:t>
            </a:r>
            <a:r>
              <a:rPr lang="en-US" dirty="0" err="1" smtClean="0">
                <a:sym typeface="Symbol" pitchFamily="18" charset="2"/>
              </a:rPr>
              <a:t>minterms</a:t>
            </a:r>
            <a:r>
              <a:rPr lang="en-US" dirty="0" smtClean="0">
                <a:sym typeface="Symbol" pitchFamily="18" charset="2"/>
              </a:rPr>
              <a:t> from the table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Product of </a:t>
            </a:r>
            <a:r>
              <a:rPr lang="en-US" dirty="0" err="1" smtClean="0"/>
              <a:t>Maxterms</a:t>
            </a:r>
            <a:r>
              <a:rPr lang="en-US" dirty="0" smtClean="0"/>
              <a:t>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pPr>
              <a:buNone/>
            </a:pPr>
            <a:endParaRPr lang="en-US" dirty="0" smtClean="0">
              <a:solidFill>
                <a:srgbClr val="FF0033"/>
              </a:solidFill>
            </a:endParaRPr>
          </a:p>
          <a:p>
            <a:r>
              <a:rPr lang="en-US" dirty="0" smtClean="0"/>
              <a:t>A Boolean function can be expressed algebraically from a given truth table </a:t>
            </a:r>
          </a:p>
          <a:p>
            <a:pPr lvl="1"/>
            <a:r>
              <a:rPr lang="en-US" dirty="0" smtClean="0"/>
              <a:t>by forming a </a:t>
            </a:r>
            <a:r>
              <a:rPr lang="en-US" dirty="0" err="1" smtClean="0"/>
              <a:t>maxterm</a:t>
            </a:r>
            <a:r>
              <a:rPr lang="en-US" dirty="0" smtClean="0"/>
              <a:t> for each combination of the variables that produces a 0 in the function, and</a:t>
            </a:r>
          </a:p>
          <a:p>
            <a:pPr lvl="1"/>
            <a:r>
              <a:rPr lang="en-US" dirty="0" smtClean="0"/>
              <a:t>then taking the AND of all those </a:t>
            </a:r>
            <a:r>
              <a:rPr lang="en-US" dirty="0" err="1" smtClean="0"/>
              <a:t>maxterms</a:t>
            </a:r>
            <a:r>
              <a:rPr lang="en-US" dirty="0" smtClean="0"/>
              <a:t>.</a:t>
            </a:r>
            <a:endParaRPr lang="en-US" dirty="0" smtClean="0">
              <a:solidFill>
                <a:srgbClr val="FF0033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Product of </a:t>
            </a:r>
            <a:r>
              <a:rPr lang="en-US" dirty="0" err="1" smtClean="0"/>
              <a:t>Maxterms</a:t>
            </a:r>
            <a:r>
              <a:rPr lang="en-US" dirty="0" smtClean="0"/>
              <a:t> 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 dirty="0" smtClean="0"/>
          </a:p>
          <a:p>
            <a:endParaRPr lang="en-US" dirty="0" smtClean="0"/>
          </a:p>
          <a:p>
            <a:endParaRPr lang="en-US" dirty="0" smtClean="0"/>
          </a:p>
          <a:p>
            <a:endParaRPr lang="en-US" dirty="0" smtClean="0"/>
          </a:p>
          <a:p>
            <a:endParaRPr lang="en-US" dirty="0" smtClean="0"/>
          </a:p>
          <a:p>
            <a:endParaRPr lang="en-US" dirty="0" smtClean="0"/>
          </a:p>
          <a:p>
            <a:endParaRPr lang="en-US" dirty="0" smtClean="0"/>
          </a:p>
          <a:p>
            <a:r>
              <a:rPr lang="pl-PL" i="1" dirty="0" smtClean="0"/>
              <a:t>F</a:t>
            </a:r>
            <a:r>
              <a:rPr lang="pl-PL" baseline="-25000" dirty="0" smtClean="0"/>
              <a:t>1</a:t>
            </a:r>
            <a:r>
              <a:rPr lang="pl-PL" dirty="0" smtClean="0"/>
              <a:t>(</a:t>
            </a:r>
            <a:r>
              <a:rPr lang="pl-PL" i="1" dirty="0" smtClean="0"/>
              <a:t>x</a:t>
            </a:r>
            <a:r>
              <a:rPr lang="pl-PL" dirty="0" smtClean="0"/>
              <a:t>,</a:t>
            </a:r>
            <a:r>
              <a:rPr lang="pl-PL" i="1" dirty="0" smtClean="0"/>
              <a:t> y</a:t>
            </a:r>
            <a:r>
              <a:rPr lang="pl-PL" dirty="0" smtClean="0"/>
              <a:t>,</a:t>
            </a:r>
            <a:r>
              <a:rPr lang="pl-PL" i="1" dirty="0" smtClean="0"/>
              <a:t> z</a:t>
            </a:r>
            <a:r>
              <a:rPr lang="pl-PL" dirty="0" smtClean="0"/>
              <a:t>)</a:t>
            </a:r>
            <a:r>
              <a:rPr lang="pl-PL" i="1" dirty="0" smtClean="0"/>
              <a:t> </a:t>
            </a:r>
            <a:r>
              <a:rPr lang="pl-PL" dirty="0" smtClean="0"/>
              <a:t>=</a:t>
            </a:r>
            <a:r>
              <a:rPr lang="pl-PL" i="1" dirty="0" smtClean="0"/>
              <a:t> </a:t>
            </a:r>
            <a:r>
              <a:rPr lang="en-US" dirty="0" smtClean="0">
                <a:sym typeface="WP Greek Century" pitchFamily="2" charset="2"/>
              </a:rPr>
              <a:t>∏</a:t>
            </a:r>
            <a:r>
              <a:rPr lang="pl-PL" dirty="0" smtClean="0"/>
              <a:t>(0,2,3)</a:t>
            </a:r>
            <a:r>
              <a:rPr lang="pl-PL" i="1" dirty="0" smtClean="0"/>
              <a:t> = M</a:t>
            </a:r>
            <a:r>
              <a:rPr lang="pl-PL" baseline="-25000" dirty="0" smtClean="0"/>
              <a:t>0</a:t>
            </a:r>
            <a:r>
              <a:rPr lang="pl-PL" i="1" dirty="0" smtClean="0"/>
              <a:t> ×M</a:t>
            </a:r>
            <a:r>
              <a:rPr lang="pl-PL" baseline="-25000" dirty="0" smtClean="0"/>
              <a:t>2</a:t>
            </a:r>
            <a:r>
              <a:rPr lang="pl-PL" i="1" dirty="0" smtClean="0"/>
              <a:t> ×M</a:t>
            </a:r>
            <a:r>
              <a:rPr lang="pl-PL" baseline="-25000" dirty="0" smtClean="0"/>
              <a:t>3</a:t>
            </a:r>
            <a:endParaRPr lang="en-US" baseline="-25000" dirty="0" smtClean="0"/>
          </a:p>
          <a:p>
            <a:pPr>
              <a:buNone/>
            </a:pPr>
            <a:r>
              <a:rPr lang="en-US" i="1" dirty="0" smtClean="0"/>
              <a:t>		         </a:t>
            </a:r>
            <a:r>
              <a:rPr lang="pl-PL" dirty="0" smtClean="0"/>
              <a:t>= (</a:t>
            </a:r>
            <a:r>
              <a:rPr lang="pl-PL" i="1" dirty="0" smtClean="0"/>
              <a:t>x </a:t>
            </a:r>
            <a:r>
              <a:rPr lang="pl-PL" dirty="0" smtClean="0"/>
              <a:t>+</a:t>
            </a:r>
            <a:r>
              <a:rPr lang="pl-PL" i="1" dirty="0" smtClean="0"/>
              <a:t> y </a:t>
            </a:r>
            <a:r>
              <a:rPr lang="pl-PL" dirty="0" smtClean="0"/>
              <a:t>+</a:t>
            </a:r>
            <a:r>
              <a:rPr lang="pl-PL" i="1" dirty="0" smtClean="0"/>
              <a:t> z</a:t>
            </a:r>
            <a:r>
              <a:rPr lang="pl-PL" dirty="0" smtClean="0"/>
              <a:t>)(</a:t>
            </a:r>
            <a:r>
              <a:rPr lang="pl-PL" i="1" dirty="0" smtClean="0"/>
              <a:t>x </a:t>
            </a:r>
            <a:r>
              <a:rPr lang="pl-PL" dirty="0" smtClean="0"/>
              <a:t>+</a:t>
            </a:r>
            <a:r>
              <a:rPr lang="pl-PL" i="1" dirty="0" smtClean="0"/>
              <a:t> y'</a:t>
            </a:r>
            <a:r>
              <a:rPr lang="pl-PL" dirty="0" smtClean="0"/>
              <a:t>+</a:t>
            </a:r>
            <a:r>
              <a:rPr lang="pl-PL" i="1" dirty="0" smtClean="0"/>
              <a:t>z</a:t>
            </a:r>
            <a:r>
              <a:rPr lang="pl-PL" dirty="0" smtClean="0"/>
              <a:t>)(</a:t>
            </a:r>
            <a:r>
              <a:rPr lang="pl-PL" i="1" dirty="0" smtClean="0"/>
              <a:t>x </a:t>
            </a:r>
            <a:r>
              <a:rPr lang="pl-PL" dirty="0" smtClean="0"/>
              <a:t>+</a:t>
            </a:r>
            <a:r>
              <a:rPr lang="pl-PL" i="1" dirty="0" smtClean="0"/>
              <a:t> y'</a:t>
            </a:r>
            <a:r>
              <a:rPr lang="pl-PL" dirty="0" smtClean="0"/>
              <a:t>+</a:t>
            </a:r>
            <a:r>
              <a:rPr lang="pl-PL" i="1" dirty="0" smtClean="0"/>
              <a:t>z'</a:t>
            </a:r>
            <a:r>
              <a:rPr lang="pl-PL" dirty="0" smtClean="0"/>
              <a:t>)</a:t>
            </a:r>
            <a:endParaRPr lang="en-US" dirty="0" smtClean="0"/>
          </a:p>
          <a:p>
            <a:endParaRPr lang="en-US" dirty="0"/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1510098"/>
            <a:ext cx="4953000" cy="32143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Product of </a:t>
            </a:r>
            <a:r>
              <a:rPr lang="en-US" dirty="0" err="1" smtClean="0"/>
              <a:t>Maxterms</a:t>
            </a:r>
            <a:r>
              <a:rPr lang="en-US" dirty="0" smtClean="0"/>
              <a:t>: Example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1"/>
          </p:nvPr>
        </p:nvSpPr>
        <p:spPr/>
        <p:txBody>
          <a:bodyPr>
            <a:normAutofit lnSpcReduction="10000"/>
          </a:bodyPr>
          <a:lstStyle/>
          <a:p>
            <a:r>
              <a:rPr lang="en-US" i="1" dirty="0" smtClean="0"/>
              <a:t>F</a:t>
            </a:r>
            <a:r>
              <a:rPr lang="en-US" dirty="0" smtClean="0"/>
              <a:t> = </a:t>
            </a:r>
            <a:r>
              <a:rPr lang="en-US" i="1" dirty="0" err="1" smtClean="0"/>
              <a:t>xy</a:t>
            </a:r>
            <a:r>
              <a:rPr lang="en-US" dirty="0" smtClean="0"/>
              <a:t> + </a:t>
            </a:r>
            <a:r>
              <a:rPr lang="en-US" i="1" dirty="0" err="1" smtClean="0"/>
              <a:t>x’z</a:t>
            </a:r>
            <a:r>
              <a:rPr lang="en-US" i="1" dirty="0" smtClean="0"/>
              <a:t>  </a:t>
            </a:r>
            <a:r>
              <a:rPr lang="en-US" dirty="0" smtClean="0"/>
              <a:t>= (</a:t>
            </a:r>
            <a:r>
              <a:rPr lang="en-US" i="1" dirty="0" err="1" smtClean="0"/>
              <a:t>xy</a:t>
            </a:r>
            <a:r>
              <a:rPr lang="en-US" dirty="0" err="1" smtClean="0"/>
              <a:t>+</a:t>
            </a:r>
            <a:r>
              <a:rPr lang="en-US" i="1" dirty="0" err="1" smtClean="0"/>
              <a:t>x</a:t>
            </a:r>
            <a:r>
              <a:rPr lang="en-US" i="1" dirty="0" smtClean="0"/>
              <a:t>’</a:t>
            </a:r>
            <a:r>
              <a:rPr lang="en-US" dirty="0" smtClean="0"/>
              <a:t>)(</a:t>
            </a:r>
            <a:r>
              <a:rPr lang="en-US" i="1" dirty="0" err="1" smtClean="0"/>
              <a:t>xy</a:t>
            </a:r>
            <a:r>
              <a:rPr lang="en-US" dirty="0" err="1" smtClean="0"/>
              <a:t>+</a:t>
            </a:r>
            <a:r>
              <a:rPr lang="en-US" i="1" dirty="0" err="1" smtClean="0"/>
              <a:t>z</a:t>
            </a:r>
            <a:r>
              <a:rPr lang="en-US" dirty="0" smtClean="0"/>
              <a:t>) </a:t>
            </a:r>
          </a:p>
          <a:p>
            <a:pPr lvl="1">
              <a:buNone/>
            </a:pPr>
            <a:r>
              <a:rPr lang="en-US" dirty="0" smtClean="0"/>
              <a:t>  = (</a:t>
            </a:r>
            <a:r>
              <a:rPr lang="en-US" i="1" dirty="0" err="1" smtClean="0"/>
              <a:t>x</a:t>
            </a:r>
            <a:r>
              <a:rPr lang="en-US" dirty="0" err="1" smtClean="0"/>
              <a:t>+</a:t>
            </a:r>
            <a:r>
              <a:rPr lang="en-US" i="1" dirty="0" err="1" smtClean="0"/>
              <a:t>x</a:t>
            </a:r>
            <a:r>
              <a:rPr lang="en-US" i="1" dirty="0" smtClean="0"/>
              <a:t>’</a:t>
            </a:r>
            <a:r>
              <a:rPr lang="en-US" dirty="0" smtClean="0"/>
              <a:t>)(</a:t>
            </a:r>
            <a:r>
              <a:rPr lang="en-US" i="1" dirty="0" err="1" smtClean="0"/>
              <a:t>y</a:t>
            </a:r>
            <a:r>
              <a:rPr lang="en-US" dirty="0" err="1" smtClean="0"/>
              <a:t>+</a:t>
            </a:r>
            <a:r>
              <a:rPr lang="en-US" i="1" dirty="0" err="1" smtClean="0"/>
              <a:t>x</a:t>
            </a:r>
            <a:r>
              <a:rPr lang="en-US" i="1" dirty="0" smtClean="0"/>
              <a:t>’</a:t>
            </a:r>
            <a:r>
              <a:rPr lang="en-US" dirty="0" smtClean="0"/>
              <a:t>)(</a:t>
            </a:r>
            <a:r>
              <a:rPr lang="en-US" i="1" dirty="0" err="1" smtClean="0"/>
              <a:t>x</a:t>
            </a:r>
            <a:r>
              <a:rPr lang="en-US" dirty="0" err="1" smtClean="0"/>
              <a:t>+</a:t>
            </a:r>
            <a:r>
              <a:rPr lang="en-US" i="1" dirty="0" err="1" smtClean="0"/>
              <a:t>z</a:t>
            </a:r>
            <a:r>
              <a:rPr lang="en-US" dirty="0" smtClean="0"/>
              <a:t>)(</a:t>
            </a:r>
            <a:r>
              <a:rPr lang="en-US" i="1" dirty="0" err="1" smtClean="0"/>
              <a:t>y</a:t>
            </a:r>
            <a:r>
              <a:rPr lang="en-US" dirty="0" err="1" smtClean="0"/>
              <a:t>+</a:t>
            </a:r>
            <a:r>
              <a:rPr lang="en-US" i="1" dirty="0" err="1" smtClean="0"/>
              <a:t>z</a:t>
            </a:r>
            <a:r>
              <a:rPr lang="en-US" dirty="0" smtClean="0"/>
              <a:t>) = (</a:t>
            </a:r>
            <a:r>
              <a:rPr lang="en-US" i="1" dirty="0" err="1" smtClean="0"/>
              <a:t>x’</a:t>
            </a:r>
            <a:r>
              <a:rPr lang="en-US" dirty="0" err="1" smtClean="0"/>
              <a:t>+</a:t>
            </a:r>
            <a:r>
              <a:rPr lang="en-US" i="1" dirty="0" err="1" smtClean="0"/>
              <a:t>y</a:t>
            </a:r>
            <a:r>
              <a:rPr lang="en-US" dirty="0" smtClean="0"/>
              <a:t>)(</a:t>
            </a:r>
            <a:r>
              <a:rPr lang="en-US" i="1" dirty="0" err="1" smtClean="0"/>
              <a:t>x</a:t>
            </a:r>
            <a:r>
              <a:rPr lang="en-US" dirty="0" err="1" smtClean="0"/>
              <a:t>+</a:t>
            </a:r>
            <a:r>
              <a:rPr lang="en-US" i="1" dirty="0" err="1" smtClean="0"/>
              <a:t>z</a:t>
            </a:r>
            <a:r>
              <a:rPr lang="en-US" dirty="0" smtClean="0"/>
              <a:t>)(</a:t>
            </a:r>
            <a:r>
              <a:rPr lang="en-US" i="1" dirty="0" err="1" smtClean="0"/>
              <a:t>y</a:t>
            </a:r>
            <a:r>
              <a:rPr lang="en-US" dirty="0" err="1" smtClean="0"/>
              <a:t>+</a:t>
            </a:r>
            <a:r>
              <a:rPr lang="en-US" i="1" dirty="0" err="1" smtClean="0"/>
              <a:t>z</a:t>
            </a:r>
            <a:r>
              <a:rPr lang="en-US" dirty="0" smtClean="0"/>
              <a:t>)</a:t>
            </a:r>
          </a:p>
          <a:p>
            <a:pPr lvl="1">
              <a:buNone/>
            </a:pPr>
            <a:endParaRPr lang="en-US" i="1" dirty="0" smtClean="0"/>
          </a:p>
          <a:p>
            <a:pPr lvl="1">
              <a:buNone/>
            </a:pPr>
            <a:r>
              <a:rPr lang="en-US" i="1" dirty="0" err="1" smtClean="0"/>
              <a:t>x’</a:t>
            </a:r>
            <a:r>
              <a:rPr lang="en-US" dirty="0" err="1" smtClean="0"/>
              <a:t>+</a:t>
            </a:r>
            <a:r>
              <a:rPr lang="en-US" i="1" dirty="0" err="1" smtClean="0"/>
              <a:t>y</a:t>
            </a:r>
            <a:r>
              <a:rPr lang="en-US" i="1" dirty="0" smtClean="0"/>
              <a:t> </a:t>
            </a:r>
            <a:r>
              <a:rPr lang="en-US" dirty="0" smtClean="0"/>
              <a:t>= </a:t>
            </a:r>
            <a:r>
              <a:rPr lang="en-US" i="1" dirty="0" smtClean="0"/>
              <a:t>x’</a:t>
            </a:r>
            <a:r>
              <a:rPr lang="en-US" dirty="0" smtClean="0"/>
              <a:t>+</a:t>
            </a:r>
            <a:r>
              <a:rPr lang="en-US" i="1" dirty="0" err="1" smtClean="0"/>
              <a:t>y</a:t>
            </a:r>
            <a:r>
              <a:rPr lang="en-US" dirty="0" err="1" smtClean="0"/>
              <a:t>+</a:t>
            </a:r>
            <a:r>
              <a:rPr lang="en-US" i="1" dirty="0" err="1" smtClean="0"/>
              <a:t>zz</a:t>
            </a:r>
            <a:r>
              <a:rPr lang="en-US" i="1" dirty="0" smtClean="0"/>
              <a:t>’ </a:t>
            </a:r>
            <a:r>
              <a:rPr lang="en-US" dirty="0" smtClean="0"/>
              <a:t>=</a:t>
            </a:r>
            <a:r>
              <a:rPr lang="en-US" i="1" dirty="0" smtClean="0"/>
              <a:t> </a:t>
            </a:r>
            <a:r>
              <a:rPr lang="en-US" dirty="0" smtClean="0"/>
              <a:t>(</a:t>
            </a:r>
            <a:r>
              <a:rPr lang="en-US" i="1" dirty="0" smtClean="0"/>
              <a:t>x’</a:t>
            </a:r>
            <a:r>
              <a:rPr lang="en-US" dirty="0" smtClean="0"/>
              <a:t>+</a:t>
            </a:r>
            <a:r>
              <a:rPr lang="en-US" i="1" dirty="0" err="1" smtClean="0"/>
              <a:t>y</a:t>
            </a:r>
            <a:r>
              <a:rPr lang="en-US" dirty="0" err="1" smtClean="0"/>
              <a:t>+</a:t>
            </a:r>
            <a:r>
              <a:rPr lang="en-US" i="1" dirty="0" err="1" smtClean="0"/>
              <a:t>z</a:t>
            </a:r>
            <a:r>
              <a:rPr lang="en-US" dirty="0" smtClean="0"/>
              <a:t>)(</a:t>
            </a:r>
            <a:r>
              <a:rPr lang="en-US" i="1" dirty="0" smtClean="0"/>
              <a:t>x’</a:t>
            </a:r>
            <a:r>
              <a:rPr lang="en-US" dirty="0" smtClean="0"/>
              <a:t>+</a:t>
            </a:r>
            <a:r>
              <a:rPr lang="en-US" i="1" dirty="0" err="1" smtClean="0"/>
              <a:t>y</a:t>
            </a:r>
            <a:r>
              <a:rPr lang="en-US" dirty="0" err="1" smtClean="0"/>
              <a:t>+</a:t>
            </a:r>
            <a:r>
              <a:rPr lang="en-US" i="1" dirty="0" err="1" smtClean="0"/>
              <a:t>z</a:t>
            </a:r>
            <a:r>
              <a:rPr lang="en-US" i="1" dirty="0" smtClean="0"/>
              <a:t>’</a:t>
            </a:r>
            <a:r>
              <a:rPr lang="en-US" dirty="0" smtClean="0"/>
              <a:t>)        </a:t>
            </a:r>
            <a:r>
              <a:rPr lang="en-US" b="1" dirty="0" err="1" smtClean="0">
                <a:solidFill>
                  <a:srgbClr val="FF0000"/>
                </a:solidFill>
              </a:rPr>
              <a:t>x+yz</a:t>
            </a:r>
            <a:r>
              <a:rPr lang="en-US" b="1" dirty="0" smtClean="0">
                <a:solidFill>
                  <a:srgbClr val="FF0000"/>
                </a:solidFill>
              </a:rPr>
              <a:t> = (</a:t>
            </a:r>
            <a:r>
              <a:rPr lang="en-US" b="1" dirty="0" err="1" smtClean="0">
                <a:solidFill>
                  <a:srgbClr val="FF0000"/>
                </a:solidFill>
              </a:rPr>
              <a:t>x+y</a:t>
            </a:r>
            <a:r>
              <a:rPr lang="en-US" b="1" dirty="0" smtClean="0">
                <a:solidFill>
                  <a:srgbClr val="FF0000"/>
                </a:solidFill>
              </a:rPr>
              <a:t>)</a:t>
            </a:r>
            <a:endParaRPr lang="en-US" b="1" dirty="0" smtClean="0">
              <a:solidFill>
                <a:srgbClr val="FF0000"/>
              </a:solidFill>
            </a:endParaRPr>
          </a:p>
          <a:p>
            <a:pPr lvl="1">
              <a:buNone/>
            </a:pPr>
            <a:r>
              <a:rPr lang="en-US" i="1" dirty="0" err="1" smtClean="0"/>
              <a:t>x</a:t>
            </a:r>
            <a:r>
              <a:rPr lang="en-US" dirty="0" err="1" smtClean="0"/>
              <a:t>+</a:t>
            </a:r>
            <a:r>
              <a:rPr lang="en-US" i="1" dirty="0" err="1" smtClean="0"/>
              <a:t>z</a:t>
            </a:r>
            <a:r>
              <a:rPr lang="en-US" i="1" dirty="0" smtClean="0"/>
              <a:t>  </a:t>
            </a:r>
            <a:r>
              <a:rPr lang="en-US" dirty="0" smtClean="0"/>
              <a:t>=</a:t>
            </a:r>
            <a:r>
              <a:rPr lang="en-US" i="1" dirty="0" smtClean="0"/>
              <a:t> </a:t>
            </a:r>
            <a:r>
              <a:rPr lang="en-US" i="1" dirty="0" err="1" smtClean="0"/>
              <a:t>x</a:t>
            </a:r>
            <a:r>
              <a:rPr lang="en-US" dirty="0" err="1" smtClean="0"/>
              <a:t>+</a:t>
            </a:r>
            <a:r>
              <a:rPr lang="en-US" i="1" dirty="0" err="1" smtClean="0"/>
              <a:t>z+yy</a:t>
            </a:r>
            <a:r>
              <a:rPr lang="en-US" i="1" dirty="0" smtClean="0"/>
              <a:t>’  </a:t>
            </a:r>
            <a:r>
              <a:rPr lang="en-US" dirty="0" smtClean="0"/>
              <a:t>= (</a:t>
            </a:r>
            <a:r>
              <a:rPr lang="en-US" i="1" dirty="0" err="1" smtClean="0"/>
              <a:t>x</a:t>
            </a:r>
            <a:r>
              <a:rPr lang="en-US" dirty="0" err="1" smtClean="0"/>
              <a:t>+</a:t>
            </a:r>
            <a:r>
              <a:rPr lang="en-US" i="1" dirty="0" err="1" smtClean="0"/>
              <a:t>y</a:t>
            </a:r>
            <a:r>
              <a:rPr lang="en-US" dirty="0" err="1" smtClean="0"/>
              <a:t>+</a:t>
            </a:r>
            <a:r>
              <a:rPr lang="en-US" i="1" dirty="0" err="1" smtClean="0"/>
              <a:t>z</a:t>
            </a:r>
            <a:r>
              <a:rPr lang="en-US" dirty="0" smtClean="0"/>
              <a:t>)(</a:t>
            </a:r>
            <a:r>
              <a:rPr lang="en-US" i="1" dirty="0" err="1" smtClean="0"/>
              <a:t>x</a:t>
            </a:r>
            <a:r>
              <a:rPr lang="en-US" dirty="0" err="1" smtClean="0"/>
              <a:t>+</a:t>
            </a:r>
            <a:r>
              <a:rPr lang="en-US" i="1" dirty="0" err="1" smtClean="0"/>
              <a:t>y</a:t>
            </a:r>
            <a:r>
              <a:rPr lang="en-US" i="1" dirty="0" smtClean="0"/>
              <a:t>’</a:t>
            </a:r>
            <a:r>
              <a:rPr lang="en-US" dirty="0" smtClean="0"/>
              <a:t>+</a:t>
            </a:r>
            <a:r>
              <a:rPr lang="en-US" i="1" dirty="0" smtClean="0"/>
              <a:t>z</a:t>
            </a:r>
            <a:r>
              <a:rPr lang="en-US" dirty="0" smtClean="0"/>
              <a:t>)                     </a:t>
            </a:r>
            <a:r>
              <a:rPr lang="en-US" b="1" dirty="0" smtClean="0">
                <a:solidFill>
                  <a:srgbClr val="FF0000"/>
                </a:solidFill>
              </a:rPr>
              <a:t>(</a:t>
            </a:r>
            <a:r>
              <a:rPr lang="en-US" b="1" dirty="0" err="1" smtClean="0">
                <a:solidFill>
                  <a:srgbClr val="FF0000"/>
                </a:solidFill>
              </a:rPr>
              <a:t>x+z</a:t>
            </a:r>
            <a:r>
              <a:rPr lang="en-US" b="1" dirty="0" smtClean="0">
                <a:solidFill>
                  <a:srgbClr val="FF0000"/>
                </a:solidFill>
              </a:rPr>
              <a:t>)</a:t>
            </a:r>
            <a:endParaRPr lang="en-US" b="1" dirty="0" smtClean="0">
              <a:solidFill>
                <a:srgbClr val="FF0000"/>
              </a:solidFill>
            </a:endParaRPr>
          </a:p>
          <a:p>
            <a:pPr lvl="1">
              <a:buNone/>
            </a:pPr>
            <a:r>
              <a:rPr lang="en-US" i="1" dirty="0" err="1" smtClean="0"/>
              <a:t>y</a:t>
            </a:r>
            <a:r>
              <a:rPr lang="en-US" dirty="0" err="1" smtClean="0"/>
              <a:t>+</a:t>
            </a:r>
            <a:r>
              <a:rPr lang="en-US" i="1" dirty="0" err="1" smtClean="0"/>
              <a:t>z</a:t>
            </a:r>
            <a:r>
              <a:rPr lang="en-US" i="1" dirty="0" smtClean="0"/>
              <a:t>  = </a:t>
            </a:r>
            <a:r>
              <a:rPr lang="en-US" i="1" dirty="0" err="1" smtClean="0"/>
              <a:t>y</a:t>
            </a:r>
            <a:r>
              <a:rPr lang="en-US" dirty="0" err="1" smtClean="0"/>
              <a:t>+</a:t>
            </a:r>
            <a:r>
              <a:rPr lang="en-US" i="1" dirty="0" err="1" smtClean="0"/>
              <a:t>z</a:t>
            </a:r>
            <a:r>
              <a:rPr lang="en-US" dirty="0" err="1" smtClean="0"/>
              <a:t>+</a:t>
            </a:r>
            <a:r>
              <a:rPr lang="en-US" i="1" dirty="0" err="1" smtClean="0"/>
              <a:t>xx</a:t>
            </a:r>
            <a:r>
              <a:rPr lang="en-US" i="1" dirty="0" smtClean="0"/>
              <a:t> ’ </a:t>
            </a:r>
            <a:r>
              <a:rPr lang="en-US" dirty="0" smtClean="0"/>
              <a:t>= (</a:t>
            </a:r>
            <a:r>
              <a:rPr lang="en-US" dirty="0" err="1" smtClean="0"/>
              <a:t>x+y+z</a:t>
            </a:r>
            <a:r>
              <a:rPr lang="en-US" dirty="0" smtClean="0"/>
              <a:t>)(</a:t>
            </a:r>
            <a:r>
              <a:rPr lang="en-US" i="1" dirty="0" smtClean="0"/>
              <a:t>x ’</a:t>
            </a:r>
            <a:r>
              <a:rPr lang="en-US" dirty="0" smtClean="0"/>
              <a:t>+</a:t>
            </a:r>
            <a:r>
              <a:rPr lang="en-US" i="1" dirty="0" err="1" smtClean="0"/>
              <a:t>y</a:t>
            </a:r>
            <a:r>
              <a:rPr lang="en-US" dirty="0" err="1" smtClean="0"/>
              <a:t>+</a:t>
            </a:r>
            <a:r>
              <a:rPr lang="en-US" i="1" dirty="0" err="1" smtClean="0"/>
              <a:t>z</a:t>
            </a:r>
            <a:r>
              <a:rPr lang="en-US" dirty="0" smtClean="0"/>
              <a:t>)</a:t>
            </a:r>
          </a:p>
          <a:p>
            <a:pPr lvl="1">
              <a:buNone/>
            </a:pPr>
            <a:endParaRPr lang="en-US" i="1" dirty="0" smtClean="0"/>
          </a:p>
          <a:p>
            <a:pPr lvl="1">
              <a:buNone/>
            </a:pPr>
            <a:r>
              <a:rPr lang="en-US" i="1" dirty="0" smtClean="0"/>
              <a:t>F</a:t>
            </a:r>
            <a:r>
              <a:rPr lang="en-US" dirty="0" smtClean="0"/>
              <a:t> =(</a:t>
            </a:r>
            <a:r>
              <a:rPr lang="en-US" dirty="0" err="1" smtClean="0"/>
              <a:t>x+y+z</a:t>
            </a:r>
            <a:r>
              <a:rPr lang="en-US" dirty="0" smtClean="0"/>
              <a:t>)(</a:t>
            </a:r>
            <a:r>
              <a:rPr lang="en-US" i="1" dirty="0" err="1" smtClean="0"/>
              <a:t>x</a:t>
            </a:r>
            <a:r>
              <a:rPr lang="en-US" dirty="0" err="1" smtClean="0"/>
              <a:t>+</a:t>
            </a:r>
            <a:r>
              <a:rPr lang="en-US" i="1" dirty="0" err="1" smtClean="0"/>
              <a:t>y’</a:t>
            </a:r>
            <a:r>
              <a:rPr lang="en-US" dirty="0" err="1" smtClean="0"/>
              <a:t>+</a:t>
            </a:r>
            <a:r>
              <a:rPr lang="en-US" i="1" dirty="0" err="1" smtClean="0"/>
              <a:t>z</a:t>
            </a:r>
            <a:r>
              <a:rPr lang="en-US" dirty="0" smtClean="0"/>
              <a:t>)(</a:t>
            </a:r>
            <a:r>
              <a:rPr lang="en-US" i="1" dirty="0" err="1" smtClean="0"/>
              <a:t>x’</a:t>
            </a:r>
            <a:r>
              <a:rPr lang="en-US" dirty="0" err="1" smtClean="0"/>
              <a:t>+</a:t>
            </a:r>
            <a:r>
              <a:rPr lang="en-US" i="1" dirty="0" err="1" smtClean="0"/>
              <a:t>y</a:t>
            </a:r>
            <a:r>
              <a:rPr lang="en-US" dirty="0" err="1" smtClean="0"/>
              <a:t>+</a:t>
            </a:r>
            <a:r>
              <a:rPr lang="en-US" i="1" dirty="0" err="1" smtClean="0"/>
              <a:t>z</a:t>
            </a:r>
            <a:r>
              <a:rPr lang="en-US" dirty="0" smtClean="0"/>
              <a:t>)(</a:t>
            </a:r>
            <a:r>
              <a:rPr lang="en-US" i="1" dirty="0" err="1" smtClean="0"/>
              <a:t>x’</a:t>
            </a:r>
            <a:r>
              <a:rPr lang="en-US" dirty="0" err="1" smtClean="0"/>
              <a:t>+</a:t>
            </a:r>
            <a:r>
              <a:rPr lang="en-US" i="1" dirty="0" err="1" smtClean="0"/>
              <a:t>y</a:t>
            </a:r>
            <a:r>
              <a:rPr lang="en-US" dirty="0" err="1" smtClean="0"/>
              <a:t>+</a:t>
            </a:r>
            <a:r>
              <a:rPr lang="en-US" i="1" dirty="0" err="1" smtClean="0"/>
              <a:t>z</a:t>
            </a:r>
            <a:r>
              <a:rPr lang="en-US" i="1" dirty="0" smtClean="0"/>
              <a:t>’</a:t>
            </a:r>
            <a:r>
              <a:rPr lang="en-US" dirty="0" smtClean="0"/>
              <a:t>) </a:t>
            </a:r>
          </a:p>
          <a:p>
            <a:pPr lvl="2">
              <a:buNone/>
            </a:pPr>
            <a:r>
              <a:rPr lang="en-US" dirty="0" smtClean="0"/>
              <a:t> =</a:t>
            </a:r>
            <a:r>
              <a:rPr lang="en-US" i="1" dirty="0" smtClean="0"/>
              <a:t>M</a:t>
            </a:r>
            <a:r>
              <a:rPr lang="en-US" baseline="-25000" dirty="0" smtClean="0"/>
              <a:t>0</a:t>
            </a:r>
            <a:r>
              <a:rPr lang="en-US" i="1" dirty="0" smtClean="0"/>
              <a:t>M</a:t>
            </a:r>
            <a:r>
              <a:rPr lang="en-US" baseline="-25000" dirty="0" smtClean="0"/>
              <a:t>2</a:t>
            </a:r>
            <a:r>
              <a:rPr lang="en-US" i="1" dirty="0" smtClean="0"/>
              <a:t>M</a:t>
            </a:r>
            <a:r>
              <a:rPr lang="en-US" baseline="-25000" dirty="0" smtClean="0"/>
              <a:t>4</a:t>
            </a:r>
            <a:r>
              <a:rPr lang="en-US" i="1" dirty="0" smtClean="0"/>
              <a:t>M</a:t>
            </a:r>
            <a:r>
              <a:rPr lang="en-US" baseline="-25000" dirty="0" smtClean="0"/>
              <a:t>5</a:t>
            </a:r>
            <a:r>
              <a:rPr lang="en-US" dirty="0" smtClean="0"/>
              <a:t>= </a:t>
            </a:r>
            <a:r>
              <a:rPr lang="en-US" dirty="0" smtClean="0">
                <a:sym typeface="WP Greek Century" pitchFamily="2" charset="2"/>
              </a:rPr>
              <a:t>∏(0, 2, 4,5)</a:t>
            </a:r>
          </a:p>
          <a:p>
            <a:pPr lvl="2">
              <a:buNone/>
            </a:pPr>
            <a:endParaRPr lang="en-US" dirty="0" smtClean="0"/>
          </a:p>
          <a:p>
            <a:r>
              <a:rPr lang="en-US" dirty="0" smtClean="0">
                <a:sym typeface="Symbol" pitchFamily="18" charset="2"/>
              </a:rPr>
              <a:t>Or convert the expression into truth-table and then read the </a:t>
            </a:r>
            <a:r>
              <a:rPr lang="en-US" dirty="0" err="1" smtClean="0">
                <a:sym typeface="Symbol" pitchFamily="18" charset="2"/>
              </a:rPr>
              <a:t>maxterms</a:t>
            </a:r>
            <a:r>
              <a:rPr lang="en-US" dirty="0" smtClean="0">
                <a:sym typeface="Symbol" pitchFamily="18" charset="2"/>
              </a:rPr>
              <a:t> from the table</a:t>
            </a:r>
          </a:p>
          <a:p>
            <a:pPr>
              <a:buNone/>
            </a:pPr>
            <a:endParaRPr lang="en-US" dirty="0" smtClean="0"/>
          </a:p>
          <a:p>
            <a:pPr>
              <a:buNone/>
            </a:pPr>
            <a:endParaRPr lang="en-US" baseline="30000" dirty="0" smtClean="0"/>
          </a:p>
          <a:p>
            <a:endParaRPr lang="en-US" dirty="0" smtClean="0"/>
          </a:p>
          <a:p>
            <a:pPr lvl="1">
              <a:buNone/>
            </a:pPr>
            <a:endParaRPr lang="en-US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Conversion between Canonical Forms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Conversion between </a:t>
            </a:r>
            <a:r>
              <a:rPr lang="en-US" dirty="0" err="1" smtClean="0"/>
              <a:t>minterms</a:t>
            </a:r>
            <a:r>
              <a:rPr lang="en-US" dirty="0" smtClean="0"/>
              <a:t> and </a:t>
            </a:r>
            <a:r>
              <a:rPr lang="en-US" dirty="0" err="1" smtClean="0"/>
              <a:t>maxterms</a:t>
            </a:r>
            <a:endParaRPr lang="en-US" dirty="0" smtClean="0"/>
          </a:p>
          <a:p>
            <a:pPr>
              <a:buNone/>
            </a:pPr>
            <a:r>
              <a:rPr lang="en-US" dirty="0" smtClean="0"/>
              <a:t>	     </a:t>
            </a:r>
            <a:r>
              <a:rPr lang="en-US" i="1" dirty="0" smtClean="0"/>
              <a:t>m</a:t>
            </a:r>
            <a:r>
              <a:rPr lang="en-US" baseline="-25000" dirty="0" smtClean="0"/>
              <a:t>0</a:t>
            </a:r>
            <a:r>
              <a:rPr lang="en-US" dirty="0" smtClean="0"/>
              <a:t> = </a:t>
            </a:r>
            <a:r>
              <a:rPr lang="en-US" i="1" dirty="0" err="1" smtClean="0"/>
              <a:t>x’y’z</a:t>
            </a:r>
            <a:r>
              <a:rPr lang="en-US" i="1" dirty="0" smtClean="0"/>
              <a:t>’</a:t>
            </a:r>
            <a:r>
              <a:rPr lang="en-US" dirty="0" smtClean="0"/>
              <a:t> = (</a:t>
            </a:r>
            <a:r>
              <a:rPr lang="en-US" i="1" dirty="0" err="1" smtClean="0"/>
              <a:t>x</a:t>
            </a:r>
            <a:r>
              <a:rPr lang="en-US" dirty="0" err="1" smtClean="0"/>
              <a:t>+</a:t>
            </a:r>
            <a:r>
              <a:rPr lang="en-US" i="1" dirty="0" err="1" smtClean="0"/>
              <a:t>y</a:t>
            </a:r>
            <a:r>
              <a:rPr lang="en-US" dirty="0" err="1" smtClean="0"/>
              <a:t>+</a:t>
            </a:r>
            <a:r>
              <a:rPr lang="en-US" i="1" dirty="0" err="1" smtClean="0"/>
              <a:t>z</a:t>
            </a:r>
            <a:r>
              <a:rPr lang="en-US" dirty="0" smtClean="0"/>
              <a:t>)</a:t>
            </a:r>
            <a:r>
              <a:rPr lang="en-US" i="1" dirty="0" smtClean="0"/>
              <a:t>’</a:t>
            </a:r>
            <a:r>
              <a:rPr lang="en-US" dirty="0" smtClean="0"/>
              <a:t> = (</a:t>
            </a:r>
            <a:r>
              <a:rPr lang="en-US" i="1" dirty="0" smtClean="0"/>
              <a:t>M</a:t>
            </a:r>
            <a:r>
              <a:rPr lang="en-US" baseline="-25000" dirty="0" smtClean="0"/>
              <a:t>0</a:t>
            </a:r>
            <a:r>
              <a:rPr lang="en-US" dirty="0" smtClean="0"/>
              <a:t>)</a:t>
            </a:r>
            <a:r>
              <a:rPr lang="en-US" i="1" dirty="0" smtClean="0"/>
              <a:t>’</a:t>
            </a:r>
          </a:p>
          <a:p>
            <a:pPr lvl="1"/>
            <a:r>
              <a:rPr lang="en-US" dirty="0" smtClean="0"/>
              <a:t>In general, </a:t>
            </a:r>
            <a:r>
              <a:rPr lang="en-US" i="1" dirty="0" smtClean="0"/>
              <a:t>m</a:t>
            </a:r>
            <a:r>
              <a:rPr lang="en-US" i="1" baseline="-25000" dirty="0" smtClean="0"/>
              <a:t>i</a:t>
            </a:r>
            <a:r>
              <a:rPr lang="en-US" dirty="0" smtClean="0"/>
              <a:t> = (</a:t>
            </a:r>
            <a:r>
              <a:rPr lang="en-US" i="1" dirty="0" smtClean="0"/>
              <a:t>M</a:t>
            </a:r>
            <a:r>
              <a:rPr lang="en-US" i="1" baseline="-25000" dirty="0" smtClean="0"/>
              <a:t>i</a:t>
            </a:r>
            <a:r>
              <a:rPr lang="en-US" dirty="0" smtClean="0"/>
              <a:t>)</a:t>
            </a:r>
            <a:r>
              <a:rPr lang="en-US" i="1" dirty="0" smtClean="0"/>
              <a:t>’</a:t>
            </a:r>
          </a:p>
          <a:p>
            <a:pPr>
              <a:buNone/>
            </a:pPr>
            <a:endParaRPr lang="en-US" dirty="0" smtClean="0"/>
          </a:p>
          <a:p>
            <a:r>
              <a:rPr lang="en-US" dirty="0" smtClean="0"/>
              <a:t>Sum of </a:t>
            </a:r>
            <a:r>
              <a:rPr lang="en-US" dirty="0" err="1" smtClean="0"/>
              <a:t>minterms</a:t>
            </a:r>
            <a:r>
              <a:rPr lang="en-US" dirty="0" smtClean="0"/>
              <a:t> </a:t>
            </a:r>
            <a:r>
              <a:rPr lang="en-US" dirty="0" smtClean="0">
                <a:sym typeface="Wingdings" pitchFamily="2" charset="2"/>
              </a:rPr>
              <a:t></a:t>
            </a:r>
            <a:r>
              <a:rPr lang="en-US" dirty="0" smtClean="0"/>
              <a:t> Product of </a:t>
            </a:r>
            <a:r>
              <a:rPr lang="en-US" dirty="0" err="1" smtClean="0"/>
              <a:t>maxterms</a:t>
            </a:r>
            <a:r>
              <a:rPr lang="en-US" dirty="0" smtClean="0"/>
              <a:t>:</a:t>
            </a:r>
          </a:p>
          <a:p>
            <a:pPr lvl="1">
              <a:buNone/>
              <a:tabLst>
                <a:tab pos="1827213" algn="l"/>
                <a:tab pos="2282825" algn="l"/>
                <a:tab pos="4175125" algn="l"/>
              </a:tabLst>
            </a:pPr>
            <a:r>
              <a:rPr lang="en-US" dirty="0" smtClean="0"/>
              <a:t>	</a:t>
            </a:r>
            <a:r>
              <a:rPr lang="en-US" i="1" dirty="0" smtClean="0"/>
              <a:t>f</a:t>
            </a:r>
            <a:r>
              <a:rPr lang="en-US" dirty="0" smtClean="0"/>
              <a:t> = </a:t>
            </a:r>
            <a:r>
              <a:rPr lang="en-US" dirty="0" smtClean="0">
                <a:sym typeface="Symbol" pitchFamily="18" charset="2"/>
              </a:rPr>
              <a:t></a:t>
            </a:r>
            <a:r>
              <a:rPr lang="en-US" dirty="0" smtClean="0"/>
              <a:t>(0,1,2,3,6)</a:t>
            </a:r>
            <a:endParaRPr lang="en-US" baseline="-25000" dirty="0" smtClean="0"/>
          </a:p>
          <a:p>
            <a:pPr lvl="1">
              <a:buNone/>
              <a:tabLst>
                <a:tab pos="1827213" algn="l"/>
                <a:tab pos="2282825" algn="l"/>
                <a:tab pos="4175125" algn="l"/>
              </a:tabLst>
            </a:pPr>
            <a:r>
              <a:rPr lang="en-US" dirty="0" smtClean="0"/>
              <a:t>	</a:t>
            </a:r>
            <a:r>
              <a:rPr lang="en-US" i="1" dirty="0" smtClean="0"/>
              <a:t>f’</a:t>
            </a:r>
            <a:r>
              <a:rPr lang="en-US" dirty="0" smtClean="0"/>
              <a:t>= </a:t>
            </a:r>
            <a:r>
              <a:rPr lang="en-US" dirty="0" smtClean="0">
                <a:sym typeface="Symbol" pitchFamily="18" charset="2"/>
              </a:rPr>
              <a:t>(4,5,7) </a:t>
            </a:r>
            <a:r>
              <a:rPr lang="en-US" dirty="0" smtClean="0"/>
              <a:t>= </a:t>
            </a:r>
            <a:r>
              <a:rPr lang="en-US" i="1" dirty="0" smtClean="0"/>
              <a:t>m</a:t>
            </a:r>
            <a:r>
              <a:rPr lang="en-US" baseline="-25000" dirty="0" smtClean="0"/>
              <a:t>4</a:t>
            </a:r>
            <a:r>
              <a:rPr lang="en-US" dirty="0" smtClean="0"/>
              <a:t> + </a:t>
            </a:r>
            <a:r>
              <a:rPr lang="en-US" i="1" dirty="0" smtClean="0"/>
              <a:t>m</a:t>
            </a:r>
            <a:r>
              <a:rPr lang="en-US" baseline="-25000" dirty="0" smtClean="0"/>
              <a:t>5</a:t>
            </a:r>
            <a:r>
              <a:rPr lang="en-US" dirty="0" smtClean="0"/>
              <a:t> + </a:t>
            </a:r>
            <a:r>
              <a:rPr lang="en-US" i="1" dirty="0" smtClean="0"/>
              <a:t>m</a:t>
            </a:r>
            <a:r>
              <a:rPr lang="en-US" baseline="-25000" dirty="0" smtClean="0"/>
              <a:t>7</a:t>
            </a:r>
          </a:p>
          <a:p>
            <a:pPr lvl="1">
              <a:buNone/>
              <a:tabLst>
                <a:tab pos="1827213" algn="l"/>
                <a:tab pos="2282825" algn="l"/>
                <a:tab pos="4175125" algn="l"/>
              </a:tabLst>
            </a:pPr>
            <a:r>
              <a:rPr lang="en-US" dirty="0" smtClean="0"/>
              <a:t>(</a:t>
            </a:r>
            <a:r>
              <a:rPr lang="en-US" i="1" dirty="0" smtClean="0"/>
              <a:t>f’</a:t>
            </a:r>
            <a:r>
              <a:rPr lang="en-US" dirty="0" smtClean="0"/>
              <a:t>)</a:t>
            </a:r>
            <a:r>
              <a:rPr lang="en-US" i="1" dirty="0" smtClean="0"/>
              <a:t>’</a:t>
            </a:r>
            <a:r>
              <a:rPr lang="en-US" dirty="0" smtClean="0"/>
              <a:t>= (</a:t>
            </a:r>
            <a:r>
              <a:rPr lang="en-US" i="1" dirty="0" smtClean="0"/>
              <a:t>m</a:t>
            </a:r>
            <a:r>
              <a:rPr lang="en-US" baseline="-25000" dirty="0" smtClean="0"/>
              <a:t>4</a:t>
            </a:r>
            <a:r>
              <a:rPr lang="en-US" dirty="0" smtClean="0"/>
              <a:t> + </a:t>
            </a:r>
            <a:r>
              <a:rPr lang="en-US" i="1" dirty="0" smtClean="0"/>
              <a:t>m</a:t>
            </a:r>
            <a:r>
              <a:rPr lang="en-US" baseline="-25000" dirty="0" smtClean="0"/>
              <a:t>5</a:t>
            </a:r>
            <a:r>
              <a:rPr lang="en-US" dirty="0" smtClean="0"/>
              <a:t> + </a:t>
            </a:r>
            <a:r>
              <a:rPr lang="en-US" i="1" dirty="0" smtClean="0"/>
              <a:t>m</a:t>
            </a:r>
            <a:r>
              <a:rPr lang="en-US" baseline="-25000" dirty="0" smtClean="0"/>
              <a:t>7</a:t>
            </a:r>
            <a:r>
              <a:rPr lang="en-US" dirty="0" smtClean="0"/>
              <a:t>)’</a:t>
            </a:r>
          </a:p>
          <a:p>
            <a:pPr lvl="1">
              <a:buNone/>
              <a:tabLst>
                <a:tab pos="1827213" algn="l"/>
                <a:tab pos="2282825" algn="l"/>
                <a:tab pos="4175125" algn="l"/>
              </a:tabLst>
            </a:pPr>
            <a:r>
              <a:rPr lang="en-US" i="1" dirty="0" smtClean="0"/>
              <a:t>   f</a:t>
            </a:r>
            <a:r>
              <a:rPr lang="en-US" dirty="0" smtClean="0"/>
              <a:t> = </a:t>
            </a:r>
            <a:r>
              <a:rPr lang="en-US" i="1" dirty="0" smtClean="0"/>
              <a:t>m</a:t>
            </a:r>
            <a:r>
              <a:rPr lang="en-US" baseline="-25000" dirty="0" smtClean="0"/>
              <a:t>4</a:t>
            </a:r>
            <a:r>
              <a:rPr lang="en-US" dirty="0" smtClean="0"/>
              <a:t>’ </a:t>
            </a:r>
            <a:r>
              <a:rPr lang="en-US" i="1" dirty="0" smtClean="0"/>
              <a:t>m</a:t>
            </a:r>
            <a:r>
              <a:rPr lang="en-US" baseline="-25000" dirty="0" smtClean="0"/>
              <a:t>5</a:t>
            </a:r>
            <a:r>
              <a:rPr lang="en-US" dirty="0" smtClean="0"/>
              <a:t>’ </a:t>
            </a:r>
            <a:r>
              <a:rPr lang="en-US" i="1" dirty="0" smtClean="0"/>
              <a:t>m</a:t>
            </a:r>
            <a:r>
              <a:rPr lang="en-US" baseline="-25000" dirty="0" smtClean="0"/>
              <a:t>7</a:t>
            </a:r>
            <a:r>
              <a:rPr lang="en-US" dirty="0" smtClean="0"/>
              <a:t>’ [</a:t>
            </a:r>
            <a:r>
              <a:rPr lang="en-US" dirty="0" err="1" smtClean="0"/>
              <a:t>DeMorgan’s</a:t>
            </a:r>
            <a:r>
              <a:rPr lang="en-US" dirty="0" smtClean="0"/>
              <a:t> law]</a:t>
            </a:r>
          </a:p>
          <a:p>
            <a:pPr lvl="1">
              <a:buNone/>
              <a:tabLst>
                <a:tab pos="1827213" algn="l"/>
                <a:tab pos="2282825" algn="l"/>
                <a:tab pos="4175125" algn="l"/>
              </a:tabLst>
            </a:pPr>
            <a:r>
              <a:rPr lang="en-US" dirty="0" smtClean="0"/>
              <a:t>     = </a:t>
            </a:r>
            <a:r>
              <a:rPr lang="en-US" i="1" dirty="0" smtClean="0"/>
              <a:t>M</a:t>
            </a:r>
            <a:r>
              <a:rPr lang="en-US" baseline="-25000" dirty="0" smtClean="0"/>
              <a:t>4</a:t>
            </a:r>
            <a:r>
              <a:rPr lang="en-US" dirty="0" smtClean="0"/>
              <a:t> </a:t>
            </a:r>
            <a:r>
              <a:rPr lang="en-US" i="1" dirty="0" smtClean="0"/>
              <a:t>M</a:t>
            </a:r>
            <a:r>
              <a:rPr lang="en-US" baseline="-25000" dirty="0" smtClean="0"/>
              <a:t>5</a:t>
            </a:r>
            <a:r>
              <a:rPr lang="en-US" dirty="0" smtClean="0"/>
              <a:t> </a:t>
            </a:r>
            <a:r>
              <a:rPr lang="en-US" i="1" dirty="0" smtClean="0"/>
              <a:t>M</a:t>
            </a:r>
            <a:r>
              <a:rPr lang="en-US" baseline="-25000" dirty="0" smtClean="0"/>
              <a:t>7 </a:t>
            </a:r>
            <a:r>
              <a:rPr lang="en-US" dirty="0" smtClean="0">
                <a:sym typeface="WP Greek Century" pitchFamily="2" charset="2"/>
              </a:rPr>
              <a:t>= ∏</a:t>
            </a:r>
            <a:r>
              <a:rPr lang="en-US" dirty="0" smtClean="0">
                <a:sym typeface="Symbol" pitchFamily="18" charset="2"/>
              </a:rPr>
              <a:t>(4,5,7)</a:t>
            </a:r>
          </a:p>
          <a:p>
            <a:endParaRPr lang="en-US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Conversion between Canonical Forms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In general, to convert from one canonical form to another, interchange the symbols </a:t>
            </a:r>
            <a:r>
              <a:rPr lang="en-US" dirty="0" smtClean="0">
                <a:sym typeface="Symbol" pitchFamily="18" charset="2"/>
              </a:rPr>
              <a:t> </a:t>
            </a:r>
            <a:r>
              <a:rPr lang="en-US" dirty="0" smtClean="0"/>
              <a:t>and </a:t>
            </a:r>
            <a:r>
              <a:rPr lang="en-US" dirty="0" smtClean="0">
                <a:sym typeface="WP Greek Century" pitchFamily="2" charset="2"/>
              </a:rPr>
              <a:t>∏</a:t>
            </a:r>
            <a:r>
              <a:rPr lang="en-US" dirty="0" smtClean="0"/>
              <a:t> and list those numbers missing from the original form.</a:t>
            </a:r>
          </a:p>
          <a:p>
            <a:endParaRPr lang="en-US" dirty="0" smtClean="0"/>
          </a:p>
          <a:p>
            <a:pPr lvl="1"/>
            <a:r>
              <a:rPr lang="en-US" i="1" dirty="0" smtClean="0"/>
              <a:t>Example: f</a:t>
            </a:r>
            <a:r>
              <a:rPr lang="en-US" dirty="0" smtClean="0"/>
              <a:t> = </a:t>
            </a:r>
            <a:r>
              <a:rPr lang="en-US" dirty="0" smtClean="0">
                <a:sym typeface="Symbol" pitchFamily="18" charset="2"/>
              </a:rPr>
              <a:t></a:t>
            </a:r>
            <a:r>
              <a:rPr lang="en-US" dirty="0" smtClean="0"/>
              <a:t>(0,1,2,3,6) =</a:t>
            </a:r>
            <a:r>
              <a:rPr lang="en-US" dirty="0" smtClean="0">
                <a:sym typeface="WP Greek Century" pitchFamily="2" charset="2"/>
              </a:rPr>
              <a:t> ∏</a:t>
            </a:r>
            <a:r>
              <a:rPr lang="en-US" dirty="0" smtClean="0">
                <a:sym typeface="Symbol" pitchFamily="18" charset="2"/>
              </a:rPr>
              <a:t>(4,5,7)</a:t>
            </a:r>
            <a:endParaRPr lang="en-US" dirty="0" smtClean="0"/>
          </a:p>
          <a:p>
            <a:endParaRPr lang="en-US" dirty="0" smtClean="0"/>
          </a:p>
          <a:p>
            <a:pPr>
              <a:buNone/>
              <a:tabLst>
                <a:tab pos="1827213" algn="l"/>
                <a:tab pos="2282825" algn="l"/>
                <a:tab pos="4175125" algn="l"/>
              </a:tabLst>
            </a:pPr>
            <a:r>
              <a:rPr lang="en-US" dirty="0" smtClean="0"/>
              <a:t>		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346" name="標題 1"/>
          <p:cNvSpPr>
            <a:spLocks noGrp="1"/>
          </p:cNvSpPr>
          <p:nvPr>
            <p:ph type="title" idx="4294967295"/>
          </p:nvPr>
        </p:nvSpPr>
        <p:spPr/>
        <p:txBody>
          <a:bodyPr lIns="0" tIns="0" rIns="0" bIns="0"/>
          <a:lstStyle/>
          <a:p>
            <a:r>
              <a:rPr lang="en-US" altLang="zh-TW" dirty="0" smtClean="0">
                <a:ea typeface="新細明體" pitchFamily="18" charset="-120"/>
              </a:rPr>
              <a:t>Practice</a:t>
            </a:r>
            <a:endParaRPr lang="zh-TW" altLang="en-US" sz="2500" dirty="0">
              <a:ea typeface="新細明體" pitchFamily="18" charset="-120"/>
            </a:endParaRPr>
          </a:p>
        </p:txBody>
      </p:sp>
      <p:sp>
        <p:nvSpPr>
          <p:cNvPr id="569347" name="內容版面配置區 2"/>
          <p:cNvSpPr>
            <a:spLocks noGrp="1"/>
          </p:cNvSpPr>
          <p:nvPr>
            <p:ph idx="4294967295"/>
          </p:nvPr>
        </p:nvSpPr>
        <p:spPr>
          <a:xfrm>
            <a:off x="457199" y="1600200"/>
            <a:ext cx="7689273" cy="4873752"/>
          </a:xfrm>
        </p:spPr>
        <p:txBody>
          <a:bodyPr lIns="90488" tIns="44450" rIns="90488" bIns="44450">
            <a:normAutofit/>
          </a:bodyPr>
          <a:lstStyle/>
          <a:p>
            <a:r>
              <a:rPr lang="en-US" dirty="0" smtClean="0"/>
              <a:t>Express the following function (four variables: </a:t>
            </a:r>
            <a:r>
              <a:rPr lang="en-US" i="1" dirty="0" smtClean="0"/>
              <a:t>A</a:t>
            </a:r>
            <a:r>
              <a:rPr lang="en-US" dirty="0" smtClean="0"/>
              <a:t>, </a:t>
            </a:r>
            <a:r>
              <a:rPr lang="en-US" i="1" dirty="0" smtClean="0"/>
              <a:t>B</a:t>
            </a:r>
            <a:r>
              <a:rPr lang="en-US" dirty="0" smtClean="0"/>
              <a:t>,</a:t>
            </a:r>
            <a:r>
              <a:rPr lang="en-US" i="1" dirty="0" smtClean="0"/>
              <a:t> C</a:t>
            </a:r>
            <a:r>
              <a:rPr lang="en-US" dirty="0" smtClean="0"/>
              <a:t>,</a:t>
            </a:r>
            <a:r>
              <a:rPr lang="en-US" i="1" dirty="0" smtClean="0"/>
              <a:t> D</a:t>
            </a:r>
            <a:r>
              <a:rPr lang="en-US" dirty="0" smtClean="0"/>
              <a:t>) as a sum of </a:t>
            </a:r>
            <a:r>
              <a:rPr lang="en-US" dirty="0" err="1" smtClean="0"/>
              <a:t>minterms</a:t>
            </a:r>
            <a:r>
              <a:rPr lang="en-US" dirty="0" smtClean="0"/>
              <a:t> and as a product of </a:t>
            </a:r>
            <a:r>
              <a:rPr lang="en-US" dirty="0" err="1" smtClean="0"/>
              <a:t>maxterms</a:t>
            </a:r>
            <a:r>
              <a:rPr lang="en-US" dirty="0" smtClean="0"/>
              <a:t>: </a:t>
            </a:r>
          </a:p>
          <a:p>
            <a:pPr lvl="1"/>
            <a:r>
              <a:rPr lang="en-US" sz="2400" i="1" dirty="0" smtClean="0"/>
              <a:t>F = B'D + A'D + BD</a:t>
            </a:r>
          </a:p>
          <a:p>
            <a:pPr lvl="1"/>
            <a:endParaRPr lang="en-US" sz="2400" i="1" dirty="0" smtClean="0"/>
          </a:p>
          <a:p>
            <a:r>
              <a:rPr lang="en-US" i="1" dirty="0" smtClean="0"/>
              <a:t>F  = </a:t>
            </a:r>
            <a:r>
              <a:rPr lang="pl-PL" dirty="0" smtClean="0"/>
              <a:t>∑</a:t>
            </a:r>
            <a:r>
              <a:rPr lang="en-US" dirty="0" smtClean="0"/>
              <a:t>(1, 3, 5, 7, 9, 11,13, 15) </a:t>
            </a:r>
          </a:p>
          <a:p>
            <a:pPr>
              <a:buNone/>
            </a:pPr>
            <a:r>
              <a:rPr lang="en-US" i="1" dirty="0" smtClean="0"/>
              <a:t>	    = </a:t>
            </a:r>
            <a:r>
              <a:rPr lang="en-US" dirty="0" smtClean="0">
                <a:sym typeface="WP Greek Century" pitchFamily="2" charset="2"/>
              </a:rPr>
              <a:t>∏</a:t>
            </a:r>
            <a:r>
              <a:rPr lang="en-US" dirty="0" smtClean="0"/>
              <a:t>(0, 2, 4, 6, 8, 10, 12, 14)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93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93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Standard Form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 smtClean="0"/>
              <a:t>Any </a:t>
            </a:r>
            <a:r>
              <a:rPr lang="en-US" dirty="0" err="1" smtClean="0"/>
              <a:t>boolean</a:t>
            </a:r>
            <a:r>
              <a:rPr lang="en-US" dirty="0" smtClean="0"/>
              <a:t> function that is expressed as a </a:t>
            </a:r>
            <a:r>
              <a:rPr lang="en-US" b="1" dirty="0" smtClean="0"/>
              <a:t>sum of products (SOP)</a:t>
            </a:r>
            <a:r>
              <a:rPr lang="en-US" dirty="0" smtClean="0"/>
              <a:t> or as a</a:t>
            </a:r>
            <a:r>
              <a:rPr lang="en-US" b="1" dirty="0" smtClean="0"/>
              <a:t> product of sums (POS)</a:t>
            </a:r>
            <a:r>
              <a:rPr lang="en-US" dirty="0" smtClean="0"/>
              <a:t>, where each product-term or sum-term may contain one, two, or any number of variables, is said to be in its </a:t>
            </a:r>
            <a:r>
              <a:rPr lang="en-US" b="1" dirty="0" smtClean="0"/>
              <a:t>standard form</a:t>
            </a:r>
            <a:r>
              <a:rPr lang="en-US" dirty="0" smtClean="0"/>
              <a:t>.</a:t>
            </a:r>
          </a:p>
          <a:p>
            <a:endParaRPr lang="en-US" dirty="0" smtClean="0"/>
          </a:p>
          <a:p>
            <a:r>
              <a:rPr lang="en-US" dirty="0" smtClean="0"/>
              <a:t>SOP:  </a:t>
            </a:r>
            <a:r>
              <a:rPr lang="en-US" i="1" dirty="0" smtClean="0"/>
              <a:t>f</a:t>
            </a:r>
            <a:r>
              <a:rPr lang="en-US" dirty="0" smtClean="0"/>
              <a:t>(</a:t>
            </a:r>
            <a:r>
              <a:rPr lang="en-US" i="1" dirty="0" err="1" smtClean="0"/>
              <a:t>x</a:t>
            </a:r>
            <a:r>
              <a:rPr lang="en-US" dirty="0" err="1" smtClean="0"/>
              <a:t>,</a:t>
            </a:r>
            <a:r>
              <a:rPr lang="en-US" i="1" dirty="0" err="1" smtClean="0"/>
              <a:t>y</a:t>
            </a:r>
            <a:r>
              <a:rPr lang="en-US" dirty="0" err="1" smtClean="0"/>
              <a:t>,</a:t>
            </a:r>
            <a:r>
              <a:rPr lang="en-US" i="1" dirty="0" err="1" smtClean="0"/>
              <a:t>z</a:t>
            </a:r>
            <a:r>
              <a:rPr lang="en-US" dirty="0" smtClean="0"/>
              <a:t>) = </a:t>
            </a:r>
            <a:r>
              <a:rPr lang="en-US" i="1" dirty="0" err="1" smtClean="0"/>
              <a:t>xy</a:t>
            </a:r>
            <a:r>
              <a:rPr lang="en-US" dirty="0" smtClean="0"/>
              <a:t> + </a:t>
            </a:r>
            <a:r>
              <a:rPr lang="en-US" i="1" dirty="0" err="1" smtClean="0"/>
              <a:t>x’yz</a:t>
            </a:r>
            <a:r>
              <a:rPr lang="en-US" dirty="0" smtClean="0"/>
              <a:t> + </a:t>
            </a:r>
            <a:r>
              <a:rPr lang="en-US" i="1" dirty="0" err="1" smtClean="0"/>
              <a:t>xy’z</a:t>
            </a:r>
            <a:endParaRPr lang="en-US" i="1" dirty="0" smtClean="0"/>
          </a:p>
          <a:p>
            <a:r>
              <a:rPr lang="en-US" dirty="0" smtClean="0"/>
              <a:t>POS:  </a:t>
            </a:r>
            <a:r>
              <a:rPr lang="en-US" i="1" dirty="0" smtClean="0"/>
              <a:t>f</a:t>
            </a:r>
            <a:r>
              <a:rPr lang="en-US" dirty="0" smtClean="0"/>
              <a:t>(</a:t>
            </a:r>
            <a:r>
              <a:rPr lang="en-US" i="1" dirty="0" err="1" smtClean="0"/>
              <a:t>x</a:t>
            </a:r>
            <a:r>
              <a:rPr lang="en-US" dirty="0" err="1" smtClean="0"/>
              <a:t>,</a:t>
            </a:r>
            <a:r>
              <a:rPr lang="en-US" i="1" dirty="0" err="1" smtClean="0"/>
              <a:t>y</a:t>
            </a:r>
            <a:r>
              <a:rPr lang="en-US" dirty="0" err="1" smtClean="0"/>
              <a:t>,</a:t>
            </a:r>
            <a:r>
              <a:rPr lang="en-US" i="1" dirty="0" err="1" smtClean="0"/>
              <a:t>z</a:t>
            </a:r>
            <a:r>
              <a:rPr lang="en-US" dirty="0" smtClean="0"/>
              <a:t>) = (</a:t>
            </a:r>
            <a:r>
              <a:rPr lang="en-US" i="1" dirty="0" smtClean="0"/>
              <a:t>x’</a:t>
            </a:r>
            <a:r>
              <a:rPr lang="en-US" dirty="0" smtClean="0"/>
              <a:t> + </a:t>
            </a:r>
            <a:r>
              <a:rPr lang="en-US" i="1" dirty="0" smtClean="0"/>
              <a:t>y’</a:t>
            </a:r>
            <a:r>
              <a:rPr lang="en-US" dirty="0" smtClean="0"/>
              <a:t>)(</a:t>
            </a:r>
            <a:r>
              <a:rPr lang="en-US" i="1" dirty="0" smtClean="0"/>
              <a:t>x</a:t>
            </a:r>
            <a:r>
              <a:rPr lang="en-US" dirty="0" smtClean="0"/>
              <a:t> + </a:t>
            </a:r>
            <a:r>
              <a:rPr lang="en-US" i="1" dirty="0" smtClean="0"/>
              <a:t>y’</a:t>
            </a:r>
            <a:r>
              <a:rPr lang="en-US" dirty="0" smtClean="0"/>
              <a:t> + </a:t>
            </a:r>
            <a:r>
              <a:rPr lang="en-US" i="1" dirty="0" smtClean="0"/>
              <a:t>z’</a:t>
            </a:r>
            <a:r>
              <a:rPr lang="en-US" dirty="0" smtClean="0"/>
              <a:t>)(</a:t>
            </a:r>
            <a:r>
              <a:rPr lang="en-US" i="1" dirty="0" smtClean="0"/>
              <a:t>x’</a:t>
            </a:r>
            <a:r>
              <a:rPr lang="en-US" dirty="0" smtClean="0"/>
              <a:t> + </a:t>
            </a:r>
            <a:r>
              <a:rPr lang="en-US" i="1" dirty="0" smtClean="0"/>
              <a:t>y</a:t>
            </a:r>
            <a:r>
              <a:rPr lang="en-US" dirty="0" smtClean="0"/>
              <a:t> + </a:t>
            </a:r>
            <a:r>
              <a:rPr lang="en-US" i="1" dirty="0" smtClean="0"/>
              <a:t>z’</a:t>
            </a:r>
            <a:r>
              <a:rPr lang="en-US" dirty="0" smtClean="0"/>
              <a:t>)</a:t>
            </a:r>
          </a:p>
          <a:p>
            <a:endParaRPr lang="en-US" dirty="0" smtClean="0"/>
          </a:p>
          <a:p>
            <a:endParaRPr lang="en-US" dirty="0" smtClean="0"/>
          </a:p>
          <a:p>
            <a:pPr>
              <a:buNone/>
            </a:pPr>
            <a:endParaRPr lang="en-US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Non-Standard and Standard Forms</a:t>
            </a:r>
            <a:endParaRPr lang="en-US" dirty="0"/>
          </a:p>
        </p:txBody>
      </p:sp>
      <p:pic>
        <p:nvPicPr>
          <p:cNvPr id="5" name="Picture 2" descr="C:\jobs\Marries\ch02\tiff\AACFLMR0.tif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7200" y="2714625"/>
            <a:ext cx="8226425" cy="2543175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346" name="標題 1"/>
          <p:cNvSpPr>
            <a:spLocks noGrp="1"/>
          </p:cNvSpPr>
          <p:nvPr>
            <p:ph type="title" idx="4294967295"/>
          </p:nvPr>
        </p:nvSpPr>
        <p:spPr/>
        <p:txBody>
          <a:bodyPr lIns="0" tIns="0" rIns="0" bIns="0"/>
          <a:lstStyle/>
          <a:p>
            <a:r>
              <a:rPr lang="en-US" altLang="zh-TW" dirty="0" smtClean="0">
                <a:ea typeface="新細明體" pitchFamily="18" charset="-120"/>
              </a:rPr>
              <a:t>Practice</a:t>
            </a:r>
            <a:endParaRPr lang="zh-TW" altLang="en-US" sz="2500" dirty="0">
              <a:ea typeface="新細明體" pitchFamily="18" charset="-120"/>
            </a:endParaRPr>
          </a:p>
        </p:txBody>
      </p:sp>
      <p:sp>
        <p:nvSpPr>
          <p:cNvPr id="569347" name="內容版面配置區 2"/>
          <p:cNvSpPr>
            <a:spLocks noGrp="1"/>
          </p:cNvSpPr>
          <p:nvPr>
            <p:ph idx="4294967295"/>
          </p:nvPr>
        </p:nvSpPr>
        <p:spPr>
          <a:xfrm>
            <a:off x="457199" y="1600200"/>
            <a:ext cx="7689273" cy="4873752"/>
          </a:xfrm>
        </p:spPr>
        <p:txBody>
          <a:bodyPr lIns="90488" tIns="44450" rIns="90488" bIns="44450">
            <a:normAutofit/>
          </a:bodyPr>
          <a:lstStyle/>
          <a:p>
            <a:r>
              <a:rPr lang="en-US" dirty="0" smtClean="0"/>
              <a:t>Convert the following expression into sum of products and product of sums:</a:t>
            </a:r>
          </a:p>
          <a:p>
            <a:pPr lvl="1"/>
            <a:r>
              <a:rPr lang="de-DE" sz="2400" dirty="0" smtClean="0"/>
              <a:t>(</a:t>
            </a:r>
            <a:r>
              <a:rPr lang="de-DE" sz="2400" i="1" dirty="0" smtClean="0"/>
              <a:t>AB + C</a:t>
            </a:r>
            <a:r>
              <a:rPr lang="de-DE" sz="2400" dirty="0" smtClean="0"/>
              <a:t>)(</a:t>
            </a:r>
            <a:r>
              <a:rPr lang="de-DE" sz="2400" i="1" dirty="0" smtClean="0"/>
              <a:t>B + C'D</a:t>
            </a:r>
            <a:r>
              <a:rPr lang="de-DE" sz="2400" dirty="0" smtClean="0"/>
              <a:t>)</a:t>
            </a:r>
            <a:r>
              <a:rPr lang="de-DE" sz="2400" i="1" dirty="0" smtClean="0"/>
              <a:t> </a:t>
            </a:r>
          </a:p>
          <a:p>
            <a:endParaRPr lang="en-US" dirty="0" smtClean="0"/>
          </a:p>
          <a:p>
            <a:r>
              <a:rPr lang="de-DE" dirty="0" smtClean="0"/>
              <a:t>(</a:t>
            </a:r>
            <a:r>
              <a:rPr lang="de-DE" i="1" dirty="0" smtClean="0"/>
              <a:t>AB + C</a:t>
            </a:r>
            <a:r>
              <a:rPr lang="de-DE" dirty="0" smtClean="0"/>
              <a:t>)(</a:t>
            </a:r>
            <a:r>
              <a:rPr lang="de-DE" i="1" dirty="0" smtClean="0"/>
              <a:t>B + C'D</a:t>
            </a:r>
            <a:r>
              <a:rPr lang="de-DE" dirty="0" smtClean="0"/>
              <a:t>)</a:t>
            </a:r>
            <a:r>
              <a:rPr lang="de-DE" i="1" dirty="0" smtClean="0"/>
              <a:t> </a:t>
            </a:r>
          </a:p>
          <a:p>
            <a:pPr>
              <a:buNone/>
            </a:pPr>
            <a:r>
              <a:rPr lang="de-DE" i="1" dirty="0" smtClean="0"/>
              <a:t>	= AB + BC + ABC'D + CC'D </a:t>
            </a:r>
          </a:p>
          <a:p>
            <a:pPr>
              <a:buNone/>
            </a:pPr>
            <a:r>
              <a:rPr lang="de-DE" i="1" dirty="0" smtClean="0"/>
              <a:t>	= AB</a:t>
            </a:r>
            <a:r>
              <a:rPr lang="de-DE" dirty="0" smtClean="0"/>
              <a:t>(</a:t>
            </a:r>
            <a:r>
              <a:rPr lang="de-DE" i="1" dirty="0" smtClean="0"/>
              <a:t>1 + C'D</a:t>
            </a:r>
            <a:r>
              <a:rPr lang="de-DE" dirty="0" smtClean="0"/>
              <a:t>)</a:t>
            </a:r>
            <a:r>
              <a:rPr lang="de-DE" i="1" dirty="0" smtClean="0"/>
              <a:t> + BC</a:t>
            </a:r>
          </a:p>
          <a:p>
            <a:pPr>
              <a:buNone/>
            </a:pPr>
            <a:r>
              <a:rPr lang="en-US" i="1" dirty="0" smtClean="0"/>
              <a:t>	= AB + BC </a:t>
            </a:r>
            <a:r>
              <a:rPr lang="en-US" dirty="0" smtClean="0"/>
              <a:t>(</a:t>
            </a:r>
            <a:r>
              <a:rPr lang="en-US" i="1" dirty="0" smtClean="0"/>
              <a:t>SOP form</a:t>
            </a:r>
            <a:r>
              <a:rPr lang="en-US" dirty="0" smtClean="0"/>
              <a:t>)</a:t>
            </a:r>
          </a:p>
          <a:p>
            <a:pPr>
              <a:buNone/>
            </a:pPr>
            <a:r>
              <a:rPr lang="en-US" i="1" dirty="0" smtClean="0"/>
              <a:t>	= B</a:t>
            </a:r>
            <a:r>
              <a:rPr lang="en-US" dirty="0" smtClean="0"/>
              <a:t>(</a:t>
            </a:r>
            <a:r>
              <a:rPr lang="en-US" i="1" dirty="0" smtClean="0"/>
              <a:t>A + C</a:t>
            </a:r>
            <a:r>
              <a:rPr lang="en-US" dirty="0" smtClean="0"/>
              <a:t>)</a:t>
            </a:r>
            <a:r>
              <a:rPr lang="en-US" i="1" dirty="0" smtClean="0"/>
              <a:t> </a:t>
            </a:r>
            <a:r>
              <a:rPr lang="en-US" dirty="0" smtClean="0"/>
              <a:t>(</a:t>
            </a:r>
            <a:r>
              <a:rPr lang="en-US" i="1" dirty="0" smtClean="0"/>
              <a:t>POS form</a:t>
            </a:r>
            <a:r>
              <a:rPr lang="en-US" dirty="0" smtClean="0"/>
              <a:t>)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93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93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93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93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934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Canonical and Standard Forms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>
            <a:noAutofit/>
          </a:bodyPr>
          <a:lstStyle/>
          <a:p>
            <a:r>
              <a:rPr lang="en-US" dirty="0" smtClean="0"/>
              <a:t>Canonical forms</a:t>
            </a:r>
          </a:p>
          <a:p>
            <a:pPr lvl="1"/>
            <a:r>
              <a:rPr lang="en-US" dirty="0" smtClean="0"/>
              <a:t>Sum of </a:t>
            </a:r>
            <a:r>
              <a:rPr lang="en-US" dirty="0" err="1" smtClean="0"/>
              <a:t>minterms</a:t>
            </a:r>
            <a:r>
              <a:rPr lang="en-US" dirty="0" smtClean="0"/>
              <a:t> (SOM)</a:t>
            </a:r>
          </a:p>
          <a:p>
            <a:pPr lvl="1"/>
            <a:r>
              <a:rPr lang="en-US" dirty="0" smtClean="0"/>
              <a:t>Product of </a:t>
            </a:r>
            <a:r>
              <a:rPr lang="en-US" dirty="0" err="1" smtClean="0"/>
              <a:t>maxterms</a:t>
            </a:r>
            <a:r>
              <a:rPr lang="en-US" dirty="0" smtClean="0"/>
              <a:t> (POM)</a:t>
            </a:r>
          </a:p>
          <a:p>
            <a:r>
              <a:rPr lang="en-US" dirty="0" smtClean="0"/>
              <a:t>Standard forms (may use less gates)</a:t>
            </a:r>
          </a:p>
          <a:p>
            <a:pPr lvl="1"/>
            <a:r>
              <a:rPr lang="en-US" dirty="0" smtClean="0"/>
              <a:t>Sum of products (SOP)</a:t>
            </a:r>
          </a:p>
          <a:p>
            <a:pPr lvl="1"/>
            <a:r>
              <a:rPr lang="en-US" dirty="0" smtClean="0"/>
              <a:t>Product of sums (POS)</a:t>
            </a:r>
          </a:p>
          <a:p>
            <a:r>
              <a:rPr lang="en-US" i="1" dirty="0" smtClean="0"/>
              <a:t>F</a:t>
            </a:r>
            <a:r>
              <a:rPr lang="en-US" dirty="0" smtClean="0"/>
              <a:t> = </a:t>
            </a:r>
            <a:r>
              <a:rPr lang="en-US" i="1" dirty="0" err="1" smtClean="0"/>
              <a:t>ab</a:t>
            </a:r>
            <a:r>
              <a:rPr lang="en-US" dirty="0" err="1" smtClean="0"/>
              <a:t>+</a:t>
            </a:r>
            <a:r>
              <a:rPr lang="en-US" i="1" dirty="0" err="1" smtClean="0"/>
              <a:t>a</a:t>
            </a:r>
            <a:r>
              <a:rPr lang="en-US" dirty="0" smtClean="0"/>
              <a:t>’ (already </a:t>
            </a:r>
            <a:r>
              <a:rPr lang="en-US" b="1" dirty="0" smtClean="0"/>
              <a:t>sum of </a:t>
            </a:r>
            <a:r>
              <a:rPr lang="en-US" b="1" dirty="0" err="1" smtClean="0"/>
              <a:t>products:SOP</a:t>
            </a:r>
            <a:r>
              <a:rPr lang="en-US" b="1" dirty="0" smtClean="0"/>
              <a:t>)</a:t>
            </a:r>
          </a:p>
          <a:p>
            <a:r>
              <a:rPr lang="en-US" i="1" dirty="0" smtClean="0"/>
              <a:t>F</a:t>
            </a:r>
            <a:r>
              <a:rPr lang="en-US" dirty="0" smtClean="0"/>
              <a:t> = </a:t>
            </a:r>
            <a:r>
              <a:rPr lang="en-US" i="1" dirty="0" err="1" smtClean="0"/>
              <a:t>ab</a:t>
            </a:r>
            <a:r>
              <a:rPr lang="en-US" dirty="0" smtClean="0"/>
              <a:t> + </a:t>
            </a:r>
            <a:r>
              <a:rPr lang="en-US" i="1" dirty="0" smtClean="0"/>
              <a:t>a’</a:t>
            </a:r>
            <a:r>
              <a:rPr lang="en-US" dirty="0" smtClean="0"/>
              <a:t>(</a:t>
            </a:r>
            <a:r>
              <a:rPr lang="en-US" i="1" dirty="0" err="1" smtClean="0"/>
              <a:t>b</a:t>
            </a:r>
            <a:r>
              <a:rPr lang="en-US" dirty="0" err="1" smtClean="0"/>
              <a:t>+b</a:t>
            </a:r>
            <a:r>
              <a:rPr lang="en-US" dirty="0" smtClean="0"/>
              <a:t>’) (expanding term)</a:t>
            </a:r>
          </a:p>
          <a:p>
            <a:r>
              <a:rPr lang="en-US" i="1" dirty="0" smtClean="0"/>
              <a:t>F</a:t>
            </a:r>
            <a:r>
              <a:rPr lang="en-US" dirty="0" smtClean="0"/>
              <a:t> = </a:t>
            </a:r>
            <a:r>
              <a:rPr lang="en-US" i="1" dirty="0" err="1" smtClean="0"/>
              <a:t>ab</a:t>
            </a:r>
            <a:r>
              <a:rPr lang="en-US" dirty="0" smtClean="0"/>
              <a:t> + </a:t>
            </a:r>
            <a:r>
              <a:rPr lang="en-US" dirty="0" err="1" smtClean="0"/>
              <a:t>a’b</a:t>
            </a:r>
            <a:r>
              <a:rPr lang="en-US" dirty="0" smtClean="0"/>
              <a:t> + </a:t>
            </a:r>
            <a:r>
              <a:rPr lang="en-US" dirty="0" err="1" smtClean="0"/>
              <a:t>a’b</a:t>
            </a:r>
            <a:r>
              <a:rPr lang="en-US" dirty="0" smtClean="0"/>
              <a:t>’ (it is </a:t>
            </a:r>
            <a:r>
              <a:rPr lang="en-US" b="1" dirty="0" smtClean="0"/>
              <a:t>canonical </a:t>
            </a:r>
            <a:r>
              <a:rPr lang="en-US" b="1" dirty="0" err="1" smtClean="0"/>
              <a:t>form:SOM</a:t>
            </a:r>
            <a:r>
              <a:rPr lang="en-US" b="1" dirty="0" smtClean="0"/>
              <a:t>)</a:t>
            </a:r>
            <a:endParaRPr lang="id-ID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02" name="標題 1"/>
          <p:cNvSpPr>
            <a:spLocks noGrp="1"/>
          </p:cNvSpPr>
          <p:nvPr>
            <p:ph type="title" idx="4294967295"/>
          </p:nvPr>
        </p:nvSpPr>
        <p:spPr/>
        <p:txBody>
          <a:bodyPr lIns="0" tIns="0" rIns="0" bIns="0"/>
          <a:lstStyle/>
          <a:p>
            <a:r>
              <a:rPr lang="en-US" altLang="zh-TW" dirty="0" smtClean="0">
                <a:ea typeface="新細明體" pitchFamily="18" charset="-120"/>
              </a:rPr>
              <a:t>Other </a:t>
            </a:r>
            <a:r>
              <a:rPr lang="en-US" altLang="zh-TW" dirty="0">
                <a:ea typeface="新細明體" pitchFamily="18" charset="-120"/>
              </a:rPr>
              <a:t>Logic </a:t>
            </a:r>
            <a:r>
              <a:rPr lang="en-US" altLang="zh-TW" dirty="0" smtClean="0">
                <a:ea typeface="新細明體" pitchFamily="18" charset="-120"/>
              </a:rPr>
              <a:t>Operations</a:t>
            </a:r>
            <a:endParaRPr lang="zh-TW" altLang="en-US" sz="2500" dirty="0">
              <a:ea typeface="新細明體" pitchFamily="18" charset="-120"/>
            </a:endParaRPr>
          </a:p>
        </p:txBody>
      </p:sp>
      <p:sp>
        <p:nvSpPr>
          <p:cNvPr id="563203" name="內容版面配置區 2"/>
          <p:cNvSpPr>
            <a:spLocks noGrp="1"/>
          </p:cNvSpPr>
          <p:nvPr>
            <p:ph idx="4294967295"/>
          </p:nvPr>
        </p:nvSpPr>
        <p:spPr>
          <a:xfrm>
            <a:off x="457199" y="1600200"/>
            <a:ext cx="7689273" cy="4873752"/>
          </a:xfrm>
        </p:spPr>
        <p:txBody>
          <a:bodyPr lIns="90488" tIns="44450" rIns="90488" bIns="44450">
            <a:normAutofit/>
          </a:bodyPr>
          <a:lstStyle/>
          <a:p>
            <a:r>
              <a:rPr lang="zh-TW" altLang="en-US" dirty="0">
                <a:ea typeface="新細明體" pitchFamily="18" charset="-120"/>
              </a:rPr>
              <a:t>2</a:t>
            </a:r>
            <a:r>
              <a:rPr lang="en-US" altLang="zh-TW" i="1" baseline="40000" dirty="0">
                <a:ea typeface="新細明體" pitchFamily="18" charset="-120"/>
              </a:rPr>
              <a:t>n</a:t>
            </a:r>
            <a:r>
              <a:rPr lang="en-US" altLang="zh-TW" dirty="0">
                <a:ea typeface="新細明體" pitchFamily="18" charset="-120"/>
              </a:rPr>
              <a:t> rows in the truth table of </a:t>
            </a:r>
            <a:r>
              <a:rPr lang="en-US" altLang="zh-TW" i="1" dirty="0">
                <a:ea typeface="新細明體" pitchFamily="18" charset="-120"/>
              </a:rPr>
              <a:t>n</a:t>
            </a:r>
            <a:r>
              <a:rPr lang="en-US" altLang="zh-TW" dirty="0">
                <a:ea typeface="新細明體" pitchFamily="18" charset="-120"/>
              </a:rPr>
              <a:t> binary variables.</a:t>
            </a:r>
          </a:p>
          <a:p>
            <a:r>
              <a:rPr lang="zh-TW" altLang="en-US" dirty="0">
                <a:ea typeface="新細明體" pitchFamily="18" charset="-120"/>
              </a:rPr>
              <a:t>2</a:t>
            </a:r>
            <a:r>
              <a:rPr lang="zh-TW" altLang="en-US" baseline="30000" dirty="0">
                <a:ea typeface="新細明體" pitchFamily="18" charset="-120"/>
              </a:rPr>
              <a:t>2</a:t>
            </a:r>
            <a:r>
              <a:rPr lang="en-US" altLang="zh-TW" i="1" baseline="30000" dirty="0">
                <a:ea typeface="新細明體" pitchFamily="18" charset="-120"/>
              </a:rPr>
              <a:t>n</a:t>
            </a:r>
            <a:r>
              <a:rPr lang="en-US" altLang="zh-TW" dirty="0">
                <a:ea typeface="新細明體" pitchFamily="18" charset="-120"/>
              </a:rPr>
              <a:t> functions for </a:t>
            </a:r>
            <a:r>
              <a:rPr lang="en-US" altLang="zh-TW" i="1" dirty="0">
                <a:ea typeface="新細明體" pitchFamily="18" charset="-120"/>
              </a:rPr>
              <a:t>n</a:t>
            </a:r>
            <a:r>
              <a:rPr lang="en-US" altLang="zh-TW" dirty="0">
                <a:ea typeface="新細明體" pitchFamily="18" charset="-120"/>
              </a:rPr>
              <a:t> binary variables.</a:t>
            </a:r>
          </a:p>
          <a:p>
            <a:r>
              <a:rPr lang="zh-TW" altLang="en-US" dirty="0">
                <a:ea typeface="新細明體" pitchFamily="18" charset="-120"/>
              </a:rPr>
              <a:t>16 </a:t>
            </a:r>
            <a:r>
              <a:rPr lang="en-US" altLang="zh-TW" dirty="0">
                <a:ea typeface="新細明體" pitchFamily="18" charset="-120"/>
              </a:rPr>
              <a:t>functions of two binary variables.</a:t>
            </a:r>
          </a:p>
          <a:p>
            <a:endParaRPr lang="en-US" altLang="zh-TW" dirty="0">
              <a:ea typeface="新細明體" pitchFamily="18" charset="-120"/>
            </a:endParaRPr>
          </a:p>
          <a:p>
            <a:endParaRPr lang="en-US" altLang="zh-TW" dirty="0">
              <a:ea typeface="新細明體" pitchFamily="18" charset="-120"/>
            </a:endParaRPr>
          </a:p>
          <a:p>
            <a:endParaRPr lang="en-US" altLang="zh-TW" dirty="0">
              <a:ea typeface="新細明體" pitchFamily="18" charset="-120"/>
            </a:endParaRPr>
          </a:p>
          <a:p>
            <a:endParaRPr lang="en-US" altLang="zh-TW" dirty="0">
              <a:ea typeface="新細明體" pitchFamily="18" charset="-120"/>
            </a:endParaRPr>
          </a:p>
          <a:p>
            <a:endParaRPr lang="en-US" altLang="zh-TW" dirty="0">
              <a:ea typeface="新細明體" pitchFamily="18" charset="-120"/>
            </a:endParaRPr>
          </a:p>
          <a:p>
            <a:endParaRPr lang="en-US" altLang="zh-TW" dirty="0">
              <a:ea typeface="新細明體" pitchFamily="18" charset="-120"/>
            </a:endParaRPr>
          </a:p>
          <a:p>
            <a:endParaRPr lang="en-US" altLang="zh-TW" dirty="0">
              <a:ea typeface="新細明體" pitchFamily="18" charset="-120"/>
            </a:endParaRPr>
          </a:p>
          <a:p>
            <a:endParaRPr lang="zh-TW" altLang="en-US" dirty="0">
              <a:ea typeface="新細明體" pitchFamily="18" charset="-120"/>
            </a:endParaRPr>
          </a:p>
        </p:txBody>
      </p:sp>
      <p:pic>
        <p:nvPicPr>
          <p:cNvPr id="563204" name="Picture 5"/>
          <p:cNvPicPr>
            <a:picLocks noChangeAspect="1" noChangeArrowheads="1"/>
          </p:cNvPicPr>
          <p:nvPr/>
        </p:nvPicPr>
        <p:blipFill>
          <a:blip r:embed="rId2" cstate="print">
            <a:lum bright="-26000" contrast="56000"/>
          </a:blip>
          <a:srcRect/>
          <a:stretch>
            <a:fillRect/>
          </a:stretch>
        </p:blipFill>
        <p:spPr bwMode="auto">
          <a:xfrm>
            <a:off x="244475" y="3244850"/>
            <a:ext cx="8497888" cy="2508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226" name="標題 1"/>
          <p:cNvSpPr>
            <a:spLocks noGrp="1"/>
          </p:cNvSpPr>
          <p:nvPr>
            <p:ph type="title" idx="4294967295"/>
          </p:nvPr>
        </p:nvSpPr>
        <p:spPr/>
        <p:txBody>
          <a:bodyPr lIns="0" tIns="0" rIns="0" bIns="0"/>
          <a:lstStyle/>
          <a:p>
            <a:r>
              <a:rPr lang="en-US" altLang="zh-TW">
                <a:ea typeface="新細明體" pitchFamily="18" charset="-120"/>
              </a:rPr>
              <a:t>Boolean Expressions</a:t>
            </a:r>
            <a:endParaRPr lang="zh-TW" altLang="en-US" sz="2500">
              <a:ea typeface="新細明體" pitchFamily="18" charset="-120"/>
            </a:endParaRPr>
          </a:p>
        </p:txBody>
      </p:sp>
      <p:sp>
        <p:nvSpPr>
          <p:cNvPr id="564227" name="內容版面配置區 2"/>
          <p:cNvSpPr>
            <a:spLocks noGrp="1"/>
          </p:cNvSpPr>
          <p:nvPr>
            <p:ph idx="4294967295"/>
          </p:nvPr>
        </p:nvSpPr>
        <p:spPr/>
        <p:txBody>
          <a:bodyPr lIns="90488" tIns="44450" rIns="90488" bIns="44450"/>
          <a:lstStyle/>
          <a:p>
            <a:endParaRPr lang="zh-TW" altLang="en-US">
              <a:ea typeface="新細明體" pitchFamily="18" charset="-120"/>
            </a:endParaRPr>
          </a:p>
        </p:txBody>
      </p:sp>
      <p:pic>
        <p:nvPicPr>
          <p:cNvPr id="564228" name="Picture 5"/>
          <p:cNvPicPr>
            <a:picLocks noChangeAspect="1" noChangeArrowheads="1"/>
          </p:cNvPicPr>
          <p:nvPr/>
        </p:nvPicPr>
        <p:blipFill>
          <a:blip r:embed="rId2" cstate="print">
            <a:lum bright="-28000" contrast="54000"/>
          </a:blip>
          <a:srcRect/>
          <a:stretch>
            <a:fillRect/>
          </a:stretch>
        </p:blipFill>
        <p:spPr bwMode="auto">
          <a:xfrm>
            <a:off x="496888" y="1517318"/>
            <a:ext cx="7595056" cy="49072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250" name="標題 1"/>
          <p:cNvSpPr>
            <a:spLocks noGrp="1"/>
          </p:cNvSpPr>
          <p:nvPr>
            <p:ph type="title" idx="4294967295"/>
          </p:nvPr>
        </p:nvSpPr>
        <p:spPr/>
        <p:txBody>
          <a:bodyPr lIns="0" tIns="0" rIns="0" bIns="0"/>
          <a:lstStyle/>
          <a:p>
            <a:r>
              <a:rPr lang="en-US" altLang="zh-TW" dirty="0" smtClean="0">
                <a:ea typeface="新細明體" pitchFamily="18" charset="-120"/>
              </a:rPr>
              <a:t>Digital </a:t>
            </a:r>
            <a:r>
              <a:rPr lang="en-US" altLang="zh-TW" dirty="0">
                <a:ea typeface="新細明體" pitchFamily="18" charset="-120"/>
              </a:rPr>
              <a:t>Logic Gates</a:t>
            </a:r>
            <a:endParaRPr lang="zh-TW" altLang="en-US" sz="2500" dirty="0">
              <a:ea typeface="新細明體" pitchFamily="18" charset="-120"/>
            </a:endParaRPr>
          </a:p>
        </p:txBody>
      </p:sp>
      <p:sp>
        <p:nvSpPr>
          <p:cNvPr id="565251" name="內容版面配置區 2"/>
          <p:cNvSpPr>
            <a:spLocks noGrp="1"/>
          </p:cNvSpPr>
          <p:nvPr>
            <p:ph idx="4294967295"/>
          </p:nvPr>
        </p:nvSpPr>
        <p:spPr>
          <a:xfrm>
            <a:off x="457200" y="1600200"/>
            <a:ext cx="7689273" cy="4873752"/>
          </a:xfrm>
        </p:spPr>
        <p:txBody>
          <a:bodyPr lIns="90488" tIns="44450" rIns="90488" bIns="44450">
            <a:normAutofit/>
          </a:bodyPr>
          <a:lstStyle/>
          <a:p>
            <a:r>
              <a:rPr lang="en-US" altLang="zh-TW" dirty="0">
                <a:ea typeface="新細明體" pitchFamily="18" charset="-120"/>
              </a:rPr>
              <a:t>Boolean expression: AND, OR and NOT operations</a:t>
            </a:r>
          </a:p>
          <a:p>
            <a:r>
              <a:rPr lang="en-US" altLang="zh-TW" dirty="0">
                <a:ea typeface="新細明體" pitchFamily="18" charset="-120"/>
              </a:rPr>
              <a:t>Constructing gates of other </a:t>
            </a:r>
            <a:r>
              <a:rPr lang="en-US" altLang="zh-TW" dirty="0" smtClean="0">
                <a:ea typeface="新細明體" pitchFamily="18" charset="-120"/>
              </a:rPr>
              <a:t>logic </a:t>
            </a:r>
            <a:r>
              <a:rPr lang="en-US" altLang="zh-TW" dirty="0">
                <a:ea typeface="新細明體" pitchFamily="18" charset="-120"/>
              </a:rPr>
              <a:t>operations</a:t>
            </a:r>
          </a:p>
          <a:p>
            <a:pPr lvl="1"/>
            <a:r>
              <a:rPr lang="en-US" altLang="zh-TW" sz="2400" dirty="0">
                <a:ea typeface="新細明體" pitchFamily="18" charset="-120"/>
              </a:rPr>
              <a:t>The feasibility and economy;</a:t>
            </a:r>
          </a:p>
          <a:p>
            <a:pPr lvl="1"/>
            <a:r>
              <a:rPr lang="en-US" altLang="zh-TW" sz="2400" dirty="0">
                <a:ea typeface="新細明體" pitchFamily="18" charset="-120"/>
              </a:rPr>
              <a:t>The possibility of extending gate's inputs;</a:t>
            </a:r>
          </a:p>
          <a:p>
            <a:pPr lvl="1"/>
            <a:r>
              <a:rPr lang="en-US" altLang="zh-TW" sz="2400" dirty="0">
                <a:ea typeface="新細明體" pitchFamily="18" charset="-120"/>
              </a:rPr>
              <a:t>The basic properties of the binary operations (commutative and associative);</a:t>
            </a:r>
          </a:p>
          <a:p>
            <a:pPr lvl="1"/>
            <a:r>
              <a:rPr lang="en-US" altLang="zh-TW" sz="2400" dirty="0">
                <a:ea typeface="新細明體" pitchFamily="18" charset="-120"/>
              </a:rPr>
              <a:t>The ability of the gate to implement Boolean functions.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7298" name="Picture 3"/>
          <p:cNvPicPr>
            <a:picLocks noChangeAspect="1" noChangeArrowheads="1"/>
          </p:cNvPicPr>
          <p:nvPr/>
        </p:nvPicPr>
        <p:blipFill>
          <a:blip r:embed="rId2" cstate="print">
            <a:lum bright="-6000" contrast="18000"/>
          </a:blip>
          <a:srcRect/>
          <a:stretch>
            <a:fillRect/>
          </a:stretch>
        </p:blipFill>
        <p:spPr bwMode="auto">
          <a:xfrm>
            <a:off x="1227638" y="1478475"/>
            <a:ext cx="6242050" cy="4867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67299" name="Text Box 4"/>
          <p:cNvSpPr txBox="1">
            <a:spLocks noChangeArrowheads="1"/>
          </p:cNvSpPr>
          <p:nvPr/>
        </p:nvSpPr>
        <p:spPr bwMode="auto">
          <a:xfrm>
            <a:off x="3046413" y="6319838"/>
            <a:ext cx="2884487" cy="368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>
                <a:latin typeface="Times New Roman" pitchFamily="18" charset="0"/>
                <a:ea typeface="新細明體" pitchFamily="18" charset="-120"/>
                <a:cs typeface="Angsana New" pitchFamily="18" charset="-34"/>
              </a:rPr>
              <a:t>Figure 2.5 Digital logic gates</a:t>
            </a:r>
          </a:p>
        </p:txBody>
      </p:sp>
      <p:sp>
        <p:nvSpPr>
          <p:cNvPr id="567300" name="標題 3"/>
          <p:cNvSpPr>
            <a:spLocks noGrp="1"/>
          </p:cNvSpPr>
          <p:nvPr>
            <p:ph type="title" idx="4294967295"/>
          </p:nvPr>
        </p:nvSpPr>
        <p:spPr/>
        <p:txBody>
          <a:bodyPr lIns="0" tIns="0" rIns="0" bIns="0"/>
          <a:lstStyle/>
          <a:p>
            <a:r>
              <a:rPr lang="en-US" altLang="zh-TW" dirty="0">
                <a:ea typeface="新細明體" pitchFamily="18" charset="-120"/>
              </a:rPr>
              <a:t>Summary of Logic Gates</a:t>
            </a:r>
            <a:endParaRPr lang="zh-TW" altLang="en-US" sz="2500" dirty="0">
              <a:ea typeface="新細明體" pitchFamily="18" charset="-120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8322" name="Picture 3"/>
          <p:cNvPicPr>
            <a:picLocks noChangeAspect="1" noChangeArrowheads="1"/>
          </p:cNvPicPr>
          <p:nvPr/>
        </p:nvPicPr>
        <p:blipFill>
          <a:blip r:embed="rId3" cstate="print">
            <a:lum bright="-6000" contrast="20000"/>
          </a:blip>
          <a:srcRect/>
          <a:stretch>
            <a:fillRect/>
          </a:stretch>
        </p:blipFill>
        <p:spPr bwMode="auto">
          <a:xfrm>
            <a:off x="1225296" y="1481328"/>
            <a:ext cx="5951859" cy="48646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68323" name="Text Box 4"/>
          <p:cNvSpPr txBox="1">
            <a:spLocks noChangeArrowheads="1"/>
          </p:cNvSpPr>
          <p:nvPr/>
        </p:nvSpPr>
        <p:spPr bwMode="auto">
          <a:xfrm>
            <a:off x="3046413" y="6269038"/>
            <a:ext cx="2884487" cy="368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>
                <a:latin typeface="Times New Roman" pitchFamily="18" charset="0"/>
                <a:ea typeface="新細明體" pitchFamily="18" charset="-120"/>
                <a:cs typeface="Angsana New" pitchFamily="18" charset="-34"/>
              </a:rPr>
              <a:t>Figure 2.5 Digital logic gates</a:t>
            </a:r>
          </a:p>
        </p:txBody>
      </p:sp>
      <p:sp>
        <p:nvSpPr>
          <p:cNvPr id="7" name="標題 3"/>
          <p:cNvSpPr txBox="1">
            <a:spLocks/>
          </p:cNvSpPr>
          <p:nvPr/>
        </p:nvSpPr>
        <p:spPr>
          <a:xfrm>
            <a:off x="457200" y="274638"/>
            <a:ext cx="7467600" cy="114300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3000" b="0" i="0" u="none" strike="noStrike" kern="1200" cap="small" spc="0" normalizeH="0" baseline="0" noProof="0" smtClean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新細明體" pitchFamily="18" charset="-120"/>
                <a:cs typeface="+mj-cs"/>
              </a:rPr>
              <a:t>Summary of Logic Gates</a:t>
            </a:r>
            <a:endParaRPr kumimoji="0" lang="zh-TW" altLang="en-US" sz="2500" b="0" i="0" u="none" strike="noStrike" kern="1200" cap="small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+mj-lt"/>
              <a:ea typeface="新細明體" pitchFamily="18" charset="-120"/>
              <a:cs typeface="+mj-cs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346" name="標題 1"/>
          <p:cNvSpPr>
            <a:spLocks noGrp="1"/>
          </p:cNvSpPr>
          <p:nvPr>
            <p:ph type="title" idx="4294967295"/>
          </p:nvPr>
        </p:nvSpPr>
        <p:spPr/>
        <p:txBody>
          <a:bodyPr lIns="0" tIns="0" rIns="0" bIns="0"/>
          <a:lstStyle/>
          <a:p>
            <a:r>
              <a:rPr lang="en-US" altLang="zh-TW" dirty="0">
                <a:ea typeface="新細明體" pitchFamily="18" charset="-120"/>
              </a:rPr>
              <a:t>Multiple Inputs</a:t>
            </a:r>
            <a:endParaRPr lang="zh-TW" altLang="en-US" sz="2500" dirty="0">
              <a:ea typeface="新細明體" pitchFamily="18" charset="-120"/>
            </a:endParaRPr>
          </a:p>
        </p:txBody>
      </p:sp>
      <p:sp>
        <p:nvSpPr>
          <p:cNvPr id="569347" name="內容版面配置區 2"/>
          <p:cNvSpPr>
            <a:spLocks noGrp="1"/>
          </p:cNvSpPr>
          <p:nvPr>
            <p:ph idx="4294967295"/>
          </p:nvPr>
        </p:nvSpPr>
        <p:spPr>
          <a:xfrm>
            <a:off x="457199" y="1600200"/>
            <a:ext cx="7689273" cy="4873752"/>
          </a:xfrm>
        </p:spPr>
        <p:txBody>
          <a:bodyPr lIns="90488" tIns="44450" rIns="90488" bIns="44450"/>
          <a:lstStyle/>
          <a:p>
            <a:r>
              <a:rPr lang="en-US" altLang="zh-TW" dirty="0">
                <a:ea typeface="新細明體" pitchFamily="18" charset="-120"/>
              </a:rPr>
              <a:t>Extension to multiple inputs</a:t>
            </a:r>
          </a:p>
          <a:p>
            <a:pPr lvl="1"/>
            <a:r>
              <a:rPr lang="en-US" altLang="zh-TW" sz="2400" dirty="0">
                <a:ea typeface="新細明體" pitchFamily="18" charset="-120"/>
              </a:rPr>
              <a:t>A gate can be extended to multiple inputs.</a:t>
            </a:r>
          </a:p>
          <a:p>
            <a:pPr lvl="2"/>
            <a:r>
              <a:rPr lang="en-US" altLang="zh-TW" sz="2400" dirty="0">
                <a:ea typeface="新細明體" pitchFamily="18" charset="-120"/>
              </a:rPr>
              <a:t>If its binary operation is commutative and associative.</a:t>
            </a:r>
          </a:p>
          <a:p>
            <a:pPr lvl="1"/>
            <a:r>
              <a:rPr lang="en-US" altLang="zh-TW" sz="2400" dirty="0">
                <a:ea typeface="新細明體" pitchFamily="18" charset="-120"/>
              </a:rPr>
              <a:t>AND </a:t>
            </a:r>
            <a:r>
              <a:rPr lang="en-US" altLang="zh-TW" sz="2400" dirty="0" err="1">
                <a:ea typeface="新細明體" pitchFamily="18" charset="-120"/>
              </a:rPr>
              <a:t>and</a:t>
            </a:r>
            <a:r>
              <a:rPr lang="en-US" altLang="zh-TW" sz="2400" dirty="0">
                <a:ea typeface="新細明體" pitchFamily="18" charset="-120"/>
              </a:rPr>
              <a:t> OR are commutative and associative.</a:t>
            </a:r>
          </a:p>
          <a:p>
            <a:pPr lvl="2"/>
            <a:r>
              <a:rPr lang="en-US" altLang="zh-TW" sz="2400" dirty="0">
                <a:ea typeface="新細明體" pitchFamily="18" charset="-120"/>
              </a:rPr>
              <a:t>OR</a:t>
            </a:r>
          </a:p>
          <a:p>
            <a:pPr lvl="3"/>
            <a:r>
              <a:rPr lang="en-US" altLang="zh-TW" sz="2400" i="1" dirty="0" err="1">
                <a:ea typeface="新細明體" pitchFamily="18" charset="-120"/>
              </a:rPr>
              <a:t>x+y</a:t>
            </a:r>
            <a:r>
              <a:rPr lang="en-US" altLang="zh-TW" sz="2400" i="1" dirty="0">
                <a:ea typeface="新細明體" pitchFamily="18" charset="-120"/>
              </a:rPr>
              <a:t> = </a:t>
            </a:r>
            <a:r>
              <a:rPr lang="en-US" altLang="zh-TW" sz="2400" i="1" dirty="0" err="1">
                <a:ea typeface="新細明體" pitchFamily="18" charset="-120"/>
              </a:rPr>
              <a:t>y+x</a:t>
            </a:r>
            <a:endParaRPr lang="en-US" altLang="zh-TW" sz="2400" i="1" dirty="0">
              <a:ea typeface="新細明體" pitchFamily="18" charset="-120"/>
            </a:endParaRPr>
          </a:p>
          <a:p>
            <a:pPr lvl="3"/>
            <a:r>
              <a:rPr lang="en-US" altLang="zh-TW" sz="2400" dirty="0">
                <a:ea typeface="新細明體" pitchFamily="18" charset="-120"/>
              </a:rPr>
              <a:t>(</a:t>
            </a:r>
            <a:r>
              <a:rPr lang="en-US" altLang="zh-TW" sz="2400" i="1" dirty="0" err="1">
                <a:ea typeface="新細明體" pitchFamily="18" charset="-120"/>
              </a:rPr>
              <a:t>x+y</a:t>
            </a:r>
            <a:r>
              <a:rPr lang="en-US" altLang="zh-TW" sz="2400" dirty="0">
                <a:ea typeface="新細明體" pitchFamily="18" charset="-120"/>
              </a:rPr>
              <a:t>)</a:t>
            </a:r>
            <a:r>
              <a:rPr lang="en-US" altLang="zh-TW" sz="2400" i="1" dirty="0">
                <a:ea typeface="新細明體" pitchFamily="18" charset="-120"/>
              </a:rPr>
              <a:t>+z = x+</a:t>
            </a:r>
            <a:r>
              <a:rPr lang="en-US" altLang="zh-TW" sz="2400" dirty="0">
                <a:ea typeface="新細明體" pitchFamily="18" charset="-120"/>
              </a:rPr>
              <a:t>(</a:t>
            </a:r>
            <a:r>
              <a:rPr lang="en-US" altLang="zh-TW" sz="2400" i="1" dirty="0" err="1">
                <a:ea typeface="新細明體" pitchFamily="18" charset="-120"/>
              </a:rPr>
              <a:t>y+z</a:t>
            </a:r>
            <a:r>
              <a:rPr lang="en-US" altLang="zh-TW" sz="2400" dirty="0">
                <a:ea typeface="新細明體" pitchFamily="18" charset="-120"/>
              </a:rPr>
              <a:t>)</a:t>
            </a:r>
            <a:r>
              <a:rPr lang="en-US" altLang="zh-TW" sz="2400" i="1" dirty="0">
                <a:ea typeface="新細明體" pitchFamily="18" charset="-120"/>
              </a:rPr>
              <a:t> = </a:t>
            </a:r>
            <a:r>
              <a:rPr lang="en-US" altLang="zh-TW" sz="2400" i="1" dirty="0" err="1">
                <a:ea typeface="新細明體" pitchFamily="18" charset="-120"/>
              </a:rPr>
              <a:t>x+y+z</a:t>
            </a:r>
            <a:endParaRPr lang="en-US" altLang="zh-TW" sz="2400" i="1" dirty="0">
              <a:ea typeface="新細明體" pitchFamily="18" charset="-120"/>
            </a:endParaRPr>
          </a:p>
          <a:p>
            <a:pPr lvl="2"/>
            <a:r>
              <a:rPr lang="en-US" altLang="zh-TW" sz="2400" dirty="0">
                <a:ea typeface="新細明體" pitchFamily="18" charset="-120"/>
              </a:rPr>
              <a:t>AND</a:t>
            </a:r>
          </a:p>
          <a:p>
            <a:pPr lvl="3"/>
            <a:r>
              <a:rPr lang="en-US" altLang="zh-TW" sz="2400" i="1" dirty="0" err="1">
                <a:ea typeface="新細明體" pitchFamily="18" charset="-120"/>
              </a:rPr>
              <a:t>xy</a:t>
            </a:r>
            <a:r>
              <a:rPr lang="en-US" altLang="zh-TW" sz="2400" i="1" dirty="0">
                <a:ea typeface="新細明體" pitchFamily="18" charset="-120"/>
              </a:rPr>
              <a:t> = </a:t>
            </a:r>
            <a:r>
              <a:rPr lang="en-US" altLang="zh-TW" sz="2400" i="1" dirty="0" err="1">
                <a:ea typeface="新細明體" pitchFamily="18" charset="-120"/>
              </a:rPr>
              <a:t>yx</a:t>
            </a:r>
            <a:endParaRPr lang="en-US" altLang="zh-TW" sz="2400" i="1" dirty="0">
              <a:ea typeface="新細明體" pitchFamily="18" charset="-120"/>
            </a:endParaRPr>
          </a:p>
          <a:p>
            <a:pPr lvl="3"/>
            <a:r>
              <a:rPr lang="en-US" altLang="zh-TW" sz="2400" dirty="0">
                <a:ea typeface="新細明體" pitchFamily="18" charset="-120"/>
              </a:rPr>
              <a:t>(</a:t>
            </a:r>
            <a:r>
              <a:rPr lang="en-US" altLang="zh-TW" sz="2400" i="1" dirty="0">
                <a:ea typeface="新細明體" pitchFamily="18" charset="-120"/>
              </a:rPr>
              <a:t>x y</a:t>
            </a:r>
            <a:r>
              <a:rPr lang="en-US" altLang="zh-TW" sz="2400" dirty="0">
                <a:ea typeface="新細明體" pitchFamily="18" charset="-120"/>
              </a:rPr>
              <a:t>)</a:t>
            </a:r>
            <a:r>
              <a:rPr lang="en-US" altLang="zh-TW" sz="2400" i="1" dirty="0">
                <a:ea typeface="新細明體" pitchFamily="18" charset="-120"/>
              </a:rPr>
              <a:t>z = x</a:t>
            </a:r>
            <a:r>
              <a:rPr lang="en-US" altLang="zh-TW" sz="2400" dirty="0">
                <a:ea typeface="新細明體" pitchFamily="18" charset="-120"/>
              </a:rPr>
              <a:t>(</a:t>
            </a:r>
            <a:r>
              <a:rPr lang="en-US" altLang="zh-TW" sz="2400" i="1" dirty="0">
                <a:ea typeface="新細明體" pitchFamily="18" charset="-120"/>
              </a:rPr>
              <a:t>y z</a:t>
            </a:r>
            <a:r>
              <a:rPr lang="en-US" altLang="zh-TW" sz="2400" dirty="0">
                <a:ea typeface="新細明體" pitchFamily="18" charset="-120"/>
              </a:rPr>
              <a:t>)</a:t>
            </a:r>
            <a:r>
              <a:rPr lang="en-US" altLang="zh-TW" sz="2400" i="1" dirty="0">
                <a:ea typeface="新細明體" pitchFamily="18" charset="-120"/>
              </a:rPr>
              <a:t> = x y z</a:t>
            </a:r>
          </a:p>
          <a:p>
            <a:endParaRPr lang="zh-TW" altLang="en-US" dirty="0">
              <a:ea typeface="新細明體" pitchFamily="18" charset="-120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370" name="Rectangle 2"/>
          <p:cNvSpPr>
            <a:spLocks noGrp="1" noChangeArrowheads="1"/>
          </p:cNvSpPr>
          <p:nvPr>
            <p:ph type="title" idx="4294967295"/>
          </p:nvPr>
        </p:nvSpPr>
        <p:spPr/>
        <p:txBody>
          <a:bodyPr lIns="0" tIns="0" rIns="0" bIns="0"/>
          <a:lstStyle/>
          <a:p>
            <a:r>
              <a:rPr lang="en-US" altLang="zh-TW">
                <a:ea typeface="新細明體" pitchFamily="18" charset="-120"/>
              </a:rPr>
              <a:t>Multiple Inputs</a:t>
            </a:r>
            <a:endParaRPr lang="zh-TW" altLang="en-US">
              <a:ea typeface="新細明體" pitchFamily="18" charset="-120"/>
            </a:endParaRPr>
          </a:p>
        </p:txBody>
      </p:sp>
      <p:sp>
        <p:nvSpPr>
          <p:cNvPr id="570371" name="Rectangle 3"/>
          <p:cNvSpPr>
            <a:spLocks noGrp="1" noChangeArrowheads="1"/>
          </p:cNvSpPr>
          <p:nvPr>
            <p:ph idx="4294967295"/>
          </p:nvPr>
        </p:nvSpPr>
        <p:spPr>
          <a:xfrm>
            <a:off x="457199" y="1600200"/>
            <a:ext cx="7689273" cy="4873752"/>
          </a:xfrm>
        </p:spPr>
        <p:txBody>
          <a:bodyPr lIns="90488" tIns="44450" rIns="90488" bIns="44450"/>
          <a:lstStyle/>
          <a:p>
            <a:r>
              <a:rPr lang="en-US" altLang="zh-TW" dirty="0">
                <a:ea typeface="新細明體" pitchFamily="18" charset="-120"/>
              </a:rPr>
              <a:t>NAND and NOR are commutative but not associative → they are not extendable.</a:t>
            </a:r>
          </a:p>
          <a:p>
            <a:endParaRPr lang="zh-TW" altLang="en-US" dirty="0">
              <a:ea typeface="新細明體" pitchFamily="18" charset="-120"/>
            </a:endParaRPr>
          </a:p>
        </p:txBody>
      </p:sp>
      <p:pic>
        <p:nvPicPr>
          <p:cNvPr id="570372" name="Picture 6"/>
          <p:cNvPicPr>
            <a:picLocks noChangeAspect="1" noChangeArrowheads="1"/>
          </p:cNvPicPr>
          <p:nvPr/>
        </p:nvPicPr>
        <p:blipFill>
          <a:blip r:embed="rId2" cstate="print">
            <a:lum bright="-18000" contrast="30000"/>
          </a:blip>
          <a:srcRect/>
          <a:stretch>
            <a:fillRect/>
          </a:stretch>
        </p:blipFill>
        <p:spPr bwMode="auto">
          <a:xfrm>
            <a:off x="1106439" y="2467510"/>
            <a:ext cx="6165416" cy="14895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70373" name="Picture 7"/>
          <p:cNvPicPr>
            <a:picLocks noChangeAspect="1" noChangeArrowheads="1"/>
          </p:cNvPicPr>
          <p:nvPr/>
        </p:nvPicPr>
        <p:blipFill>
          <a:blip r:embed="rId3" cstate="print">
            <a:lum bright="-18000" contrast="30000"/>
          </a:blip>
          <a:srcRect/>
          <a:stretch>
            <a:fillRect/>
          </a:stretch>
        </p:blipFill>
        <p:spPr bwMode="auto">
          <a:xfrm>
            <a:off x="1003251" y="4404846"/>
            <a:ext cx="6347576" cy="15189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394" name="標題 1"/>
          <p:cNvSpPr>
            <a:spLocks noGrp="1"/>
          </p:cNvSpPr>
          <p:nvPr>
            <p:ph type="title" idx="4294967295"/>
          </p:nvPr>
        </p:nvSpPr>
        <p:spPr/>
        <p:txBody>
          <a:bodyPr lIns="0" tIns="0" rIns="0" bIns="0"/>
          <a:lstStyle/>
          <a:p>
            <a:r>
              <a:rPr lang="en-US" altLang="zh-TW" dirty="0" smtClean="0">
                <a:ea typeface="新細明體" pitchFamily="18" charset="-120"/>
              </a:rPr>
              <a:t>Multiple Inputs</a:t>
            </a:r>
            <a:endParaRPr lang="zh-TW" altLang="en-US" dirty="0">
              <a:ea typeface="新細明體" pitchFamily="18" charset="-120"/>
            </a:endParaRPr>
          </a:p>
        </p:txBody>
      </p:sp>
      <p:sp>
        <p:nvSpPr>
          <p:cNvPr id="571395" name="內容版面配置區 2"/>
          <p:cNvSpPr>
            <a:spLocks noGrp="1"/>
          </p:cNvSpPr>
          <p:nvPr>
            <p:ph idx="4294967295"/>
          </p:nvPr>
        </p:nvSpPr>
        <p:spPr>
          <a:xfrm>
            <a:off x="457199" y="1600200"/>
            <a:ext cx="7689273" cy="4873752"/>
          </a:xfrm>
        </p:spPr>
        <p:txBody>
          <a:bodyPr lIns="90488" tIns="44450" rIns="90488" bIns="44450"/>
          <a:lstStyle/>
          <a:p>
            <a:r>
              <a:rPr lang="en-US" altLang="zh-TW" dirty="0">
                <a:ea typeface="新細明體" pitchFamily="18" charset="-120"/>
              </a:rPr>
              <a:t>Multiple NOR = a complement of OR gate, </a:t>
            </a:r>
            <a:r>
              <a:rPr lang="en-US" altLang="zh-TW" dirty="0" smtClean="0">
                <a:ea typeface="新細明體" pitchFamily="18" charset="-120"/>
              </a:rPr>
              <a:t>Multiple NAND = a complement of AND.</a:t>
            </a:r>
          </a:p>
          <a:p>
            <a:r>
              <a:rPr lang="en-US" altLang="zh-TW" dirty="0" smtClean="0">
                <a:ea typeface="新細明體" pitchFamily="18" charset="-120"/>
              </a:rPr>
              <a:t>The cascaded NAND operations = sum of products.</a:t>
            </a:r>
          </a:p>
          <a:p>
            <a:r>
              <a:rPr lang="en-US" altLang="zh-TW" dirty="0" smtClean="0">
                <a:ea typeface="新細明體" pitchFamily="18" charset="-120"/>
              </a:rPr>
              <a:t>The cascaded NOR operations = product of sums.</a:t>
            </a:r>
          </a:p>
          <a:p>
            <a:endParaRPr lang="zh-TW" altLang="en-US" dirty="0">
              <a:ea typeface="新細明體" pitchFamily="18" charset="-120"/>
            </a:endParaRPr>
          </a:p>
        </p:txBody>
      </p:sp>
      <p:pic>
        <p:nvPicPr>
          <p:cNvPr id="571396" name="Picture 8"/>
          <p:cNvPicPr>
            <a:picLocks noChangeAspect="1" noChangeArrowheads="1"/>
          </p:cNvPicPr>
          <p:nvPr/>
        </p:nvPicPr>
        <p:blipFill>
          <a:blip r:embed="rId2" cstate="print">
            <a:lum bright="-12000" contrast="24000"/>
          </a:blip>
          <a:srcRect/>
          <a:stretch>
            <a:fillRect/>
          </a:stretch>
        </p:blipFill>
        <p:spPr bwMode="auto">
          <a:xfrm>
            <a:off x="1268495" y="3525364"/>
            <a:ext cx="5495385" cy="8306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71397" name="Picture 9"/>
          <p:cNvPicPr>
            <a:picLocks noChangeAspect="1" noChangeArrowheads="1"/>
          </p:cNvPicPr>
          <p:nvPr/>
        </p:nvPicPr>
        <p:blipFill>
          <a:blip r:embed="rId3" cstate="print">
            <a:lum bright="-12000" contrast="24000"/>
          </a:blip>
          <a:srcRect/>
          <a:stretch>
            <a:fillRect/>
          </a:stretch>
        </p:blipFill>
        <p:spPr bwMode="auto">
          <a:xfrm>
            <a:off x="1193883" y="4715990"/>
            <a:ext cx="5693806" cy="15245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418" name="標題 1"/>
          <p:cNvSpPr>
            <a:spLocks noGrp="1"/>
          </p:cNvSpPr>
          <p:nvPr>
            <p:ph type="title" idx="4294967295"/>
          </p:nvPr>
        </p:nvSpPr>
        <p:spPr/>
        <p:txBody>
          <a:bodyPr lIns="0" tIns="0" rIns="0" bIns="0"/>
          <a:lstStyle/>
          <a:p>
            <a:r>
              <a:rPr lang="en-US" altLang="zh-TW">
                <a:ea typeface="新細明體" pitchFamily="18" charset="-120"/>
              </a:rPr>
              <a:t>Multiple Inputs</a:t>
            </a:r>
            <a:endParaRPr lang="zh-TW" altLang="en-US">
              <a:ea typeface="新細明體" pitchFamily="18" charset="-120"/>
            </a:endParaRPr>
          </a:p>
        </p:txBody>
      </p:sp>
      <p:sp>
        <p:nvSpPr>
          <p:cNvPr id="572419" name="內容版面配置區 2"/>
          <p:cNvSpPr>
            <a:spLocks noGrp="1"/>
          </p:cNvSpPr>
          <p:nvPr>
            <p:ph idx="4294967295"/>
          </p:nvPr>
        </p:nvSpPr>
        <p:spPr>
          <a:xfrm>
            <a:off x="457199" y="1600200"/>
            <a:ext cx="7748649" cy="4873752"/>
          </a:xfrm>
        </p:spPr>
        <p:txBody>
          <a:bodyPr lIns="90488" tIns="44450" rIns="90488" bIns="44450"/>
          <a:lstStyle/>
          <a:p>
            <a:r>
              <a:rPr lang="en-US" altLang="zh-TW" dirty="0">
                <a:ea typeface="新細明體" pitchFamily="18" charset="-120"/>
              </a:rPr>
              <a:t>The XOR and XNOR gates are commutative and associative.</a:t>
            </a:r>
          </a:p>
          <a:p>
            <a:r>
              <a:rPr lang="en-US" altLang="zh-TW" dirty="0">
                <a:ea typeface="新細明體" pitchFamily="18" charset="-120"/>
              </a:rPr>
              <a:t>Multiple-input XOR gates </a:t>
            </a:r>
            <a:r>
              <a:rPr lang="en-US" altLang="zh-TW">
                <a:ea typeface="新細明體" pitchFamily="18" charset="-120"/>
              </a:rPr>
              <a:t>are </a:t>
            </a:r>
            <a:r>
              <a:rPr lang="en-US" altLang="zh-TW" smtClean="0">
                <a:ea typeface="新細明體" pitchFamily="18" charset="-120"/>
              </a:rPr>
              <a:t>uncommon</a:t>
            </a:r>
            <a:endParaRPr lang="en-US" altLang="zh-TW" dirty="0">
              <a:ea typeface="新細明體" pitchFamily="18" charset="-120"/>
            </a:endParaRPr>
          </a:p>
          <a:p>
            <a:r>
              <a:rPr lang="en-US" altLang="zh-TW" dirty="0">
                <a:ea typeface="新細明體" pitchFamily="18" charset="-120"/>
              </a:rPr>
              <a:t>XOR is an odd function: it is equal to 1 if the inputs variables have an odd number of 1's.</a:t>
            </a:r>
            <a:endParaRPr lang="zh-TW" altLang="en-US" dirty="0">
              <a:ea typeface="新細明體" pitchFamily="18" charset="-120"/>
            </a:endParaRPr>
          </a:p>
          <a:p>
            <a:endParaRPr lang="zh-TW" altLang="en-US" dirty="0">
              <a:ea typeface="新細明體" pitchFamily="18" charset="-120"/>
            </a:endParaRPr>
          </a:p>
        </p:txBody>
      </p:sp>
      <p:pic>
        <p:nvPicPr>
          <p:cNvPr id="572420" name="Picture 6"/>
          <p:cNvPicPr>
            <a:picLocks noChangeAspect="1" noChangeArrowheads="1"/>
          </p:cNvPicPr>
          <p:nvPr/>
        </p:nvPicPr>
        <p:blipFill>
          <a:blip r:embed="rId2" cstate="print">
            <a:lum bright="-12000" contrast="24000"/>
          </a:blip>
          <a:srcRect/>
          <a:stretch>
            <a:fillRect/>
          </a:stretch>
        </p:blipFill>
        <p:spPr bwMode="auto">
          <a:xfrm>
            <a:off x="1092539" y="3778448"/>
            <a:ext cx="6519545" cy="26052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418" name="標題 1"/>
          <p:cNvSpPr>
            <a:spLocks noGrp="1"/>
          </p:cNvSpPr>
          <p:nvPr>
            <p:ph type="title" idx="4294967295"/>
          </p:nvPr>
        </p:nvSpPr>
        <p:spPr/>
        <p:txBody>
          <a:bodyPr lIns="0" tIns="0" rIns="0" bIns="0"/>
          <a:lstStyle/>
          <a:p>
            <a:r>
              <a:rPr lang="en-US" altLang="zh-TW" dirty="0" smtClean="0">
                <a:ea typeface="新細明體" pitchFamily="18" charset="-120"/>
              </a:rPr>
              <a:t>Positive and Negative Logic</a:t>
            </a:r>
            <a:endParaRPr lang="zh-TW" altLang="en-US" dirty="0">
              <a:ea typeface="新細明體" pitchFamily="18" charset="-120"/>
            </a:endParaRPr>
          </a:p>
        </p:txBody>
      </p:sp>
      <p:sp>
        <p:nvSpPr>
          <p:cNvPr id="572419" name="內容版面配置區 2"/>
          <p:cNvSpPr>
            <a:spLocks noGrp="1"/>
          </p:cNvSpPr>
          <p:nvPr>
            <p:ph idx="4294967295"/>
          </p:nvPr>
        </p:nvSpPr>
        <p:spPr>
          <a:xfrm>
            <a:off x="457200" y="1600200"/>
            <a:ext cx="4423558" cy="4873752"/>
          </a:xfrm>
        </p:spPr>
        <p:txBody>
          <a:bodyPr lIns="90488" tIns="44450" rIns="90488" bIns="44450">
            <a:noAutofit/>
          </a:bodyPr>
          <a:lstStyle/>
          <a:p>
            <a:r>
              <a:rPr lang="en-US" altLang="zh-TW" dirty="0" smtClean="0">
                <a:ea typeface="新細明體" pitchFamily="18" charset="-120"/>
              </a:rPr>
              <a:t>Positive and Negative Logic</a:t>
            </a:r>
          </a:p>
          <a:p>
            <a:pPr lvl="1"/>
            <a:r>
              <a:rPr lang="en-US" altLang="zh-TW" sz="2400" dirty="0" smtClean="0">
                <a:ea typeface="新細明體" pitchFamily="18" charset="-120"/>
              </a:rPr>
              <a:t>Two signal values &lt;=&gt; two logic values</a:t>
            </a:r>
          </a:p>
          <a:p>
            <a:pPr lvl="1"/>
            <a:r>
              <a:rPr lang="en-US" altLang="zh-TW" sz="2400" dirty="0" smtClean="0">
                <a:ea typeface="新細明體" pitchFamily="18" charset="-120"/>
              </a:rPr>
              <a:t>Positive logic: H=1; L=0</a:t>
            </a:r>
          </a:p>
          <a:p>
            <a:pPr lvl="1"/>
            <a:r>
              <a:rPr lang="en-US" altLang="zh-TW" sz="2400" dirty="0" smtClean="0">
                <a:ea typeface="新細明體" pitchFamily="18" charset="-120"/>
              </a:rPr>
              <a:t>Negative logic: H=0; L=1</a:t>
            </a:r>
          </a:p>
          <a:p>
            <a:r>
              <a:rPr lang="en-US" altLang="zh-TW" dirty="0" smtClean="0">
                <a:ea typeface="新細明體" pitchFamily="18" charset="-120"/>
              </a:rPr>
              <a:t>Consider a TTL gate</a:t>
            </a:r>
          </a:p>
          <a:p>
            <a:pPr lvl="1"/>
            <a:r>
              <a:rPr lang="en-US" altLang="zh-TW" sz="2400" dirty="0" smtClean="0">
                <a:ea typeface="新細明體" pitchFamily="18" charset="-120"/>
              </a:rPr>
              <a:t>A positive logic AND gate</a:t>
            </a:r>
          </a:p>
          <a:p>
            <a:pPr lvl="1"/>
            <a:r>
              <a:rPr lang="en-US" altLang="zh-TW" sz="2400" dirty="0" smtClean="0">
                <a:ea typeface="新細明體" pitchFamily="18" charset="-120"/>
              </a:rPr>
              <a:t>A negative logic OR gate</a:t>
            </a:r>
          </a:p>
          <a:p>
            <a:pPr lvl="1"/>
            <a:r>
              <a:rPr lang="en-US" altLang="zh-TW" sz="2400" dirty="0" smtClean="0">
                <a:ea typeface="新細明體" pitchFamily="18" charset="-120"/>
              </a:rPr>
              <a:t>The positive logic is used in this book </a:t>
            </a:r>
          </a:p>
        </p:txBody>
      </p:sp>
      <p:pic>
        <p:nvPicPr>
          <p:cNvPr id="6" name="Picture 4" descr="AACFLMW0"/>
          <p:cNvPicPr>
            <a:picLocks noChangeAspect="1" noChangeArrowheads="1"/>
          </p:cNvPicPr>
          <p:nvPr/>
        </p:nvPicPr>
        <p:blipFill>
          <a:blip r:embed="rId2" cstate="print">
            <a:lum bright="-8000" contrast="26000"/>
          </a:blip>
          <a:srcRect r="58424" b="18289"/>
          <a:stretch>
            <a:fillRect/>
          </a:stretch>
        </p:blipFill>
        <p:spPr bwMode="auto">
          <a:xfrm>
            <a:off x="5225143" y="1682299"/>
            <a:ext cx="2238952" cy="1706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" name="Picture 5" descr="AACFLMW0"/>
          <p:cNvPicPr>
            <a:picLocks noChangeAspect="1" noChangeArrowheads="1"/>
          </p:cNvPicPr>
          <p:nvPr/>
        </p:nvPicPr>
        <p:blipFill>
          <a:blip r:embed="rId3" cstate="print">
            <a:lum bright="-8000" contrast="26000"/>
          </a:blip>
          <a:srcRect l="60381" b="19472"/>
          <a:stretch>
            <a:fillRect/>
          </a:stretch>
        </p:blipFill>
        <p:spPr bwMode="auto">
          <a:xfrm>
            <a:off x="5137244" y="4102518"/>
            <a:ext cx="2133175" cy="16818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4466" name="Picture 6"/>
          <p:cNvPicPr>
            <a:picLocks noChangeAspect="1" noChangeArrowheads="1"/>
          </p:cNvPicPr>
          <p:nvPr/>
        </p:nvPicPr>
        <p:blipFill>
          <a:blip r:embed="rId2" cstate="print">
            <a:lum bright="-12000" contrast="30000"/>
          </a:blip>
          <a:srcRect/>
          <a:stretch>
            <a:fillRect/>
          </a:stretch>
        </p:blipFill>
        <p:spPr bwMode="auto">
          <a:xfrm>
            <a:off x="1840684" y="1735195"/>
            <a:ext cx="1230354" cy="13305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74467" name="Picture 7"/>
          <p:cNvPicPr>
            <a:picLocks noChangeAspect="1" noChangeArrowheads="1"/>
          </p:cNvPicPr>
          <p:nvPr/>
        </p:nvPicPr>
        <p:blipFill>
          <a:blip r:embed="rId3" cstate="print">
            <a:lum bright="-12000" contrast="30000"/>
          </a:blip>
          <a:srcRect/>
          <a:stretch>
            <a:fillRect/>
          </a:stretch>
        </p:blipFill>
        <p:spPr bwMode="auto">
          <a:xfrm>
            <a:off x="1817548" y="3554293"/>
            <a:ext cx="1226501" cy="12894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74468" name="Picture 8"/>
          <p:cNvPicPr>
            <a:picLocks noChangeAspect="1" noChangeArrowheads="1"/>
          </p:cNvPicPr>
          <p:nvPr/>
        </p:nvPicPr>
        <p:blipFill>
          <a:blip r:embed="rId4" cstate="print">
            <a:lum bright="-12000" contrast="30000"/>
          </a:blip>
          <a:srcRect/>
          <a:stretch>
            <a:fillRect/>
          </a:stretch>
        </p:blipFill>
        <p:spPr bwMode="auto">
          <a:xfrm>
            <a:off x="1770493" y="5222968"/>
            <a:ext cx="1289432" cy="13844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74469" name="Picture 9"/>
          <p:cNvPicPr>
            <a:picLocks noChangeAspect="1" noChangeArrowheads="1"/>
          </p:cNvPicPr>
          <p:nvPr/>
        </p:nvPicPr>
        <p:blipFill>
          <a:blip r:embed="rId5" cstate="print">
            <a:lum bright="-12000" contrast="30000"/>
          </a:blip>
          <a:srcRect/>
          <a:stretch>
            <a:fillRect/>
          </a:stretch>
        </p:blipFill>
        <p:spPr bwMode="auto">
          <a:xfrm>
            <a:off x="4486110" y="1739495"/>
            <a:ext cx="2598128" cy="13151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74470" name="Picture 10"/>
          <p:cNvPicPr>
            <a:picLocks noChangeAspect="1" noChangeArrowheads="1"/>
          </p:cNvPicPr>
          <p:nvPr/>
        </p:nvPicPr>
        <p:blipFill>
          <a:blip r:embed="rId6" cstate="print">
            <a:lum bright="-12000" contrast="30000"/>
          </a:blip>
          <a:srcRect/>
          <a:stretch>
            <a:fillRect/>
          </a:stretch>
        </p:blipFill>
        <p:spPr bwMode="auto">
          <a:xfrm>
            <a:off x="4591427" y="3793926"/>
            <a:ext cx="2264211" cy="8116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74471" name="Picture 11"/>
          <p:cNvPicPr>
            <a:picLocks noChangeAspect="1" noChangeArrowheads="1"/>
          </p:cNvPicPr>
          <p:nvPr/>
        </p:nvPicPr>
        <p:blipFill>
          <a:blip r:embed="rId7" cstate="print">
            <a:lum bright="-12000" contrast="30000"/>
          </a:blip>
          <a:srcRect/>
          <a:stretch>
            <a:fillRect/>
          </a:stretch>
        </p:blipFill>
        <p:spPr bwMode="auto">
          <a:xfrm>
            <a:off x="4540289" y="5451972"/>
            <a:ext cx="2208986" cy="8347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74473" name="標題 1"/>
          <p:cNvSpPr>
            <a:spLocks noGrp="1"/>
          </p:cNvSpPr>
          <p:nvPr>
            <p:ph type="title" idx="4294967295"/>
          </p:nvPr>
        </p:nvSpPr>
        <p:spPr/>
        <p:txBody>
          <a:bodyPr lIns="0" tIns="0" rIns="0" bIns="0"/>
          <a:lstStyle/>
          <a:p>
            <a:r>
              <a:rPr lang="en-US" altLang="zh-TW">
                <a:ea typeface="新細明體" pitchFamily="18" charset="-120"/>
              </a:rPr>
              <a:t>Positive and Negative Logic</a:t>
            </a:r>
            <a:endParaRPr lang="zh-TW" altLang="en-US" sz="2500">
              <a:ea typeface="新細明體" pitchFamily="18" charset="-120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Syllabus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AU" dirty="0" smtClean="0"/>
              <a:t>Chapter 2 (Excluding Section 2.9)</a:t>
            </a:r>
          </a:p>
          <a:p>
            <a:endParaRPr lang="en-US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el">
  <a:themeElements>
    <a:clrScheme name="Oriel">
      <a:dk1>
        <a:sysClr val="windowText" lastClr="000000"/>
      </a:dk1>
      <a:lt1>
        <a:sysClr val="window" lastClr="FFFFFF"/>
      </a:lt1>
      <a:dk2>
        <a:srgbClr val="575F6D"/>
      </a:dk2>
      <a:lt2>
        <a:srgbClr val="FFF39D"/>
      </a:lt2>
      <a:accent1>
        <a:srgbClr val="FE8637"/>
      </a:accent1>
      <a:accent2>
        <a:srgbClr val="7598D9"/>
      </a:accent2>
      <a:accent3>
        <a:srgbClr val="B32C16"/>
      </a:accent3>
      <a:accent4>
        <a:srgbClr val="F5CD2D"/>
      </a:accent4>
      <a:accent5>
        <a:srgbClr val="AEBAD5"/>
      </a:accent5>
      <a:accent6>
        <a:srgbClr val="777C84"/>
      </a:accent6>
      <a:hlink>
        <a:srgbClr val="D2611C"/>
      </a:hlink>
      <a:folHlink>
        <a:srgbClr val="3B435B"/>
      </a:folHlink>
    </a:clrScheme>
    <a:fontScheme name="Oriel">
      <a:majorFont>
        <a:latin typeface="Century Schoolbook"/>
        <a:ea typeface=""/>
        <a:cs typeface=""/>
        <a:font script="Jpan" typeface="ＭＳ Ｐ明朝"/>
        <a:font script="Hang" typeface="휴먼매직체"/>
        <a:font script="Hans" typeface="华文楷体"/>
        <a:font script="Hant" typeface="新細明體"/>
        <a:font script="Arab" typeface="Times New Roman"/>
        <a:font script="Hebr" typeface="Times New Roman"/>
        <a:font script="Thai" typeface="Kodchiang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entury Schoolbook"/>
        <a:ea typeface=""/>
        <a:cs typeface=""/>
        <a:font script="Jpan" typeface="ＭＳ Ｐ明朝"/>
        <a:font script="Hang" typeface="휴먼매직체"/>
        <a:font script="Hans" typeface="宋体"/>
        <a:font script="Hant" typeface="新細明體"/>
        <a:font script="Arab" typeface="Times New Roman"/>
        <a:font script="Hebr" typeface="Times New Roman"/>
        <a:font script="Thai" typeface="Kodchiang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Oriel">
      <a:fillStyleLst>
        <a:solidFill>
          <a:schemeClr val="phClr"/>
        </a:solidFill>
        <a:gradFill rotWithShape="1">
          <a:gsLst>
            <a:gs pos="0">
              <a:schemeClr val="phClr">
                <a:tint val="35000"/>
                <a:satMod val="260000"/>
              </a:schemeClr>
            </a:gs>
            <a:gs pos="30000">
              <a:schemeClr val="phClr">
                <a:tint val="38000"/>
                <a:satMod val="260000"/>
              </a:schemeClr>
            </a:gs>
            <a:gs pos="75000">
              <a:schemeClr val="phClr">
                <a:tint val="55000"/>
                <a:satMod val="255000"/>
              </a:schemeClr>
            </a:gs>
            <a:gs pos="100000">
              <a:schemeClr val="phClr">
                <a:tint val="70000"/>
                <a:satMod val="255000"/>
              </a:schemeClr>
            </a:gs>
          </a:gsLst>
          <a:path path="circle">
            <a:fillToRect l="5000" t="100000" r="120000" b="10000"/>
          </a:path>
        </a:gradFill>
        <a:gradFill rotWithShape="1">
          <a:gsLst>
            <a:gs pos="0">
              <a:schemeClr val="phClr">
                <a:shade val="63000"/>
                <a:satMod val="165000"/>
              </a:schemeClr>
            </a:gs>
            <a:gs pos="30000">
              <a:schemeClr val="phClr">
                <a:shade val="58000"/>
                <a:satMod val="165000"/>
              </a:schemeClr>
            </a:gs>
            <a:gs pos="75000">
              <a:schemeClr val="phClr">
                <a:shade val="30000"/>
                <a:satMod val="175000"/>
              </a:schemeClr>
            </a:gs>
            <a:gs pos="100000">
              <a:schemeClr val="phClr">
                <a:shade val="15000"/>
                <a:satMod val="175000"/>
              </a:schemeClr>
            </a:gs>
          </a:gsLst>
          <a:path path="circle">
            <a:fillToRect l="5000" t="100000" r="120000" b="10000"/>
          </a:path>
        </a:gradFill>
      </a:fillStyleLst>
      <a:lnStyleLst>
        <a:ln w="12700" cap="flat" cmpd="sng" algn="ctr">
          <a:solidFill>
            <a:schemeClr val="phClr">
              <a:shade val="70000"/>
              <a:satMod val="15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4925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250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20000" dir="5400000" rotWithShape="0">
              <a:srgbClr val="000000">
                <a:alpha val="42000"/>
              </a:srgbClr>
            </a:outerShdw>
          </a:effectLst>
        </a:effectStyle>
        <a:effectStyle>
          <a:effectLst>
            <a:outerShdw blurRad="50800" dist="20000" dir="5400000" rotWithShape="0">
              <a:srgbClr val="000000">
                <a:alpha val="4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0"/>
            </a:lightRig>
          </a:scene3d>
          <a:sp3d>
            <a:bevelT w="47625" h="69850"/>
            <a:contourClr>
              <a:schemeClr val="lt1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58000"/>
                <a:satMod val="125000"/>
              </a:schemeClr>
            </a:gs>
            <a:gs pos="40000">
              <a:schemeClr val="phClr">
                <a:tint val="90000"/>
                <a:shade val="90000"/>
                <a:satMod val="120000"/>
              </a:schemeClr>
            </a:gs>
            <a:gs pos="100000">
              <a:schemeClr val="phClr">
                <a:tint val="5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80000"/>
              </a:schemeClr>
              <a:schemeClr val="phClr">
                <a:tint val="91000"/>
              </a:schemeClr>
            </a:duotone>
          </a:blip>
          <a:tile tx="0" ty="0" sx="40000" sy="50000" flip="y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Oriel</Template>
  <TotalTime>3937</TotalTime>
  <Words>2246</Words>
  <Application>Microsoft Office PowerPoint</Application>
  <PresentationFormat>On-screen Show (4:3)</PresentationFormat>
  <Paragraphs>520</Paragraphs>
  <Slides>56</Slides>
  <Notes>5</Notes>
  <HiddenSlides>0</HiddenSlides>
  <MMClips>0</MMClips>
  <ScaleCrop>false</ScaleCrop>
  <HeadingPairs>
    <vt:vector size="6" baseType="variant"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58" baseType="lpstr">
      <vt:lpstr>Oriel</vt:lpstr>
      <vt:lpstr>Document</vt:lpstr>
      <vt:lpstr>CSE 205: Digital Logic Design</vt:lpstr>
      <vt:lpstr>Boolean (Binary) Logic</vt:lpstr>
      <vt:lpstr>Boolean Algebra</vt:lpstr>
      <vt:lpstr>Algebra</vt:lpstr>
      <vt:lpstr>Axiomatic definition of Boolean Algebra</vt:lpstr>
      <vt:lpstr>Axiomatic definition of Boolean Algebra</vt:lpstr>
      <vt:lpstr>Axiomatic definition of Boolean Algebra</vt:lpstr>
      <vt:lpstr>Duality principle</vt:lpstr>
      <vt:lpstr>Duality principle</vt:lpstr>
      <vt:lpstr>Basic theorems of Boolean Algebra</vt:lpstr>
      <vt:lpstr>Proof of x+x=x</vt:lpstr>
      <vt:lpstr>Proof of x·x=x</vt:lpstr>
      <vt:lpstr>Proof of x+1=1</vt:lpstr>
      <vt:lpstr>Absorption Property (Covering)</vt:lpstr>
      <vt:lpstr>Absorption Property (Covering)</vt:lpstr>
      <vt:lpstr>DeMorgan’s Theorem</vt:lpstr>
      <vt:lpstr> Consensus Theorem</vt:lpstr>
      <vt:lpstr> Consensus Theorem</vt:lpstr>
      <vt:lpstr>Boolean Function</vt:lpstr>
      <vt:lpstr>Boolean Function</vt:lpstr>
      <vt:lpstr>Complement of a Function</vt:lpstr>
      <vt:lpstr>Gate Implementation of a Function</vt:lpstr>
      <vt:lpstr>Gate Implementation of a Function</vt:lpstr>
      <vt:lpstr>Practice</vt:lpstr>
      <vt:lpstr>Complement of a Function</vt:lpstr>
      <vt:lpstr>Complement of a Function</vt:lpstr>
      <vt:lpstr>Practice</vt:lpstr>
      <vt:lpstr>Minterms</vt:lpstr>
      <vt:lpstr>Maxterms</vt:lpstr>
      <vt:lpstr>Example: Three Binary Variables </vt:lpstr>
      <vt:lpstr>Canonical Form</vt:lpstr>
      <vt:lpstr>Sum of Minterms</vt:lpstr>
      <vt:lpstr>Sum of Minterms</vt:lpstr>
      <vt:lpstr>Sum of Minterms: Example</vt:lpstr>
      <vt:lpstr>Product of Maxterms </vt:lpstr>
      <vt:lpstr>Product of Maxterms </vt:lpstr>
      <vt:lpstr>Product of Maxterms: Example</vt:lpstr>
      <vt:lpstr>Conversion between Canonical Forms</vt:lpstr>
      <vt:lpstr>Conversion between Canonical Forms</vt:lpstr>
      <vt:lpstr>Practice</vt:lpstr>
      <vt:lpstr>Standard Form</vt:lpstr>
      <vt:lpstr>Non-Standard and Standard Forms</vt:lpstr>
      <vt:lpstr>Practice</vt:lpstr>
      <vt:lpstr>Canonical and Standard Forms</vt:lpstr>
      <vt:lpstr>Other Logic Operations</vt:lpstr>
      <vt:lpstr>Boolean Expressions</vt:lpstr>
      <vt:lpstr>Digital Logic Gates</vt:lpstr>
      <vt:lpstr>Summary of Logic Gates</vt:lpstr>
      <vt:lpstr>PowerPoint Presentation</vt:lpstr>
      <vt:lpstr>Multiple Inputs</vt:lpstr>
      <vt:lpstr>Multiple Inputs</vt:lpstr>
      <vt:lpstr>Multiple Inputs</vt:lpstr>
      <vt:lpstr>Multiple Inputs</vt:lpstr>
      <vt:lpstr>Positive and Negative Logic</vt:lpstr>
      <vt:lpstr>Positive and Negative Logic</vt:lpstr>
      <vt:lpstr>Syllabus</vt:lpstr>
    </vt:vector>
  </TitlesOfParts>
  <Company>BUET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CSE 205: Digital Logic Design</dc:title>
  <dc:creator>user</dc:creator>
  <cp:lastModifiedBy>user</cp:lastModifiedBy>
  <cp:revision>558</cp:revision>
  <dcterms:created xsi:type="dcterms:W3CDTF">2012-03-31T05:29:50Z</dcterms:created>
  <dcterms:modified xsi:type="dcterms:W3CDTF">2023-12-02T19:20:43Z</dcterms:modified>
</cp:coreProperties>
</file>